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8229600" cx="14630400"/>
  <p:notesSz cx="8229600" cy="14630400"/>
  <p:embeddedFontLst>
    <p:embeddedFont>
      <p:font typeface="Inter"/>
      <p:regular r:id="rId12"/>
      <p:bold r:id="rId13"/>
      <p:italic r:id="rId14"/>
      <p:boldItalic r:id="rId15"/>
    </p:embeddedFont>
    <p:embeddedFont>
      <p:font typeface="Inter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Lp1ODXOe5va9pGqIE60LVWes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InterMedium-bold.fntdata"/><Relationship Id="rId16" Type="http://schemas.openxmlformats.org/officeDocument/2006/relationships/font" Target="fonts/InterMedium-regular.fntdata"/><Relationship Id="rId5" Type="http://schemas.openxmlformats.org/officeDocument/2006/relationships/slide" Target="slides/slide1.xml"/><Relationship Id="rId19" Type="http://schemas.openxmlformats.org/officeDocument/2006/relationships/font" Target="fonts/InterMedium-boldItalic.fntdata"/><Relationship Id="rId6" Type="http://schemas.openxmlformats.org/officeDocument/2006/relationships/slide" Target="slides/slide2.xml"/><Relationship Id="rId18" Type="http://schemas.openxmlformats.org/officeDocument/2006/relationships/font" Target="fonts/InterMedium-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מטרת ההרצאה -</a:t>
            </a:r>
            <a:br>
              <a:rPr lang="en-US"/>
            </a:br>
            <a:br>
              <a:rPr lang="en-US"/>
            </a:br>
            <a:r>
              <a:rPr lang="en-US"/>
              <a:t>בריינסטורמינג על כלי AI שאתם משתמשים בהם כבר כיום ולאילו שימושים</a:t>
            </a:r>
            <a:br>
              <a:rPr lang="en-US"/>
            </a:br>
            <a:br>
              <a:rPr lang="en-US"/>
            </a:br>
            <a:r>
              <a:rPr lang="en-US"/>
              <a:t>היכרות (ברמת השם והפונקציה) של חלק מכלי ה-AI שאנחנו הולכים ללמוד בקורס</a:t>
            </a:r>
            <a:br>
              <a:rPr lang="en-US"/>
            </a:br>
            <a:br>
              <a:rPr lang="en-US"/>
            </a:br>
            <a:r>
              <a:rPr lang="en-US"/>
              <a:t>חשיבה והדגמה של usecases נפוצים</a:t>
            </a:r>
            <a:br>
              <a:rPr lang="en-US"/>
            </a:br>
            <a:br>
              <a:rPr lang="en-US"/>
            </a:br>
            <a:r>
              <a:rPr lang="en-US"/>
              <a:t>אקספלוקציה באתר There's an AI for that עבור פעולות שאתם רוצים לבצע ב-AI ואתם לא בטוחים באיזה כלי להשתמש.</a:t>
            </a:r>
            <a:endParaRPr/>
          </a:p>
        </p:txBody>
      </p:sp>
      <p:sp>
        <p:nvSpPr>
          <p:cNvPr id="35" name="Google Shape;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שאלה לקהל - באיזה כלי AI כבר יוצא לכם להשתמש ביומיום שלכם?</a:t>
            </a:r>
            <a:br>
              <a:rPr lang="en-US"/>
            </a:br>
            <a:br>
              <a:rPr lang="en-US"/>
            </a:br>
            <a:r>
              <a:rPr lang="en-US"/>
              <a:t>המטרה היא לעודד שיח על הכלים הנפוצים שכולנו משתמשים בהם, וגם לגלות כלים ייחודיים או מיוחדים שכל אחד מכם משתמש בהם בעבודה.</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סקירה על כלים מרכזיים שאנחנו הולכים להכיר בקורס. חשוב להבהיר שאנחנו לא נכיר את כולם ושנקבל טעימה מהם, אבל כן בסוף הקורס הם ידעו איך לגשת בעצמם ולהשתמש בכלי חדש שיוצא, יאמנו את השריר החשיבה של איך ניתן לשלב את הטכנולוגיה ביומיום שלהם בשביל לעשות עבורם דברים שלוקחים להם הרבה זמן או פעם היו מצריכים ידע קודם משמעותי, ויכירו אתרים ודרכים של איך למצוא את הכלים האלו. </a:t>
            </a:r>
            <a:br>
              <a:rPr lang="en-US"/>
            </a:br>
            <a:br>
              <a:rPr lang="en-US"/>
            </a:br>
            <a:r>
              <a:rPr lang="en-US"/>
              <a:t> </a:t>
            </a:r>
            <a:br>
              <a:rPr lang="en-US"/>
            </a:br>
            <a:br>
              <a:rPr lang="en-US"/>
            </a:br>
            <a:r>
              <a:rPr lang="en-US"/>
              <a:t>כלים מבוססי צ'אט, התכתבות בה אנחנו מבקשים מה אנחנו רוצים ומקבלים את הפלט. </a:t>
            </a:r>
            <a:br>
              <a:rPr lang="en-US"/>
            </a:br>
            <a:br>
              <a:rPr lang="en-US"/>
            </a:br>
            <a:r>
              <a:rPr lang="en-US"/>
              <a:t>צאט גפט של אופן איי איי. המודל הראשון שיצא. נכון להיום יש גרסא 5.5</a:t>
            </a:r>
            <a:br>
              <a:rPr lang="en-US"/>
            </a:br>
            <a:br>
              <a:rPr lang="en-US"/>
            </a:br>
            <a:r>
              <a:rPr lang="en-US"/>
              <a:t>קלוד של חברה עצמאית נוספת בשם אנטרופיק.</a:t>
            </a:r>
            <a:br>
              <a:rPr lang="en-US"/>
            </a:br>
            <a:br>
              <a:rPr lang="en-US"/>
            </a:br>
            <a:r>
              <a:rPr lang="en-US"/>
              <a:t>ג'מיני של גוגל</a:t>
            </a:r>
            <a:br>
              <a:rPr lang="en-US"/>
            </a:br>
            <a:br>
              <a:rPr lang="en-US"/>
            </a:br>
            <a:br>
              <a:rPr lang="en-US"/>
            </a:br>
            <a:br>
              <a:rPr lang="en-US"/>
            </a:br>
            <a:r>
              <a:rPr lang="en-US"/>
              <a:t>כלים ליצירת תמונות:</a:t>
            </a:r>
            <a:br>
              <a:rPr lang="en-US"/>
            </a:br>
            <a:br>
              <a:rPr lang="en-US"/>
            </a:br>
            <a:r>
              <a:rPr lang="en-US"/>
              <a:t>מידג'רני של חברת מידג'רני</a:t>
            </a:r>
            <a:br>
              <a:rPr lang="en-US"/>
            </a:br>
            <a:br>
              <a:rPr lang="en-US"/>
            </a:br>
            <a:r>
              <a:rPr lang="en-US"/>
              <a:t>דאלי של אופן איי איי</a:t>
            </a:r>
            <a:br>
              <a:rPr lang="en-US"/>
            </a:br>
            <a:br>
              <a:rPr lang="en-US"/>
            </a:br>
            <a:r>
              <a:rPr lang="en-US"/>
              <a:t>קאנבה - לא ליצירת תמונות אבל כן לוגואים פוסטרים ועוד המון דברים.</a:t>
            </a:r>
            <a:br>
              <a:rPr lang="en-US"/>
            </a:br>
            <a:br>
              <a:rPr lang="en-US"/>
            </a:br>
            <a:br>
              <a:rPr lang="en-US"/>
            </a:br>
            <a:br>
              <a:rPr lang="en-US"/>
            </a:br>
            <a:r>
              <a:rPr lang="en-US"/>
              <a:t>כלים ליצירת מצגות ומסמכים:</a:t>
            </a:r>
            <a:br>
              <a:rPr lang="en-US"/>
            </a:br>
            <a:br>
              <a:rPr lang="en-US"/>
            </a:br>
            <a:r>
              <a:rPr lang="en-US"/>
              <a:t>גאמא</a:t>
            </a:r>
            <a:br>
              <a:rPr lang="en-US"/>
            </a:br>
            <a:br>
              <a:rPr lang="en-US"/>
            </a:br>
            <a:r>
              <a:rPr lang="en-US"/>
              <a:t>דקטופוס</a:t>
            </a:r>
            <a:br>
              <a:rPr lang="en-US"/>
            </a:br>
            <a:br>
              <a:rPr lang="en-US"/>
            </a:br>
            <a:br>
              <a:rPr lang="en-US"/>
            </a:br>
            <a:br>
              <a:rPr lang="en-US"/>
            </a:br>
            <a:r>
              <a:rPr lang="en-US"/>
              <a:t>כלים ליצירת קטעי וידאו ואודיו:</a:t>
            </a:r>
            <a:br>
              <a:rPr lang="en-US"/>
            </a:br>
            <a:br>
              <a:rPr lang="en-US"/>
            </a:br>
            <a:r>
              <a:rPr lang="en-US"/>
              <a:t>לומה שהיא כלי ליצירת סרטונים מטקסט ותמונה</a:t>
            </a:r>
            <a:br>
              <a:rPr lang="en-US"/>
            </a:br>
            <a:br>
              <a:rPr lang="en-US"/>
            </a:br>
            <a:r>
              <a:rPr lang="en-US"/>
              <a:t>פלאיי הט שהוא כלי ליצירת קול</a:t>
            </a:r>
            <a:br>
              <a:rPr lang="en-US"/>
            </a:br>
            <a:br>
              <a:rPr lang="en-US"/>
            </a:br>
            <a:br>
              <a:rPr lang="en-US"/>
            </a:br>
            <a:br>
              <a:rPr lang="en-US"/>
            </a:br>
            <a:r>
              <a:rPr lang="en-US"/>
              <a:t>פייס סוואפ שהוא כלי ליצירת סרטונים ותמונות בסגנון דיפ-פייק.</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לתרגל את השריר של לחשוב איך אנחנו פותחים דברים בעזרת AI, או איך הוא יכול לעזור לנו ולהגביר את הפרודקטיביות שלנו.</a:t>
            </a:r>
            <a:br>
              <a:rPr lang="en-US"/>
            </a:br>
            <a:br>
              <a:rPr lang="en-US"/>
            </a:br>
            <a:r>
              <a:rPr lang="en-US"/>
              <a:t>חשיבה משותפת של יוז-קייסים נפוצים - שהסטודנטים יחשבו על עוד.</a:t>
            </a:r>
            <a:br>
              <a:rPr lang="en-US"/>
            </a:br>
            <a:br>
              <a:rPr lang="en-US"/>
            </a:br>
            <a:r>
              <a:rPr lang="en-US"/>
              <a:t>לעשות תרגיל אינטראקטיבי - סטודנט מעלה בעיה שהוא היה רוצה לעשות, ומנסה לתרגם איך ומה הוא היה עושה את זה עם AI</a:t>
            </a:r>
            <a:endParaRPr/>
          </a:p>
        </p:txBody>
      </p:sp>
      <p:sp>
        <p:nvSpPr>
          <p:cNvPr id="86" name="Google Shape;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הכלים שהצגתי בשקופית הקודמת הם רק קצה המזלג..! יש המון כלי AI </a:t>
            </a:r>
            <a:br>
              <a:rPr lang="en-US"/>
            </a:br>
            <a:br>
              <a:rPr lang="en-US"/>
            </a:br>
            <a:r>
              <a:rPr lang="en-US"/>
              <a:t>בשוק, והוא רק ממשיך לגדול ולגדול.</a:t>
            </a:r>
            <a:br>
              <a:rPr lang="en-US"/>
            </a:br>
            <a:br>
              <a:rPr lang="en-US"/>
            </a:br>
            <a:r>
              <a:rPr lang="en-US"/>
              <a:t>יש לא מעט אתרים שמאגדים בצורה נכונה את כל כלי ה-AI</a:t>
            </a:r>
            <a:br>
              <a:rPr lang="en-US"/>
            </a:br>
            <a:br>
              <a:rPr lang="en-US"/>
            </a:br>
            <a:r>
              <a:rPr lang="en-US"/>
              <a:t>שקיימים, ואחד מהם הוא מה שאתם רואים פה. </a:t>
            </a:r>
            <a:br>
              <a:rPr lang="en-US"/>
            </a:br>
            <a:br>
              <a:rPr lang="en-US"/>
            </a:br>
            <a:r>
              <a:rPr lang="en-US"/>
              <a:t>המטרה של הקורס היא שבסופו אתם תוכלו להבין שעבור הרבה מהבעיות והצרכים שלכם אתם תוכלו למצוא כלי בינה מלאכותית שיעזור לכם לפתור אותן, במהירות וביעילות ועם תשלום מינימלי</a:t>
            </a:r>
            <a:br>
              <a:rPr lang="en-US"/>
            </a:br>
            <a:br>
              <a:rPr lang="en-US"/>
            </a:br>
            <a:br>
              <a:rPr lang="en-US"/>
            </a:br>
            <a:br>
              <a:rPr lang="en-US"/>
            </a:br>
            <a:r>
              <a:rPr lang="en-US"/>
              <a:t>היכרות עם האתר - </a:t>
            </a:r>
            <a:br>
              <a:rPr lang="en-US"/>
            </a:br>
            <a:br>
              <a:rPr lang="en-US"/>
            </a:br>
            <a:r>
              <a:rPr lang="en-US"/>
              <a:t>לפתוח אותו ולשחק איתו. </a:t>
            </a:r>
            <a:br>
              <a:rPr lang="en-US"/>
            </a:br>
            <a:br>
              <a:rPr lang="en-US"/>
            </a:br>
            <a:r>
              <a:rPr lang="en-US"/>
              <a:t>לחפש ביחד כלים לבעיות ומשימות שהסטודנטים מעלים. </a:t>
            </a:r>
            <a:endParaRPr/>
          </a:p>
        </p:txBody>
      </p:sp>
      <p:sp>
        <p:nvSpPr>
          <p:cNvPr id="104" name="Google Shape;1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לסיכום - </a:t>
            </a:r>
            <a:br>
              <a:rPr lang="en-US"/>
            </a:br>
            <a:br>
              <a:rPr lang="en-US"/>
            </a:br>
            <a:r>
              <a:rPr lang="en-US"/>
              <a:t>יש המון כלי AI בשוק </a:t>
            </a:r>
            <a:br>
              <a:rPr lang="en-US"/>
            </a:br>
            <a:br>
              <a:rPr lang="en-US"/>
            </a:br>
            <a:r>
              <a:rPr lang="en-US"/>
              <a:t>וכל הזמן יוצאים עוד ומתחדשים.</a:t>
            </a:r>
            <a:br>
              <a:rPr lang="en-US"/>
            </a:br>
            <a:br>
              <a:rPr lang="en-US"/>
            </a:br>
            <a:r>
              <a:rPr lang="en-US"/>
              <a:t>החוכמה היא - קודם כל לזכור שהם יכולים לעזור לנו ביומיום, ולתרגל את השריר שמתחיל לשלב אותם לכל מיני צרכים ולרצונות שלנו. דבר שני הוא, לתרגם את הרצונות שלנו לכדי משימות שה-AI יכול לעשות. ושלוש הוא, למצוא את כלי ה-AI המתאים שיעזור לנו עם זה.</a:t>
            </a:r>
            <a:br>
              <a:rPr lang="en-US"/>
            </a:br>
            <a:br>
              <a:rPr lang="en-US"/>
            </a:br>
            <a:br>
              <a:rPr lang="en-US"/>
            </a:br>
            <a:br>
              <a:rPr lang="en-US"/>
            </a:br>
            <a:r>
              <a:rPr lang="en-US"/>
              <a:t>ביחידה הבאה אנחנו הולכים להכיר טוב יותר את הטכנולוגיה שעומדת בבסיס כל המודלים והאפליקציות האלו, ובזכותה אני מקווה שתבינו למה כל הזמן יוצאים עוד ועוד כלים חדשים, ומה עומד מאחוריהם. </a:t>
            </a:r>
            <a:br>
              <a:rPr lang="en-US"/>
            </a:br>
            <a:br>
              <a:rPr lang="en-US"/>
            </a:br>
            <a:endParaRPr/>
          </a:p>
        </p:txBody>
      </p:sp>
      <p:sp>
        <p:nvSpPr>
          <p:cNvPr id="112" name="Google Shape;1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1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1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1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1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1" name="Shape 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1.png"/><Relationship Id="rId13" Type="http://schemas.openxmlformats.org/officeDocument/2006/relationships/image" Target="../media/image6.png"/><Relationship Id="rId12" Type="http://schemas.openxmlformats.org/officeDocument/2006/relationships/image" Target="../media/image5.png"/><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2.png"/><Relationship Id="rId1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theresanaiforthat.com/"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descr="preencoded.png" id="37" name="Google Shape;37;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8" name="Google Shape;38;p1"/>
          <p:cNvSpPr/>
          <p:nvPr/>
        </p:nvSpPr>
        <p:spPr>
          <a:xfrm>
            <a:off x="6425922" y="2139196"/>
            <a:ext cx="7264956" cy="2315289"/>
          </a:xfrm>
          <a:prstGeom prst="rect">
            <a:avLst/>
          </a:prstGeom>
          <a:noFill/>
          <a:ln>
            <a:noFill/>
          </a:ln>
        </p:spPr>
        <p:txBody>
          <a:bodyPr anchorCtr="0" anchor="t" bIns="0" lIns="0" spcFirstLastPara="1" rIns="0" wrap="square" tIns="0">
            <a:noAutofit/>
          </a:bodyPr>
          <a:lstStyle/>
          <a:p>
            <a:pPr indent="0" lvl="0" marL="0" marR="0" rtl="1" algn="ctr">
              <a:lnSpc>
                <a:spcPct val="125517"/>
              </a:lnSpc>
              <a:spcBef>
                <a:spcPts val="0"/>
              </a:spcBef>
              <a:spcAft>
                <a:spcPts val="0"/>
              </a:spcAft>
              <a:buClr>
                <a:srgbClr val="D75BE2"/>
              </a:buClr>
              <a:buSzPts val="7250"/>
              <a:buFont typeface="Inter Medium"/>
              <a:buNone/>
            </a:pPr>
            <a:r>
              <a:rPr b="1" i="0" lang="en-US" sz="7250" u="none" cap="none" strike="noStrike">
                <a:solidFill>
                  <a:srgbClr val="D75BE2"/>
                </a:solidFill>
                <a:latin typeface="Inter Medium"/>
                <a:ea typeface="Inter Medium"/>
                <a:cs typeface="Inter Medium"/>
                <a:sym typeface="Inter Medium"/>
              </a:rPr>
              <a:t>מבוא לכלי AI </a:t>
            </a:r>
            <a:r>
              <a:rPr b="1" lang="en-US" sz="7250">
                <a:solidFill>
                  <a:srgbClr val="D75BE2"/>
                </a:solidFill>
                <a:latin typeface="Inter Medium"/>
                <a:ea typeface="Inter Medium"/>
                <a:cs typeface="Inter Medium"/>
                <a:sym typeface="Inter Medium"/>
              </a:rPr>
              <a:t>מרכזיים</a:t>
            </a:r>
            <a:endParaRPr b="0" i="0" sz="7250" u="none" cap="none" strike="noStrike"/>
          </a:p>
        </p:txBody>
      </p:sp>
      <p:pic>
        <p:nvPicPr>
          <p:cNvPr descr="preencoded.png" id="39" name="Google Shape;39;p1"/>
          <p:cNvPicPr preferRelativeResize="0"/>
          <p:nvPr/>
        </p:nvPicPr>
        <p:blipFill rotWithShape="1">
          <a:blip r:embed="rId4">
            <a:alphaModFix/>
          </a:blip>
          <a:srcRect b="0" l="0" r="0" t="0"/>
          <a:stretch/>
        </p:blipFill>
        <p:spPr>
          <a:xfrm>
            <a:off x="8663940" y="4857155"/>
            <a:ext cx="2788801" cy="1233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p:nvPr/>
        </p:nvSpPr>
        <p:spPr>
          <a:xfrm>
            <a:off x="8166021" y="623768"/>
            <a:ext cx="5670590" cy="708779"/>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1" i="0" lang="en-US" sz="4950" u="none" cap="none" strike="noStrike">
                <a:solidFill>
                  <a:srgbClr val="D75BE2"/>
                </a:solidFill>
                <a:latin typeface="Inter Medium"/>
                <a:ea typeface="Inter Medium"/>
                <a:cs typeface="Inter Medium"/>
                <a:sym typeface="Inter Medium"/>
              </a:rPr>
              <a:t>תוכן עניינים</a:t>
            </a:r>
            <a:endParaRPr b="0" i="0" sz="4950" u="none" cap="none" strike="noStrike"/>
          </a:p>
        </p:txBody>
      </p:sp>
      <p:sp>
        <p:nvSpPr>
          <p:cNvPr id="46" name="Google Shape;46;p2"/>
          <p:cNvSpPr/>
          <p:nvPr/>
        </p:nvSpPr>
        <p:spPr>
          <a:xfrm>
            <a:off x="793790" y="1786176"/>
            <a:ext cx="13042821" cy="453509"/>
          </a:xfrm>
          <a:prstGeom prst="rect">
            <a:avLst/>
          </a:prstGeom>
          <a:noFill/>
          <a:ln>
            <a:noFill/>
          </a:ln>
        </p:spPr>
        <p:txBody>
          <a:bodyPr anchorCtr="0" anchor="t" bIns="0" lIns="0" spcFirstLastPara="1" rIns="0" wrap="square" tIns="0">
            <a:noAutofit/>
          </a:bodyPr>
          <a:lstStyle/>
          <a:p>
            <a:pPr indent="-374650" lvl="0" marL="342900" marR="0" rtl="1" algn="r">
              <a:lnSpc>
                <a:spcPct val="162857"/>
              </a:lnSpc>
              <a:spcBef>
                <a:spcPts val="0"/>
              </a:spcBef>
              <a:spcAft>
                <a:spcPts val="0"/>
              </a:spcAft>
              <a:buClr>
                <a:srgbClr val="272525"/>
              </a:buClr>
              <a:buSzPts val="2250"/>
              <a:buFont typeface="Inter"/>
              <a:buChar char="•"/>
            </a:pPr>
            <a:r>
              <a:rPr b="0" i="0" lang="en-US" sz="2250" u="none" cap="none" strike="noStrike">
                <a:solidFill>
                  <a:srgbClr val="272525"/>
                </a:solidFill>
                <a:latin typeface="Inter"/>
                <a:ea typeface="Inter"/>
                <a:cs typeface="Inter"/>
                <a:sym typeface="Inter"/>
              </a:rPr>
              <a:t>הכלים </a:t>
            </a:r>
            <a:r>
              <a:rPr lang="en-US" sz="2250">
                <a:solidFill>
                  <a:srgbClr val="272525"/>
                </a:solidFill>
                <a:latin typeface="Inter"/>
                <a:ea typeface="Inter"/>
                <a:cs typeface="Inter"/>
                <a:sym typeface="Inter"/>
              </a:rPr>
              <a:t>בהם אתם </a:t>
            </a:r>
            <a:r>
              <a:rPr b="0" i="0" lang="en-US" sz="2250" u="none" cap="none" strike="noStrike">
                <a:solidFill>
                  <a:srgbClr val="272525"/>
                </a:solidFill>
                <a:latin typeface="Inter"/>
                <a:ea typeface="Inter"/>
                <a:cs typeface="Inter"/>
                <a:sym typeface="Inter"/>
              </a:rPr>
              <a:t>משתמשים ביומיום</a:t>
            </a:r>
            <a:endParaRPr b="0" i="0" sz="2250" u="none" cap="none" strike="noStrike"/>
          </a:p>
        </p:txBody>
      </p:sp>
      <p:sp>
        <p:nvSpPr>
          <p:cNvPr id="47" name="Google Shape;47;p2"/>
          <p:cNvSpPr/>
          <p:nvPr/>
        </p:nvSpPr>
        <p:spPr>
          <a:xfrm>
            <a:off x="793790" y="2318980"/>
            <a:ext cx="13042821" cy="453509"/>
          </a:xfrm>
          <a:prstGeom prst="rect">
            <a:avLst/>
          </a:prstGeom>
          <a:noFill/>
          <a:ln>
            <a:noFill/>
          </a:ln>
        </p:spPr>
        <p:txBody>
          <a:bodyPr anchorCtr="0" anchor="t" bIns="0" lIns="0" spcFirstLastPara="1" rIns="0" wrap="square" tIns="0">
            <a:noAutofit/>
          </a:bodyPr>
          <a:lstStyle/>
          <a:p>
            <a:pPr indent="-374650" lvl="0" marL="342900" marR="0" rtl="1" algn="r">
              <a:lnSpc>
                <a:spcPct val="162857"/>
              </a:lnSpc>
              <a:spcBef>
                <a:spcPts val="0"/>
              </a:spcBef>
              <a:spcAft>
                <a:spcPts val="0"/>
              </a:spcAft>
              <a:buClr>
                <a:srgbClr val="272525"/>
              </a:buClr>
              <a:buSzPts val="2250"/>
              <a:buFont typeface="Inter"/>
              <a:buChar char="•"/>
            </a:pPr>
            <a:r>
              <a:rPr lang="en-US" sz="2250">
                <a:solidFill>
                  <a:srgbClr val="272525"/>
                </a:solidFill>
                <a:latin typeface="Inter"/>
                <a:ea typeface="Inter"/>
                <a:cs typeface="Inter"/>
                <a:sym typeface="Inter"/>
              </a:rPr>
              <a:t>ה</a:t>
            </a:r>
            <a:r>
              <a:rPr b="0" i="0" lang="en-US" sz="2250" u="none" cap="none" strike="noStrike">
                <a:solidFill>
                  <a:srgbClr val="272525"/>
                </a:solidFill>
                <a:latin typeface="Inter"/>
                <a:ea typeface="Inter"/>
                <a:cs typeface="Inter"/>
                <a:sym typeface="Inter"/>
              </a:rPr>
              <a:t>כלים שנכיר בקורס</a:t>
            </a:r>
            <a:endParaRPr b="0" i="0" sz="2250" u="none" cap="none" strike="noStrike"/>
          </a:p>
        </p:txBody>
      </p:sp>
      <p:sp>
        <p:nvSpPr>
          <p:cNvPr id="48" name="Google Shape;48;p2"/>
          <p:cNvSpPr/>
          <p:nvPr/>
        </p:nvSpPr>
        <p:spPr>
          <a:xfrm>
            <a:off x="793790" y="2851785"/>
            <a:ext cx="13042821" cy="453509"/>
          </a:xfrm>
          <a:prstGeom prst="rect">
            <a:avLst/>
          </a:prstGeom>
          <a:noFill/>
          <a:ln>
            <a:noFill/>
          </a:ln>
        </p:spPr>
        <p:txBody>
          <a:bodyPr anchorCtr="0" anchor="t" bIns="0" lIns="0" spcFirstLastPara="1" rIns="0" wrap="square" tIns="0">
            <a:noAutofit/>
          </a:bodyPr>
          <a:lstStyle/>
          <a:p>
            <a:pPr indent="-374650" lvl="0" marL="342900" marR="0" rtl="1" algn="r">
              <a:lnSpc>
                <a:spcPct val="162857"/>
              </a:lnSpc>
              <a:spcBef>
                <a:spcPts val="0"/>
              </a:spcBef>
              <a:spcAft>
                <a:spcPts val="0"/>
              </a:spcAft>
              <a:buClr>
                <a:srgbClr val="272525"/>
              </a:buClr>
              <a:buSzPts val="2250"/>
              <a:buFont typeface="Inter"/>
              <a:buChar char="•"/>
            </a:pPr>
            <a:r>
              <a:rPr b="0" i="0" lang="en-US" sz="2250" u="none" cap="none" strike="noStrike">
                <a:solidFill>
                  <a:srgbClr val="272525"/>
                </a:solidFill>
                <a:latin typeface="Inter"/>
                <a:ea typeface="Inter"/>
                <a:cs typeface="Inter"/>
                <a:sym typeface="Inter"/>
              </a:rPr>
              <a:t>היכרות עם האתר There's an AI For That</a:t>
            </a:r>
            <a:endParaRPr b="0" i="0" sz="22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3"/>
          <p:cNvSpPr/>
          <p:nvPr/>
        </p:nvSpPr>
        <p:spPr>
          <a:xfrm>
            <a:off x="2534358" y="2629291"/>
            <a:ext cx="9414000" cy="978300"/>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Inter Medium"/>
              <a:buNone/>
            </a:pPr>
            <a:r>
              <a:rPr b="0" i="0" lang="en-US" sz="6150" u="none" cap="none" strike="noStrike">
                <a:solidFill>
                  <a:srgbClr val="D75BE2"/>
                </a:solidFill>
                <a:latin typeface="Inter Medium"/>
                <a:ea typeface="Inter Medium"/>
                <a:cs typeface="Inter Medium"/>
                <a:sym typeface="Inter Medium"/>
              </a:rPr>
              <a:t>באיזה כלי AI אתם משתמשים ביומיום?</a:t>
            </a:r>
            <a:endParaRPr b="0" i="0" sz="61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p:nvPr/>
        </p:nvSpPr>
        <p:spPr>
          <a:xfrm>
            <a:off x="9300091" y="867251"/>
            <a:ext cx="4536519" cy="566976"/>
          </a:xfrm>
          <a:prstGeom prst="rect">
            <a:avLst/>
          </a:prstGeom>
          <a:noFill/>
          <a:ln>
            <a:noFill/>
          </a:ln>
        </p:spPr>
        <p:txBody>
          <a:bodyPr anchorCtr="0" anchor="t" bIns="0" lIns="0" spcFirstLastPara="1" rIns="0" wrap="square" tIns="0">
            <a:noAutofit/>
          </a:bodyPr>
          <a:lstStyle/>
          <a:p>
            <a:pPr indent="0" lvl="0" marL="0" marR="0" rtl="1" algn="r">
              <a:lnSpc>
                <a:spcPct val="125352"/>
              </a:lnSpc>
              <a:spcBef>
                <a:spcPts val="0"/>
              </a:spcBef>
              <a:spcAft>
                <a:spcPts val="0"/>
              </a:spcAft>
              <a:buClr>
                <a:srgbClr val="D75BE2"/>
              </a:buClr>
              <a:buSzPts val="3550"/>
              <a:buFont typeface="Inter Medium"/>
              <a:buNone/>
            </a:pPr>
            <a:r>
              <a:rPr b="1" i="0" lang="en-US" sz="4250" u="none" cap="none" strike="noStrike">
                <a:solidFill>
                  <a:srgbClr val="D75BE2"/>
                </a:solidFill>
                <a:latin typeface="Inter Medium"/>
                <a:ea typeface="Inter Medium"/>
                <a:cs typeface="Inter Medium"/>
                <a:sym typeface="Inter Medium"/>
              </a:rPr>
              <a:t>כלים מרכזיים</a:t>
            </a:r>
            <a:endParaRPr b="0" i="0" sz="4250" u="none" cap="none" strike="noStrike"/>
          </a:p>
        </p:txBody>
      </p:sp>
      <p:sp>
        <p:nvSpPr>
          <p:cNvPr id="61" name="Google Shape;61;p4"/>
          <p:cNvSpPr/>
          <p:nvPr/>
        </p:nvSpPr>
        <p:spPr>
          <a:xfrm>
            <a:off x="793790" y="1887855"/>
            <a:ext cx="3090624" cy="5474494"/>
          </a:xfrm>
          <a:prstGeom prst="roundRect">
            <a:avLst>
              <a:gd fmla="val 30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1028224" y="2122289"/>
            <a:ext cx="2621756" cy="850583"/>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525"/>
              </a:buClr>
              <a:buSzPts val="2650"/>
              <a:buFont typeface="Inter Medium"/>
              <a:buNone/>
            </a:pPr>
            <a:r>
              <a:rPr b="0" i="0" lang="en-US" sz="2650" u="none" cap="none" strike="noStrike">
                <a:solidFill>
                  <a:srgbClr val="272525"/>
                </a:solidFill>
                <a:latin typeface="Inter Medium"/>
                <a:ea typeface="Inter Medium"/>
                <a:cs typeface="Inter Medium"/>
                <a:sym typeface="Inter Medium"/>
              </a:rPr>
              <a:t>Chat-Based AI Tools</a:t>
            </a:r>
            <a:endParaRPr b="0" i="0" sz="2650" u="none" cap="none" strike="noStrike"/>
          </a:p>
        </p:txBody>
      </p:sp>
      <p:pic>
        <p:nvPicPr>
          <p:cNvPr descr="preencoded.png" id="63" name="Google Shape;63;p4"/>
          <p:cNvPicPr preferRelativeResize="0"/>
          <p:nvPr/>
        </p:nvPicPr>
        <p:blipFill rotWithShape="1">
          <a:blip r:embed="rId3">
            <a:alphaModFix/>
          </a:blip>
          <a:srcRect b="0" l="0" r="0" t="0"/>
          <a:stretch/>
        </p:blipFill>
        <p:spPr>
          <a:xfrm>
            <a:off x="1028224" y="3228023"/>
            <a:ext cx="2621756" cy="832604"/>
          </a:xfrm>
          <a:prstGeom prst="rect">
            <a:avLst/>
          </a:prstGeom>
          <a:noFill/>
          <a:ln>
            <a:noFill/>
          </a:ln>
        </p:spPr>
      </p:pic>
      <p:pic>
        <p:nvPicPr>
          <p:cNvPr descr="preencoded.png" id="64" name="Google Shape;64;p4"/>
          <p:cNvPicPr preferRelativeResize="0"/>
          <p:nvPr/>
        </p:nvPicPr>
        <p:blipFill rotWithShape="1">
          <a:blip r:embed="rId4">
            <a:alphaModFix/>
          </a:blip>
          <a:srcRect b="0" l="0" r="0" t="0"/>
          <a:stretch/>
        </p:blipFill>
        <p:spPr>
          <a:xfrm>
            <a:off x="1028224" y="4315778"/>
            <a:ext cx="2621756" cy="864989"/>
          </a:xfrm>
          <a:prstGeom prst="rect">
            <a:avLst/>
          </a:prstGeom>
          <a:noFill/>
          <a:ln>
            <a:noFill/>
          </a:ln>
        </p:spPr>
      </p:pic>
      <p:pic>
        <p:nvPicPr>
          <p:cNvPr descr="preencoded.png" id="65" name="Google Shape;65;p4"/>
          <p:cNvPicPr preferRelativeResize="0"/>
          <p:nvPr/>
        </p:nvPicPr>
        <p:blipFill rotWithShape="1">
          <a:blip r:embed="rId5">
            <a:alphaModFix/>
          </a:blip>
          <a:srcRect b="0" l="0" r="0" t="0"/>
          <a:stretch/>
        </p:blipFill>
        <p:spPr>
          <a:xfrm>
            <a:off x="1028224" y="5435918"/>
            <a:ext cx="2621756" cy="968693"/>
          </a:xfrm>
          <a:prstGeom prst="rect">
            <a:avLst/>
          </a:prstGeom>
          <a:noFill/>
          <a:ln>
            <a:noFill/>
          </a:ln>
        </p:spPr>
      </p:pic>
      <p:sp>
        <p:nvSpPr>
          <p:cNvPr id="66" name="Google Shape;66;p4"/>
          <p:cNvSpPr/>
          <p:nvPr/>
        </p:nvSpPr>
        <p:spPr>
          <a:xfrm>
            <a:off x="1028224" y="6659761"/>
            <a:ext cx="262175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67" name="Google Shape;67;p4"/>
          <p:cNvSpPr/>
          <p:nvPr/>
        </p:nvSpPr>
        <p:spPr>
          <a:xfrm>
            <a:off x="4111228" y="1887855"/>
            <a:ext cx="3090624" cy="5474494"/>
          </a:xfrm>
          <a:prstGeom prst="roundRect">
            <a:avLst>
              <a:gd fmla="val 30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4345662" y="2122289"/>
            <a:ext cx="2621756" cy="1275874"/>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525"/>
              </a:buClr>
              <a:buSzPts val="2650"/>
              <a:buFont typeface="Inter Medium"/>
              <a:buNone/>
            </a:pPr>
            <a:r>
              <a:rPr b="0" i="0" lang="en-US" sz="2650" u="none" cap="none" strike="noStrike">
                <a:solidFill>
                  <a:srgbClr val="272525"/>
                </a:solidFill>
                <a:latin typeface="Inter Medium"/>
                <a:ea typeface="Inter Medium"/>
                <a:cs typeface="Inter Medium"/>
                <a:sym typeface="Inter Medium"/>
              </a:rPr>
              <a:t>Picture Generative AI Tools</a:t>
            </a:r>
            <a:endParaRPr b="0" i="0" sz="2650" u="none" cap="none" strike="noStrike"/>
          </a:p>
        </p:txBody>
      </p:sp>
      <p:pic>
        <p:nvPicPr>
          <p:cNvPr descr="preencoded.png" id="69" name="Google Shape;69;p4"/>
          <p:cNvPicPr preferRelativeResize="0"/>
          <p:nvPr/>
        </p:nvPicPr>
        <p:blipFill rotWithShape="1">
          <a:blip r:embed="rId6">
            <a:alphaModFix/>
          </a:blip>
          <a:srcRect b="0" l="0" r="0" t="0"/>
          <a:stretch/>
        </p:blipFill>
        <p:spPr>
          <a:xfrm>
            <a:off x="4345662" y="3653314"/>
            <a:ext cx="2296239" cy="847725"/>
          </a:xfrm>
          <a:prstGeom prst="rect">
            <a:avLst/>
          </a:prstGeom>
          <a:noFill/>
          <a:ln>
            <a:noFill/>
          </a:ln>
        </p:spPr>
      </p:pic>
      <p:pic>
        <p:nvPicPr>
          <p:cNvPr descr="preencoded.png" id="70" name="Google Shape;70;p4"/>
          <p:cNvPicPr preferRelativeResize="0"/>
          <p:nvPr/>
        </p:nvPicPr>
        <p:blipFill rotWithShape="1">
          <a:blip r:embed="rId7">
            <a:alphaModFix/>
          </a:blip>
          <a:srcRect b="0" l="0" r="0" t="0"/>
          <a:stretch/>
        </p:blipFill>
        <p:spPr>
          <a:xfrm>
            <a:off x="4345662" y="4756190"/>
            <a:ext cx="2156222" cy="592931"/>
          </a:xfrm>
          <a:prstGeom prst="rect">
            <a:avLst/>
          </a:prstGeom>
          <a:noFill/>
          <a:ln>
            <a:noFill/>
          </a:ln>
        </p:spPr>
      </p:pic>
      <p:pic>
        <p:nvPicPr>
          <p:cNvPr descr="preencoded.png" id="71" name="Google Shape;71;p4"/>
          <p:cNvPicPr preferRelativeResize="0"/>
          <p:nvPr/>
        </p:nvPicPr>
        <p:blipFill rotWithShape="1">
          <a:blip r:embed="rId8">
            <a:alphaModFix/>
          </a:blip>
          <a:srcRect b="0" l="0" r="0" t="0"/>
          <a:stretch/>
        </p:blipFill>
        <p:spPr>
          <a:xfrm>
            <a:off x="4345662" y="5604272"/>
            <a:ext cx="1610082" cy="905589"/>
          </a:xfrm>
          <a:prstGeom prst="rect">
            <a:avLst/>
          </a:prstGeom>
          <a:noFill/>
          <a:ln>
            <a:noFill/>
          </a:ln>
        </p:spPr>
      </p:pic>
      <p:sp>
        <p:nvSpPr>
          <p:cNvPr id="72" name="Google Shape;72;p4"/>
          <p:cNvSpPr/>
          <p:nvPr/>
        </p:nvSpPr>
        <p:spPr>
          <a:xfrm>
            <a:off x="4345662" y="6765012"/>
            <a:ext cx="262175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73" name="Google Shape;73;p4"/>
          <p:cNvSpPr/>
          <p:nvPr/>
        </p:nvSpPr>
        <p:spPr>
          <a:xfrm>
            <a:off x="7428667" y="1887855"/>
            <a:ext cx="3090624" cy="5474494"/>
          </a:xfrm>
          <a:prstGeom prst="roundRect">
            <a:avLst>
              <a:gd fmla="val 30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7663101" y="2122289"/>
            <a:ext cx="2621756" cy="1275874"/>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525"/>
              </a:buClr>
              <a:buSzPts val="2650"/>
              <a:buFont typeface="Inter Medium"/>
              <a:buNone/>
            </a:pPr>
            <a:r>
              <a:rPr b="0" i="0" lang="en-US" sz="2650" u="none" cap="none" strike="noStrike">
                <a:solidFill>
                  <a:srgbClr val="272525"/>
                </a:solidFill>
                <a:latin typeface="Inter Medium"/>
                <a:ea typeface="Inter Medium"/>
                <a:cs typeface="Inter Medium"/>
                <a:sym typeface="Inter Medium"/>
              </a:rPr>
              <a:t>Presentation &amp; </a:t>
            </a:r>
            <a:r>
              <a:rPr lang="en-US" sz="2650">
                <a:solidFill>
                  <a:srgbClr val="272525"/>
                </a:solidFill>
                <a:latin typeface="Inter Medium"/>
                <a:ea typeface="Inter Medium"/>
                <a:cs typeface="Inter Medium"/>
                <a:sym typeface="Inter Medium"/>
              </a:rPr>
              <a:t>Documentation</a:t>
            </a:r>
            <a:r>
              <a:rPr b="0" i="0" lang="en-US" sz="2650" u="none" cap="none" strike="noStrike">
                <a:solidFill>
                  <a:srgbClr val="272525"/>
                </a:solidFill>
                <a:latin typeface="Inter Medium"/>
                <a:ea typeface="Inter Medium"/>
                <a:cs typeface="Inter Medium"/>
                <a:sym typeface="Inter Medium"/>
              </a:rPr>
              <a:t> AI Tools</a:t>
            </a:r>
            <a:endParaRPr b="0" i="0" sz="2650" u="none" cap="none" strike="noStrike"/>
          </a:p>
        </p:txBody>
      </p:sp>
      <p:pic>
        <p:nvPicPr>
          <p:cNvPr descr="preencoded.png" id="75" name="Google Shape;75;p4"/>
          <p:cNvPicPr preferRelativeResize="0"/>
          <p:nvPr/>
        </p:nvPicPr>
        <p:blipFill rotWithShape="1">
          <a:blip r:embed="rId9">
            <a:alphaModFix/>
          </a:blip>
          <a:srcRect b="0" l="0" r="0" t="0"/>
          <a:stretch/>
        </p:blipFill>
        <p:spPr>
          <a:xfrm>
            <a:off x="7663101" y="3653314"/>
            <a:ext cx="2621756" cy="979884"/>
          </a:xfrm>
          <a:prstGeom prst="rect">
            <a:avLst/>
          </a:prstGeom>
          <a:noFill/>
          <a:ln>
            <a:noFill/>
          </a:ln>
        </p:spPr>
      </p:pic>
      <p:pic>
        <p:nvPicPr>
          <p:cNvPr descr="preencoded.png" id="76" name="Google Shape;76;p4"/>
          <p:cNvPicPr preferRelativeResize="0"/>
          <p:nvPr/>
        </p:nvPicPr>
        <p:blipFill rotWithShape="1">
          <a:blip r:embed="rId10">
            <a:alphaModFix/>
          </a:blip>
          <a:srcRect b="0" l="0" r="0" t="0"/>
          <a:stretch/>
        </p:blipFill>
        <p:spPr>
          <a:xfrm>
            <a:off x="7663101" y="4888349"/>
            <a:ext cx="2621756" cy="956310"/>
          </a:xfrm>
          <a:prstGeom prst="rect">
            <a:avLst/>
          </a:prstGeom>
          <a:noFill/>
          <a:ln>
            <a:noFill/>
          </a:ln>
        </p:spPr>
      </p:pic>
      <p:sp>
        <p:nvSpPr>
          <p:cNvPr id="77" name="Google Shape;77;p4"/>
          <p:cNvSpPr/>
          <p:nvPr/>
        </p:nvSpPr>
        <p:spPr>
          <a:xfrm>
            <a:off x="10746105" y="1887855"/>
            <a:ext cx="3090624" cy="5474494"/>
          </a:xfrm>
          <a:prstGeom prst="roundRect">
            <a:avLst>
              <a:gd fmla="val 30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10980539" y="2122289"/>
            <a:ext cx="2621756" cy="850583"/>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525"/>
              </a:buClr>
              <a:buSzPts val="2650"/>
              <a:buFont typeface="Inter Medium"/>
              <a:buNone/>
            </a:pPr>
            <a:r>
              <a:rPr b="0" i="0" lang="en-US" sz="2650" u="none" cap="none" strike="noStrike">
                <a:solidFill>
                  <a:srgbClr val="272525"/>
                </a:solidFill>
                <a:latin typeface="Inter Medium"/>
                <a:ea typeface="Inter Medium"/>
                <a:cs typeface="Inter Medium"/>
                <a:sym typeface="Inter Medium"/>
              </a:rPr>
              <a:t>Audio and Video AI Tools</a:t>
            </a:r>
            <a:endParaRPr b="0" i="0" sz="2650" u="none" cap="none" strike="noStrike"/>
          </a:p>
        </p:txBody>
      </p:sp>
      <p:pic>
        <p:nvPicPr>
          <p:cNvPr descr="preencoded.png" id="79" name="Google Shape;79;p4"/>
          <p:cNvPicPr preferRelativeResize="0"/>
          <p:nvPr/>
        </p:nvPicPr>
        <p:blipFill rotWithShape="1">
          <a:blip r:embed="rId11">
            <a:alphaModFix/>
          </a:blip>
          <a:srcRect b="0" l="0" r="0" t="0"/>
          <a:stretch/>
        </p:blipFill>
        <p:spPr>
          <a:xfrm>
            <a:off x="10980539" y="3228023"/>
            <a:ext cx="980003" cy="1175980"/>
          </a:xfrm>
          <a:prstGeom prst="rect">
            <a:avLst/>
          </a:prstGeom>
          <a:noFill/>
          <a:ln>
            <a:noFill/>
          </a:ln>
        </p:spPr>
      </p:pic>
      <p:pic>
        <p:nvPicPr>
          <p:cNvPr descr="preencoded.png" id="80" name="Google Shape;80;p4"/>
          <p:cNvPicPr preferRelativeResize="0"/>
          <p:nvPr/>
        </p:nvPicPr>
        <p:blipFill rotWithShape="1">
          <a:blip r:embed="rId12">
            <a:alphaModFix/>
          </a:blip>
          <a:srcRect b="0" l="0" r="0" t="0"/>
          <a:stretch/>
        </p:blipFill>
        <p:spPr>
          <a:xfrm>
            <a:off x="10980539" y="4659154"/>
            <a:ext cx="2100143" cy="563523"/>
          </a:xfrm>
          <a:prstGeom prst="rect">
            <a:avLst/>
          </a:prstGeom>
          <a:noFill/>
          <a:ln>
            <a:noFill/>
          </a:ln>
        </p:spPr>
      </p:pic>
      <p:pic>
        <p:nvPicPr>
          <p:cNvPr descr="preencoded.png" id="81" name="Google Shape;81;p4"/>
          <p:cNvPicPr preferRelativeResize="0"/>
          <p:nvPr/>
        </p:nvPicPr>
        <p:blipFill rotWithShape="1">
          <a:blip r:embed="rId13">
            <a:alphaModFix/>
          </a:blip>
          <a:srcRect b="0" l="0" r="0" t="0"/>
          <a:stretch/>
        </p:blipFill>
        <p:spPr>
          <a:xfrm>
            <a:off x="10980539" y="5477828"/>
            <a:ext cx="2058233" cy="581144"/>
          </a:xfrm>
          <a:prstGeom prst="rect">
            <a:avLst/>
          </a:prstGeom>
          <a:noFill/>
          <a:ln>
            <a:noFill/>
          </a:ln>
        </p:spPr>
      </p:pic>
      <p:pic>
        <p:nvPicPr>
          <p:cNvPr descr="preencoded.png" id="82" name="Google Shape;82;p4"/>
          <p:cNvPicPr preferRelativeResize="0"/>
          <p:nvPr/>
        </p:nvPicPr>
        <p:blipFill rotWithShape="1">
          <a:blip r:embed="rId14">
            <a:alphaModFix/>
          </a:blip>
          <a:srcRect b="0" l="0" r="0" t="0"/>
          <a:stretch/>
        </p:blipFill>
        <p:spPr>
          <a:xfrm>
            <a:off x="10980539" y="6314123"/>
            <a:ext cx="2324219" cy="5561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p:nvPr/>
        </p:nvSpPr>
        <p:spPr>
          <a:xfrm>
            <a:off x="2615825" y="623775"/>
            <a:ext cx="11220900" cy="1007400"/>
          </a:xfrm>
          <a:prstGeom prst="rect">
            <a:avLst/>
          </a:prstGeom>
          <a:noFill/>
          <a:ln>
            <a:noFill/>
          </a:ln>
        </p:spPr>
        <p:txBody>
          <a:bodyPr anchorCtr="0" anchor="t" bIns="0" lIns="0" spcFirstLastPara="1" rIns="0" wrap="square" tIns="0">
            <a:noAutofit/>
          </a:bodyPr>
          <a:lstStyle/>
          <a:p>
            <a:pPr indent="0" lvl="0" marL="0" marR="0" rtl="1" algn="r">
              <a:lnSpc>
                <a:spcPct val="124719"/>
              </a:lnSpc>
              <a:spcBef>
                <a:spcPts val="0"/>
              </a:spcBef>
              <a:spcAft>
                <a:spcPts val="0"/>
              </a:spcAft>
              <a:buClr>
                <a:srgbClr val="D75BE2"/>
              </a:buClr>
              <a:buSzPts val="4450"/>
              <a:buFont typeface="Inter Medium"/>
              <a:buNone/>
            </a:pPr>
            <a:r>
              <a:rPr b="1" i="0" lang="en-US" sz="4950" u="none" cap="none" strike="noStrike">
                <a:solidFill>
                  <a:srgbClr val="D75BE2"/>
                </a:solidFill>
                <a:latin typeface="Inter Medium"/>
                <a:ea typeface="Inter Medium"/>
                <a:cs typeface="Inter Medium"/>
                <a:sym typeface="Inter Medium"/>
              </a:rPr>
              <a:t>שימושים נפוצים לשימוש ב-AI</a:t>
            </a:r>
            <a:endParaRPr b="0" i="0" sz="4950" u="none" cap="none" strike="noStrike"/>
          </a:p>
        </p:txBody>
      </p:sp>
      <p:sp>
        <p:nvSpPr>
          <p:cNvPr id="89" name="Google Shape;89;p5"/>
          <p:cNvSpPr/>
          <p:nvPr/>
        </p:nvSpPr>
        <p:spPr>
          <a:xfrm>
            <a:off x="7428548" y="1789989"/>
            <a:ext cx="6408000" cy="2079000"/>
          </a:xfrm>
          <a:prstGeom prst="roundRect">
            <a:avLst>
              <a:gd fmla="val 45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900"/>
          </a:p>
        </p:txBody>
      </p:sp>
      <p:sp>
        <p:nvSpPr>
          <p:cNvPr id="90" name="Google Shape;90;p5"/>
          <p:cNvSpPr/>
          <p:nvPr/>
        </p:nvSpPr>
        <p:spPr>
          <a:xfrm>
            <a:off x="9065620" y="2020585"/>
            <a:ext cx="4536600" cy="567000"/>
          </a:xfrm>
          <a:prstGeom prst="rect">
            <a:avLst/>
          </a:prstGeom>
          <a:noFill/>
          <a:ln>
            <a:noFill/>
          </a:ln>
        </p:spPr>
        <p:txBody>
          <a:bodyPr anchorCtr="0" anchor="t" bIns="0" lIns="0" spcFirstLastPara="1" rIns="0" wrap="square" tIns="0">
            <a:noAutofit/>
          </a:bodyPr>
          <a:lstStyle/>
          <a:p>
            <a:pPr indent="0" lvl="0" marL="0" marR="0" rtl="1" algn="r">
              <a:lnSpc>
                <a:spcPct val="125352"/>
              </a:lnSpc>
              <a:spcBef>
                <a:spcPts val="0"/>
              </a:spcBef>
              <a:spcAft>
                <a:spcPts val="0"/>
              </a:spcAft>
              <a:buClr>
                <a:srgbClr val="272525"/>
              </a:buClr>
              <a:buSzPts val="3550"/>
              <a:buFont typeface="Inter Medium"/>
              <a:buNone/>
            </a:pPr>
            <a:r>
              <a:rPr b="0" i="0" lang="en-US" sz="4050" u="none" cap="none" strike="noStrike">
                <a:solidFill>
                  <a:srgbClr val="272525"/>
                </a:solidFill>
                <a:latin typeface="Inter Medium"/>
                <a:ea typeface="Inter Medium"/>
                <a:cs typeface="Inter Medium"/>
                <a:sym typeface="Inter Medium"/>
              </a:rPr>
              <a:t>כתיבה</a:t>
            </a:r>
            <a:endParaRPr b="0" i="0" sz="4050" u="none" cap="none" strike="noStrike"/>
          </a:p>
        </p:txBody>
      </p:sp>
      <p:sp>
        <p:nvSpPr>
          <p:cNvPr id="91" name="Google Shape;91;p5"/>
          <p:cNvSpPr/>
          <p:nvPr/>
        </p:nvSpPr>
        <p:spPr>
          <a:xfrm>
            <a:off x="7662982" y="2723674"/>
            <a:ext cx="5939195" cy="907018"/>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700" u="none" cap="none" strike="noStrike">
                <a:solidFill>
                  <a:srgbClr val="272525"/>
                </a:solidFill>
                <a:latin typeface="Inter"/>
                <a:ea typeface="Inter"/>
                <a:cs typeface="Inter"/>
                <a:sym typeface="Inter"/>
              </a:rPr>
              <a:t>יצירת תוכן יצירתי, תרגום שפות, כתיבת דוא"ל וביקורת מסמכים.</a:t>
            </a:r>
            <a:endParaRPr b="0" i="0" sz="2700" u="none" cap="none" strike="noStrike"/>
          </a:p>
        </p:txBody>
      </p:sp>
      <p:sp>
        <p:nvSpPr>
          <p:cNvPr id="92" name="Google Shape;92;p5"/>
          <p:cNvSpPr/>
          <p:nvPr/>
        </p:nvSpPr>
        <p:spPr>
          <a:xfrm>
            <a:off x="793671" y="1786176"/>
            <a:ext cx="6408063" cy="2078950"/>
          </a:xfrm>
          <a:prstGeom prst="roundRect">
            <a:avLst>
              <a:gd fmla="val 45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900"/>
          </a:p>
        </p:txBody>
      </p:sp>
      <p:sp>
        <p:nvSpPr>
          <p:cNvPr id="93" name="Google Shape;93;p5"/>
          <p:cNvSpPr/>
          <p:nvPr/>
        </p:nvSpPr>
        <p:spPr>
          <a:xfrm>
            <a:off x="2430780" y="2020610"/>
            <a:ext cx="4536519" cy="566976"/>
          </a:xfrm>
          <a:prstGeom prst="rect">
            <a:avLst/>
          </a:prstGeom>
          <a:noFill/>
          <a:ln>
            <a:noFill/>
          </a:ln>
        </p:spPr>
        <p:txBody>
          <a:bodyPr anchorCtr="0" anchor="t" bIns="0" lIns="0" spcFirstLastPara="1" rIns="0" wrap="square" tIns="0">
            <a:noAutofit/>
          </a:bodyPr>
          <a:lstStyle/>
          <a:p>
            <a:pPr indent="0" lvl="0" marL="0" marR="0" rtl="1" algn="r">
              <a:lnSpc>
                <a:spcPct val="125352"/>
              </a:lnSpc>
              <a:spcBef>
                <a:spcPts val="0"/>
              </a:spcBef>
              <a:spcAft>
                <a:spcPts val="0"/>
              </a:spcAft>
              <a:buClr>
                <a:srgbClr val="272525"/>
              </a:buClr>
              <a:buSzPts val="3550"/>
              <a:buFont typeface="Inter Medium"/>
              <a:buNone/>
            </a:pPr>
            <a:r>
              <a:rPr b="0" i="0" lang="en-US" sz="4050" u="none" cap="none" strike="noStrike">
                <a:solidFill>
                  <a:srgbClr val="272525"/>
                </a:solidFill>
                <a:latin typeface="Inter Medium"/>
                <a:ea typeface="Inter Medium"/>
                <a:cs typeface="Inter Medium"/>
                <a:sym typeface="Inter Medium"/>
              </a:rPr>
              <a:t>מחקר</a:t>
            </a:r>
            <a:endParaRPr b="0" i="0" sz="4050" u="none" cap="none" strike="noStrike"/>
          </a:p>
        </p:txBody>
      </p:sp>
      <p:sp>
        <p:nvSpPr>
          <p:cNvPr id="94" name="Google Shape;94;p5"/>
          <p:cNvSpPr/>
          <p:nvPr/>
        </p:nvSpPr>
        <p:spPr>
          <a:xfrm>
            <a:off x="1028105" y="2723674"/>
            <a:ext cx="5939195" cy="453509"/>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700" u="none" cap="none" strike="noStrike">
                <a:solidFill>
                  <a:srgbClr val="272525"/>
                </a:solidFill>
                <a:latin typeface="Inter"/>
                <a:ea typeface="Inter"/>
                <a:cs typeface="Inter"/>
                <a:sym typeface="Inter"/>
              </a:rPr>
              <a:t>מציאת מידע, סיכום מאמרים ומענה על שאלות.</a:t>
            </a:r>
            <a:endParaRPr b="0" i="0" sz="2700" u="none" cap="none" strike="noStrike"/>
          </a:p>
        </p:txBody>
      </p:sp>
      <p:sp>
        <p:nvSpPr>
          <p:cNvPr id="95" name="Google Shape;95;p5"/>
          <p:cNvSpPr/>
          <p:nvPr/>
        </p:nvSpPr>
        <p:spPr>
          <a:xfrm>
            <a:off x="7428548" y="4091940"/>
            <a:ext cx="6408063" cy="2078950"/>
          </a:xfrm>
          <a:prstGeom prst="roundRect">
            <a:avLst>
              <a:gd fmla="val 45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900"/>
          </a:p>
        </p:txBody>
      </p:sp>
      <p:sp>
        <p:nvSpPr>
          <p:cNvPr id="96" name="Google Shape;96;p5"/>
          <p:cNvSpPr/>
          <p:nvPr/>
        </p:nvSpPr>
        <p:spPr>
          <a:xfrm>
            <a:off x="9065657" y="4326374"/>
            <a:ext cx="4536519" cy="566976"/>
          </a:xfrm>
          <a:prstGeom prst="rect">
            <a:avLst/>
          </a:prstGeom>
          <a:noFill/>
          <a:ln>
            <a:noFill/>
          </a:ln>
        </p:spPr>
        <p:txBody>
          <a:bodyPr anchorCtr="0" anchor="t" bIns="0" lIns="0" spcFirstLastPara="1" rIns="0" wrap="square" tIns="0">
            <a:noAutofit/>
          </a:bodyPr>
          <a:lstStyle/>
          <a:p>
            <a:pPr indent="0" lvl="0" marL="0" marR="0" rtl="1" algn="r">
              <a:lnSpc>
                <a:spcPct val="125352"/>
              </a:lnSpc>
              <a:spcBef>
                <a:spcPts val="0"/>
              </a:spcBef>
              <a:spcAft>
                <a:spcPts val="0"/>
              </a:spcAft>
              <a:buClr>
                <a:srgbClr val="272525"/>
              </a:buClr>
              <a:buSzPts val="3550"/>
              <a:buFont typeface="Inter Medium"/>
              <a:buNone/>
            </a:pPr>
            <a:r>
              <a:rPr b="0" i="0" lang="en-US" sz="4050" u="none" cap="none" strike="noStrike">
                <a:solidFill>
                  <a:srgbClr val="272525"/>
                </a:solidFill>
                <a:latin typeface="Inter Medium"/>
                <a:ea typeface="Inter Medium"/>
                <a:cs typeface="Inter Medium"/>
                <a:sym typeface="Inter Medium"/>
              </a:rPr>
              <a:t>עיצוב</a:t>
            </a:r>
            <a:endParaRPr b="0" i="0" sz="4050" u="none" cap="none" strike="noStrike"/>
          </a:p>
        </p:txBody>
      </p:sp>
      <p:sp>
        <p:nvSpPr>
          <p:cNvPr id="97" name="Google Shape;97;p5"/>
          <p:cNvSpPr/>
          <p:nvPr/>
        </p:nvSpPr>
        <p:spPr>
          <a:xfrm>
            <a:off x="7662982" y="5029438"/>
            <a:ext cx="5939195" cy="453509"/>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700" u="none" cap="none" strike="noStrike">
                <a:solidFill>
                  <a:srgbClr val="272525"/>
                </a:solidFill>
                <a:latin typeface="Inter"/>
                <a:ea typeface="Inter"/>
                <a:cs typeface="Inter"/>
                <a:sym typeface="Inter"/>
              </a:rPr>
              <a:t>יצירת לוגואים, איורים ועיצובי אתרים.</a:t>
            </a:r>
            <a:endParaRPr b="0" i="0" sz="2700" u="none" cap="none" strike="noStrike"/>
          </a:p>
        </p:txBody>
      </p:sp>
      <p:sp>
        <p:nvSpPr>
          <p:cNvPr id="98" name="Google Shape;98;p5"/>
          <p:cNvSpPr/>
          <p:nvPr/>
        </p:nvSpPr>
        <p:spPr>
          <a:xfrm>
            <a:off x="793671" y="4091940"/>
            <a:ext cx="6408063" cy="2078950"/>
          </a:xfrm>
          <a:prstGeom prst="roundRect">
            <a:avLst>
              <a:gd fmla="val 458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900"/>
          </a:p>
        </p:txBody>
      </p:sp>
      <p:sp>
        <p:nvSpPr>
          <p:cNvPr id="99" name="Google Shape;99;p5"/>
          <p:cNvSpPr/>
          <p:nvPr/>
        </p:nvSpPr>
        <p:spPr>
          <a:xfrm>
            <a:off x="2430780" y="4326374"/>
            <a:ext cx="4536519" cy="566976"/>
          </a:xfrm>
          <a:prstGeom prst="rect">
            <a:avLst/>
          </a:prstGeom>
          <a:noFill/>
          <a:ln>
            <a:noFill/>
          </a:ln>
        </p:spPr>
        <p:txBody>
          <a:bodyPr anchorCtr="0" anchor="t" bIns="0" lIns="0" spcFirstLastPara="1" rIns="0" wrap="square" tIns="0">
            <a:noAutofit/>
          </a:bodyPr>
          <a:lstStyle/>
          <a:p>
            <a:pPr indent="0" lvl="0" marL="0" marR="0" rtl="1" algn="r">
              <a:lnSpc>
                <a:spcPct val="125352"/>
              </a:lnSpc>
              <a:spcBef>
                <a:spcPts val="0"/>
              </a:spcBef>
              <a:spcAft>
                <a:spcPts val="0"/>
              </a:spcAft>
              <a:buClr>
                <a:srgbClr val="272525"/>
              </a:buClr>
              <a:buSzPts val="3550"/>
              <a:buFont typeface="Inter Medium"/>
              <a:buNone/>
            </a:pPr>
            <a:r>
              <a:rPr b="0" i="0" lang="en-US" sz="4050" u="none" cap="none" strike="noStrike">
                <a:solidFill>
                  <a:srgbClr val="272525"/>
                </a:solidFill>
                <a:latin typeface="Inter Medium"/>
                <a:ea typeface="Inter Medium"/>
                <a:cs typeface="Inter Medium"/>
                <a:sym typeface="Inter Medium"/>
              </a:rPr>
              <a:t>פרודוקטיביות</a:t>
            </a:r>
            <a:endParaRPr b="0" i="0" sz="4050" u="none" cap="none" strike="noStrike"/>
          </a:p>
        </p:txBody>
      </p:sp>
      <p:sp>
        <p:nvSpPr>
          <p:cNvPr id="100" name="Google Shape;100;p5"/>
          <p:cNvSpPr/>
          <p:nvPr/>
        </p:nvSpPr>
        <p:spPr>
          <a:xfrm>
            <a:off x="1028105" y="5029438"/>
            <a:ext cx="5939195" cy="907018"/>
          </a:xfrm>
          <a:prstGeom prst="rect">
            <a:avLst/>
          </a:prstGeom>
          <a:noFill/>
          <a:ln>
            <a:noFill/>
          </a:ln>
        </p:spPr>
        <p:txBody>
          <a:bodyPr anchorCtr="0" anchor="t" bIns="0" lIns="0" spcFirstLastPara="1" rIns="0" wrap="square" tIns="0">
            <a:noAutofit/>
          </a:bodyPr>
          <a:lstStyle/>
          <a:p>
            <a:pPr indent="0" lvl="0" marL="0" marR="0" rtl="1" algn="r">
              <a:lnSpc>
                <a:spcPct val="161363"/>
              </a:lnSpc>
              <a:spcBef>
                <a:spcPts val="0"/>
              </a:spcBef>
              <a:spcAft>
                <a:spcPts val="0"/>
              </a:spcAft>
              <a:buClr>
                <a:srgbClr val="272525"/>
              </a:buClr>
              <a:buSzPts val="2200"/>
              <a:buFont typeface="Inter"/>
              <a:buNone/>
            </a:pPr>
            <a:r>
              <a:rPr b="0" i="0" lang="en-US" sz="2700" u="none" cap="none" strike="noStrike">
                <a:solidFill>
                  <a:srgbClr val="272525"/>
                </a:solidFill>
                <a:latin typeface="Inter"/>
                <a:ea typeface="Inter"/>
                <a:cs typeface="Inter"/>
                <a:sym typeface="Inter"/>
              </a:rPr>
              <a:t>תיאום פגישות, ניהול משימות ואוטומציה של עבודה חוזרת.</a:t>
            </a:r>
            <a:endParaRPr b="0" i="0" sz="27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p:nvPr/>
        </p:nvSpPr>
        <p:spPr>
          <a:xfrm>
            <a:off x="2389703" y="795613"/>
            <a:ext cx="9851100" cy="978300"/>
          </a:xfrm>
          <a:prstGeom prst="rect">
            <a:avLst/>
          </a:prstGeom>
          <a:noFill/>
          <a:ln>
            <a:noFill/>
          </a:ln>
        </p:spPr>
        <p:txBody>
          <a:bodyPr anchorCtr="0" anchor="t" bIns="0" lIns="0" spcFirstLastPara="1" rIns="0" wrap="square" tIns="0">
            <a:noAutofit/>
          </a:bodyPr>
          <a:lstStyle/>
          <a:p>
            <a:pPr indent="0" lvl="0" marL="0" marR="0" rtl="0" algn="ctr">
              <a:lnSpc>
                <a:spcPct val="125203"/>
              </a:lnSpc>
              <a:spcBef>
                <a:spcPts val="0"/>
              </a:spcBef>
              <a:spcAft>
                <a:spcPts val="0"/>
              </a:spcAft>
              <a:buClr>
                <a:srgbClr val="D75BE2"/>
              </a:buClr>
              <a:buSzPts val="6150"/>
              <a:buFont typeface="Inter Medium"/>
              <a:buNone/>
            </a:pPr>
            <a:r>
              <a:rPr b="0" i="0" lang="en-US" sz="6150" u="none" cap="none" strike="noStrike">
                <a:solidFill>
                  <a:srgbClr val="D75BE2"/>
                </a:solidFill>
                <a:latin typeface="Inter Medium"/>
                <a:ea typeface="Inter Medium"/>
                <a:cs typeface="Inter Medium"/>
                <a:sym typeface="Inter Medium"/>
              </a:rPr>
              <a:t>"There's An AI For That..!"</a:t>
            </a:r>
            <a:endParaRPr b="0" i="0" sz="6150" u="none" cap="none" strike="noStrike"/>
          </a:p>
        </p:txBody>
      </p:sp>
      <p:sp>
        <p:nvSpPr>
          <p:cNvPr id="107" name="Google Shape;107;p6"/>
          <p:cNvSpPr/>
          <p:nvPr/>
        </p:nvSpPr>
        <p:spPr>
          <a:xfrm>
            <a:off x="793790" y="2227458"/>
            <a:ext cx="13042800" cy="453600"/>
          </a:xfrm>
          <a:prstGeom prst="rect">
            <a:avLst/>
          </a:prstGeom>
          <a:noFill/>
          <a:ln>
            <a:noFill/>
          </a:ln>
        </p:spPr>
        <p:txBody>
          <a:bodyPr anchorCtr="0" anchor="t" bIns="0" lIns="0" spcFirstLastPara="1" rIns="0" wrap="square" tIns="0">
            <a:noAutofit/>
          </a:bodyPr>
          <a:lstStyle/>
          <a:p>
            <a:pPr indent="0" lvl="0" marL="0" marR="0" rtl="1" algn="ctr">
              <a:lnSpc>
                <a:spcPct val="161363"/>
              </a:lnSpc>
              <a:spcBef>
                <a:spcPts val="0"/>
              </a:spcBef>
              <a:spcAft>
                <a:spcPts val="0"/>
              </a:spcAft>
              <a:buClr>
                <a:srgbClr val="272525"/>
              </a:buClr>
              <a:buSzPts val="2200"/>
              <a:buFont typeface="Inter"/>
              <a:buNone/>
            </a:pPr>
            <a:r>
              <a:rPr b="0" i="0" lang="en-US" sz="2700" u="none" cap="none" strike="noStrike">
                <a:solidFill>
                  <a:srgbClr val="272525"/>
                </a:solidFill>
                <a:latin typeface="Inter"/>
                <a:ea typeface="Inter"/>
                <a:cs typeface="Inter"/>
                <a:sym typeface="Inter"/>
              </a:rPr>
              <a:t>אתר שמרכז את כ-ל כלי ה-AI, וניתן למצוא בו כלים בהתאם לשימושים שאתם צריכים!</a:t>
            </a:r>
            <a:endParaRPr b="0" i="0" sz="2700" u="none" cap="none" strike="noStrike"/>
          </a:p>
        </p:txBody>
      </p:sp>
      <p:pic>
        <p:nvPicPr>
          <p:cNvPr descr="preencoded.png" id="108" name="Google Shape;108;p6">
            <a:hlinkClick r:id="rId3"/>
          </p:cNvPr>
          <p:cNvPicPr preferRelativeResize="0"/>
          <p:nvPr/>
        </p:nvPicPr>
        <p:blipFill rotWithShape="1">
          <a:blip r:embed="rId4">
            <a:alphaModFix/>
          </a:blip>
          <a:srcRect b="0" l="0" r="0" t="0"/>
          <a:stretch/>
        </p:blipFill>
        <p:spPr>
          <a:xfrm>
            <a:off x="813911" y="3895618"/>
            <a:ext cx="13042821" cy="228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p:nvPr/>
        </p:nvSpPr>
        <p:spPr>
          <a:xfrm>
            <a:off x="3402449" y="3625691"/>
            <a:ext cx="7825502" cy="978218"/>
          </a:xfrm>
          <a:prstGeom prst="rect">
            <a:avLst/>
          </a:prstGeom>
          <a:noFill/>
          <a:ln>
            <a:noFill/>
          </a:ln>
        </p:spPr>
        <p:txBody>
          <a:bodyPr anchorCtr="0" anchor="t" bIns="0" lIns="0" spcFirstLastPara="1" rIns="0" wrap="square" tIns="0">
            <a:noAutofit/>
          </a:bodyPr>
          <a:lstStyle/>
          <a:p>
            <a:pPr indent="0" lvl="0" marL="0" marR="0" rtl="1" algn="ctr">
              <a:lnSpc>
                <a:spcPct val="125203"/>
              </a:lnSpc>
              <a:spcBef>
                <a:spcPts val="0"/>
              </a:spcBef>
              <a:spcAft>
                <a:spcPts val="0"/>
              </a:spcAft>
              <a:buClr>
                <a:srgbClr val="D75BE2"/>
              </a:buClr>
              <a:buSzPts val="6150"/>
              <a:buFont typeface="Inter Medium"/>
              <a:buNone/>
            </a:pPr>
            <a:r>
              <a:rPr b="1" lang="en-US" sz="6150">
                <a:solidFill>
                  <a:srgbClr val="D75BE2"/>
                </a:solidFill>
                <a:latin typeface="Inter"/>
                <a:ea typeface="Inter"/>
                <a:cs typeface="Inter"/>
                <a:sym typeface="Inter"/>
              </a:rPr>
              <a:t>שאלות ?</a:t>
            </a:r>
            <a:endParaRPr b="1" i="0" sz="61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2025-02-09T14:00:04Z</dcterms:created>
  <dc:creator>PptxGenJS</dc:creator>
</cp:coreProperties>
</file>