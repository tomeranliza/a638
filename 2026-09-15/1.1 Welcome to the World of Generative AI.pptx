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31"/>
  </p:sldIdLst>
  <p:sldSz cy="8229600" cx="14630400"/>
  <p:notesSz cx="8229600" cy="14630400"/>
  <p:embeddedFontLst>
    <p:embeddedFont>
      <p:font typeface="Inter"/>
      <p:regular r:id="rId22"/>
      <p:bold r:id="rId23"/>
      <p:italic r:id="rId24"/>
      <p:boldItalic r:id="rId25"/>
    </p:embeddedFont>
    <p:embeddedFont>
      <p:font typeface="Inter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dBC5prkXDPeS1b0vTYuH1U8cJ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Inter-regular.fntdata"/><Relationship Id="rId21" Type="http://schemas.openxmlformats.org/officeDocument/2006/relationships/slide" Target="slides/slide17.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terMedium-regular.fntdata"/><Relationship Id="rId25" Type="http://schemas.openxmlformats.org/officeDocument/2006/relationships/font" Target="fonts/Inter-boldItalic.fntdata"/><Relationship Id="rId28" Type="http://schemas.openxmlformats.org/officeDocument/2006/relationships/font" Target="fonts/InterMedium-italic.fntdata"/><Relationship Id="rId27" Type="http://schemas.openxmlformats.org/officeDocument/2006/relationships/font" Target="fonts/InterMedium-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Medium-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31"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הרצאת פתיחה ראשונה בקורס!</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מטרתה היכרות ראשונית והלהבה על עולם ה-AI.</a:t>
            </a:r>
            <a:endParaRPr/>
          </a:p>
        </p:txBody>
      </p:sp>
      <p:sp>
        <p:nvSpPr>
          <p:cNvPr id="61" name="Google Shape;6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בהרצאה היום נכיר איך הבינה המלאכותית כבר נמצאת בחיי היומיום שלנו ונעמיק אל העולם המרתק של בינה מלאכותית יוצרת.</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נבחן דוגמאות מעשיות לבינה מלאכותית יוצרת בפעולה, ונשוחח על ההתקדמות הטכנולוגית המהירה שמניעה את התחום הזה קדימה.</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לבסוף, נציץ אל מאחורי הקלעים של מודלים גדולים של שפה (LLMs) שמניעים מערכות רבות של בינה מלאכותית יוצרת.</a:t>
            </a:r>
            <a:endParaRPr/>
          </a:p>
        </p:txBody>
      </p:sp>
      <p:sp>
        <p:nvSpPr>
          <p:cNvPr id="70" name="Google Shape;7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לפני שנצלול לתוכן ההרצאה: בריינסטורמין עם הסטודנטים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שאלה לקהל - מה הם יודעים על בינה מלאכותית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איפה הם נתקלו בבינה מלאכותית עד עכשיו?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דוגמאות לשימושים של בינה מלאכותית שמקיפים אותנו: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צ'אט גיפיטי, מערכת ההמלצות של נטפליקס, חיזוי רווחים של חברות.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המטרה של השיח עם הסטודנטים היא לעורר אצלם חשיבה על מה זה בינה מלאכותית,כך שהם יבינו שבמציאות היום משתמשים באותה מילה למגוון מאוד רחב של שימושים ותופעות ויתחילו לקבל אינטואיציה על המובנים הרחבים בהם היא משפרת את החיים שלנו.</a:t>
            </a:r>
            <a:endParaRPr/>
          </a:p>
        </p:txBody>
      </p:sp>
      <p:sp>
        <p:nvSpPr>
          <p:cNvPr id="81" name="Google Shape;8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הסבר ספציפי על מה זה בינה מלאכותית ג'נרטיבית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הבינה המלאכותית הגנרטיבית סוג מסויים של בינה מלאכותית. היא טכנולוגיה עוצמתית שמסוגלת ליצור תוכן חדש ומקורי, כמו תמונות, טקסט ושמע, ולא רק לנתח נתונים קיימים. הטכנולוגיה הזו מנצלת מודלים גדולים של שפה ולמידה עמוקה כדי ליצור תוצרים שנראים מציאותיים ויכולים לשמש במגוון יישומים.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באמצעות הבינה המלאכותית הגנרטיבית, ניתן ליצור תוכן באופן אוטומטי, מה שמוביל לייצור מהיר וניתן להרחבה של תוכן במגוון רחב של תעשיות. טכנולוגיה זו מאפשרת יצירת מאמרים, סיפורים ושירה בצורה אוטומטית, מה שמקל על תהליכי הכתיבה והפקת התוכן.</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בנוסף, הבינה המלאכותית הגנרטיבית הראתה יכולות מרשימות בתחומים נוספים כמו הלחנת מוזיקה, שם היא יוצרת יצירות מוזיקליות מקוריות, ויצירת אמנות חזותית, שבה היא יוצרת תמונות ואיורים ייחודיים ודמיוניים.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היכולת של הבינה המלאכותית הגנרטיבית ליצור תוכן חדש פותחת אפשרויות חדשות ויצירתיות בתחומים רבים, ומביאה לשיפור ושדרוג התהליכים היצירתיים בעידן הדיגיטלי.</a:t>
            </a:r>
            <a:endParaRPr/>
          </a:p>
        </p:txBody>
      </p:sp>
      <p:sp>
        <p:nvSpPr>
          <p:cNvPr id="87" name="Google Shape;8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98" name="Google Shape;9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lang="en-US" sz="1200">
                <a:solidFill>
                  <a:schemeClr val="dk1"/>
                </a:solidFill>
                <a:latin typeface="Arial"/>
                <a:ea typeface="Arial"/>
                <a:cs typeface="Arial"/>
                <a:sym typeface="Arial"/>
              </a:rPr>
              <a:t>להסביר להם שצ'אט גיפיטי הוא רק פלטפורמת AI אחת ספציפית ליצירת תוכן (ושהיא מולטימודלית, כלומר, מאפשר יצירה בתוכה של כמה סוגי תוכן), אבל שיש לנו עוד מגוון מודלים שמייצרים סוגים שונים של תוכן: טקסט, תמונה, מוזיקה, וידאו, קטעי קוד, ועוד.</a:t>
            </a:r>
            <a:endParaRPr/>
          </a:p>
        </p:txBody>
      </p:sp>
      <p:sp>
        <p:nvSpPr>
          <p:cNvPr id="105" name="Google Shape;10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lang="en-US" sz="1200">
                <a:solidFill>
                  <a:schemeClr val="dk1"/>
                </a:solidFill>
                <a:latin typeface="Arial"/>
                <a:ea typeface="Arial"/>
                <a:cs typeface="Arial"/>
                <a:sym typeface="Arial"/>
              </a:rPr>
              <a:t>בקצה המזלג על הטכנולוגיה שנמצאת מאחורי הקלעים שנקראית LLM . להסביר להם שתהיה לנו הרצאת העמקה שלמה בכל העולם של בינה מלאכותית וLLMs שבסופה אנחנו מקווים שהם יבינו טוב יותר שלא מדובר בקסם אלא בטכנולוגיה.</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בינה מלאכותית גנרטיבית מייצגת חזית חדשה ומרתקת בתחום הבינה המלאכותית, עם התקדמות משמעותית בשנים האחרונות. התקדמויות אלו מונעות על ידי מספר גורמים מרכזיים.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ראשית, מודלי הלמידה העמוקה הפכו לחזקים ויעילים יותר, מה שמאפשר פיתוח מערכות בינה מלאכותית מתוחכמות ובעלות יכולות גבוהות יותר. טכנולוגיות אלו מסוגלות לעבד מידע בצורה מדויקת ומעמיקה יותר, מה שמוביל ליצירת תוצרים באיכות גבוהה יותר.</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שנית, הזמינות של מאגרי נתונים עצומים לצורך אימון מודלים אלו הייתה קריטית. מאגרי נתונים גדולים מאפשרים למודלים ללמוד מכמויות אדירות של מידע, להבין דפוסים מורכבים ולהשתפר בצורה מתמדת. הנתונים הרבים מאפשרים למערכות אלו ללמוד בצורה מקיפה ולפתח יכולות מרשימות.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שלישית, כוח המחשוב והתשתיות הנדרשים לאימון והפעלת מודלים אלו חוו שיפורים משמעותיים. התקדמות בטכנולוגיות מחשוב ובתשתיות מאפשרת להריץ מודלים גדולים ומורכבים בזמן קצר יותר וביעילות גבוהה יותר.</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יחד, התקדמויות אלו פתחו אפשרויות חדשות בתחום הבינה המלאכותית הגנרטיבית, המאפשרות יצירה אוטומטית של תוכן בקצב מהיר ובהיקפים גדולים. טכנולוגיה זו משמשת בתחומים כמו כתיבה יצירתית, הלחנת מוזיקה ויצירת אמנות חזותית. יצירת תכנים אוטומטית מאפשרת לאנשי מקצוע בתחומים אלו להגביר את הפרודוקטיביות, לייצר תכנים חדשניים ומרתקים, ולהתמקד באספקטים היצירתיים ביותר של עבודתם.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הולכת להיות בהמשך הרצאה שלמה על האספקטים הטכנולוגיים של הבינה המלאכותית.</a:t>
            </a:r>
            <a:endParaRPr/>
          </a:p>
        </p:txBody>
      </p:sp>
      <p:sp>
        <p:nvSpPr>
          <p:cNvPr id="132" name="Google Shape;13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lang="en-US" sz="1200">
                <a:solidFill>
                  <a:schemeClr val="dk1"/>
                </a:solidFill>
                <a:latin typeface="Arial"/>
                <a:ea typeface="Arial"/>
                <a:cs typeface="Arial"/>
                <a:sym typeface="Arial"/>
              </a:rPr>
              <a:t>לפני שנצלול לתוכן ההרצאה: בריינסטורמין עם הסטודנטים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שאלה לקהל - מה הם יודעים על AI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איפה הם נתקלו ב-AI עד עכשיו?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דוגמאות לשימושים של בינה מלאכותית שמקיפים אותנו: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צ'אט גיפיטי, מערכת המלצות של נטפליקס, חיזוי רווחים של חברות.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המטרה של השיח עם הסטודנטים היא לעורר אצלם חשיבה על מה זה AI,כך שהם יבינו שבמציאות היום משתמשים באותה מילה למגוון מאוד רחב של שימושים ותופעות ויתחילו לקבל אינטואיציה על המובנים הרחבים בהם היא משפרת את החיים שלנו.</a:t>
            </a:r>
            <a:endParaRPr/>
          </a:p>
        </p:txBody>
      </p:sp>
      <p:sp>
        <p:nvSpPr>
          <p:cNvPr id="156" name="Google Shape;15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lang="en-US" sz="1200">
                <a:solidFill>
                  <a:schemeClr val="dk1"/>
                </a:solidFill>
                <a:latin typeface="Arial"/>
                <a:ea typeface="Arial"/>
                <a:cs typeface="Arial"/>
                <a:sym typeface="Arial"/>
              </a:rPr>
              <a:t>אז מה זה בינה מלאכותית שיחתית?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בואו נתחיל בלדמיין משהו: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דמיינו שיש לכם עוזר אישי, אבל לא סתם עוזר. זה עוזר שאתם יכולים לדבר איתו בדיוק כמו שאתם מדברים עם חבר טוב. אתם יכולים לשאול אותו שאלות, לבקש עזרה במשימות, או אפילו לבקש ממנו רעיונות יצירתיים - והכל בשיחה טבעית, כאילו אתם מדברים עם בן אדם אמיתי.</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העוזר הזה מבין בדיוק מה אתם אומרים. הוא קולט את הניואנסים בשפה שלכם, מבין את ההקשר, ואפילו יכול להבין רמזים עדינים או הומור. והוא לא רק מבין - הוא גם מגיב בצורה חכמה ומועילה.</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זה הרעיון מאחורי בינה מלאכותית שיחתית!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מה זה בעצם אומר? בינה מלאכותית שיחתית היא תחום בטכנולוגיה שעוסק בפיתוח מערכות מחשב שיכולות לנהל שיחה מורכבת ורב-ממדית עם בני אדם. זה כמו ללמד מחשבים לא רק לדבר, אלא גם להקשיב, להבין, ולהגיב בצורה שמרגישה טבעית ואנושית.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אבל זה לא רק עניין של שיחה נעימה. בינה מלאכותית שיחתית פותחת בפנינו עולם שלם של אפשרויות: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היא יכולה לעזור לנו במשימות יומיומיות - מתזכורות פשוטות ועד ניהול לוח זמנים מורכב.</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היא יכולה לספק מידע מדויק ועדכני על כל נושא שמעניין אותנו.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היא יכולה לסייע בפתרון בעיות מורכבות, תוך כדי ניתוח נתונים והצעת פתרונות יצירתיים.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ואפילו בתחום היצירה - היא יכולה לעזור בכתיבה, בעיצוב, ובפיתוח רעיונות חדשים.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חשוב להבין שבינה מלאכותית שיחתית היא יותר מסתם תוכנה שמגיבה לפקודות. היא מייצגת שינוי מהותי באופן שבו אנחנו מתקשרים עם טכנולוגיה - בזכותה אנחנו יכולים לתקשר איתה בצורה שמרגישה ונחוויית כאנושית..! זוהי טכנולוגיה שהופכת את האינטראקציה עם מחשבים לטבעית, אינטואיטיבית ונגישה יותר מאי פעם.</a:t>
            </a:r>
            <a:endParaRPr/>
          </a:p>
        </p:txBody>
      </p:sp>
      <p:sp>
        <p:nvSpPr>
          <p:cNvPr id="163" name="Google Shape;16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lang="en-US" sz="1200">
                <a:solidFill>
                  <a:schemeClr val="dk1"/>
                </a:solidFill>
                <a:latin typeface="Arial"/>
                <a:ea typeface="Arial"/>
                <a:cs typeface="Arial"/>
                <a:sym typeface="Arial"/>
              </a:rPr>
              <a:t>אז מה היכולות המיוחדות של בינה מלאכותית שיחתית?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זה שהיא מבינה שפה אנושית, ויודעת לייצר אותה</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זה שהיא מייצרת תוכן יש מאין.</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חשוב להבין - בינה מלאכותית שיחתית == כל כלי AI שהאינטראקציה איתו היא מבוססת שיחה. הכלי עצמו יכול לעשות הרבה דברים ולאו דווקא רק לייצר לנו תוכן מילולי, ועדיין, אנחנו נקרא לו בינה מלאכותית שיחתית.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בהמשך השיעורים אנחנו נכיר קצת יותר את הטכנולוגיה שנמצאת שם מאחורי הקלעים ונבין איך ייצרו את הדבר המהפכני הזה.</a:t>
            </a:r>
            <a:endParaRPr/>
          </a:p>
        </p:txBody>
      </p:sp>
      <p:sp>
        <p:nvSpPr>
          <p:cNvPr id="173" name="Google Shape;17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SzPts val="1100"/>
              <a:buNone/>
            </a:pPr>
            <a:r>
              <a:rPr lang="en-US" sz="1200">
                <a:solidFill>
                  <a:schemeClr val="dk1"/>
                </a:solidFill>
                <a:latin typeface="Arial"/>
                <a:ea typeface="Arial"/>
                <a:cs typeface="Arial"/>
                <a:sym typeface="Arial"/>
              </a:rPr>
              <a:t>ישנם המון מודלים של בינה מלאכותית שיחתית (==LLM). נכיר שלושה מהם שנכון להיות הם מובילים בתחום: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צ'אטג'יפיטי (ChatGPT) • פותח על ידי OpenAI • הייחוד של צ'אטג'יפיטי הוא ביכולת יוצאת הדופן שלו ליצור תוכן יצירתי. מה זה אומר? נניח שאתם רוצים שיר, קוד תכנות, תסריט, יצירה מוזיקלית, אימייל או מכתב - צ'אטג'יפיטי יכול ליצור את כל אלה ועוד. • מעבר לכך, הוא מסוגל לנהל שיחה ולערוך סיעור מוחות במגוון רחב של נושאים. זה כמו לשוחח עם מומחה שיש לו ידע עצום במגוון תחומים.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ג'מיני (Gemini) • פותח על ידי Google AI • ג'מיני הוא מודל שפה עוצמתי ורב-תכליתי. מה שמייחד אותו הוא הגישה למידע העדכני ביותר, הודות לנגישות שלו למאגרי המידע העצומים של גוגל. • יתרון נוסף של ג'מיני הוא היכולת שלו להתחבר למערכת האקולוגית של גוגל. זה אומר שהוא יכול לעבוד בשילוב עם שירותים כמו Gmail, Google Maps ועוד, מה שמאפשר אינטגרציה חלקה עם כלים שרבים מאיתנו משתמשים בהם יום-יום.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קלוד (Claude) • פותח על ידי Anthropic • קלוד תוכנן במיוחד להיות בטוח ומועיל. הדגש כאן הוא על אמינות ועל יצירת אינטראקציות חיוביות ובטוחות. • היכולות של קלוד מרשימות במיוחד בתחומים כמו סיכום מידע, כתיבה יצירתית במגוון סגנונות, ומתן תשובות מקיפות ומעמיקות לשאלות.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כל כלי מעט שונה מהאחר מבחינת היתרון היחסי שלו על פני האחרים. נבין את זה יותר בהמשך כשנעמיק ונכיר כל אחד מהם.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עוד חשוב לזכור זה ששלושת החברות נמצאות בתחרות וכל הזמן מוציאות עוד ועוד פיתוחים חדשים, אז מאזן הכוחות ביניהן משתנה תדיר.</a:t>
            </a:r>
            <a:endParaRPr/>
          </a:p>
        </p:txBody>
      </p:sp>
      <p:sp>
        <p:nvSpPr>
          <p:cNvPr id="187" name="Google Shape;18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ראינו כבר מוקדם בהרצאה יותר הדגמות על הפלטפורמה</a:t>
            </a:r>
            <a:endParaRPr/>
          </a:p>
        </p:txBody>
      </p:sp>
      <p:sp>
        <p:nvSpPr>
          <p:cNvPr id="215" name="Google Shape;21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להכיר את ג'מיני:</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לא לפתוח חלונית הדגמה, רק להראות את הפריוויו שנמצא פה בתמונה במצגת.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זה שהפריוויו בעברית כי הוא באינטרגציה גבוהה מאוד עם גוגל, כך שהוא יודע שהשפה שלי היא עברית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שורת החיפוש, צ'אטים של העבר, האינטגרציה עם גוגל.</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להסביר שיהיו לנו שיעורי העמקה על הפלטפורמה הספציפית הזו. </a:t>
            </a:r>
            <a:endParaRPr/>
          </a:p>
        </p:txBody>
      </p:sp>
      <p:sp>
        <p:nvSpPr>
          <p:cNvPr id="222" name="Google Shape;22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להציג את הפריוויו של קלוד.</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מסך הכניסה בו אני כותבת את מה שאני רוצה, למטה יש צ'אטים מהעבר.</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להסביר שיהיו לנו שיעורי העמקה על הפלטפורמה הספציפית הזו.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endParaRPr/>
          </a:p>
        </p:txBody>
      </p:sp>
      <p:sp>
        <p:nvSpPr>
          <p:cNvPr id="229" name="Google Shape;22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להסביר לסטודנטים שעכשיו כבר לסקור כמה גייד-ליינס לעבודה וכתיבה עם מודלי שפה, אבל שבהמשך יהיו לנו שיעורי העמקה בנושא.</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טיפים לשיחה עם בינה מלאכותית:</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היו ברורים, ספציפיים ופשוטים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השתמשו בשפה פשוטה ומדויקת כדי לומר בדיוק מה אתם צריכים.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אל תניחו ידע קודם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אל תניחו שהבינה המלאכותית יודעת על מה אתם מדברים. הסבירו בצורה ברורה ומפורטת ותנו לה את כל המידע שהיא צריכה בשביל להצליח לייצר לכם את המענה הטוב ביותר.</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תגדיר את התפקיד של ה-AI</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להגדיר לו מי אתם רוצים שהוא יהיה. זה עוזר לו להתכוונן ל'דמות' דרכה הוא צריך לייצר את התוכן המבוקש. לדוגמא: "אתה מחנך של כיתה ח' במדינת ישראל".</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תגדיר את קהל היעד שלך</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מי קהל היעד של התוצר הנדרש? עוזר לצ'אט להכווין את רמת ההעמקה של ההסבר, המשלב הלשוני וכו'.</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קחו את זה צעד אחר צעד</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עבור משימות גדולות, חלקו אותן לחלקים קטנים יותר ובקשה לפי שלבים.</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היו סבלניים ונהלו שיחה עם הצ'אט</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לרוב אתם לא תקבלו את התשובה האופטימלית על הפרומפט הראשון. אתם צריכים להיות סבלניים, לעבוד איתו ולדייק אותו, עד שתקבלו את התשובה האופטימלית.</a:t>
            </a:r>
            <a:endParaRPr/>
          </a:p>
        </p:txBody>
      </p:sp>
      <p:sp>
        <p:nvSpPr>
          <p:cNvPr id="237" name="Google Shape;237;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להסביר לסטודנטים את החשיבו בלזכור את זה שלא מדובר בבן אדם..! מדובר במודל חישובי שאומן על לג'נרט ליוזר תשובה ולעשות את זה בצורה של שיחה.</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מתוקף כך, יש למודלים הללו לא מעט מגבלות שצריך להכיר ולקחת אותן בחשבון. אנחנו נתחיל כבר לדבר עליהן בשבוע הקרוב ובהמשך הקורס יהיו יחידות העמקה שלמות בנושא.</a:t>
            </a:r>
            <a:endParaRPr/>
          </a:p>
        </p:txBody>
      </p:sp>
      <p:sp>
        <p:nvSpPr>
          <p:cNvPr id="261" name="Google Shape;26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70" name="Google Shape;27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מקור: יומן הכיתה A638, לשונית לוז וסילבוס. https://docs.google.com/spreadsheets/d/13ZHioYZC5Cj8xnK658b42fj_zAuy29W9gV63_vwYFWU/edit#gid=2101570606</a:t>
            </a:r>
          </a:p>
        </p:txBody>
      </p:sp>
      <p:sp>
        <p:nvSpPr>
          <p:cNvPr id="70" name="Google Shape;7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6" name="Shape 6"/>
        <p:cNvGrpSpPr/>
        <p:nvPr/>
      </p:nvGrpSpPr>
      <p:grpSpPr>
        <a:xfrm>
          <a:off x="0" y="0"/>
          <a:ext cx="0" cy="0"/>
          <a:chOff x="0" y="0"/>
          <a:chExt cx="0" cy="0"/>
        </a:xfrm>
      </p:grpSpPr>
      <p:sp>
        <p:nvSpPr>
          <p:cNvPr id="7" name="Google Shape;7;p1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9" name="Shape 9"/>
        <p:cNvGrpSpPr/>
        <p:nvPr/>
      </p:nvGrpSpPr>
      <p:grpSpPr>
        <a:xfrm>
          <a:off x="0" y="0"/>
          <a:ext cx="0" cy="0"/>
          <a:chOff x="0" y="0"/>
          <a:chExt cx="0" cy="0"/>
        </a:xfrm>
      </p:grpSpPr>
      <p:sp>
        <p:nvSpPr>
          <p:cNvPr id="10" name="Google Shape;10;p2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2" name="Shape 12"/>
        <p:cNvGrpSpPr/>
        <p:nvPr/>
      </p:nvGrpSpPr>
      <p:grpSpPr>
        <a:xfrm>
          <a:off x="0" y="0"/>
          <a:ext cx="0" cy="0"/>
          <a:chOff x="0" y="0"/>
          <a:chExt cx="0" cy="0"/>
        </a:xfrm>
      </p:grpSpPr>
      <p:sp>
        <p:nvSpPr>
          <p:cNvPr id="13" name="Google Shape;13;p2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5" name="Shape 15"/>
        <p:cNvGrpSpPr/>
        <p:nvPr/>
      </p:nvGrpSpPr>
      <p:grpSpPr>
        <a:xfrm>
          <a:off x="0" y="0"/>
          <a:ext cx="0" cy="0"/>
          <a:chOff x="0" y="0"/>
          <a:chExt cx="0" cy="0"/>
        </a:xfrm>
      </p:grpSpPr>
      <p:sp>
        <p:nvSpPr>
          <p:cNvPr id="16" name="Google Shape;16;p2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18" name="Shape 18"/>
        <p:cNvGrpSpPr/>
        <p:nvPr/>
      </p:nvGrpSpPr>
      <p:grpSpPr>
        <a:xfrm>
          <a:off x="0" y="0"/>
          <a:ext cx="0" cy="0"/>
          <a:chOff x="0" y="0"/>
          <a:chExt cx="0" cy="0"/>
        </a:xfrm>
      </p:grpSpPr>
      <p:sp>
        <p:nvSpPr>
          <p:cNvPr id="19" name="Google Shape;19;p2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1" name="Shape 21"/>
        <p:cNvGrpSpPr/>
        <p:nvPr/>
      </p:nvGrpSpPr>
      <p:grpSpPr>
        <a:xfrm>
          <a:off x="0" y="0"/>
          <a:ext cx="0" cy="0"/>
          <a:chOff x="0" y="0"/>
          <a:chExt cx="0" cy="0"/>
        </a:xfrm>
      </p:grpSpPr>
      <p:sp>
        <p:nvSpPr>
          <p:cNvPr id="22" name="Google Shape;22;p2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4" name="Shape 24"/>
        <p:cNvGrpSpPr/>
        <p:nvPr/>
      </p:nvGrpSpPr>
      <p:grpSpPr>
        <a:xfrm>
          <a:off x="0" y="0"/>
          <a:ext cx="0" cy="0"/>
          <a:chOff x="0" y="0"/>
          <a:chExt cx="0" cy="0"/>
        </a:xfrm>
      </p:grpSpPr>
      <p:sp>
        <p:nvSpPr>
          <p:cNvPr id="25" name="Google Shape;25;p2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27" name="Shape 27"/>
        <p:cNvGrpSpPr/>
        <p:nvPr/>
      </p:nvGrpSpPr>
      <p:grpSpPr>
        <a:xfrm>
          <a:off x="0" y="0"/>
          <a:ext cx="0" cy="0"/>
          <a:chOff x="0" y="0"/>
          <a:chExt cx="0" cy="0"/>
        </a:xfrm>
      </p:grpSpPr>
      <p:sp>
        <p:nvSpPr>
          <p:cNvPr id="28" name="Google Shape;28;p2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0" name="Shape 30"/>
        <p:cNvGrpSpPr/>
        <p:nvPr/>
      </p:nvGrpSpPr>
      <p:grpSpPr>
        <a:xfrm>
          <a:off x="0" y="0"/>
          <a:ext cx="0" cy="0"/>
          <a:chOff x="0" y="0"/>
          <a:chExt cx="0" cy="0"/>
        </a:xfrm>
      </p:grpSpPr>
      <p:sp>
        <p:nvSpPr>
          <p:cNvPr id="31" name="Google Shape;31;p2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3" name="Shape 33"/>
        <p:cNvGrpSpPr/>
        <p:nvPr/>
      </p:nvGrpSpPr>
      <p:grpSpPr>
        <a:xfrm>
          <a:off x="0" y="0"/>
          <a:ext cx="0" cy="0"/>
          <a:chOff x="0" y="0"/>
          <a:chExt cx="0" cy="0"/>
        </a:xfrm>
      </p:grpSpPr>
      <p:sp>
        <p:nvSpPr>
          <p:cNvPr id="34" name="Google Shape;34;p2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36" name="Shape 36"/>
        <p:cNvGrpSpPr/>
        <p:nvPr/>
      </p:nvGrpSpPr>
      <p:grpSpPr>
        <a:xfrm>
          <a:off x="0" y="0"/>
          <a:ext cx="0" cy="0"/>
          <a:chOff x="0" y="0"/>
          <a:chExt cx="0" cy="0"/>
        </a:xfrm>
      </p:grpSpPr>
      <p:sp>
        <p:nvSpPr>
          <p:cNvPr id="37" name="Google Shape;37;p2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39" name="Shape 39"/>
        <p:cNvGrpSpPr/>
        <p:nvPr/>
      </p:nvGrpSpPr>
      <p:grpSpPr>
        <a:xfrm>
          <a:off x="0" y="0"/>
          <a:ext cx="0" cy="0"/>
          <a:chOff x="0" y="0"/>
          <a:chExt cx="0" cy="0"/>
        </a:xfrm>
      </p:grpSpPr>
      <p:sp>
        <p:nvSpPr>
          <p:cNvPr id="40" name="Google Shape;40;p3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2" name="Shape 42"/>
        <p:cNvGrpSpPr/>
        <p:nvPr/>
      </p:nvGrpSpPr>
      <p:grpSpPr>
        <a:xfrm>
          <a:off x="0" y="0"/>
          <a:ext cx="0" cy="0"/>
          <a:chOff x="0" y="0"/>
          <a:chExt cx="0" cy="0"/>
        </a:xfrm>
      </p:grpSpPr>
      <p:sp>
        <p:nvSpPr>
          <p:cNvPr id="43" name="Google Shape;43;p3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3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5" name="Shape 45"/>
        <p:cNvGrpSpPr/>
        <p:nvPr/>
      </p:nvGrpSpPr>
      <p:grpSpPr>
        <a:xfrm>
          <a:off x="0" y="0"/>
          <a:ext cx="0" cy="0"/>
          <a:chOff x="0" y="0"/>
          <a:chExt cx="0" cy="0"/>
        </a:xfrm>
      </p:grpSpPr>
      <p:sp>
        <p:nvSpPr>
          <p:cNvPr id="46" name="Google Shape;46;p3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48" name="Shape 48"/>
        <p:cNvGrpSpPr/>
        <p:nvPr/>
      </p:nvGrpSpPr>
      <p:grpSpPr>
        <a:xfrm>
          <a:off x="0" y="0"/>
          <a:ext cx="0" cy="0"/>
          <a:chOff x="0" y="0"/>
          <a:chExt cx="0" cy="0"/>
        </a:xfrm>
      </p:grpSpPr>
      <p:sp>
        <p:nvSpPr>
          <p:cNvPr id="49" name="Google Shape;49;p3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51" name="Shape 51"/>
        <p:cNvGrpSpPr/>
        <p:nvPr/>
      </p:nvGrpSpPr>
      <p:grpSpPr>
        <a:xfrm>
          <a:off x="0" y="0"/>
          <a:ext cx="0" cy="0"/>
          <a:chOff x="0" y="0"/>
          <a:chExt cx="0" cy="0"/>
        </a:xfrm>
      </p:grpSpPr>
      <p:sp>
        <p:nvSpPr>
          <p:cNvPr id="52" name="Google Shape;52;p3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54" name="Shape 54"/>
        <p:cNvGrpSpPr/>
        <p:nvPr/>
      </p:nvGrpSpPr>
      <p:grpSpPr>
        <a:xfrm>
          <a:off x="0" y="0"/>
          <a:ext cx="0" cy="0"/>
          <a:chOff x="0" y="0"/>
          <a:chExt cx="0" cy="0"/>
        </a:xfrm>
      </p:grpSpPr>
      <p:sp>
        <p:nvSpPr>
          <p:cNvPr id="55" name="Google Shape;55;p3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3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7" name="Shape 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0" Type="http://schemas.openxmlformats.org/officeDocument/2006/relationships/image" Target="../media/image19.png"/><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descr="preencoded.png" id="63" name="Google Shape;63;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4" name="Google Shape;64;p1"/>
          <p:cNvSpPr/>
          <p:nvPr/>
        </p:nvSpPr>
        <p:spPr>
          <a:xfrm>
            <a:off x="6425925" y="1140975"/>
            <a:ext cx="7265100" cy="3729300"/>
          </a:xfrm>
          <a:prstGeom prst="rect">
            <a:avLst/>
          </a:prstGeom>
          <a:noFill/>
          <a:ln>
            <a:noFill/>
          </a:ln>
        </p:spPr>
        <p:txBody>
          <a:bodyPr anchorCtr="0" anchor="t" bIns="0" lIns="0" spcFirstLastPara="1" rIns="0" wrap="square" tIns="0">
            <a:noAutofit/>
          </a:bodyPr>
          <a:lstStyle/>
          <a:p>
            <a:pPr indent="0" lvl="0" marL="0" marR="0" rtl="1" algn="ctr">
              <a:lnSpc>
                <a:spcPct val="125517"/>
              </a:lnSpc>
              <a:spcBef>
                <a:spcPts val="0"/>
              </a:spcBef>
              <a:spcAft>
                <a:spcPts val="0"/>
              </a:spcAft>
              <a:buClr>
                <a:srgbClr val="D75BE2"/>
              </a:buClr>
              <a:buSzPts val="7250"/>
              <a:buFont typeface="Inter Medium"/>
              <a:buNone/>
            </a:pPr>
            <a:r>
              <a:rPr b="1" i="0" lang="en-US" sz="7250" u="none" cap="none" strike="noStrike">
                <a:solidFill>
                  <a:srgbClr val="D75BE2"/>
                </a:solidFill>
                <a:latin typeface="Inter Medium"/>
                <a:ea typeface="Inter Medium"/>
                <a:cs typeface="Inter Medium"/>
                <a:sym typeface="Inter Medium"/>
              </a:rPr>
              <a:t>ברוכים הבאים לעולם הבינה המלאכותית!</a:t>
            </a:r>
            <a:endParaRPr b="0" i="0" sz="7250" u="none" cap="none" strike="noStrike">
              <a:solidFill>
                <a:schemeClr val="dk1"/>
              </a:solidFill>
              <a:latin typeface="Calibri"/>
              <a:ea typeface="Calibri"/>
              <a:cs typeface="Calibri"/>
              <a:sym typeface="Calibri"/>
            </a:endParaRPr>
          </a:p>
        </p:txBody>
      </p:sp>
      <p:pic>
        <p:nvPicPr>
          <p:cNvPr descr="preencoded.png" id="65" name="Google Shape;65;p1"/>
          <p:cNvPicPr preferRelativeResize="0"/>
          <p:nvPr/>
        </p:nvPicPr>
        <p:blipFill rotWithShape="1">
          <a:blip r:embed="rId4">
            <a:alphaModFix/>
          </a:blip>
          <a:srcRect b="0" l="0" r="0" t="0"/>
          <a:stretch/>
        </p:blipFill>
        <p:spPr>
          <a:xfrm>
            <a:off x="8663940" y="5016579"/>
            <a:ext cx="2788801" cy="1233249"/>
          </a:xfrm>
          <a:prstGeom prst="rect">
            <a:avLst/>
          </a:prstGeom>
          <a:noFill/>
          <a:ln>
            <a:noFill/>
          </a:ln>
        </p:spPr>
      </p:pic>
      <p:sp>
        <p:nvSpPr>
          <p:cNvPr id="66" name="Google Shape;66;p1"/>
          <p:cNvSpPr/>
          <p:nvPr/>
        </p:nvSpPr>
        <p:spPr>
          <a:xfrm>
            <a:off x="6425922" y="6551771"/>
            <a:ext cx="7264956" cy="536734"/>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chemeClr val="dk1"/>
              </a:buClr>
              <a:buSzPts val="2600"/>
              <a:buFont typeface="Calibri"/>
              <a:buNone/>
            </a:pPr>
            <a:r>
              <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p:nvPr/>
        </p:nvSpPr>
        <p:spPr>
          <a:xfrm>
            <a:off x="8166021" y="623768"/>
            <a:ext cx="5670590" cy="708779"/>
          </a:xfrm>
          <a:prstGeom prst="rect">
            <a:avLst/>
          </a:prstGeom>
          <a:noFill/>
          <a:ln>
            <a:noFill/>
          </a:ln>
        </p:spPr>
        <p:txBody>
          <a:bodyPr anchorCtr="0" anchor="t" bIns="0" lIns="0" spcFirstLastPara="1" rIns="0" wrap="square" tIns="0">
            <a:noAutofit/>
          </a:bodyPr>
          <a:lstStyle/>
          <a:p>
            <a:pPr indent="0" lvl="0" marL="0" marR="0" rtl="1" algn="r">
              <a:lnSpc>
                <a:spcPct val="92500"/>
              </a:lnSpc>
              <a:spcBef>
                <a:spcPts val="0"/>
              </a:spcBef>
              <a:spcAft>
                <a:spcPts val="0"/>
              </a:spcAft>
              <a:buClr>
                <a:srgbClr val="D75BE2"/>
              </a:buClr>
              <a:buSzPts val="6000"/>
              <a:buFont typeface="Inter Medium"/>
              <a:buNone/>
            </a:pPr>
            <a:r>
              <a:rPr b="1" i="0" lang="en-US" sz="6000" u="none" cap="none" strike="noStrike">
                <a:solidFill>
                  <a:srgbClr val="D75BE2"/>
                </a:solidFill>
                <a:latin typeface="Inter Medium"/>
                <a:ea typeface="Inter Medium"/>
                <a:cs typeface="Inter Medium"/>
                <a:sym typeface="Inter Medium"/>
              </a:rPr>
              <a:t>תוכן עניינים</a:t>
            </a:r>
            <a:endParaRPr b="0" i="0" sz="6000" u="none" cap="none" strike="noStrike">
              <a:solidFill>
                <a:schemeClr val="dk1"/>
              </a:solidFill>
              <a:latin typeface="Calibri"/>
              <a:ea typeface="Calibri"/>
              <a:cs typeface="Calibri"/>
              <a:sym typeface="Calibri"/>
            </a:endParaRPr>
          </a:p>
        </p:txBody>
      </p:sp>
      <p:sp>
        <p:nvSpPr>
          <p:cNvPr id="73" name="Google Shape;73;p2"/>
          <p:cNvSpPr/>
          <p:nvPr/>
        </p:nvSpPr>
        <p:spPr>
          <a:xfrm>
            <a:off x="793790" y="1786176"/>
            <a:ext cx="13042821" cy="453509"/>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בינה מלאכותית בחיי היומיום שלנו</a:t>
            </a:r>
            <a:endParaRPr b="0" i="0" sz="2400" u="none" cap="none" strike="noStrike">
              <a:solidFill>
                <a:schemeClr val="dk1"/>
              </a:solidFill>
              <a:latin typeface="Calibri"/>
              <a:ea typeface="Calibri"/>
              <a:cs typeface="Calibri"/>
              <a:sym typeface="Calibri"/>
            </a:endParaRPr>
          </a:p>
        </p:txBody>
      </p:sp>
      <p:sp>
        <p:nvSpPr>
          <p:cNvPr id="74" name="Google Shape;74;p2"/>
          <p:cNvSpPr/>
          <p:nvPr/>
        </p:nvSpPr>
        <p:spPr>
          <a:xfrm>
            <a:off x="793790" y="2318980"/>
            <a:ext cx="13042821" cy="453509"/>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בינה מלאכותית יוצרת - מהי?</a:t>
            </a:r>
            <a:endParaRPr b="0" i="0" sz="2400" u="none" cap="none" strike="noStrike">
              <a:solidFill>
                <a:schemeClr val="dk1"/>
              </a:solidFill>
              <a:latin typeface="Calibri"/>
              <a:ea typeface="Calibri"/>
              <a:cs typeface="Calibri"/>
              <a:sym typeface="Calibri"/>
            </a:endParaRPr>
          </a:p>
        </p:txBody>
      </p:sp>
      <p:sp>
        <p:nvSpPr>
          <p:cNvPr id="75" name="Google Shape;75;p2"/>
          <p:cNvSpPr/>
          <p:nvPr/>
        </p:nvSpPr>
        <p:spPr>
          <a:xfrm>
            <a:off x="793790" y="2851785"/>
            <a:ext cx="13042821" cy="453509"/>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בינה מלאכותית יוצרת בפעולה (יצירת טקסט ותמונות עם ChatGPT)</a:t>
            </a:r>
            <a:endParaRPr b="0" i="0" sz="2400" u="none" cap="none" strike="noStrike">
              <a:solidFill>
                <a:schemeClr val="dk1"/>
              </a:solidFill>
              <a:latin typeface="Calibri"/>
              <a:ea typeface="Calibri"/>
              <a:cs typeface="Calibri"/>
              <a:sym typeface="Calibri"/>
            </a:endParaRPr>
          </a:p>
        </p:txBody>
      </p:sp>
      <p:sp>
        <p:nvSpPr>
          <p:cNvPr id="76" name="Google Shape;76;p2"/>
          <p:cNvSpPr/>
          <p:nvPr/>
        </p:nvSpPr>
        <p:spPr>
          <a:xfrm>
            <a:off x="793790" y="3384590"/>
            <a:ext cx="13042821" cy="453509"/>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מאחורי הקלעים: מודלי שפה גדולים</a:t>
            </a:r>
            <a:endParaRPr b="0" i="0" sz="2400" u="none" cap="none" strike="noStrike">
              <a:solidFill>
                <a:schemeClr val="dk1"/>
              </a:solidFill>
              <a:latin typeface="Calibri"/>
              <a:ea typeface="Calibri"/>
              <a:cs typeface="Calibri"/>
              <a:sym typeface="Calibri"/>
            </a:endParaRPr>
          </a:p>
        </p:txBody>
      </p:sp>
      <p:sp>
        <p:nvSpPr>
          <p:cNvPr id="77" name="Google Shape;77;p2"/>
          <p:cNvSpPr/>
          <p:nvPr/>
        </p:nvSpPr>
        <p:spPr>
          <a:xfrm>
            <a:off x="793790" y="3917394"/>
            <a:ext cx="13042821" cy="453509"/>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צלילה אל תוך בינה מלאכותית שיחתית: שיחה עם מחשבים</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p:nvPr/>
        </p:nvSpPr>
        <p:spPr>
          <a:xfrm>
            <a:off x="1696998" y="3625691"/>
            <a:ext cx="11236404" cy="978218"/>
          </a:xfrm>
          <a:prstGeom prst="rect">
            <a:avLst/>
          </a:prstGeom>
          <a:noFill/>
          <a:ln>
            <a:noFill/>
          </a:ln>
        </p:spPr>
        <p:txBody>
          <a:bodyPr anchorCtr="0" anchor="t" bIns="0" lIns="0" spcFirstLastPara="1" rIns="0" wrap="square" tIns="0">
            <a:noAutofit/>
          </a:bodyPr>
          <a:lstStyle/>
          <a:p>
            <a:pPr indent="0" lvl="0" marL="0" marR="0" rtl="0" algn="ctr">
              <a:lnSpc>
                <a:spcPct val="125203"/>
              </a:lnSpc>
              <a:spcBef>
                <a:spcPts val="0"/>
              </a:spcBef>
              <a:spcAft>
                <a:spcPts val="0"/>
              </a:spcAft>
              <a:buClr>
                <a:srgbClr val="D75BE2"/>
              </a:buClr>
              <a:buSzPts val="6150"/>
              <a:buFont typeface="Inter Medium"/>
              <a:buNone/>
            </a:pPr>
            <a:r>
              <a:rPr b="1" i="0" lang="en-US" sz="6150" u="none" cap="none" strike="noStrike">
                <a:solidFill>
                  <a:srgbClr val="D75BE2"/>
                </a:solidFill>
                <a:latin typeface="Inter Medium"/>
                <a:ea typeface="Inter Medium"/>
                <a:cs typeface="Inter Medium"/>
                <a:sym typeface="Inter Medium"/>
              </a:rPr>
              <a:t>בינה מלאכותית בחיי היומיום שלנו</a:t>
            </a:r>
            <a:endParaRPr b="0" i="0" sz="6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preencoded.png" id="89" name="Google Shape;89;p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90" name="Google Shape;90;p4"/>
          <p:cNvSpPr/>
          <p:nvPr/>
        </p:nvSpPr>
        <p:spPr>
          <a:xfrm>
            <a:off x="88175" y="224150"/>
            <a:ext cx="8262000" cy="1108500"/>
          </a:xfrm>
          <a:prstGeom prst="rect">
            <a:avLst/>
          </a:prstGeom>
          <a:noFill/>
          <a:ln>
            <a:noFill/>
          </a:ln>
        </p:spPr>
        <p:txBody>
          <a:bodyPr anchorCtr="0" anchor="t" bIns="0" lIns="0" spcFirstLastPara="1" rIns="0" wrap="square" tIns="0">
            <a:noAutofit/>
          </a:bodyPr>
          <a:lstStyle/>
          <a:p>
            <a:pPr indent="0" lvl="0" marL="0" marR="0" rtl="1" algn="r">
              <a:lnSpc>
                <a:spcPct val="102777"/>
              </a:lnSpc>
              <a:spcBef>
                <a:spcPts val="0"/>
              </a:spcBef>
              <a:spcAft>
                <a:spcPts val="0"/>
              </a:spcAft>
              <a:buClr>
                <a:srgbClr val="D75BE2"/>
              </a:buClr>
              <a:buSzPts val="5400"/>
              <a:buFont typeface="Inter Medium"/>
              <a:buNone/>
            </a:pPr>
            <a:r>
              <a:rPr b="1" i="0" lang="en-US" sz="5400" u="none" cap="none" strike="noStrike">
                <a:solidFill>
                  <a:srgbClr val="D75BE2"/>
                </a:solidFill>
                <a:latin typeface="Inter Medium"/>
                <a:ea typeface="Inter Medium"/>
                <a:cs typeface="Inter Medium"/>
                <a:sym typeface="Inter Medium"/>
              </a:rPr>
              <a:t>בינה מלאכותית ג'נרטיבית</a:t>
            </a:r>
            <a:endParaRPr b="1" sz="5400">
              <a:solidFill>
                <a:srgbClr val="D75BE2"/>
              </a:solidFill>
              <a:latin typeface="Inter Medium"/>
              <a:ea typeface="Inter Medium"/>
              <a:cs typeface="Inter Medium"/>
              <a:sym typeface="Inter Medium"/>
            </a:endParaRPr>
          </a:p>
        </p:txBody>
      </p:sp>
      <p:sp>
        <p:nvSpPr>
          <p:cNvPr id="91" name="Google Shape;91;p4"/>
          <p:cNvSpPr/>
          <p:nvPr/>
        </p:nvSpPr>
        <p:spPr>
          <a:xfrm>
            <a:off x="793790" y="1901309"/>
            <a:ext cx="7556400" cy="906900"/>
          </a:xfrm>
          <a:prstGeom prst="rect">
            <a:avLst/>
          </a:prstGeom>
          <a:noFill/>
          <a:ln>
            <a:noFill/>
          </a:ln>
        </p:spPr>
        <p:txBody>
          <a:bodyPr anchorCtr="0" anchor="t" bIns="0" lIns="0" spcFirstLastPara="1" rIns="0" wrap="square" tIns="0">
            <a:noAutofit/>
          </a:bodyPr>
          <a:lstStyle/>
          <a:p>
            <a:pPr indent="-342900" lvl="0" marL="342900" marR="0" rtl="1" algn="r">
              <a:lnSpc>
                <a:spcPct val="142500"/>
              </a:lnSpc>
              <a:spcBef>
                <a:spcPts val="0"/>
              </a:spcBef>
              <a:spcAft>
                <a:spcPts val="0"/>
              </a:spcAft>
              <a:buClr>
                <a:srgbClr val="272525"/>
              </a:buClr>
              <a:buSzPts val="2300"/>
              <a:buFont typeface="Inter"/>
              <a:buChar char="•"/>
            </a:pPr>
            <a:r>
              <a:rPr b="1" i="0" lang="en-US" sz="2300" u="none" cap="none" strike="noStrike">
                <a:solidFill>
                  <a:srgbClr val="272525"/>
                </a:solidFill>
                <a:latin typeface="Inter"/>
                <a:ea typeface="Inter"/>
                <a:cs typeface="Inter"/>
                <a:sym typeface="Inter"/>
              </a:rPr>
              <a:t>בינה מלאכותית</a:t>
            </a:r>
            <a:r>
              <a:rPr b="0" i="0" lang="en-US" sz="2300" u="none" cap="none" strike="noStrike">
                <a:solidFill>
                  <a:srgbClr val="272525"/>
                </a:solidFill>
                <a:latin typeface="Inter"/>
                <a:ea typeface="Inter"/>
                <a:cs typeface="Inter"/>
                <a:sym typeface="Inter"/>
              </a:rPr>
              <a:t> יכולה ליצור תוכן חדש, כמו תמונות, טקסט או שמע, על בסיס נתוני אימון במקום פשוט לנתח נתונים קיימים.</a:t>
            </a:r>
            <a:endParaRPr b="0" i="0" sz="2300" u="none" cap="none" strike="noStrike">
              <a:solidFill>
                <a:schemeClr val="dk1"/>
              </a:solidFill>
              <a:latin typeface="Calibri"/>
              <a:ea typeface="Calibri"/>
              <a:cs typeface="Calibri"/>
              <a:sym typeface="Calibri"/>
            </a:endParaRPr>
          </a:p>
        </p:txBody>
      </p:sp>
      <p:sp>
        <p:nvSpPr>
          <p:cNvPr id="92" name="Google Shape;92;p4"/>
          <p:cNvSpPr/>
          <p:nvPr/>
        </p:nvSpPr>
        <p:spPr>
          <a:xfrm>
            <a:off x="793800" y="3402875"/>
            <a:ext cx="7556400" cy="906900"/>
          </a:xfrm>
          <a:prstGeom prst="rect">
            <a:avLst/>
          </a:prstGeom>
          <a:noFill/>
          <a:ln>
            <a:noFill/>
          </a:ln>
        </p:spPr>
        <p:txBody>
          <a:bodyPr anchorCtr="0" anchor="t" bIns="0" lIns="0" spcFirstLastPara="1" rIns="0" wrap="square" tIns="0">
            <a:noAutofit/>
          </a:bodyPr>
          <a:lstStyle/>
          <a:p>
            <a:pPr indent="-342900" lvl="0" marL="342900" marR="0" rtl="1" algn="r">
              <a:lnSpc>
                <a:spcPct val="142500"/>
              </a:lnSpc>
              <a:spcBef>
                <a:spcPts val="0"/>
              </a:spcBef>
              <a:spcAft>
                <a:spcPts val="0"/>
              </a:spcAft>
              <a:buClr>
                <a:srgbClr val="272525"/>
              </a:buClr>
              <a:buSzPts val="2300"/>
              <a:buFont typeface="Inter"/>
              <a:buChar char="•"/>
            </a:pPr>
            <a:r>
              <a:rPr b="0" i="0" lang="en-US" sz="2300" u="none" cap="none" strike="noStrike">
                <a:solidFill>
                  <a:srgbClr val="272525"/>
                </a:solidFill>
                <a:latin typeface="Inter"/>
                <a:ea typeface="Inter"/>
                <a:cs typeface="Inter"/>
                <a:sym typeface="Inter"/>
              </a:rPr>
              <a:t>מאפשרת </a:t>
            </a:r>
            <a:r>
              <a:rPr b="1" i="0" lang="en-US" sz="2300" u="none" cap="none" strike="noStrike">
                <a:solidFill>
                  <a:srgbClr val="272525"/>
                </a:solidFill>
                <a:latin typeface="Inter"/>
                <a:ea typeface="Inter"/>
                <a:cs typeface="Inter"/>
                <a:sym typeface="Inter"/>
              </a:rPr>
              <a:t>יצירה אוטומטית</a:t>
            </a:r>
            <a:r>
              <a:rPr b="0" i="0" lang="en-US" sz="2300" u="none" cap="none" strike="noStrike">
                <a:solidFill>
                  <a:srgbClr val="272525"/>
                </a:solidFill>
                <a:latin typeface="Inter"/>
                <a:ea typeface="Inter"/>
                <a:cs typeface="Inter"/>
                <a:sym typeface="Inter"/>
              </a:rPr>
              <a:t> של תוכן, מה שמאפשר ייצור תוכן מהיר ובר-הרחבה בתעשיות שונות.</a:t>
            </a:r>
            <a:endParaRPr b="0" i="0" sz="2300" u="none" cap="none" strike="noStrike">
              <a:solidFill>
                <a:schemeClr val="dk1"/>
              </a:solidFill>
              <a:latin typeface="Calibri"/>
              <a:ea typeface="Calibri"/>
              <a:cs typeface="Calibri"/>
              <a:sym typeface="Calibri"/>
            </a:endParaRPr>
          </a:p>
        </p:txBody>
      </p:sp>
      <p:sp>
        <p:nvSpPr>
          <p:cNvPr id="93" name="Google Shape;93;p4"/>
          <p:cNvSpPr/>
          <p:nvPr/>
        </p:nvSpPr>
        <p:spPr>
          <a:xfrm>
            <a:off x="793800" y="4501250"/>
            <a:ext cx="7556400" cy="957300"/>
          </a:xfrm>
          <a:prstGeom prst="rect">
            <a:avLst/>
          </a:prstGeom>
          <a:noFill/>
          <a:ln>
            <a:noFill/>
          </a:ln>
        </p:spPr>
        <p:txBody>
          <a:bodyPr anchorCtr="0" anchor="t" bIns="0" lIns="0" spcFirstLastPara="1" rIns="0" wrap="square" tIns="0">
            <a:noAutofit/>
          </a:bodyPr>
          <a:lstStyle/>
          <a:p>
            <a:pPr indent="-342900" lvl="0" marL="342900" marR="0" rtl="1" algn="r">
              <a:lnSpc>
                <a:spcPct val="142500"/>
              </a:lnSpc>
              <a:spcBef>
                <a:spcPts val="0"/>
              </a:spcBef>
              <a:spcAft>
                <a:spcPts val="0"/>
              </a:spcAft>
              <a:buClr>
                <a:srgbClr val="272525"/>
              </a:buClr>
              <a:buSzPts val="2300"/>
              <a:buFont typeface="Inter"/>
              <a:buChar char="•"/>
            </a:pPr>
            <a:r>
              <a:rPr b="0" i="0" lang="en-US" sz="2300" u="none" cap="none" strike="noStrike">
                <a:solidFill>
                  <a:srgbClr val="272525"/>
                </a:solidFill>
                <a:latin typeface="Inter"/>
                <a:ea typeface="Inter"/>
                <a:cs typeface="Inter"/>
                <a:sym typeface="Inter"/>
              </a:rPr>
              <a:t>הראתה יכולות מרשימות בתחומים כמו </a:t>
            </a:r>
            <a:r>
              <a:rPr b="1" i="0" lang="en-US" sz="2300" u="none" cap="none" strike="noStrike">
                <a:solidFill>
                  <a:srgbClr val="272525"/>
                </a:solidFill>
                <a:latin typeface="Inter"/>
                <a:ea typeface="Inter"/>
                <a:cs typeface="Inter"/>
                <a:sym typeface="Inter"/>
              </a:rPr>
              <a:t>כתיבה יצירתית, הלחנת מוזיקה וייצור אמנות חזותית</a:t>
            </a:r>
            <a:r>
              <a:rPr b="0" i="0" lang="en-US" sz="2300" u="none" cap="none" strike="noStrike">
                <a:solidFill>
                  <a:srgbClr val="272525"/>
                </a:solidFill>
                <a:latin typeface="Inter"/>
                <a:ea typeface="Inter"/>
                <a:cs typeface="Inter"/>
                <a:sym typeface="Inter"/>
              </a:rPr>
              <a:t>.</a:t>
            </a:r>
            <a:endParaRPr b="0" i="0" sz="2300" u="none" cap="none" strike="noStrike">
              <a:solidFill>
                <a:schemeClr val="dk1"/>
              </a:solidFill>
              <a:latin typeface="Calibri"/>
              <a:ea typeface="Calibri"/>
              <a:cs typeface="Calibri"/>
              <a:sym typeface="Calibri"/>
            </a:endParaRPr>
          </a:p>
        </p:txBody>
      </p:sp>
      <p:sp>
        <p:nvSpPr>
          <p:cNvPr id="94" name="Google Shape;94;p4"/>
          <p:cNvSpPr/>
          <p:nvPr/>
        </p:nvSpPr>
        <p:spPr>
          <a:xfrm>
            <a:off x="749265" y="5660800"/>
            <a:ext cx="7556400" cy="1360500"/>
          </a:xfrm>
          <a:prstGeom prst="rect">
            <a:avLst/>
          </a:prstGeom>
          <a:noFill/>
          <a:ln>
            <a:noFill/>
          </a:ln>
        </p:spPr>
        <p:txBody>
          <a:bodyPr anchorCtr="0" anchor="t" bIns="0" lIns="0" spcFirstLastPara="1" rIns="0" wrap="square" tIns="0">
            <a:noAutofit/>
          </a:bodyPr>
          <a:lstStyle/>
          <a:p>
            <a:pPr indent="-342900" lvl="0" marL="342900" marR="0" rtl="1" algn="r">
              <a:lnSpc>
                <a:spcPct val="142500"/>
              </a:lnSpc>
              <a:spcBef>
                <a:spcPts val="0"/>
              </a:spcBef>
              <a:spcAft>
                <a:spcPts val="0"/>
              </a:spcAft>
              <a:buClr>
                <a:srgbClr val="272525"/>
              </a:buClr>
              <a:buSzPts val="2300"/>
              <a:buFont typeface="Inter"/>
              <a:buChar char="•"/>
            </a:pPr>
            <a:r>
              <a:rPr b="0" i="0" lang="en-US" sz="2300" u="none" cap="none" strike="noStrike">
                <a:solidFill>
                  <a:srgbClr val="272525"/>
                </a:solidFill>
                <a:latin typeface="Inter"/>
                <a:ea typeface="Inter"/>
                <a:cs typeface="Inter"/>
                <a:sym typeface="Inter"/>
              </a:rPr>
              <a:t>מאחורי הקלעים - מנצלת </a:t>
            </a:r>
            <a:r>
              <a:rPr b="1" i="0" lang="en-US" sz="2300" u="none" cap="none" strike="noStrike">
                <a:solidFill>
                  <a:srgbClr val="272525"/>
                </a:solidFill>
                <a:latin typeface="Inter"/>
                <a:ea typeface="Inter"/>
                <a:cs typeface="Inter"/>
                <a:sym typeface="Inter"/>
              </a:rPr>
              <a:t>מודלי שפה גדולים</a:t>
            </a:r>
            <a:r>
              <a:rPr b="0" i="0" lang="en-US" sz="2300" u="none" cap="none" strike="noStrike">
                <a:solidFill>
                  <a:srgbClr val="272525"/>
                </a:solidFill>
                <a:latin typeface="Inter"/>
                <a:ea typeface="Inter"/>
                <a:cs typeface="Inter"/>
                <a:sym typeface="Inter"/>
              </a:rPr>
              <a:t> ו</a:t>
            </a:r>
            <a:r>
              <a:rPr b="1" i="0" lang="en-US" sz="2300" u="none" cap="none" strike="noStrike">
                <a:solidFill>
                  <a:srgbClr val="272525"/>
                </a:solidFill>
                <a:latin typeface="Inter"/>
                <a:ea typeface="Inter"/>
                <a:cs typeface="Inter"/>
                <a:sym typeface="Inter"/>
              </a:rPr>
              <a:t>למידה עמוקה</a:t>
            </a:r>
            <a:r>
              <a:rPr b="0" i="0" lang="en-US" sz="2300" u="none" cap="none" strike="noStrike">
                <a:solidFill>
                  <a:srgbClr val="272525"/>
                </a:solidFill>
                <a:latin typeface="Inter"/>
                <a:ea typeface="Inter"/>
                <a:cs typeface="Inter"/>
                <a:sym typeface="Inter"/>
              </a:rPr>
              <a:t> כדי ליצור תפוקות מקוריות ומציאותיות שניתן להשתמש בהן במגוון יישומים.</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p:nvPr/>
        </p:nvSpPr>
        <p:spPr>
          <a:xfrm>
            <a:off x="2893446" y="623775"/>
            <a:ext cx="10943100" cy="708900"/>
          </a:xfrm>
          <a:prstGeom prst="rect">
            <a:avLst/>
          </a:prstGeom>
          <a:noFill/>
          <a:ln>
            <a:noFill/>
          </a:ln>
        </p:spPr>
        <p:txBody>
          <a:bodyPr anchorCtr="0" anchor="t" bIns="0" lIns="0" spcFirstLastPara="1" rIns="0" wrap="square" tIns="0">
            <a:noAutofit/>
          </a:bodyPr>
          <a:lstStyle/>
          <a:p>
            <a:pPr indent="0" lvl="0" marL="0" marR="0" rtl="1" algn="ctr">
              <a:lnSpc>
                <a:spcPct val="124719"/>
              </a:lnSpc>
              <a:spcBef>
                <a:spcPts val="0"/>
              </a:spcBef>
              <a:spcAft>
                <a:spcPts val="0"/>
              </a:spcAft>
              <a:buClr>
                <a:srgbClr val="D75BE2"/>
              </a:buClr>
              <a:buSzPts val="4450"/>
              <a:buFont typeface="Inter Medium"/>
              <a:buNone/>
            </a:pPr>
            <a:r>
              <a:rPr b="1" i="0" lang="en-US" sz="4450" u="none" cap="none" strike="noStrike">
                <a:solidFill>
                  <a:srgbClr val="D75BE2"/>
                </a:solidFill>
                <a:latin typeface="Inter Medium"/>
                <a:ea typeface="Inter Medium"/>
                <a:cs typeface="Inter Medium"/>
                <a:sym typeface="Inter Medium"/>
              </a:rPr>
              <a:t>דוגמה: בינה ג'נרטיבית</a:t>
            </a:r>
            <a:r>
              <a:rPr b="1" lang="en-US" sz="4450">
                <a:solidFill>
                  <a:srgbClr val="D75BE2"/>
                </a:solidFill>
                <a:latin typeface="Inter Medium"/>
                <a:ea typeface="Inter Medium"/>
                <a:cs typeface="Inter Medium"/>
                <a:sym typeface="Inter Medium"/>
              </a:rPr>
              <a:t> מולטימודלית</a:t>
            </a:r>
            <a:endParaRPr b="0" i="0" sz="4450" u="none" cap="none" strike="noStrike">
              <a:solidFill>
                <a:schemeClr val="dk1"/>
              </a:solidFill>
              <a:latin typeface="Calibri"/>
              <a:ea typeface="Calibri"/>
              <a:cs typeface="Calibri"/>
              <a:sym typeface="Calibri"/>
            </a:endParaRPr>
          </a:p>
        </p:txBody>
      </p:sp>
      <p:pic>
        <p:nvPicPr>
          <p:cNvPr descr="preencoded.png" id="101" name="Google Shape;101;p5"/>
          <p:cNvPicPr preferRelativeResize="0"/>
          <p:nvPr/>
        </p:nvPicPr>
        <p:blipFill rotWithShape="1">
          <a:blip r:embed="rId3">
            <a:alphaModFix/>
          </a:blip>
          <a:srcRect b="0" l="0" r="0" t="0"/>
          <a:stretch/>
        </p:blipFill>
        <p:spPr>
          <a:xfrm>
            <a:off x="1335824" y="2346551"/>
            <a:ext cx="11958757" cy="57998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preencoded.png" id="107" name="Google Shape;107;p6"/>
          <p:cNvPicPr preferRelativeResize="0"/>
          <p:nvPr/>
        </p:nvPicPr>
        <p:blipFill rotWithShape="1">
          <a:blip r:embed="rId3">
            <a:alphaModFix/>
          </a:blip>
          <a:srcRect b="0" l="0" r="0" t="0"/>
          <a:stretch/>
        </p:blipFill>
        <p:spPr>
          <a:xfrm>
            <a:off x="10972800" y="0"/>
            <a:ext cx="3657600" cy="8229600"/>
          </a:xfrm>
          <a:prstGeom prst="rect">
            <a:avLst/>
          </a:prstGeom>
          <a:noFill/>
          <a:ln>
            <a:noFill/>
          </a:ln>
        </p:spPr>
      </p:pic>
      <p:pic>
        <p:nvPicPr>
          <p:cNvPr descr="preencoded.png" id="108" name="Google Shape;108;p6"/>
          <p:cNvPicPr preferRelativeResize="0"/>
          <p:nvPr/>
        </p:nvPicPr>
        <p:blipFill rotWithShape="1">
          <a:blip r:embed="rId4">
            <a:alphaModFix/>
          </a:blip>
          <a:srcRect b="0" l="0" r="0" t="0"/>
          <a:stretch/>
        </p:blipFill>
        <p:spPr>
          <a:xfrm>
            <a:off x="11256288" y="2128004"/>
            <a:ext cx="3090505" cy="3973592"/>
          </a:xfrm>
          <a:prstGeom prst="rect">
            <a:avLst/>
          </a:prstGeom>
          <a:noFill/>
          <a:ln>
            <a:noFill/>
          </a:ln>
        </p:spPr>
      </p:pic>
      <p:sp>
        <p:nvSpPr>
          <p:cNvPr id="109" name="Google Shape;109;p6"/>
          <p:cNvSpPr/>
          <p:nvPr/>
        </p:nvSpPr>
        <p:spPr>
          <a:xfrm>
            <a:off x="131000" y="710500"/>
            <a:ext cx="11281500" cy="1417500"/>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1" i="0" lang="en-US" sz="4450" u="none" cap="none" strike="noStrike">
                <a:solidFill>
                  <a:srgbClr val="D75BE2"/>
                </a:solidFill>
                <a:latin typeface="Inter Medium"/>
                <a:ea typeface="Inter Medium"/>
                <a:cs typeface="Inter Medium"/>
                <a:sym typeface="Inter Medium"/>
              </a:rPr>
              <a:t>דוגמאות לשימוש בבינה מלאכותית גנרטיבית</a:t>
            </a:r>
            <a:endParaRPr b="0" i="0" sz="4450" u="none" cap="none" strike="noStrike">
              <a:solidFill>
                <a:schemeClr val="dk1"/>
              </a:solidFill>
              <a:latin typeface="Calibri"/>
              <a:ea typeface="Calibri"/>
              <a:cs typeface="Calibri"/>
              <a:sym typeface="Calibri"/>
            </a:endParaRPr>
          </a:p>
        </p:txBody>
      </p:sp>
      <p:sp>
        <p:nvSpPr>
          <p:cNvPr id="110" name="Google Shape;110;p6"/>
          <p:cNvSpPr/>
          <p:nvPr/>
        </p:nvSpPr>
        <p:spPr>
          <a:xfrm>
            <a:off x="793790" y="2470547"/>
            <a:ext cx="9385221" cy="453509"/>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200" u="none" cap="none" strike="noStrike">
                <a:solidFill>
                  <a:srgbClr val="272525"/>
                </a:solidFill>
                <a:latin typeface="Inter"/>
                <a:ea typeface="Inter"/>
                <a:cs typeface="Inter"/>
                <a:sym typeface="Inter"/>
              </a:rPr>
              <a:t>ראו כיצד בינה מלאכותית גנרטיבית משמשת בתרחישים בעולם האמיתי.</a:t>
            </a:r>
            <a:endParaRPr b="0" i="0" sz="2200" u="none" cap="none" strike="noStrike">
              <a:solidFill>
                <a:schemeClr val="dk1"/>
              </a:solidFill>
              <a:latin typeface="Calibri"/>
              <a:ea typeface="Calibri"/>
              <a:cs typeface="Calibri"/>
              <a:sym typeface="Calibri"/>
            </a:endParaRPr>
          </a:p>
        </p:txBody>
      </p:sp>
      <p:pic>
        <p:nvPicPr>
          <p:cNvPr descr="preencoded.png" id="111" name="Google Shape;111;p6"/>
          <p:cNvPicPr preferRelativeResize="0"/>
          <p:nvPr/>
        </p:nvPicPr>
        <p:blipFill rotWithShape="1">
          <a:blip r:embed="rId5">
            <a:alphaModFix/>
          </a:blip>
          <a:srcRect b="0" l="0" r="0" t="0"/>
          <a:stretch/>
        </p:blipFill>
        <p:spPr>
          <a:xfrm>
            <a:off x="9612035" y="3179207"/>
            <a:ext cx="566976" cy="566976"/>
          </a:xfrm>
          <a:prstGeom prst="rect">
            <a:avLst/>
          </a:prstGeom>
          <a:noFill/>
          <a:ln>
            <a:noFill/>
          </a:ln>
        </p:spPr>
      </p:pic>
      <p:sp>
        <p:nvSpPr>
          <p:cNvPr id="112" name="Google Shape;112;p6"/>
          <p:cNvSpPr/>
          <p:nvPr/>
        </p:nvSpPr>
        <p:spPr>
          <a:xfrm>
            <a:off x="7343775" y="3972997"/>
            <a:ext cx="2835235" cy="354330"/>
          </a:xfrm>
          <a:prstGeom prst="rect">
            <a:avLst/>
          </a:prstGeom>
          <a:noFill/>
          <a:ln>
            <a:noFill/>
          </a:ln>
        </p:spPr>
        <p:txBody>
          <a:bodyPr anchorCtr="0" anchor="t" bIns="0" lIns="0" spcFirstLastPara="1" rIns="0" wrap="square" tIns="0">
            <a:noAutofit/>
          </a:bodyPr>
          <a:lstStyle/>
          <a:p>
            <a:pPr indent="0" lvl="0" marL="0" marR="0" rtl="1" algn="l">
              <a:lnSpc>
                <a:spcPct val="125000"/>
              </a:lnSpc>
              <a:spcBef>
                <a:spcPts val="0"/>
              </a:spcBef>
              <a:spcAft>
                <a:spcPts val="0"/>
              </a:spcAft>
              <a:buClr>
                <a:srgbClr val="272525"/>
              </a:buClr>
              <a:buSzPts val="2200"/>
              <a:buFont typeface="Inter Medium"/>
              <a:buNone/>
            </a:pPr>
            <a:r>
              <a:rPr b="1" i="0" lang="en-US" sz="2200" u="none" cap="none" strike="noStrike">
                <a:solidFill>
                  <a:srgbClr val="F1C232"/>
                </a:solidFill>
                <a:latin typeface="Inter Medium"/>
                <a:ea typeface="Inter Medium"/>
                <a:cs typeface="Inter Medium"/>
                <a:sym typeface="Inter Medium"/>
              </a:rPr>
              <a:t>כתיבת תוכן</a:t>
            </a:r>
            <a:endParaRPr b="0" i="0" sz="2200" u="none" cap="none" strike="noStrike">
              <a:solidFill>
                <a:srgbClr val="F1C232"/>
              </a:solidFill>
              <a:latin typeface="Calibri"/>
              <a:ea typeface="Calibri"/>
              <a:cs typeface="Calibri"/>
              <a:sym typeface="Calibri"/>
            </a:endParaRPr>
          </a:p>
        </p:txBody>
      </p:sp>
      <p:sp>
        <p:nvSpPr>
          <p:cNvPr id="113" name="Google Shape;113;p6"/>
          <p:cNvSpPr/>
          <p:nvPr/>
        </p:nvSpPr>
        <p:spPr>
          <a:xfrm>
            <a:off x="7277457" y="4463415"/>
            <a:ext cx="2901553" cy="725805"/>
          </a:xfrm>
          <a:prstGeom prst="rect">
            <a:avLst/>
          </a:prstGeom>
          <a:noFill/>
          <a:ln>
            <a:noFill/>
          </a:ln>
        </p:spPr>
        <p:txBody>
          <a:bodyPr anchorCtr="0" anchor="t" bIns="0" lIns="0" spcFirstLastPara="1" rIns="0" wrap="square" tIns="0">
            <a:noAutofit/>
          </a:bodyPr>
          <a:lstStyle/>
          <a:p>
            <a:pPr indent="0" lvl="0" marL="0" marR="0" rtl="1" algn="l">
              <a:lnSpc>
                <a:spcPct val="162857"/>
              </a:lnSpc>
              <a:spcBef>
                <a:spcPts val="0"/>
              </a:spcBef>
              <a:spcAft>
                <a:spcPts val="0"/>
              </a:spcAft>
              <a:buClr>
                <a:srgbClr val="272525"/>
              </a:buClr>
              <a:buSzPts val="1750"/>
              <a:buFont typeface="Inter"/>
              <a:buNone/>
            </a:pPr>
            <a:r>
              <a:rPr b="0" i="0" lang="en-US" sz="1750" u="none" cap="none" strike="noStrike">
                <a:solidFill>
                  <a:srgbClr val="F1C232"/>
                </a:solidFill>
                <a:latin typeface="Inter"/>
                <a:ea typeface="Inter"/>
                <a:cs typeface="Inter"/>
                <a:sym typeface="Inter"/>
              </a:rPr>
              <a:t>יצירת מאמרים, תקצירים, מיילים, ותוכן.</a:t>
            </a:r>
            <a:endParaRPr b="0" i="0" sz="1750" u="none" cap="none" strike="noStrike">
              <a:solidFill>
                <a:srgbClr val="F1C232"/>
              </a:solidFill>
              <a:latin typeface="Calibri"/>
              <a:ea typeface="Calibri"/>
              <a:cs typeface="Calibri"/>
              <a:sym typeface="Calibri"/>
            </a:endParaRPr>
          </a:p>
        </p:txBody>
      </p:sp>
      <p:pic>
        <p:nvPicPr>
          <p:cNvPr descr="preencoded.png" id="114" name="Google Shape;114;p6"/>
          <p:cNvPicPr preferRelativeResize="0"/>
          <p:nvPr/>
        </p:nvPicPr>
        <p:blipFill rotWithShape="1">
          <a:blip r:embed="rId6">
            <a:alphaModFix/>
          </a:blip>
          <a:srcRect b="0" l="0" r="0" t="0"/>
          <a:stretch/>
        </p:blipFill>
        <p:spPr>
          <a:xfrm>
            <a:off x="6370320" y="3179207"/>
            <a:ext cx="566976" cy="566976"/>
          </a:xfrm>
          <a:prstGeom prst="rect">
            <a:avLst/>
          </a:prstGeom>
          <a:noFill/>
          <a:ln>
            <a:noFill/>
          </a:ln>
        </p:spPr>
      </p:pic>
      <p:sp>
        <p:nvSpPr>
          <p:cNvPr id="115" name="Google Shape;115;p6"/>
          <p:cNvSpPr/>
          <p:nvPr/>
        </p:nvSpPr>
        <p:spPr>
          <a:xfrm>
            <a:off x="4102060" y="3972997"/>
            <a:ext cx="2835235" cy="354330"/>
          </a:xfrm>
          <a:prstGeom prst="rect">
            <a:avLst/>
          </a:prstGeom>
          <a:noFill/>
          <a:ln>
            <a:noFill/>
          </a:ln>
        </p:spPr>
        <p:txBody>
          <a:bodyPr anchorCtr="0" anchor="t" bIns="0" lIns="0" spcFirstLastPara="1" rIns="0" wrap="square" tIns="0">
            <a:noAutofit/>
          </a:bodyPr>
          <a:lstStyle/>
          <a:p>
            <a:pPr indent="0" lvl="0" marL="0" marR="0" rtl="1" algn="l">
              <a:lnSpc>
                <a:spcPct val="125000"/>
              </a:lnSpc>
              <a:spcBef>
                <a:spcPts val="0"/>
              </a:spcBef>
              <a:spcAft>
                <a:spcPts val="0"/>
              </a:spcAft>
              <a:buClr>
                <a:srgbClr val="272525"/>
              </a:buClr>
              <a:buSzPts val="2200"/>
              <a:buFont typeface="Inter Medium"/>
              <a:buNone/>
            </a:pPr>
            <a:r>
              <a:rPr b="1" i="0" lang="en-US" sz="2200" u="none" cap="none" strike="noStrike">
                <a:solidFill>
                  <a:srgbClr val="F1C232"/>
                </a:solidFill>
                <a:latin typeface="Inter Medium"/>
                <a:ea typeface="Inter Medium"/>
                <a:cs typeface="Inter Medium"/>
                <a:sym typeface="Inter Medium"/>
              </a:rPr>
              <a:t>יצירת אמנות</a:t>
            </a:r>
            <a:endParaRPr b="0" i="0" sz="2200" u="none" cap="none" strike="noStrike">
              <a:solidFill>
                <a:srgbClr val="F1C232"/>
              </a:solidFill>
              <a:latin typeface="Calibri"/>
              <a:ea typeface="Calibri"/>
              <a:cs typeface="Calibri"/>
              <a:sym typeface="Calibri"/>
            </a:endParaRPr>
          </a:p>
        </p:txBody>
      </p:sp>
      <p:sp>
        <p:nvSpPr>
          <p:cNvPr id="116" name="Google Shape;116;p6"/>
          <p:cNvSpPr/>
          <p:nvPr/>
        </p:nvSpPr>
        <p:spPr>
          <a:xfrm>
            <a:off x="4035623" y="4463415"/>
            <a:ext cx="2901672" cy="362903"/>
          </a:xfrm>
          <a:prstGeom prst="rect">
            <a:avLst/>
          </a:prstGeom>
          <a:noFill/>
          <a:ln>
            <a:noFill/>
          </a:ln>
        </p:spPr>
        <p:txBody>
          <a:bodyPr anchorCtr="0" anchor="t" bIns="0" lIns="0" spcFirstLastPara="1" rIns="0" wrap="square" tIns="0">
            <a:noAutofit/>
          </a:bodyPr>
          <a:lstStyle/>
          <a:p>
            <a:pPr indent="0" lvl="0" marL="0" marR="0" rtl="1" algn="l">
              <a:lnSpc>
                <a:spcPct val="162857"/>
              </a:lnSpc>
              <a:spcBef>
                <a:spcPts val="0"/>
              </a:spcBef>
              <a:spcAft>
                <a:spcPts val="0"/>
              </a:spcAft>
              <a:buClr>
                <a:srgbClr val="272525"/>
              </a:buClr>
              <a:buSzPts val="1750"/>
              <a:buFont typeface="Inter"/>
              <a:buNone/>
            </a:pPr>
            <a:r>
              <a:rPr b="0" i="0" lang="en-US" sz="1750" u="none" cap="none" strike="noStrike">
                <a:solidFill>
                  <a:srgbClr val="F1C232"/>
                </a:solidFill>
                <a:latin typeface="Inter"/>
                <a:ea typeface="Inter"/>
                <a:cs typeface="Inter"/>
                <a:sym typeface="Inter"/>
              </a:rPr>
              <a:t>יצירת אמנות ייחודית ודמיונית.</a:t>
            </a:r>
            <a:endParaRPr b="0" i="0" sz="1750" u="none" cap="none" strike="noStrike">
              <a:solidFill>
                <a:srgbClr val="F1C232"/>
              </a:solidFill>
              <a:latin typeface="Calibri"/>
              <a:ea typeface="Calibri"/>
              <a:cs typeface="Calibri"/>
              <a:sym typeface="Calibri"/>
            </a:endParaRPr>
          </a:p>
        </p:txBody>
      </p:sp>
      <p:pic>
        <p:nvPicPr>
          <p:cNvPr descr="preencoded.png" id="117" name="Google Shape;117;p6"/>
          <p:cNvPicPr preferRelativeResize="0"/>
          <p:nvPr/>
        </p:nvPicPr>
        <p:blipFill rotWithShape="1">
          <a:blip r:embed="rId7">
            <a:alphaModFix/>
          </a:blip>
          <a:srcRect b="0" l="0" r="0" t="0"/>
          <a:stretch/>
        </p:blipFill>
        <p:spPr>
          <a:xfrm>
            <a:off x="3128486" y="3179207"/>
            <a:ext cx="566976" cy="566976"/>
          </a:xfrm>
          <a:prstGeom prst="rect">
            <a:avLst/>
          </a:prstGeom>
          <a:noFill/>
          <a:ln>
            <a:noFill/>
          </a:ln>
        </p:spPr>
      </p:pic>
      <p:sp>
        <p:nvSpPr>
          <p:cNvPr id="118" name="Google Shape;118;p6"/>
          <p:cNvSpPr/>
          <p:nvPr/>
        </p:nvSpPr>
        <p:spPr>
          <a:xfrm>
            <a:off x="860227" y="3972997"/>
            <a:ext cx="2835235" cy="354330"/>
          </a:xfrm>
          <a:prstGeom prst="rect">
            <a:avLst/>
          </a:prstGeom>
          <a:noFill/>
          <a:ln>
            <a:noFill/>
          </a:ln>
        </p:spPr>
        <p:txBody>
          <a:bodyPr anchorCtr="0" anchor="t" bIns="0" lIns="0" spcFirstLastPara="1" rIns="0" wrap="square" tIns="0">
            <a:noAutofit/>
          </a:bodyPr>
          <a:lstStyle/>
          <a:p>
            <a:pPr indent="0" lvl="0" marL="0" marR="0" rtl="1" algn="l">
              <a:lnSpc>
                <a:spcPct val="125000"/>
              </a:lnSpc>
              <a:spcBef>
                <a:spcPts val="0"/>
              </a:spcBef>
              <a:spcAft>
                <a:spcPts val="0"/>
              </a:spcAft>
              <a:buClr>
                <a:srgbClr val="272525"/>
              </a:buClr>
              <a:buSzPts val="2200"/>
              <a:buFont typeface="Inter Medium"/>
              <a:buNone/>
            </a:pPr>
            <a:r>
              <a:rPr b="1" i="0" lang="en-US" sz="2200" u="none" cap="none" strike="noStrike">
                <a:solidFill>
                  <a:srgbClr val="F1C232"/>
                </a:solidFill>
                <a:latin typeface="Inter Medium"/>
                <a:ea typeface="Inter Medium"/>
                <a:cs typeface="Inter Medium"/>
                <a:sym typeface="Inter Medium"/>
              </a:rPr>
              <a:t>מחקר</a:t>
            </a:r>
            <a:endParaRPr b="0" i="0" sz="2200" u="none" cap="none" strike="noStrike">
              <a:solidFill>
                <a:srgbClr val="F1C232"/>
              </a:solidFill>
              <a:latin typeface="Calibri"/>
              <a:ea typeface="Calibri"/>
              <a:cs typeface="Calibri"/>
              <a:sym typeface="Calibri"/>
            </a:endParaRPr>
          </a:p>
        </p:txBody>
      </p:sp>
      <p:sp>
        <p:nvSpPr>
          <p:cNvPr id="119" name="Google Shape;119;p6"/>
          <p:cNvSpPr/>
          <p:nvPr/>
        </p:nvSpPr>
        <p:spPr>
          <a:xfrm>
            <a:off x="793790" y="4463415"/>
            <a:ext cx="2901672" cy="725805"/>
          </a:xfrm>
          <a:prstGeom prst="rect">
            <a:avLst/>
          </a:prstGeom>
          <a:noFill/>
          <a:ln>
            <a:noFill/>
          </a:ln>
        </p:spPr>
        <p:txBody>
          <a:bodyPr anchorCtr="0" anchor="t" bIns="0" lIns="0" spcFirstLastPara="1" rIns="0" wrap="square" tIns="0">
            <a:noAutofit/>
          </a:bodyPr>
          <a:lstStyle/>
          <a:p>
            <a:pPr indent="0" lvl="0" marL="0" marR="0" rtl="1" algn="l">
              <a:lnSpc>
                <a:spcPct val="162857"/>
              </a:lnSpc>
              <a:spcBef>
                <a:spcPts val="0"/>
              </a:spcBef>
              <a:spcAft>
                <a:spcPts val="0"/>
              </a:spcAft>
              <a:buClr>
                <a:srgbClr val="272525"/>
              </a:buClr>
              <a:buSzPts val="1750"/>
              <a:buFont typeface="Inter"/>
              <a:buNone/>
            </a:pPr>
            <a:r>
              <a:rPr b="0" i="0" lang="en-US" sz="1750" u="none" cap="none" strike="noStrike">
                <a:solidFill>
                  <a:srgbClr val="F1C232"/>
                </a:solidFill>
                <a:latin typeface="Inter"/>
                <a:ea typeface="Inter"/>
                <a:cs typeface="Inter"/>
                <a:sym typeface="Inter"/>
              </a:rPr>
              <a:t>מציאת מאמרים ומחקרים מהאינטרנט.</a:t>
            </a:r>
            <a:endParaRPr b="0" i="0" sz="1750" u="none" cap="none" strike="noStrike">
              <a:solidFill>
                <a:srgbClr val="F1C232"/>
              </a:solidFill>
              <a:latin typeface="Calibri"/>
              <a:ea typeface="Calibri"/>
              <a:cs typeface="Calibri"/>
              <a:sym typeface="Calibri"/>
            </a:endParaRPr>
          </a:p>
        </p:txBody>
      </p:sp>
      <p:pic>
        <p:nvPicPr>
          <p:cNvPr descr="preencoded.png" id="120" name="Google Shape;120;p6"/>
          <p:cNvPicPr preferRelativeResize="0"/>
          <p:nvPr/>
        </p:nvPicPr>
        <p:blipFill rotWithShape="1">
          <a:blip r:embed="rId8">
            <a:alphaModFix/>
          </a:blip>
          <a:srcRect b="0" l="0" r="0" t="0"/>
          <a:stretch/>
        </p:blipFill>
        <p:spPr>
          <a:xfrm>
            <a:off x="9612035" y="5869662"/>
            <a:ext cx="566976" cy="566976"/>
          </a:xfrm>
          <a:prstGeom prst="rect">
            <a:avLst/>
          </a:prstGeom>
          <a:noFill/>
          <a:ln>
            <a:noFill/>
          </a:ln>
        </p:spPr>
      </p:pic>
      <p:sp>
        <p:nvSpPr>
          <p:cNvPr id="121" name="Google Shape;121;p6"/>
          <p:cNvSpPr/>
          <p:nvPr/>
        </p:nvSpPr>
        <p:spPr>
          <a:xfrm>
            <a:off x="7343775" y="6663452"/>
            <a:ext cx="2835235" cy="354330"/>
          </a:xfrm>
          <a:prstGeom prst="rect">
            <a:avLst/>
          </a:prstGeom>
          <a:noFill/>
          <a:ln>
            <a:noFill/>
          </a:ln>
        </p:spPr>
        <p:txBody>
          <a:bodyPr anchorCtr="0" anchor="t" bIns="0" lIns="0" spcFirstLastPara="1" rIns="0" wrap="square" tIns="0">
            <a:noAutofit/>
          </a:bodyPr>
          <a:lstStyle/>
          <a:p>
            <a:pPr indent="0" lvl="0" marL="0" marR="0" rtl="1" algn="l">
              <a:lnSpc>
                <a:spcPct val="125000"/>
              </a:lnSpc>
              <a:spcBef>
                <a:spcPts val="0"/>
              </a:spcBef>
              <a:spcAft>
                <a:spcPts val="0"/>
              </a:spcAft>
              <a:buClr>
                <a:srgbClr val="272525"/>
              </a:buClr>
              <a:buSzPts val="2200"/>
              <a:buFont typeface="Inter Medium"/>
              <a:buNone/>
            </a:pPr>
            <a:r>
              <a:rPr b="1" i="0" lang="en-US" sz="2200" u="none" cap="none" strike="noStrike">
                <a:solidFill>
                  <a:srgbClr val="F1C232"/>
                </a:solidFill>
                <a:latin typeface="Inter Medium"/>
                <a:ea typeface="Inter Medium"/>
                <a:cs typeface="Inter Medium"/>
                <a:sym typeface="Inter Medium"/>
              </a:rPr>
              <a:t>יצירת מוזיקה</a:t>
            </a:r>
            <a:endParaRPr b="0" i="0" sz="2200" u="none" cap="none" strike="noStrike">
              <a:solidFill>
                <a:srgbClr val="F1C232"/>
              </a:solidFill>
              <a:latin typeface="Calibri"/>
              <a:ea typeface="Calibri"/>
              <a:cs typeface="Calibri"/>
              <a:sym typeface="Calibri"/>
            </a:endParaRPr>
          </a:p>
        </p:txBody>
      </p:sp>
      <p:sp>
        <p:nvSpPr>
          <p:cNvPr id="122" name="Google Shape;122;p6"/>
          <p:cNvSpPr/>
          <p:nvPr/>
        </p:nvSpPr>
        <p:spPr>
          <a:xfrm>
            <a:off x="7277457" y="7153870"/>
            <a:ext cx="2901553" cy="362903"/>
          </a:xfrm>
          <a:prstGeom prst="rect">
            <a:avLst/>
          </a:prstGeom>
          <a:noFill/>
          <a:ln>
            <a:noFill/>
          </a:ln>
        </p:spPr>
        <p:txBody>
          <a:bodyPr anchorCtr="0" anchor="t" bIns="0" lIns="0" spcFirstLastPara="1" rIns="0" wrap="square" tIns="0">
            <a:noAutofit/>
          </a:bodyPr>
          <a:lstStyle/>
          <a:p>
            <a:pPr indent="0" lvl="0" marL="0" marR="0" rtl="1" algn="l">
              <a:lnSpc>
                <a:spcPct val="162857"/>
              </a:lnSpc>
              <a:spcBef>
                <a:spcPts val="0"/>
              </a:spcBef>
              <a:spcAft>
                <a:spcPts val="0"/>
              </a:spcAft>
              <a:buClr>
                <a:srgbClr val="272525"/>
              </a:buClr>
              <a:buSzPts val="1750"/>
              <a:buFont typeface="Inter"/>
              <a:buNone/>
            </a:pPr>
            <a:r>
              <a:rPr b="0" i="0" lang="en-US" sz="1750" u="none" cap="none" strike="noStrike">
                <a:solidFill>
                  <a:srgbClr val="F1C232"/>
                </a:solidFill>
                <a:latin typeface="Inter"/>
                <a:ea typeface="Inter"/>
                <a:cs typeface="Inter"/>
                <a:sym typeface="Inter"/>
              </a:rPr>
              <a:t>חיבור יצירות מוזיקליות מקוריות.</a:t>
            </a:r>
            <a:endParaRPr b="0" i="0" sz="1750" u="none" cap="none" strike="noStrike">
              <a:solidFill>
                <a:srgbClr val="F1C232"/>
              </a:solidFill>
              <a:latin typeface="Calibri"/>
              <a:ea typeface="Calibri"/>
              <a:cs typeface="Calibri"/>
              <a:sym typeface="Calibri"/>
            </a:endParaRPr>
          </a:p>
        </p:txBody>
      </p:sp>
      <p:pic>
        <p:nvPicPr>
          <p:cNvPr descr="preencoded.png" id="123" name="Google Shape;123;p6"/>
          <p:cNvPicPr preferRelativeResize="0"/>
          <p:nvPr/>
        </p:nvPicPr>
        <p:blipFill rotWithShape="1">
          <a:blip r:embed="rId9">
            <a:alphaModFix/>
          </a:blip>
          <a:srcRect b="0" l="0" r="0" t="0"/>
          <a:stretch/>
        </p:blipFill>
        <p:spPr>
          <a:xfrm>
            <a:off x="6370320" y="5869662"/>
            <a:ext cx="566976" cy="566976"/>
          </a:xfrm>
          <a:prstGeom prst="rect">
            <a:avLst/>
          </a:prstGeom>
          <a:noFill/>
          <a:ln>
            <a:noFill/>
          </a:ln>
        </p:spPr>
      </p:pic>
      <p:sp>
        <p:nvSpPr>
          <p:cNvPr id="124" name="Google Shape;124;p6"/>
          <p:cNvSpPr/>
          <p:nvPr/>
        </p:nvSpPr>
        <p:spPr>
          <a:xfrm>
            <a:off x="4102060" y="6663452"/>
            <a:ext cx="2835235" cy="354330"/>
          </a:xfrm>
          <a:prstGeom prst="rect">
            <a:avLst/>
          </a:prstGeom>
          <a:noFill/>
          <a:ln>
            <a:noFill/>
          </a:ln>
        </p:spPr>
        <p:txBody>
          <a:bodyPr anchorCtr="0" anchor="t" bIns="0" lIns="0" spcFirstLastPara="1" rIns="0" wrap="square" tIns="0">
            <a:noAutofit/>
          </a:bodyPr>
          <a:lstStyle/>
          <a:p>
            <a:pPr indent="0" lvl="0" marL="0" marR="0" rtl="1" algn="l">
              <a:lnSpc>
                <a:spcPct val="125000"/>
              </a:lnSpc>
              <a:spcBef>
                <a:spcPts val="0"/>
              </a:spcBef>
              <a:spcAft>
                <a:spcPts val="0"/>
              </a:spcAft>
              <a:buClr>
                <a:srgbClr val="272525"/>
              </a:buClr>
              <a:buSzPts val="2200"/>
              <a:buFont typeface="Inter Medium"/>
              <a:buNone/>
            </a:pPr>
            <a:r>
              <a:rPr b="1" i="0" lang="en-US" sz="2200" u="none" cap="none" strike="noStrike">
                <a:solidFill>
                  <a:srgbClr val="F1C232"/>
                </a:solidFill>
                <a:latin typeface="Inter Medium"/>
                <a:ea typeface="Inter Medium"/>
                <a:cs typeface="Inter Medium"/>
                <a:sym typeface="Inter Medium"/>
              </a:rPr>
              <a:t>יצירת וידאו</a:t>
            </a:r>
            <a:endParaRPr b="0" i="0" sz="2200" u="none" cap="none" strike="noStrike">
              <a:solidFill>
                <a:srgbClr val="F1C232"/>
              </a:solidFill>
              <a:latin typeface="Calibri"/>
              <a:ea typeface="Calibri"/>
              <a:cs typeface="Calibri"/>
              <a:sym typeface="Calibri"/>
            </a:endParaRPr>
          </a:p>
        </p:txBody>
      </p:sp>
      <p:sp>
        <p:nvSpPr>
          <p:cNvPr id="125" name="Google Shape;125;p6"/>
          <p:cNvSpPr/>
          <p:nvPr/>
        </p:nvSpPr>
        <p:spPr>
          <a:xfrm>
            <a:off x="4035623" y="7153870"/>
            <a:ext cx="2901672" cy="362903"/>
          </a:xfrm>
          <a:prstGeom prst="rect">
            <a:avLst/>
          </a:prstGeom>
          <a:noFill/>
          <a:ln>
            <a:noFill/>
          </a:ln>
        </p:spPr>
        <p:txBody>
          <a:bodyPr anchorCtr="0" anchor="t" bIns="0" lIns="0" spcFirstLastPara="1" rIns="0" wrap="square" tIns="0">
            <a:noAutofit/>
          </a:bodyPr>
          <a:lstStyle/>
          <a:p>
            <a:pPr indent="0" lvl="0" marL="0" marR="0" rtl="1" algn="l">
              <a:lnSpc>
                <a:spcPct val="162857"/>
              </a:lnSpc>
              <a:spcBef>
                <a:spcPts val="0"/>
              </a:spcBef>
              <a:spcAft>
                <a:spcPts val="0"/>
              </a:spcAft>
              <a:buClr>
                <a:srgbClr val="272525"/>
              </a:buClr>
              <a:buSzPts val="1750"/>
              <a:buFont typeface="Inter"/>
              <a:buNone/>
            </a:pPr>
            <a:r>
              <a:rPr b="0" i="0" lang="en-US" sz="1750" u="none" cap="none" strike="noStrike">
                <a:solidFill>
                  <a:srgbClr val="F1C232"/>
                </a:solidFill>
                <a:latin typeface="Inter"/>
                <a:ea typeface="Inter"/>
                <a:cs typeface="Inter"/>
                <a:sym typeface="Inter"/>
              </a:rPr>
              <a:t>יצירת וידאו מקורי.</a:t>
            </a:r>
            <a:endParaRPr b="0" i="0" sz="1750" u="none" cap="none" strike="noStrike">
              <a:solidFill>
                <a:srgbClr val="F1C232"/>
              </a:solidFill>
              <a:latin typeface="Calibri"/>
              <a:ea typeface="Calibri"/>
              <a:cs typeface="Calibri"/>
              <a:sym typeface="Calibri"/>
            </a:endParaRPr>
          </a:p>
        </p:txBody>
      </p:sp>
      <p:pic>
        <p:nvPicPr>
          <p:cNvPr descr="preencoded.png" id="126" name="Google Shape;126;p6"/>
          <p:cNvPicPr preferRelativeResize="0"/>
          <p:nvPr/>
        </p:nvPicPr>
        <p:blipFill rotWithShape="1">
          <a:blip r:embed="rId10">
            <a:alphaModFix/>
          </a:blip>
          <a:srcRect b="0" l="0" r="0" t="0"/>
          <a:stretch/>
        </p:blipFill>
        <p:spPr>
          <a:xfrm>
            <a:off x="3128486" y="5869662"/>
            <a:ext cx="566976" cy="566976"/>
          </a:xfrm>
          <a:prstGeom prst="rect">
            <a:avLst/>
          </a:prstGeom>
          <a:noFill/>
          <a:ln>
            <a:noFill/>
          </a:ln>
        </p:spPr>
      </p:pic>
      <p:sp>
        <p:nvSpPr>
          <p:cNvPr id="127" name="Google Shape;127;p6"/>
          <p:cNvSpPr/>
          <p:nvPr/>
        </p:nvSpPr>
        <p:spPr>
          <a:xfrm>
            <a:off x="860227" y="6663452"/>
            <a:ext cx="2835235" cy="354330"/>
          </a:xfrm>
          <a:prstGeom prst="rect">
            <a:avLst/>
          </a:prstGeom>
          <a:noFill/>
          <a:ln>
            <a:noFill/>
          </a:ln>
        </p:spPr>
        <p:txBody>
          <a:bodyPr anchorCtr="0" anchor="t" bIns="0" lIns="0" spcFirstLastPara="1" rIns="0" wrap="square" tIns="0">
            <a:noAutofit/>
          </a:bodyPr>
          <a:lstStyle/>
          <a:p>
            <a:pPr indent="0" lvl="0" marL="0" marR="0" rtl="1" algn="l">
              <a:lnSpc>
                <a:spcPct val="125000"/>
              </a:lnSpc>
              <a:spcBef>
                <a:spcPts val="0"/>
              </a:spcBef>
              <a:spcAft>
                <a:spcPts val="0"/>
              </a:spcAft>
              <a:buClr>
                <a:srgbClr val="272525"/>
              </a:buClr>
              <a:buSzPts val="2200"/>
              <a:buFont typeface="Inter Medium"/>
              <a:buNone/>
            </a:pPr>
            <a:r>
              <a:rPr b="1" i="0" lang="en-US" sz="2200" u="none" cap="none" strike="noStrike">
                <a:solidFill>
                  <a:srgbClr val="F1C232"/>
                </a:solidFill>
                <a:latin typeface="Inter Medium"/>
                <a:ea typeface="Inter Medium"/>
                <a:cs typeface="Inter Medium"/>
                <a:sym typeface="Inter Medium"/>
              </a:rPr>
              <a:t>יצירת קוד</a:t>
            </a:r>
            <a:endParaRPr b="0" i="0" sz="2200" u="none" cap="none" strike="noStrike">
              <a:solidFill>
                <a:srgbClr val="F1C232"/>
              </a:solidFill>
              <a:latin typeface="Calibri"/>
              <a:ea typeface="Calibri"/>
              <a:cs typeface="Calibri"/>
              <a:sym typeface="Calibri"/>
            </a:endParaRPr>
          </a:p>
        </p:txBody>
      </p:sp>
      <p:sp>
        <p:nvSpPr>
          <p:cNvPr id="128" name="Google Shape;128;p6"/>
          <p:cNvSpPr/>
          <p:nvPr/>
        </p:nvSpPr>
        <p:spPr>
          <a:xfrm>
            <a:off x="793790" y="7153870"/>
            <a:ext cx="2901672" cy="362903"/>
          </a:xfrm>
          <a:prstGeom prst="rect">
            <a:avLst/>
          </a:prstGeom>
          <a:noFill/>
          <a:ln>
            <a:noFill/>
          </a:ln>
        </p:spPr>
        <p:txBody>
          <a:bodyPr anchorCtr="0" anchor="t" bIns="0" lIns="0" spcFirstLastPara="1" rIns="0" wrap="square" tIns="0">
            <a:noAutofit/>
          </a:bodyPr>
          <a:lstStyle/>
          <a:p>
            <a:pPr indent="0" lvl="0" marL="0" marR="0" rtl="1" algn="l">
              <a:lnSpc>
                <a:spcPct val="162857"/>
              </a:lnSpc>
              <a:spcBef>
                <a:spcPts val="0"/>
              </a:spcBef>
              <a:spcAft>
                <a:spcPts val="0"/>
              </a:spcAft>
              <a:buClr>
                <a:srgbClr val="272525"/>
              </a:buClr>
              <a:buSzPts val="1750"/>
              <a:buFont typeface="Inter"/>
              <a:buNone/>
            </a:pPr>
            <a:r>
              <a:rPr b="0" i="0" lang="en-US" sz="1750" u="none" cap="none" strike="noStrike">
                <a:solidFill>
                  <a:srgbClr val="F1C232"/>
                </a:solidFill>
                <a:latin typeface="Inter"/>
                <a:ea typeface="Inter"/>
                <a:cs typeface="Inter"/>
                <a:sym typeface="Inter"/>
              </a:rPr>
              <a:t>אוטומציה של פיתוח תוכנה.</a:t>
            </a:r>
            <a:endParaRPr b="0" i="0" sz="1750" u="none" cap="none" strike="noStrike">
              <a:solidFill>
                <a:srgbClr val="F1C23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7"/>
          <p:cNvPicPr preferRelativeResize="0"/>
          <p:nvPr/>
        </p:nvPicPr>
        <p:blipFill rotWithShape="1">
          <a:blip r:embed="rId3">
            <a:alphaModFix/>
          </a:blip>
          <a:srcRect b="0" l="0" r="0" t="0"/>
          <a:stretch/>
        </p:blipFill>
        <p:spPr>
          <a:xfrm>
            <a:off x="0" y="0"/>
            <a:ext cx="3657600" cy="8229600"/>
          </a:xfrm>
          <a:prstGeom prst="rect">
            <a:avLst/>
          </a:prstGeom>
          <a:noFill/>
          <a:ln>
            <a:noFill/>
          </a:ln>
        </p:spPr>
      </p:pic>
      <p:sp>
        <p:nvSpPr>
          <p:cNvPr id="135" name="Google Shape;135;p7"/>
          <p:cNvSpPr/>
          <p:nvPr/>
        </p:nvSpPr>
        <p:spPr>
          <a:xfrm>
            <a:off x="3657602" y="193950"/>
            <a:ext cx="10179000" cy="567000"/>
          </a:xfrm>
          <a:prstGeom prst="rect">
            <a:avLst/>
          </a:prstGeom>
          <a:noFill/>
          <a:ln>
            <a:noFill/>
          </a:ln>
        </p:spPr>
        <p:txBody>
          <a:bodyPr anchorCtr="0" anchor="t" bIns="0" lIns="0" spcFirstLastPara="1" rIns="0" wrap="square" tIns="0">
            <a:noAutofit/>
          </a:bodyPr>
          <a:lstStyle/>
          <a:p>
            <a:pPr indent="0" lvl="0" marL="0" marR="0" rtl="1" algn="r">
              <a:lnSpc>
                <a:spcPct val="111249"/>
              </a:lnSpc>
              <a:spcBef>
                <a:spcPts val="0"/>
              </a:spcBef>
              <a:spcAft>
                <a:spcPts val="0"/>
              </a:spcAft>
              <a:buClr>
                <a:srgbClr val="D75BE2"/>
              </a:buClr>
              <a:buSzPts val="4000"/>
              <a:buFont typeface="Inter Medium"/>
              <a:buNone/>
            </a:pPr>
            <a:r>
              <a:rPr b="0" i="0" lang="en-US" sz="4000" u="none" cap="none" strike="noStrike">
                <a:solidFill>
                  <a:srgbClr val="D75BE2"/>
                </a:solidFill>
                <a:latin typeface="Inter Medium"/>
                <a:ea typeface="Inter Medium"/>
                <a:cs typeface="Inter Medium"/>
                <a:sym typeface="Inter Medium"/>
              </a:rPr>
              <a:t>מאחורי הקלעים: מודלי שפה גדולים</a:t>
            </a:r>
            <a:endParaRPr b="0" i="0" sz="4000" u="none" cap="none" strike="noStrike">
              <a:solidFill>
                <a:schemeClr val="dk1"/>
              </a:solidFill>
              <a:latin typeface="Calibri"/>
              <a:ea typeface="Calibri"/>
              <a:cs typeface="Calibri"/>
              <a:sym typeface="Calibri"/>
            </a:endParaRPr>
          </a:p>
        </p:txBody>
      </p:sp>
      <p:sp>
        <p:nvSpPr>
          <p:cNvPr id="136" name="Google Shape;136;p7"/>
          <p:cNvSpPr/>
          <p:nvPr/>
        </p:nvSpPr>
        <p:spPr>
          <a:xfrm>
            <a:off x="4451390" y="1614368"/>
            <a:ext cx="9385221" cy="453509"/>
          </a:xfrm>
          <a:prstGeom prst="rect">
            <a:avLst/>
          </a:prstGeom>
          <a:noFill/>
          <a:ln>
            <a:noFill/>
          </a:ln>
        </p:spPr>
        <p:txBody>
          <a:bodyPr anchorCtr="0" anchor="t" bIns="0" lIns="0" spcFirstLastPara="1" rIns="0" wrap="square" tIns="0">
            <a:noAutofit/>
          </a:bodyPr>
          <a:lstStyle/>
          <a:p>
            <a:pPr indent="0" lvl="0" marL="0" marR="0" rtl="1" algn="r">
              <a:lnSpc>
                <a:spcPct val="126785"/>
              </a:lnSpc>
              <a:spcBef>
                <a:spcPts val="0"/>
              </a:spcBef>
              <a:spcAft>
                <a:spcPts val="0"/>
              </a:spcAft>
              <a:buClr>
                <a:srgbClr val="272525"/>
              </a:buClr>
              <a:buSzPts val="2800"/>
              <a:buFont typeface="Inter"/>
              <a:buNone/>
            </a:pPr>
            <a:r>
              <a:rPr b="0" i="0" lang="en-US" sz="2800" u="none" cap="none" strike="noStrike">
                <a:solidFill>
                  <a:srgbClr val="272525"/>
                </a:solidFill>
                <a:latin typeface="Inter"/>
                <a:ea typeface="Inter"/>
                <a:cs typeface="Inter"/>
                <a:sym typeface="Inter"/>
              </a:rPr>
              <a:t>התקדמויות טכנולוגיות שהובילו ליצירת מודלים אלה:</a:t>
            </a:r>
            <a:endParaRPr b="0" i="0" sz="2800" u="none" cap="none" strike="noStrike">
              <a:solidFill>
                <a:schemeClr val="dk1"/>
              </a:solidFill>
              <a:latin typeface="Calibri"/>
              <a:ea typeface="Calibri"/>
              <a:cs typeface="Calibri"/>
              <a:sym typeface="Calibri"/>
            </a:endParaRPr>
          </a:p>
        </p:txBody>
      </p:sp>
      <p:sp>
        <p:nvSpPr>
          <p:cNvPr id="137" name="Google Shape;137;p7"/>
          <p:cNvSpPr/>
          <p:nvPr/>
        </p:nvSpPr>
        <p:spPr>
          <a:xfrm>
            <a:off x="13326308" y="2578179"/>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8" name="Google Shape;138;p7"/>
          <p:cNvSpPr/>
          <p:nvPr/>
        </p:nvSpPr>
        <p:spPr>
          <a:xfrm>
            <a:off x="13510855" y="2663190"/>
            <a:ext cx="141208" cy="340281"/>
          </a:xfrm>
          <a:prstGeom prst="rect">
            <a:avLst/>
          </a:prstGeom>
          <a:noFill/>
          <a:ln>
            <a:noFill/>
          </a:ln>
        </p:spPr>
        <p:txBody>
          <a:bodyPr anchorCtr="0" anchor="t" bIns="0" lIns="0" spcFirstLastPara="1" rIns="0" wrap="square" tIns="0">
            <a:noAutofit/>
          </a:bodyPr>
          <a:lstStyle/>
          <a:p>
            <a:pPr indent="0" lvl="0" marL="0" marR="0" rtl="1" algn="ctr">
              <a:lnSpc>
                <a:spcPct val="82812"/>
              </a:lnSpc>
              <a:spcBef>
                <a:spcPts val="0"/>
              </a:spcBef>
              <a:spcAft>
                <a:spcPts val="0"/>
              </a:spcAft>
              <a:buClr>
                <a:srgbClr val="272525"/>
              </a:buClr>
              <a:buSzPts val="3200"/>
              <a:buFont typeface="Inter Medium"/>
              <a:buNone/>
            </a:pPr>
            <a:r>
              <a:rPr b="0" i="0" lang="en-US" sz="3200" u="none" cap="none" strike="noStrike">
                <a:solidFill>
                  <a:srgbClr val="272525"/>
                </a:solidFill>
                <a:latin typeface="Inter Medium"/>
                <a:ea typeface="Inter Medium"/>
                <a:cs typeface="Inter Medium"/>
                <a:sym typeface="Inter Medium"/>
              </a:rPr>
              <a:t>1</a:t>
            </a:r>
            <a:endParaRPr b="0" i="0" sz="3200" u="none" cap="none" strike="noStrike">
              <a:solidFill>
                <a:schemeClr val="dk1"/>
              </a:solidFill>
              <a:latin typeface="Calibri"/>
              <a:ea typeface="Calibri"/>
              <a:cs typeface="Calibri"/>
              <a:sym typeface="Calibri"/>
            </a:endParaRPr>
          </a:p>
        </p:txBody>
      </p:sp>
      <p:sp>
        <p:nvSpPr>
          <p:cNvPr id="139" name="Google Shape;139;p7"/>
          <p:cNvSpPr/>
          <p:nvPr/>
        </p:nvSpPr>
        <p:spPr>
          <a:xfrm>
            <a:off x="7089280" y="2578175"/>
            <a:ext cx="6010200" cy="354300"/>
          </a:xfrm>
          <a:prstGeom prst="rect">
            <a:avLst/>
          </a:prstGeom>
          <a:noFill/>
          <a:ln>
            <a:noFill/>
          </a:ln>
        </p:spPr>
        <p:txBody>
          <a:bodyPr anchorCtr="0" anchor="t" bIns="0" lIns="0" spcFirstLastPara="1" rIns="0" wrap="square" tIns="0">
            <a:noAutofit/>
          </a:bodyPr>
          <a:lstStyle/>
          <a:p>
            <a:pPr indent="0" lvl="0" marL="0" marR="0" rtl="1" algn="r">
              <a:lnSpc>
                <a:spcPct val="98214"/>
              </a:lnSpc>
              <a:spcBef>
                <a:spcPts val="0"/>
              </a:spcBef>
              <a:spcAft>
                <a:spcPts val="0"/>
              </a:spcAft>
              <a:buClr>
                <a:srgbClr val="272525"/>
              </a:buClr>
              <a:buSzPts val="2800"/>
              <a:buFont typeface="Inter Medium"/>
              <a:buNone/>
            </a:pPr>
            <a:r>
              <a:rPr b="1" i="0" lang="en-US" sz="2800" u="none" cap="none" strike="noStrike">
                <a:solidFill>
                  <a:srgbClr val="272525"/>
                </a:solidFill>
                <a:latin typeface="Inter Medium"/>
                <a:ea typeface="Inter Medium"/>
                <a:cs typeface="Inter Medium"/>
                <a:sym typeface="Inter Medium"/>
              </a:rPr>
              <a:t>התקדמויות בלמידה עמוקה</a:t>
            </a:r>
            <a:endParaRPr b="0" i="0" sz="2800" u="none" cap="none" strike="noStrike">
              <a:solidFill>
                <a:schemeClr val="dk1"/>
              </a:solidFill>
              <a:latin typeface="Calibri"/>
              <a:ea typeface="Calibri"/>
              <a:cs typeface="Calibri"/>
              <a:sym typeface="Calibri"/>
            </a:endParaRPr>
          </a:p>
        </p:txBody>
      </p:sp>
      <p:sp>
        <p:nvSpPr>
          <p:cNvPr id="140" name="Google Shape;140;p7"/>
          <p:cNvSpPr/>
          <p:nvPr/>
        </p:nvSpPr>
        <p:spPr>
          <a:xfrm>
            <a:off x="4451390" y="3068598"/>
            <a:ext cx="8648105" cy="362903"/>
          </a:xfrm>
          <a:prstGeom prst="rect">
            <a:avLst/>
          </a:prstGeom>
          <a:noFill/>
          <a:ln>
            <a:noFill/>
          </a:ln>
        </p:spPr>
        <p:txBody>
          <a:bodyPr anchorCtr="0" anchor="t" bIns="0" lIns="0" spcFirstLastPara="1" rIns="0" wrap="square" tIns="0">
            <a:noAutofit/>
          </a:bodyPr>
          <a:lstStyle/>
          <a:p>
            <a:pPr indent="0" lvl="0" marL="0" marR="0" rtl="1" algn="r">
              <a:lnSpc>
                <a:spcPct val="142500"/>
              </a:lnSpc>
              <a:spcBef>
                <a:spcPts val="0"/>
              </a:spcBef>
              <a:spcAft>
                <a:spcPts val="0"/>
              </a:spcAft>
              <a:buClr>
                <a:srgbClr val="272525"/>
              </a:buClr>
              <a:buSzPts val="2000"/>
              <a:buFont typeface="Inter"/>
              <a:buNone/>
            </a:pPr>
            <a:r>
              <a:rPr b="0" i="0" lang="en-US" sz="2000" u="none" cap="none" strike="noStrike">
                <a:solidFill>
                  <a:srgbClr val="272525"/>
                </a:solidFill>
                <a:latin typeface="Inter"/>
                <a:ea typeface="Inter"/>
                <a:cs typeface="Inter"/>
                <a:sym typeface="Inter"/>
              </a:rPr>
              <a:t>מודלים יעילים ויעילים יותר של למידה עמוקה.</a:t>
            </a:r>
            <a:endParaRPr b="0" i="0" sz="2000" u="none" cap="none" strike="noStrike">
              <a:solidFill>
                <a:schemeClr val="dk1"/>
              </a:solidFill>
              <a:latin typeface="Calibri"/>
              <a:ea typeface="Calibri"/>
              <a:cs typeface="Calibri"/>
              <a:sym typeface="Calibri"/>
            </a:endParaRPr>
          </a:p>
        </p:txBody>
      </p:sp>
      <p:sp>
        <p:nvSpPr>
          <p:cNvPr id="141" name="Google Shape;141;p7"/>
          <p:cNvSpPr/>
          <p:nvPr/>
        </p:nvSpPr>
        <p:spPr>
          <a:xfrm>
            <a:off x="13326308" y="3913465"/>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42" name="Google Shape;142;p7"/>
          <p:cNvSpPr/>
          <p:nvPr/>
        </p:nvSpPr>
        <p:spPr>
          <a:xfrm>
            <a:off x="13476684" y="3998476"/>
            <a:ext cx="209669" cy="340281"/>
          </a:xfrm>
          <a:prstGeom prst="rect">
            <a:avLst/>
          </a:prstGeom>
          <a:noFill/>
          <a:ln>
            <a:noFill/>
          </a:ln>
        </p:spPr>
        <p:txBody>
          <a:bodyPr anchorCtr="0" anchor="t" bIns="0" lIns="0" spcFirstLastPara="1" rIns="0" wrap="square" tIns="0">
            <a:noAutofit/>
          </a:bodyPr>
          <a:lstStyle/>
          <a:p>
            <a:pPr indent="0" lvl="0" marL="0" marR="0" rtl="1" algn="ctr">
              <a:lnSpc>
                <a:spcPct val="82812"/>
              </a:lnSpc>
              <a:spcBef>
                <a:spcPts val="0"/>
              </a:spcBef>
              <a:spcAft>
                <a:spcPts val="0"/>
              </a:spcAft>
              <a:buClr>
                <a:srgbClr val="272525"/>
              </a:buClr>
              <a:buSzPts val="3200"/>
              <a:buFont typeface="Inter Medium"/>
              <a:buNone/>
            </a:pPr>
            <a:r>
              <a:rPr b="0" i="0" lang="en-US" sz="3200" u="none" cap="none" strike="noStrike">
                <a:solidFill>
                  <a:srgbClr val="272525"/>
                </a:solidFill>
                <a:latin typeface="Inter Medium"/>
                <a:ea typeface="Inter Medium"/>
                <a:cs typeface="Inter Medium"/>
                <a:sym typeface="Inter Medium"/>
              </a:rPr>
              <a:t>2</a:t>
            </a:r>
            <a:endParaRPr b="0" i="0" sz="3200" u="none" cap="none" strike="noStrike">
              <a:solidFill>
                <a:schemeClr val="dk1"/>
              </a:solidFill>
              <a:latin typeface="Calibri"/>
              <a:ea typeface="Calibri"/>
              <a:cs typeface="Calibri"/>
              <a:sym typeface="Calibri"/>
            </a:endParaRPr>
          </a:p>
        </p:txBody>
      </p:sp>
      <p:sp>
        <p:nvSpPr>
          <p:cNvPr id="143" name="Google Shape;143;p7"/>
          <p:cNvSpPr/>
          <p:nvPr/>
        </p:nvSpPr>
        <p:spPr>
          <a:xfrm>
            <a:off x="6997002" y="3913475"/>
            <a:ext cx="6102600" cy="354300"/>
          </a:xfrm>
          <a:prstGeom prst="rect">
            <a:avLst/>
          </a:prstGeom>
          <a:noFill/>
          <a:ln>
            <a:noFill/>
          </a:ln>
        </p:spPr>
        <p:txBody>
          <a:bodyPr anchorCtr="0" anchor="t" bIns="0" lIns="0" spcFirstLastPara="1" rIns="0" wrap="square" tIns="0">
            <a:noAutofit/>
          </a:bodyPr>
          <a:lstStyle/>
          <a:p>
            <a:pPr indent="0" lvl="0" marL="0" marR="0" rtl="1" algn="r">
              <a:lnSpc>
                <a:spcPct val="98214"/>
              </a:lnSpc>
              <a:spcBef>
                <a:spcPts val="0"/>
              </a:spcBef>
              <a:spcAft>
                <a:spcPts val="0"/>
              </a:spcAft>
              <a:buClr>
                <a:srgbClr val="272525"/>
              </a:buClr>
              <a:buSzPts val="2800"/>
              <a:buFont typeface="Inter Medium"/>
              <a:buNone/>
            </a:pPr>
            <a:r>
              <a:rPr b="1" i="0" lang="en-US" sz="2800" u="none" cap="none" strike="noStrike">
                <a:solidFill>
                  <a:srgbClr val="272525"/>
                </a:solidFill>
                <a:latin typeface="Inter Medium"/>
                <a:ea typeface="Inter Medium"/>
                <a:cs typeface="Inter Medium"/>
                <a:sym typeface="Inter Medium"/>
              </a:rPr>
              <a:t>התקדמויות בעיבוד שפה טבעית (NLP)</a:t>
            </a:r>
            <a:endParaRPr b="0" i="0" sz="2800" u="none" cap="none" strike="noStrike">
              <a:solidFill>
                <a:schemeClr val="dk1"/>
              </a:solidFill>
              <a:latin typeface="Calibri"/>
              <a:ea typeface="Calibri"/>
              <a:cs typeface="Calibri"/>
              <a:sym typeface="Calibri"/>
            </a:endParaRPr>
          </a:p>
        </p:txBody>
      </p:sp>
      <p:sp>
        <p:nvSpPr>
          <p:cNvPr id="144" name="Google Shape;144;p7"/>
          <p:cNvSpPr/>
          <p:nvPr/>
        </p:nvSpPr>
        <p:spPr>
          <a:xfrm>
            <a:off x="4451390" y="4403884"/>
            <a:ext cx="8648105" cy="362903"/>
          </a:xfrm>
          <a:prstGeom prst="rect">
            <a:avLst/>
          </a:prstGeom>
          <a:noFill/>
          <a:ln>
            <a:noFill/>
          </a:ln>
        </p:spPr>
        <p:txBody>
          <a:bodyPr anchorCtr="0" anchor="t" bIns="0" lIns="0" spcFirstLastPara="1" rIns="0" wrap="square" tIns="0">
            <a:noAutofit/>
          </a:bodyPr>
          <a:lstStyle/>
          <a:p>
            <a:pPr indent="0" lvl="0" marL="0" marR="0" rtl="1" algn="r">
              <a:lnSpc>
                <a:spcPct val="142500"/>
              </a:lnSpc>
              <a:spcBef>
                <a:spcPts val="0"/>
              </a:spcBef>
              <a:spcAft>
                <a:spcPts val="0"/>
              </a:spcAft>
              <a:buClr>
                <a:srgbClr val="272525"/>
              </a:buClr>
              <a:buSzPts val="2000"/>
              <a:buFont typeface="Inter"/>
              <a:buNone/>
            </a:pPr>
            <a:r>
              <a:rPr b="0" i="0" lang="en-US" sz="2000" u="none" cap="none" strike="noStrike">
                <a:solidFill>
                  <a:srgbClr val="272525"/>
                </a:solidFill>
                <a:latin typeface="Inter"/>
                <a:ea typeface="Inter"/>
                <a:cs typeface="Inter"/>
                <a:sym typeface="Inter"/>
              </a:rPr>
              <a:t>יכולות מתקדמות להבנת שפה אנושית</a:t>
            </a:r>
            <a:endParaRPr b="0" i="0" sz="2000" u="none" cap="none" strike="noStrike">
              <a:solidFill>
                <a:schemeClr val="dk1"/>
              </a:solidFill>
              <a:latin typeface="Calibri"/>
              <a:ea typeface="Calibri"/>
              <a:cs typeface="Calibri"/>
              <a:sym typeface="Calibri"/>
            </a:endParaRPr>
          </a:p>
        </p:txBody>
      </p:sp>
      <p:sp>
        <p:nvSpPr>
          <p:cNvPr id="145" name="Google Shape;145;p7"/>
          <p:cNvSpPr/>
          <p:nvPr/>
        </p:nvSpPr>
        <p:spPr>
          <a:xfrm>
            <a:off x="13326308" y="5248751"/>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46" name="Google Shape;146;p7"/>
          <p:cNvSpPr/>
          <p:nvPr/>
        </p:nvSpPr>
        <p:spPr>
          <a:xfrm>
            <a:off x="13474779" y="5333762"/>
            <a:ext cx="213360" cy="340281"/>
          </a:xfrm>
          <a:prstGeom prst="rect">
            <a:avLst/>
          </a:prstGeom>
          <a:noFill/>
          <a:ln>
            <a:noFill/>
          </a:ln>
        </p:spPr>
        <p:txBody>
          <a:bodyPr anchorCtr="0" anchor="t" bIns="0" lIns="0" spcFirstLastPara="1" rIns="0" wrap="square" tIns="0">
            <a:noAutofit/>
          </a:bodyPr>
          <a:lstStyle/>
          <a:p>
            <a:pPr indent="0" lvl="0" marL="0" marR="0" rtl="1" algn="ctr">
              <a:lnSpc>
                <a:spcPct val="82812"/>
              </a:lnSpc>
              <a:spcBef>
                <a:spcPts val="0"/>
              </a:spcBef>
              <a:spcAft>
                <a:spcPts val="0"/>
              </a:spcAft>
              <a:buClr>
                <a:srgbClr val="272525"/>
              </a:buClr>
              <a:buSzPts val="3200"/>
              <a:buFont typeface="Inter Medium"/>
              <a:buNone/>
            </a:pPr>
            <a:r>
              <a:rPr b="0" i="0" lang="en-US" sz="3200" u="none" cap="none" strike="noStrike">
                <a:solidFill>
                  <a:srgbClr val="272525"/>
                </a:solidFill>
                <a:latin typeface="Inter Medium"/>
                <a:ea typeface="Inter Medium"/>
                <a:cs typeface="Inter Medium"/>
                <a:sym typeface="Inter Medium"/>
              </a:rPr>
              <a:t>3</a:t>
            </a:r>
            <a:endParaRPr b="0" i="0" sz="3200" u="none" cap="none" strike="noStrike">
              <a:solidFill>
                <a:schemeClr val="dk1"/>
              </a:solidFill>
              <a:latin typeface="Calibri"/>
              <a:ea typeface="Calibri"/>
              <a:cs typeface="Calibri"/>
              <a:sym typeface="Calibri"/>
            </a:endParaRPr>
          </a:p>
        </p:txBody>
      </p:sp>
      <p:sp>
        <p:nvSpPr>
          <p:cNvPr id="147" name="Google Shape;147;p7"/>
          <p:cNvSpPr/>
          <p:nvPr/>
        </p:nvSpPr>
        <p:spPr>
          <a:xfrm>
            <a:off x="7530825" y="5275050"/>
            <a:ext cx="5682000" cy="354300"/>
          </a:xfrm>
          <a:prstGeom prst="rect">
            <a:avLst/>
          </a:prstGeom>
          <a:noFill/>
          <a:ln>
            <a:noFill/>
          </a:ln>
        </p:spPr>
        <p:txBody>
          <a:bodyPr anchorCtr="0" anchor="t" bIns="0" lIns="0" spcFirstLastPara="1" rIns="0" wrap="square" tIns="0">
            <a:noAutofit/>
          </a:bodyPr>
          <a:lstStyle/>
          <a:p>
            <a:pPr indent="0" lvl="0" marL="0" marR="0" rtl="1" algn="r">
              <a:lnSpc>
                <a:spcPct val="98214"/>
              </a:lnSpc>
              <a:spcBef>
                <a:spcPts val="0"/>
              </a:spcBef>
              <a:spcAft>
                <a:spcPts val="0"/>
              </a:spcAft>
              <a:buClr>
                <a:srgbClr val="272525"/>
              </a:buClr>
              <a:buSzPts val="2800"/>
              <a:buFont typeface="Inter Medium"/>
              <a:buNone/>
            </a:pPr>
            <a:r>
              <a:rPr b="1" i="0" lang="en-US" sz="2800" u="none" cap="none" strike="noStrike">
                <a:solidFill>
                  <a:srgbClr val="272525"/>
                </a:solidFill>
                <a:latin typeface="Inter Medium"/>
                <a:ea typeface="Inter Medium"/>
                <a:cs typeface="Inter Medium"/>
                <a:sym typeface="Inter Medium"/>
              </a:rPr>
              <a:t> מאגרי נתונים עצומים (Big Data)</a:t>
            </a:r>
            <a:endParaRPr b="0" i="0" sz="2800" u="none" cap="none" strike="noStrike">
              <a:solidFill>
                <a:schemeClr val="dk1"/>
              </a:solidFill>
              <a:latin typeface="Calibri"/>
              <a:ea typeface="Calibri"/>
              <a:cs typeface="Calibri"/>
              <a:sym typeface="Calibri"/>
            </a:endParaRPr>
          </a:p>
        </p:txBody>
      </p:sp>
      <p:sp>
        <p:nvSpPr>
          <p:cNvPr id="148" name="Google Shape;148;p7"/>
          <p:cNvSpPr/>
          <p:nvPr/>
        </p:nvSpPr>
        <p:spPr>
          <a:xfrm>
            <a:off x="4451390" y="5739170"/>
            <a:ext cx="8648105" cy="362903"/>
          </a:xfrm>
          <a:prstGeom prst="rect">
            <a:avLst/>
          </a:prstGeom>
          <a:noFill/>
          <a:ln>
            <a:noFill/>
          </a:ln>
        </p:spPr>
        <p:txBody>
          <a:bodyPr anchorCtr="0" anchor="t" bIns="0" lIns="0" spcFirstLastPara="1" rIns="0" wrap="square" tIns="0">
            <a:noAutofit/>
          </a:bodyPr>
          <a:lstStyle/>
          <a:p>
            <a:pPr indent="0" lvl="0" marL="0" marR="0" rtl="1" algn="r">
              <a:lnSpc>
                <a:spcPct val="142500"/>
              </a:lnSpc>
              <a:spcBef>
                <a:spcPts val="0"/>
              </a:spcBef>
              <a:spcAft>
                <a:spcPts val="0"/>
              </a:spcAft>
              <a:buClr>
                <a:srgbClr val="272525"/>
              </a:buClr>
              <a:buSzPts val="2000"/>
              <a:buFont typeface="Inter"/>
              <a:buNone/>
            </a:pPr>
            <a:r>
              <a:rPr b="0" i="0" lang="en-US" sz="2000" u="none" cap="none" strike="noStrike">
                <a:solidFill>
                  <a:srgbClr val="272525"/>
                </a:solidFill>
                <a:latin typeface="Inter"/>
                <a:ea typeface="Inter"/>
                <a:cs typeface="Inter"/>
                <a:sym typeface="Inter"/>
              </a:rPr>
              <a:t>אימון מודלים חישוביים על כמויות עצומות של נתונים.</a:t>
            </a:r>
            <a:endParaRPr b="0" i="0" sz="2000" u="none" cap="none" strike="noStrike">
              <a:solidFill>
                <a:schemeClr val="dk1"/>
              </a:solidFill>
              <a:latin typeface="Calibri"/>
              <a:ea typeface="Calibri"/>
              <a:cs typeface="Calibri"/>
              <a:sym typeface="Calibri"/>
            </a:endParaRPr>
          </a:p>
        </p:txBody>
      </p:sp>
      <p:sp>
        <p:nvSpPr>
          <p:cNvPr id="149" name="Google Shape;149;p7"/>
          <p:cNvSpPr/>
          <p:nvPr/>
        </p:nvSpPr>
        <p:spPr>
          <a:xfrm>
            <a:off x="13326308" y="6584037"/>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50" name="Google Shape;150;p7"/>
          <p:cNvSpPr/>
          <p:nvPr/>
        </p:nvSpPr>
        <p:spPr>
          <a:xfrm>
            <a:off x="13469898" y="6669048"/>
            <a:ext cx="223242" cy="340281"/>
          </a:xfrm>
          <a:prstGeom prst="rect">
            <a:avLst/>
          </a:prstGeom>
          <a:noFill/>
          <a:ln>
            <a:noFill/>
          </a:ln>
        </p:spPr>
        <p:txBody>
          <a:bodyPr anchorCtr="0" anchor="t" bIns="0" lIns="0" spcFirstLastPara="1" rIns="0" wrap="square" tIns="0">
            <a:noAutofit/>
          </a:bodyPr>
          <a:lstStyle/>
          <a:p>
            <a:pPr indent="0" lvl="0" marL="0" marR="0" rtl="1" algn="ctr">
              <a:lnSpc>
                <a:spcPct val="82812"/>
              </a:lnSpc>
              <a:spcBef>
                <a:spcPts val="0"/>
              </a:spcBef>
              <a:spcAft>
                <a:spcPts val="0"/>
              </a:spcAft>
              <a:buClr>
                <a:srgbClr val="272525"/>
              </a:buClr>
              <a:buSzPts val="3200"/>
              <a:buFont typeface="Inter Medium"/>
              <a:buNone/>
            </a:pPr>
            <a:r>
              <a:rPr b="0" i="0" lang="en-US" sz="3200" u="none" cap="none" strike="noStrike">
                <a:solidFill>
                  <a:srgbClr val="272525"/>
                </a:solidFill>
                <a:latin typeface="Inter Medium"/>
                <a:ea typeface="Inter Medium"/>
                <a:cs typeface="Inter Medium"/>
                <a:sym typeface="Inter Medium"/>
              </a:rPr>
              <a:t>4</a:t>
            </a:r>
            <a:endParaRPr b="0" i="0" sz="3200" u="none" cap="none" strike="noStrike">
              <a:solidFill>
                <a:schemeClr val="dk1"/>
              </a:solidFill>
              <a:latin typeface="Calibri"/>
              <a:ea typeface="Calibri"/>
              <a:cs typeface="Calibri"/>
              <a:sym typeface="Calibri"/>
            </a:endParaRPr>
          </a:p>
        </p:txBody>
      </p:sp>
      <p:sp>
        <p:nvSpPr>
          <p:cNvPr id="151" name="Google Shape;151;p7"/>
          <p:cNvSpPr/>
          <p:nvPr/>
        </p:nvSpPr>
        <p:spPr>
          <a:xfrm>
            <a:off x="10264259" y="6584037"/>
            <a:ext cx="2835235" cy="354330"/>
          </a:xfrm>
          <a:prstGeom prst="rect">
            <a:avLst/>
          </a:prstGeom>
          <a:noFill/>
          <a:ln>
            <a:noFill/>
          </a:ln>
        </p:spPr>
        <p:txBody>
          <a:bodyPr anchorCtr="0" anchor="t" bIns="0" lIns="0" spcFirstLastPara="1" rIns="0" wrap="square" tIns="0">
            <a:noAutofit/>
          </a:bodyPr>
          <a:lstStyle/>
          <a:p>
            <a:pPr indent="0" lvl="0" marL="0" marR="0" rtl="1" algn="r">
              <a:lnSpc>
                <a:spcPct val="98214"/>
              </a:lnSpc>
              <a:spcBef>
                <a:spcPts val="0"/>
              </a:spcBef>
              <a:spcAft>
                <a:spcPts val="0"/>
              </a:spcAft>
              <a:buClr>
                <a:srgbClr val="272525"/>
              </a:buClr>
              <a:buSzPts val="2800"/>
              <a:buFont typeface="Inter Medium"/>
              <a:buNone/>
            </a:pPr>
            <a:r>
              <a:rPr b="1" i="0" lang="en-US" sz="2800" u="none" cap="none" strike="noStrike">
                <a:solidFill>
                  <a:srgbClr val="272525"/>
                </a:solidFill>
                <a:latin typeface="Inter Medium"/>
                <a:ea typeface="Inter Medium"/>
                <a:cs typeface="Inter Medium"/>
                <a:sym typeface="Inter Medium"/>
              </a:rPr>
              <a:t>כוח חישובי</a:t>
            </a:r>
            <a:endParaRPr b="0" i="0" sz="2800" u="none" cap="none" strike="noStrike">
              <a:solidFill>
                <a:schemeClr val="dk1"/>
              </a:solidFill>
              <a:latin typeface="Calibri"/>
              <a:ea typeface="Calibri"/>
              <a:cs typeface="Calibri"/>
              <a:sym typeface="Calibri"/>
            </a:endParaRPr>
          </a:p>
        </p:txBody>
      </p:sp>
      <p:sp>
        <p:nvSpPr>
          <p:cNvPr id="152" name="Google Shape;152;p7"/>
          <p:cNvSpPr/>
          <p:nvPr/>
        </p:nvSpPr>
        <p:spPr>
          <a:xfrm>
            <a:off x="4451390" y="7074456"/>
            <a:ext cx="8648105" cy="362903"/>
          </a:xfrm>
          <a:prstGeom prst="rect">
            <a:avLst/>
          </a:prstGeom>
          <a:noFill/>
          <a:ln>
            <a:noFill/>
          </a:ln>
        </p:spPr>
        <p:txBody>
          <a:bodyPr anchorCtr="0" anchor="t" bIns="0" lIns="0" spcFirstLastPara="1" rIns="0" wrap="square" tIns="0">
            <a:noAutofit/>
          </a:bodyPr>
          <a:lstStyle/>
          <a:p>
            <a:pPr indent="0" lvl="0" marL="0" marR="0" rtl="1" algn="r">
              <a:lnSpc>
                <a:spcPct val="142500"/>
              </a:lnSpc>
              <a:spcBef>
                <a:spcPts val="0"/>
              </a:spcBef>
              <a:spcAft>
                <a:spcPts val="0"/>
              </a:spcAft>
              <a:buClr>
                <a:srgbClr val="272525"/>
              </a:buClr>
              <a:buSzPts val="2000"/>
              <a:buFont typeface="Inter"/>
              <a:buNone/>
            </a:pPr>
            <a:r>
              <a:rPr b="0" i="0" lang="en-US" sz="2000" u="none" cap="none" strike="noStrike">
                <a:solidFill>
                  <a:srgbClr val="272525"/>
                </a:solidFill>
                <a:latin typeface="Inter"/>
                <a:ea typeface="Inter"/>
                <a:cs typeface="Inter"/>
                <a:sym typeface="Inter"/>
              </a:rPr>
              <a:t>התקדמויות בחומרה ובתשתיות.</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p:nvPr/>
        </p:nvSpPr>
        <p:spPr>
          <a:xfrm>
            <a:off x="1485305" y="2966442"/>
            <a:ext cx="11659672" cy="978218"/>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Inter Medium"/>
              <a:buNone/>
            </a:pPr>
            <a:r>
              <a:rPr b="1" i="0" lang="en-US" sz="6150" u="none" cap="none" strike="noStrike">
                <a:solidFill>
                  <a:srgbClr val="D75BE2"/>
                </a:solidFill>
                <a:latin typeface="Inter Medium"/>
                <a:ea typeface="Inter Medium"/>
                <a:cs typeface="Inter Medium"/>
                <a:sym typeface="Inter Medium"/>
              </a:rPr>
              <a:t>העמקה בבינה מלאכותית שיחתית: </a:t>
            </a:r>
            <a:endParaRPr b="0" i="0" sz="6150" u="none" cap="none" strike="noStrike">
              <a:solidFill>
                <a:schemeClr val="dk1"/>
              </a:solidFill>
              <a:latin typeface="Calibri"/>
              <a:ea typeface="Calibri"/>
              <a:cs typeface="Calibri"/>
              <a:sym typeface="Calibri"/>
            </a:endParaRPr>
          </a:p>
        </p:txBody>
      </p:sp>
      <p:sp>
        <p:nvSpPr>
          <p:cNvPr id="159" name="Google Shape;159;p8"/>
          <p:cNvSpPr/>
          <p:nvPr/>
        </p:nvSpPr>
        <p:spPr>
          <a:xfrm>
            <a:off x="3402450" y="5139502"/>
            <a:ext cx="7825500" cy="896700"/>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Inter Medium"/>
              <a:buNone/>
            </a:pPr>
            <a:r>
              <a:rPr b="1" i="0" lang="en-US" sz="6150" u="none" cap="none" strike="noStrike">
                <a:solidFill>
                  <a:srgbClr val="D75BE2"/>
                </a:solidFill>
                <a:latin typeface="Inter Medium"/>
                <a:ea typeface="Inter Medium"/>
                <a:cs typeface="Inter Medium"/>
                <a:sym typeface="Inter Medium"/>
              </a:rPr>
              <a:t>לדבר עם מחשבים</a:t>
            </a:r>
            <a:endParaRPr b="0" i="0" sz="6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preencoded.png" id="165" name="Google Shape;165;p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66" name="Google Shape;166;p9"/>
          <p:cNvSpPr/>
          <p:nvPr/>
        </p:nvSpPr>
        <p:spPr>
          <a:xfrm>
            <a:off x="279225" y="224150"/>
            <a:ext cx="8070900" cy="1108500"/>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0" i="0" lang="en-US" sz="4450" u="none" cap="none" strike="noStrike">
                <a:solidFill>
                  <a:srgbClr val="D75BE2"/>
                </a:solidFill>
                <a:latin typeface="Inter Medium"/>
                <a:ea typeface="Inter Medium"/>
                <a:cs typeface="Inter Medium"/>
                <a:sym typeface="Inter Medium"/>
              </a:rPr>
              <a:t>מהי בינה מלאכותית שיחתית?</a:t>
            </a:r>
            <a:endParaRPr b="0" i="0" sz="4450" u="none" cap="none" strike="noStrike">
              <a:solidFill>
                <a:schemeClr val="dk1"/>
              </a:solidFill>
              <a:latin typeface="Calibri"/>
              <a:ea typeface="Calibri"/>
              <a:cs typeface="Calibri"/>
              <a:sym typeface="Calibri"/>
            </a:endParaRPr>
          </a:p>
        </p:txBody>
      </p:sp>
      <p:sp>
        <p:nvSpPr>
          <p:cNvPr id="167" name="Google Shape;167;p9"/>
          <p:cNvSpPr/>
          <p:nvPr/>
        </p:nvSpPr>
        <p:spPr>
          <a:xfrm>
            <a:off x="793790" y="1672709"/>
            <a:ext cx="7556421" cy="1814036"/>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200" u="none" cap="none" strike="noStrike">
                <a:solidFill>
                  <a:srgbClr val="272525"/>
                </a:solidFill>
                <a:latin typeface="Inter"/>
                <a:ea typeface="Inter"/>
                <a:cs typeface="Inter"/>
                <a:sym typeface="Inter"/>
              </a:rPr>
              <a:t>תארו לעצמכם שיש לכם עוזר שאתם יכולים לדבר איתו, ממש כמו שאתם מדברים עם חבר. עוזר זה מבין מה אתם אומרים ומגיב בצורה מועילה, עוזר לכם במשימות, עונה על שאלות, ואפילו מייצר תוכן יצירתי.</a:t>
            </a:r>
            <a:endParaRPr b="0" i="0" sz="2200" u="none" cap="none" strike="noStrike">
              <a:solidFill>
                <a:schemeClr val="dk1"/>
              </a:solidFill>
              <a:latin typeface="Calibri"/>
              <a:ea typeface="Calibri"/>
              <a:cs typeface="Calibri"/>
              <a:sym typeface="Calibri"/>
            </a:endParaRPr>
          </a:p>
        </p:txBody>
      </p:sp>
      <p:sp>
        <p:nvSpPr>
          <p:cNvPr id="168" name="Google Shape;168;p9"/>
          <p:cNvSpPr/>
          <p:nvPr/>
        </p:nvSpPr>
        <p:spPr>
          <a:xfrm>
            <a:off x="793790" y="3741896"/>
            <a:ext cx="7556421" cy="453509"/>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זוהי בדיוק בינה מלאכותית שיחתית!</a:t>
            </a:r>
            <a:endParaRPr b="0" i="0" sz="2200" u="none" cap="none" strike="noStrike">
              <a:solidFill>
                <a:schemeClr val="dk1"/>
              </a:solidFill>
              <a:latin typeface="Calibri"/>
              <a:ea typeface="Calibri"/>
              <a:cs typeface="Calibri"/>
              <a:sym typeface="Calibri"/>
            </a:endParaRPr>
          </a:p>
        </p:txBody>
      </p:sp>
      <p:sp>
        <p:nvSpPr>
          <p:cNvPr id="169" name="Google Shape;169;p9"/>
          <p:cNvSpPr/>
          <p:nvPr/>
        </p:nvSpPr>
        <p:spPr>
          <a:xfrm>
            <a:off x="793790" y="4450556"/>
            <a:ext cx="7556421" cy="2267545"/>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200" u="none" cap="none" strike="noStrike">
                <a:solidFill>
                  <a:srgbClr val="272525"/>
                </a:solidFill>
                <a:latin typeface="Inter"/>
                <a:ea typeface="Inter"/>
                <a:cs typeface="Inter"/>
                <a:sym typeface="Inter"/>
              </a:rPr>
              <a:t>בינה מלאכותית שיחתית מאפשרת לנו לתקשר עם מכונות בצורה טבעית ואינטואיטיבית, ממש כמו שאנחנו מדברים אחד עם השני..! במקום להקליד פקודות או ללחוץ על כפתורים, אנחנו יכולים פשוט לשאול שאלה או לבקש משהו, והמערכת תבין ותבצע את הפעולה הנדרשת.</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p:nvPr/>
        </p:nvSpPr>
        <p:spPr>
          <a:xfrm>
            <a:off x="2347550" y="288201"/>
            <a:ext cx="11489100" cy="1044300"/>
          </a:xfrm>
          <a:prstGeom prst="rect">
            <a:avLst/>
          </a:prstGeom>
          <a:noFill/>
          <a:ln>
            <a:noFill/>
          </a:ln>
        </p:spPr>
        <p:txBody>
          <a:bodyPr anchorCtr="0" anchor="t" bIns="0" lIns="0" spcFirstLastPara="1" rIns="0" wrap="square" tIns="0">
            <a:noAutofit/>
          </a:bodyPr>
          <a:lstStyle/>
          <a:p>
            <a:pPr indent="0" lvl="0" marL="0" marR="0" rtl="1" algn="r">
              <a:lnSpc>
                <a:spcPct val="115625"/>
              </a:lnSpc>
              <a:spcBef>
                <a:spcPts val="0"/>
              </a:spcBef>
              <a:spcAft>
                <a:spcPts val="0"/>
              </a:spcAft>
              <a:buClr>
                <a:srgbClr val="D75BE2"/>
              </a:buClr>
              <a:buSzPts val="4800"/>
              <a:buFont typeface="Inter Medium"/>
              <a:buNone/>
            </a:pPr>
            <a:r>
              <a:rPr b="0" i="0" lang="en-US" sz="4800" u="none" cap="none" strike="noStrike">
                <a:solidFill>
                  <a:srgbClr val="D75BE2"/>
                </a:solidFill>
                <a:latin typeface="Inter Medium"/>
                <a:ea typeface="Inter Medium"/>
                <a:cs typeface="Inter Medium"/>
                <a:sym typeface="Inter Medium"/>
              </a:rPr>
              <a:t>מהן היכולות הייחודיות של בינה מלאכותית שיחתית?</a:t>
            </a:r>
            <a:endParaRPr b="0" i="0" sz="4800" u="none" cap="none" strike="noStrike">
              <a:solidFill>
                <a:schemeClr val="dk1"/>
              </a:solidFill>
              <a:latin typeface="Calibri"/>
              <a:ea typeface="Calibri"/>
              <a:cs typeface="Calibri"/>
              <a:sym typeface="Calibri"/>
            </a:endParaRPr>
          </a:p>
        </p:txBody>
      </p:sp>
      <p:sp>
        <p:nvSpPr>
          <p:cNvPr id="176" name="Google Shape;176;p10"/>
          <p:cNvSpPr/>
          <p:nvPr/>
        </p:nvSpPr>
        <p:spPr>
          <a:xfrm>
            <a:off x="13326308" y="2041327"/>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77" name="Google Shape;177;p10"/>
          <p:cNvSpPr/>
          <p:nvPr/>
        </p:nvSpPr>
        <p:spPr>
          <a:xfrm>
            <a:off x="13510855" y="2126337"/>
            <a:ext cx="141208" cy="340281"/>
          </a:xfrm>
          <a:prstGeom prst="rect">
            <a:avLst/>
          </a:prstGeom>
          <a:noFill/>
          <a:ln>
            <a:noFill/>
          </a:ln>
        </p:spPr>
        <p:txBody>
          <a:bodyPr anchorCtr="0" anchor="t" bIns="0" lIns="0" spcFirstLastPara="1" rIns="0" wrap="square" tIns="0">
            <a:noAutofit/>
          </a:bodyPr>
          <a:lstStyle/>
          <a:p>
            <a:pPr indent="0" lvl="0" marL="0" marR="0" rtl="1" algn="ctr">
              <a:lnSpc>
                <a:spcPct val="94642"/>
              </a:lnSpc>
              <a:spcBef>
                <a:spcPts val="0"/>
              </a:spcBef>
              <a:spcAft>
                <a:spcPts val="0"/>
              </a:spcAft>
              <a:buClr>
                <a:srgbClr val="272525"/>
              </a:buClr>
              <a:buSzPts val="2800"/>
              <a:buFont typeface="Inter Medium"/>
              <a:buNone/>
            </a:pPr>
            <a:r>
              <a:rPr b="0" i="0" lang="en-US" sz="2800" u="none" cap="none" strike="noStrike">
                <a:solidFill>
                  <a:srgbClr val="272525"/>
                </a:solidFill>
                <a:latin typeface="Inter Medium"/>
                <a:ea typeface="Inter Medium"/>
                <a:cs typeface="Inter Medium"/>
                <a:sym typeface="Inter Medium"/>
              </a:rPr>
              <a:t>1</a:t>
            </a:r>
            <a:endParaRPr b="0" i="0" sz="2800" u="none" cap="none" strike="noStrike">
              <a:solidFill>
                <a:schemeClr val="dk1"/>
              </a:solidFill>
              <a:latin typeface="Calibri"/>
              <a:ea typeface="Calibri"/>
              <a:cs typeface="Calibri"/>
              <a:sym typeface="Calibri"/>
            </a:endParaRPr>
          </a:p>
        </p:txBody>
      </p:sp>
      <p:sp>
        <p:nvSpPr>
          <p:cNvPr id="178" name="Google Shape;178;p10"/>
          <p:cNvSpPr/>
          <p:nvPr/>
        </p:nvSpPr>
        <p:spPr>
          <a:xfrm>
            <a:off x="9697164" y="2041327"/>
            <a:ext cx="3402330" cy="425291"/>
          </a:xfrm>
          <a:prstGeom prst="rect">
            <a:avLst/>
          </a:prstGeom>
          <a:noFill/>
          <a:ln>
            <a:noFill/>
          </a:ln>
        </p:spPr>
        <p:txBody>
          <a:bodyPr anchorCtr="0" anchor="t" bIns="0" lIns="0" spcFirstLastPara="1" rIns="0" wrap="square" tIns="0">
            <a:noAutofit/>
          </a:bodyPr>
          <a:lstStyle/>
          <a:p>
            <a:pPr indent="0" lvl="0" marL="0" marR="0" rtl="1" algn="r">
              <a:lnSpc>
                <a:spcPct val="117857"/>
              </a:lnSpc>
              <a:spcBef>
                <a:spcPts val="0"/>
              </a:spcBef>
              <a:spcAft>
                <a:spcPts val="0"/>
              </a:spcAft>
              <a:buClr>
                <a:srgbClr val="272525"/>
              </a:buClr>
              <a:buSzPts val="2800"/>
              <a:buFont typeface="Inter Medium"/>
              <a:buNone/>
            </a:pPr>
            <a:r>
              <a:rPr b="1" i="0" lang="en-US" sz="2800" u="none" cap="none" strike="noStrike">
                <a:solidFill>
                  <a:srgbClr val="272525"/>
                </a:solidFill>
                <a:latin typeface="Inter Medium"/>
                <a:ea typeface="Inter Medium"/>
                <a:cs typeface="Inter Medium"/>
                <a:sym typeface="Inter Medium"/>
              </a:rPr>
              <a:t>הבנת שפה טבעית</a:t>
            </a:r>
            <a:endParaRPr b="1" i="0" sz="2800" u="none" cap="none" strike="noStrike">
              <a:solidFill>
                <a:schemeClr val="dk1"/>
              </a:solidFill>
              <a:latin typeface="Calibri"/>
              <a:ea typeface="Calibri"/>
              <a:cs typeface="Calibri"/>
              <a:sym typeface="Calibri"/>
            </a:endParaRPr>
          </a:p>
        </p:txBody>
      </p:sp>
      <p:sp>
        <p:nvSpPr>
          <p:cNvPr id="179" name="Google Shape;179;p10"/>
          <p:cNvSpPr/>
          <p:nvPr/>
        </p:nvSpPr>
        <p:spPr>
          <a:xfrm>
            <a:off x="793790" y="2602706"/>
            <a:ext cx="12305705" cy="453509"/>
          </a:xfrm>
          <a:prstGeom prst="rect">
            <a:avLst/>
          </a:prstGeom>
          <a:noFill/>
          <a:ln>
            <a:noFill/>
          </a:ln>
        </p:spPr>
        <p:txBody>
          <a:bodyPr anchorCtr="0" anchor="t" bIns="0" lIns="0" spcFirstLastPara="1" rIns="0" wrap="square" tIns="0">
            <a:noAutofit/>
          </a:bodyPr>
          <a:lstStyle/>
          <a:p>
            <a:pPr indent="0" lvl="0" marL="0" marR="0" rtl="1" algn="r">
              <a:lnSpc>
                <a:spcPct val="147916"/>
              </a:lnSpc>
              <a:spcBef>
                <a:spcPts val="0"/>
              </a:spcBef>
              <a:spcAft>
                <a:spcPts val="0"/>
              </a:spcAft>
              <a:buClr>
                <a:srgbClr val="272525"/>
              </a:buClr>
              <a:buSzPts val="2400"/>
              <a:buFont typeface="Inter"/>
              <a:buNone/>
            </a:pPr>
            <a:r>
              <a:rPr b="0" i="0" lang="en-US" sz="2400" u="none" cap="none" strike="noStrike">
                <a:solidFill>
                  <a:srgbClr val="272525"/>
                </a:solidFill>
                <a:latin typeface="Inter"/>
                <a:ea typeface="Inter"/>
                <a:cs typeface="Inter"/>
                <a:sym typeface="Inter"/>
              </a:rPr>
              <a:t>ChatGPT  מצטיין בהבנת והגבה לשפה טבעית, מה שהופך את האינטראקציה לדומה לשיחה אנושית</a:t>
            </a:r>
            <a:endParaRPr b="0" i="0" sz="2400" u="none" cap="none" strike="noStrike">
              <a:solidFill>
                <a:schemeClr val="dk1"/>
              </a:solidFill>
              <a:latin typeface="Calibri"/>
              <a:ea typeface="Calibri"/>
              <a:cs typeface="Calibri"/>
              <a:sym typeface="Calibri"/>
            </a:endParaRPr>
          </a:p>
        </p:txBody>
      </p:sp>
      <p:sp>
        <p:nvSpPr>
          <p:cNvPr id="180" name="Google Shape;180;p10"/>
          <p:cNvSpPr/>
          <p:nvPr/>
        </p:nvSpPr>
        <p:spPr>
          <a:xfrm>
            <a:off x="13326308" y="3538180"/>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81" name="Google Shape;181;p10"/>
          <p:cNvSpPr/>
          <p:nvPr/>
        </p:nvSpPr>
        <p:spPr>
          <a:xfrm>
            <a:off x="13476684" y="3623191"/>
            <a:ext cx="209669" cy="340281"/>
          </a:xfrm>
          <a:prstGeom prst="rect">
            <a:avLst/>
          </a:prstGeom>
          <a:noFill/>
          <a:ln>
            <a:noFill/>
          </a:ln>
        </p:spPr>
        <p:txBody>
          <a:bodyPr anchorCtr="0" anchor="t" bIns="0" lIns="0" spcFirstLastPara="1" rIns="0" wrap="square" tIns="0">
            <a:noAutofit/>
          </a:bodyPr>
          <a:lstStyle/>
          <a:p>
            <a:pPr indent="0" lvl="0" marL="0" marR="0" rtl="1" algn="ctr">
              <a:lnSpc>
                <a:spcPct val="94642"/>
              </a:lnSpc>
              <a:spcBef>
                <a:spcPts val="0"/>
              </a:spcBef>
              <a:spcAft>
                <a:spcPts val="0"/>
              </a:spcAft>
              <a:buClr>
                <a:srgbClr val="272525"/>
              </a:buClr>
              <a:buSzPts val="2800"/>
              <a:buFont typeface="Inter Medium"/>
              <a:buNone/>
            </a:pPr>
            <a:r>
              <a:rPr b="0" i="0" lang="en-US" sz="2800" u="none" cap="none" strike="noStrike">
                <a:solidFill>
                  <a:srgbClr val="272525"/>
                </a:solidFill>
                <a:latin typeface="Inter Medium"/>
                <a:ea typeface="Inter Medium"/>
                <a:cs typeface="Inter Medium"/>
                <a:sym typeface="Inter Medium"/>
              </a:rPr>
              <a:t>2</a:t>
            </a:r>
            <a:endParaRPr b="0" i="0" sz="2800" u="none" cap="none" strike="noStrike">
              <a:solidFill>
                <a:schemeClr val="dk1"/>
              </a:solidFill>
              <a:latin typeface="Calibri"/>
              <a:ea typeface="Calibri"/>
              <a:cs typeface="Calibri"/>
              <a:sym typeface="Calibri"/>
            </a:endParaRPr>
          </a:p>
        </p:txBody>
      </p:sp>
      <p:sp>
        <p:nvSpPr>
          <p:cNvPr id="182" name="Google Shape;182;p10"/>
          <p:cNvSpPr/>
          <p:nvPr/>
        </p:nvSpPr>
        <p:spPr>
          <a:xfrm>
            <a:off x="9697164" y="3538180"/>
            <a:ext cx="3402330" cy="425291"/>
          </a:xfrm>
          <a:prstGeom prst="rect">
            <a:avLst/>
          </a:prstGeom>
          <a:noFill/>
          <a:ln>
            <a:noFill/>
          </a:ln>
        </p:spPr>
        <p:txBody>
          <a:bodyPr anchorCtr="0" anchor="t" bIns="0" lIns="0" spcFirstLastPara="1" rIns="0" wrap="square" tIns="0">
            <a:noAutofit/>
          </a:bodyPr>
          <a:lstStyle/>
          <a:p>
            <a:pPr indent="0" lvl="0" marL="0" marR="0" rtl="1" algn="r">
              <a:lnSpc>
                <a:spcPct val="117857"/>
              </a:lnSpc>
              <a:spcBef>
                <a:spcPts val="0"/>
              </a:spcBef>
              <a:spcAft>
                <a:spcPts val="0"/>
              </a:spcAft>
              <a:buClr>
                <a:srgbClr val="272525"/>
              </a:buClr>
              <a:buSzPts val="2800"/>
              <a:buFont typeface="Inter Medium"/>
              <a:buNone/>
            </a:pPr>
            <a:r>
              <a:rPr b="1" i="0" lang="en-US" sz="2800" u="none" cap="none" strike="noStrike">
                <a:solidFill>
                  <a:srgbClr val="272525"/>
                </a:solidFill>
                <a:latin typeface="Inter Medium"/>
                <a:ea typeface="Inter Medium"/>
                <a:cs typeface="Inter Medium"/>
                <a:sym typeface="Inter Medium"/>
              </a:rPr>
              <a:t>יצירת תוכן </a:t>
            </a:r>
            <a:endParaRPr b="1" i="0" sz="2800" u="none" cap="none" strike="noStrike">
              <a:solidFill>
                <a:schemeClr val="dk1"/>
              </a:solidFill>
              <a:latin typeface="Calibri"/>
              <a:ea typeface="Calibri"/>
              <a:cs typeface="Calibri"/>
              <a:sym typeface="Calibri"/>
            </a:endParaRPr>
          </a:p>
        </p:txBody>
      </p:sp>
      <p:sp>
        <p:nvSpPr>
          <p:cNvPr id="183" name="Google Shape;183;p10"/>
          <p:cNvSpPr/>
          <p:nvPr/>
        </p:nvSpPr>
        <p:spPr>
          <a:xfrm>
            <a:off x="793790" y="4099560"/>
            <a:ext cx="12305705" cy="907018"/>
          </a:xfrm>
          <a:prstGeom prst="rect">
            <a:avLst/>
          </a:prstGeom>
          <a:noFill/>
          <a:ln>
            <a:noFill/>
          </a:ln>
        </p:spPr>
        <p:txBody>
          <a:bodyPr anchorCtr="0" anchor="t" bIns="0" lIns="0" spcFirstLastPara="1" rIns="0" wrap="square" tIns="0">
            <a:noAutofit/>
          </a:bodyPr>
          <a:lstStyle/>
          <a:p>
            <a:pPr indent="0" lvl="0" marL="0" marR="0" rtl="1" algn="r">
              <a:lnSpc>
                <a:spcPct val="147916"/>
              </a:lnSpc>
              <a:spcBef>
                <a:spcPts val="0"/>
              </a:spcBef>
              <a:spcAft>
                <a:spcPts val="0"/>
              </a:spcAft>
              <a:buClr>
                <a:srgbClr val="272525"/>
              </a:buClr>
              <a:buSzPts val="2400"/>
              <a:buFont typeface="Inter"/>
              <a:buNone/>
            </a:pPr>
            <a:r>
              <a:rPr b="0" i="0" lang="en-US" sz="2400" u="none" cap="none" strike="noStrike">
                <a:solidFill>
                  <a:srgbClr val="272525"/>
                </a:solidFill>
                <a:latin typeface="Inter"/>
                <a:ea typeface="Inter"/>
                <a:cs typeface="Inter"/>
                <a:sym typeface="Inter"/>
              </a:rPr>
              <a:t>מעבר למשימות בסיסיות, ChatGPT יכול ליצור טקסטים יצירתיים בפורמטים שונים, כמו שירים, תסריטים ואפילו יצירות מוזיקליות.</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p:nvPr/>
        </p:nvSpPr>
        <p:spPr>
          <a:xfrm>
            <a:off x="625223" y="623775"/>
            <a:ext cx="13211400" cy="708900"/>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0" i="0" lang="en-US" sz="4450" u="none" cap="none" strike="noStrike">
                <a:solidFill>
                  <a:srgbClr val="D75BE2"/>
                </a:solidFill>
                <a:latin typeface="Inter Medium"/>
                <a:ea typeface="Inter Medium"/>
                <a:cs typeface="Inter Medium"/>
                <a:sym typeface="Inter Medium"/>
              </a:rPr>
              <a:t>סקירה על כלי בינה מלאכותית שיחתית פופולריים</a:t>
            </a:r>
            <a:endParaRPr b="0" i="0" sz="4450" u="none" cap="none" strike="noStrike">
              <a:solidFill>
                <a:schemeClr val="dk1"/>
              </a:solidFill>
              <a:latin typeface="Calibri"/>
              <a:ea typeface="Calibri"/>
              <a:cs typeface="Calibri"/>
              <a:sym typeface="Calibri"/>
            </a:endParaRPr>
          </a:p>
        </p:txBody>
      </p:sp>
      <p:sp>
        <p:nvSpPr>
          <p:cNvPr id="190" name="Google Shape;190;p11"/>
          <p:cNvSpPr/>
          <p:nvPr/>
        </p:nvSpPr>
        <p:spPr>
          <a:xfrm>
            <a:off x="793790" y="1672709"/>
            <a:ext cx="4196358" cy="3771781"/>
          </a:xfrm>
          <a:prstGeom prst="roundRect">
            <a:avLst>
              <a:gd fmla="val 2526"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11"/>
          <p:cNvSpPr/>
          <p:nvPr/>
        </p:nvSpPr>
        <p:spPr>
          <a:xfrm>
            <a:off x="1028224" y="190714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Chat GPT</a:t>
            </a:r>
            <a:endParaRPr b="1" i="0" sz="2200" u="none" cap="none" strike="noStrike">
              <a:solidFill>
                <a:schemeClr val="dk1"/>
              </a:solidFill>
              <a:latin typeface="Calibri"/>
              <a:ea typeface="Calibri"/>
              <a:cs typeface="Calibri"/>
              <a:sym typeface="Calibri"/>
            </a:endParaRPr>
          </a:p>
        </p:txBody>
      </p:sp>
      <p:sp>
        <p:nvSpPr>
          <p:cNvPr id="192" name="Google Shape;192;p11"/>
          <p:cNvSpPr/>
          <p:nvPr/>
        </p:nvSpPr>
        <p:spPr>
          <a:xfrm>
            <a:off x="1920478" y="2397562"/>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0" i="0" lang="en-US" sz="2200" u="none" cap="none" strike="noStrike">
                <a:solidFill>
                  <a:srgbClr val="272525"/>
                </a:solidFill>
                <a:latin typeface="Inter Medium"/>
                <a:ea typeface="Inter Medium"/>
                <a:cs typeface="Inter Medium"/>
                <a:sym typeface="Inter Medium"/>
              </a:rPr>
              <a:t>פותח על ידי OpenAI</a:t>
            </a:r>
            <a:endParaRPr b="0" i="0" sz="2200" u="none" cap="none" strike="noStrike">
              <a:solidFill>
                <a:schemeClr val="dk1"/>
              </a:solidFill>
              <a:latin typeface="Calibri"/>
              <a:ea typeface="Calibri"/>
              <a:cs typeface="Calibri"/>
              <a:sym typeface="Calibri"/>
            </a:endParaRPr>
          </a:p>
        </p:txBody>
      </p:sp>
      <p:sp>
        <p:nvSpPr>
          <p:cNvPr id="193" name="Google Shape;193;p11"/>
          <p:cNvSpPr/>
          <p:nvPr/>
        </p:nvSpPr>
        <p:spPr>
          <a:xfrm>
            <a:off x="1028224" y="2887980"/>
            <a:ext cx="3727490" cy="1451610"/>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צ'אטג'יפיטי מצטיין ביצירת תוכן יצירתי, כמו שירים, קוד, תסריטים, יצירות מוזיקליות, דואר אלקטרוני, מכתבים וכדומה.</a:t>
            </a:r>
            <a:endParaRPr b="0" i="0" sz="1750" u="none" cap="none" strike="noStrike">
              <a:solidFill>
                <a:schemeClr val="dk1"/>
              </a:solidFill>
              <a:latin typeface="Calibri"/>
              <a:ea typeface="Calibri"/>
              <a:cs typeface="Calibri"/>
              <a:sym typeface="Calibri"/>
            </a:endParaRPr>
          </a:p>
        </p:txBody>
      </p:sp>
      <p:sp>
        <p:nvSpPr>
          <p:cNvPr id="194" name="Google Shape;194;p11"/>
          <p:cNvSpPr/>
          <p:nvPr/>
        </p:nvSpPr>
        <p:spPr>
          <a:xfrm>
            <a:off x="1028224" y="4475678"/>
            <a:ext cx="3727490"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יכול לנהל שיחה ולערוך סיעור מוחות על מגוון רחב של נושאים.</a:t>
            </a:r>
            <a:endParaRPr b="0" i="0" sz="1750" u="none" cap="none" strike="noStrike">
              <a:solidFill>
                <a:schemeClr val="dk1"/>
              </a:solidFill>
              <a:latin typeface="Calibri"/>
              <a:ea typeface="Calibri"/>
              <a:cs typeface="Calibri"/>
              <a:sym typeface="Calibri"/>
            </a:endParaRPr>
          </a:p>
        </p:txBody>
      </p:sp>
      <p:sp>
        <p:nvSpPr>
          <p:cNvPr id="195" name="Google Shape;195;p11"/>
          <p:cNvSpPr/>
          <p:nvPr/>
        </p:nvSpPr>
        <p:spPr>
          <a:xfrm>
            <a:off x="5216962" y="1672709"/>
            <a:ext cx="4196358" cy="3771781"/>
          </a:xfrm>
          <a:prstGeom prst="roundRect">
            <a:avLst>
              <a:gd fmla="val 2526"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1"/>
          <p:cNvSpPr/>
          <p:nvPr/>
        </p:nvSpPr>
        <p:spPr>
          <a:xfrm>
            <a:off x="5451396" y="190714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Gemini</a:t>
            </a:r>
            <a:endParaRPr b="1" i="0" sz="2200" u="none" cap="none" strike="noStrike">
              <a:solidFill>
                <a:schemeClr val="dk1"/>
              </a:solidFill>
              <a:latin typeface="Calibri"/>
              <a:ea typeface="Calibri"/>
              <a:cs typeface="Calibri"/>
              <a:sym typeface="Calibri"/>
            </a:endParaRPr>
          </a:p>
        </p:txBody>
      </p:sp>
      <p:sp>
        <p:nvSpPr>
          <p:cNvPr id="197" name="Google Shape;197;p11"/>
          <p:cNvSpPr/>
          <p:nvPr/>
        </p:nvSpPr>
        <p:spPr>
          <a:xfrm>
            <a:off x="5451396" y="2397562"/>
            <a:ext cx="3727490" cy="362903"/>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פותח על ידי Google AI</a:t>
            </a:r>
            <a:endParaRPr b="0" i="0" sz="1750" u="none" cap="none" strike="noStrike">
              <a:solidFill>
                <a:schemeClr val="dk1"/>
              </a:solidFill>
              <a:latin typeface="Calibri"/>
              <a:ea typeface="Calibri"/>
              <a:cs typeface="Calibri"/>
              <a:sym typeface="Calibri"/>
            </a:endParaRPr>
          </a:p>
        </p:txBody>
      </p:sp>
      <p:sp>
        <p:nvSpPr>
          <p:cNvPr id="198" name="Google Shape;198;p11"/>
          <p:cNvSpPr/>
          <p:nvPr/>
        </p:nvSpPr>
        <p:spPr>
          <a:xfrm>
            <a:off x="5451396" y="2896553"/>
            <a:ext cx="3727490" cy="1451610"/>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ג'מיני הוא מודל שפה עוצמתי ורב-תכליתי, המבוסס על מידע עדכני בזכות הגישה למקורות המידע העצומים של גוגל.</a:t>
            </a:r>
            <a:endParaRPr b="0" i="0" sz="1750" u="none" cap="none" strike="noStrike">
              <a:solidFill>
                <a:schemeClr val="dk1"/>
              </a:solidFill>
              <a:latin typeface="Calibri"/>
              <a:ea typeface="Calibri"/>
              <a:cs typeface="Calibri"/>
              <a:sym typeface="Calibri"/>
            </a:endParaRPr>
          </a:p>
        </p:txBody>
      </p:sp>
      <p:sp>
        <p:nvSpPr>
          <p:cNvPr id="199" name="Google Shape;199;p11"/>
          <p:cNvSpPr/>
          <p:nvPr/>
        </p:nvSpPr>
        <p:spPr>
          <a:xfrm>
            <a:off x="5451396" y="4484251"/>
            <a:ext cx="3727490"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מאפשר חיבור למערכת האקולוגית של גוגל (Gmail, Maps וכו')</a:t>
            </a:r>
            <a:endParaRPr b="0" i="0" sz="1750" u="none" cap="none" strike="noStrike">
              <a:solidFill>
                <a:schemeClr val="dk1"/>
              </a:solidFill>
              <a:latin typeface="Calibri"/>
              <a:ea typeface="Calibri"/>
              <a:cs typeface="Calibri"/>
              <a:sym typeface="Calibri"/>
            </a:endParaRPr>
          </a:p>
        </p:txBody>
      </p:sp>
      <p:sp>
        <p:nvSpPr>
          <p:cNvPr id="200" name="Google Shape;200;p11"/>
          <p:cNvSpPr/>
          <p:nvPr/>
        </p:nvSpPr>
        <p:spPr>
          <a:xfrm>
            <a:off x="9640133" y="1672709"/>
            <a:ext cx="4196358" cy="3771781"/>
          </a:xfrm>
          <a:prstGeom prst="roundRect">
            <a:avLst>
              <a:gd fmla="val 2526" name="adj"/>
            </a:avLst>
          </a:prstGeom>
          <a:solidFill>
            <a:srgbClr val="F4D4F7"/>
          </a:solidFill>
          <a:ln cap="flat" cmpd="sng" w="9525">
            <a:solidFill>
              <a:srgbClr val="DABADD"/>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1"/>
          <p:cNvSpPr/>
          <p:nvPr/>
        </p:nvSpPr>
        <p:spPr>
          <a:xfrm>
            <a:off x="9874568" y="190714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Claude</a:t>
            </a:r>
            <a:endParaRPr b="1" i="0" sz="2200" u="none" cap="none" strike="noStrike">
              <a:solidFill>
                <a:schemeClr val="dk1"/>
              </a:solidFill>
              <a:latin typeface="Calibri"/>
              <a:ea typeface="Calibri"/>
              <a:cs typeface="Calibri"/>
              <a:sym typeface="Calibri"/>
            </a:endParaRPr>
          </a:p>
        </p:txBody>
      </p:sp>
      <p:sp>
        <p:nvSpPr>
          <p:cNvPr id="202" name="Google Shape;202;p11"/>
          <p:cNvSpPr/>
          <p:nvPr/>
        </p:nvSpPr>
        <p:spPr>
          <a:xfrm>
            <a:off x="9874568" y="2397562"/>
            <a:ext cx="3727490" cy="362903"/>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פותח על ידי Anthropic</a:t>
            </a:r>
            <a:endParaRPr b="0" i="0" sz="1750" u="none" cap="none" strike="noStrike">
              <a:solidFill>
                <a:schemeClr val="dk1"/>
              </a:solidFill>
              <a:latin typeface="Calibri"/>
              <a:ea typeface="Calibri"/>
              <a:cs typeface="Calibri"/>
              <a:sym typeface="Calibri"/>
            </a:endParaRPr>
          </a:p>
        </p:txBody>
      </p:sp>
      <p:sp>
        <p:nvSpPr>
          <p:cNvPr id="203" name="Google Shape;203;p11"/>
          <p:cNvSpPr/>
          <p:nvPr/>
        </p:nvSpPr>
        <p:spPr>
          <a:xfrm>
            <a:off x="9874568" y="2896553"/>
            <a:ext cx="3727490" cy="362903"/>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קלוד תוכנן להיות בטוח ומועיל.</a:t>
            </a:r>
            <a:endParaRPr b="0" i="0" sz="1750" u="none" cap="none" strike="noStrike">
              <a:solidFill>
                <a:schemeClr val="dk1"/>
              </a:solidFill>
              <a:latin typeface="Calibri"/>
              <a:ea typeface="Calibri"/>
              <a:cs typeface="Calibri"/>
              <a:sym typeface="Calibri"/>
            </a:endParaRPr>
          </a:p>
        </p:txBody>
      </p:sp>
      <p:sp>
        <p:nvSpPr>
          <p:cNvPr id="204" name="Google Shape;204;p11"/>
          <p:cNvSpPr/>
          <p:nvPr/>
        </p:nvSpPr>
        <p:spPr>
          <a:xfrm>
            <a:off x="9874568" y="3395543"/>
            <a:ext cx="3727490" cy="1088708"/>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הוא מיומן בסיכום מידע, בכתיבה יצירתית במגוון סגנונות, ובמתן תשובות מקיפות ומעמיקות לשאלות.</a:t>
            </a:r>
            <a:endParaRPr b="0" i="0" sz="1750" u="none" cap="none" strike="noStrike">
              <a:solidFill>
                <a:schemeClr val="dk1"/>
              </a:solidFill>
              <a:latin typeface="Calibri"/>
              <a:ea typeface="Calibri"/>
              <a:cs typeface="Calibri"/>
              <a:sym typeface="Calibri"/>
            </a:endParaRPr>
          </a:p>
        </p:txBody>
      </p:sp>
      <p:sp>
        <p:nvSpPr>
          <p:cNvPr id="205" name="Google Shape;205;p11"/>
          <p:cNvSpPr/>
          <p:nvPr/>
        </p:nvSpPr>
        <p:spPr>
          <a:xfrm>
            <a:off x="793790" y="5671304"/>
            <a:ext cx="4196358" cy="1934528"/>
          </a:xfrm>
          <a:prstGeom prst="roundRect">
            <a:avLst>
              <a:gd fmla="val 4925" name="adj"/>
            </a:avLst>
          </a:prstGeom>
          <a:solidFill>
            <a:srgbClr val="FFFFFF"/>
          </a:solidFill>
          <a:ln cap="flat" cmpd="sng" w="9525">
            <a:solidFill>
              <a:srgbClr val="E5E5E5"/>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06" name="Google Shape;206;p11"/>
          <p:cNvPicPr preferRelativeResize="0"/>
          <p:nvPr/>
        </p:nvPicPr>
        <p:blipFill rotWithShape="1">
          <a:blip r:embed="rId3">
            <a:alphaModFix/>
          </a:blip>
          <a:srcRect b="0" l="0" r="0" t="0"/>
          <a:stretch/>
        </p:blipFill>
        <p:spPr>
          <a:xfrm>
            <a:off x="1028224" y="5905738"/>
            <a:ext cx="3727490" cy="1282898"/>
          </a:xfrm>
          <a:prstGeom prst="rect">
            <a:avLst/>
          </a:prstGeom>
          <a:noFill/>
          <a:ln>
            <a:noFill/>
          </a:ln>
        </p:spPr>
      </p:pic>
      <p:sp>
        <p:nvSpPr>
          <p:cNvPr id="207" name="Google Shape;207;p11"/>
          <p:cNvSpPr/>
          <p:nvPr/>
        </p:nvSpPr>
        <p:spPr>
          <a:xfrm>
            <a:off x="5216962" y="5671304"/>
            <a:ext cx="4196358" cy="1934528"/>
          </a:xfrm>
          <a:prstGeom prst="roundRect">
            <a:avLst>
              <a:gd fmla="val 4925" name="adj"/>
            </a:avLst>
          </a:prstGeom>
          <a:solidFill>
            <a:srgbClr val="FFFFFF"/>
          </a:solidFill>
          <a:ln cap="flat" cmpd="sng" w="9525">
            <a:solidFill>
              <a:srgbClr val="E5E5E5"/>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08" name="Google Shape;208;p11"/>
          <p:cNvPicPr preferRelativeResize="0"/>
          <p:nvPr/>
        </p:nvPicPr>
        <p:blipFill rotWithShape="1">
          <a:blip r:embed="rId4">
            <a:alphaModFix/>
          </a:blip>
          <a:srcRect b="0" l="0" r="0" t="0"/>
          <a:stretch/>
        </p:blipFill>
        <p:spPr>
          <a:xfrm>
            <a:off x="5451396" y="5905738"/>
            <a:ext cx="3727490" cy="1377196"/>
          </a:xfrm>
          <a:prstGeom prst="rect">
            <a:avLst/>
          </a:prstGeom>
          <a:noFill/>
          <a:ln>
            <a:noFill/>
          </a:ln>
        </p:spPr>
      </p:pic>
      <p:sp>
        <p:nvSpPr>
          <p:cNvPr id="209" name="Google Shape;209;p11"/>
          <p:cNvSpPr/>
          <p:nvPr/>
        </p:nvSpPr>
        <p:spPr>
          <a:xfrm>
            <a:off x="9640133" y="5671304"/>
            <a:ext cx="4196358" cy="1934528"/>
          </a:xfrm>
          <a:prstGeom prst="roundRect">
            <a:avLst>
              <a:gd fmla="val 4925" name="adj"/>
            </a:avLst>
          </a:prstGeom>
          <a:solidFill>
            <a:srgbClr val="FFFFFF"/>
          </a:solidFill>
          <a:ln cap="flat" cmpd="sng" w="9525">
            <a:solidFill>
              <a:srgbClr val="E5E5E5"/>
            </a:solidFill>
            <a:prstDash val="solid"/>
            <a:round/>
            <a:headEnd len="sm" w="sm" type="none"/>
            <a:tailEnd len="sm" w="sm" type="none"/>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10" name="Google Shape;210;p11"/>
          <p:cNvPicPr preferRelativeResize="0"/>
          <p:nvPr/>
        </p:nvPicPr>
        <p:blipFill rotWithShape="1">
          <a:blip r:embed="rId5">
            <a:alphaModFix/>
          </a:blip>
          <a:srcRect b="0" l="0" r="0" t="0"/>
          <a:stretch/>
        </p:blipFill>
        <p:spPr>
          <a:xfrm>
            <a:off x="9874568" y="5905738"/>
            <a:ext cx="3727490" cy="847606"/>
          </a:xfrm>
          <a:prstGeom prst="rect">
            <a:avLst/>
          </a:prstGeom>
          <a:noFill/>
          <a:ln>
            <a:noFill/>
          </a:ln>
        </p:spPr>
      </p:pic>
      <p:sp>
        <p:nvSpPr>
          <p:cNvPr id="211" name="Google Shape;211;p11"/>
          <p:cNvSpPr/>
          <p:nvPr/>
        </p:nvSpPr>
        <p:spPr>
          <a:xfrm>
            <a:off x="9874568" y="7008495"/>
            <a:ext cx="3727490" cy="362903"/>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chemeClr val="dk1"/>
              </a:buClr>
              <a:buSzPts val="1750"/>
              <a:buFont typeface="Calibri"/>
              <a:buNone/>
            </a:pPr>
            <a:r>
              <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p:nvPr/>
        </p:nvSpPr>
        <p:spPr>
          <a:xfrm>
            <a:off x="748070" y="587812"/>
            <a:ext cx="5344001" cy="6679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4200"/>
              <a:buFont typeface="Inter Medium"/>
              <a:buNone/>
            </a:pPr>
            <a:r>
              <a:rPr b="0" i="0" lang="en-US" sz="4200" u="none" cap="none" strike="noStrike">
                <a:solidFill>
                  <a:srgbClr val="D75BE2"/>
                </a:solidFill>
                <a:latin typeface="Inter Medium"/>
                <a:ea typeface="Inter Medium"/>
                <a:cs typeface="Inter Medium"/>
                <a:sym typeface="Inter Medium"/>
              </a:rPr>
              <a:t>ChatGPT Preview</a:t>
            </a:r>
            <a:endParaRPr b="0" i="0" sz="4200" u="none" cap="none" strike="noStrike">
              <a:solidFill>
                <a:schemeClr val="dk1"/>
              </a:solidFill>
              <a:latin typeface="Calibri"/>
              <a:ea typeface="Calibri"/>
              <a:cs typeface="Calibri"/>
              <a:sym typeface="Calibri"/>
            </a:endParaRPr>
          </a:p>
        </p:txBody>
      </p:sp>
      <p:pic>
        <p:nvPicPr>
          <p:cNvPr descr="preencoded.png" id="218" name="Google Shape;218;p12"/>
          <p:cNvPicPr preferRelativeResize="0"/>
          <p:nvPr/>
        </p:nvPicPr>
        <p:blipFill rotWithShape="1">
          <a:blip r:embed="rId3">
            <a:alphaModFix/>
          </a:blip>
          <a:srcRect b="0" l="0" r="0" t="0"/>
          <a:stretch/>
        </p:blipFill>
        <p:spPr>
          <a:xfrm>
            <a:off x="748070" y="1683187"/>
            <a:ext cx="12377737" cy="60031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p:nvPr/>
        </p:nvSpPr>
        <p:spPr>
          <a:xfrm>
            <a:off x="734616" y="577215"/>
            <a:ext cx="5247918" cy="656034"/>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D75BE2"/>
              </a:buClr>
              <a:buSzPts val="4100"/>
              <a:buFont typeface="Inter Medium"/>
              <a:buNone/>
            </a:pPr>
            <a:r>
              <a:rPr b="0" i="0" lang="en-US" sz="4100" u="none" cap="none" strike="noStrike">
                <a:solidFill>
                  <a:srgbClr val="D75BE2"/>
                </a:solidFill>
                <a:latin typeface="Inter Medium"/>
                <a:ea typeface="Inter Medium"/>
                <a:cs typeface="Inter Medium"/>
                <a:sym typeface="Inter Medium"/>
              </a:rPr>
              <a:t>Gemini Preview</a:t>
            </a:r>
            <a:endParaRPr b="0" i="0" sz="4100" u="none" cap="none" strike="noStrike">
              <a:solidFill>
                <a:schemeClr val="dk1"/>
              </a:solidFill>
              <a:latin typeface="Calibri"/>
              <a:ea typeface="Calibri"/>
              <a:cs typeface="Calibri"/>
              <a:sym typeface="Calibri"/>
            </a:endParaRPr>
          </a:p>
        </p:txBody>
      </p:sp>
      <p:pic>
        <p:nvPicPr>
          <p:cNvPr descr="preencoded.png" id="225" name="Google Shape;225;p13"/>
          <p:cNvPicPr preferRelativeResize="0"/>
          <p:nvPr/>
        </p:nvPicPr>
        <p:blipFill rotWithShape="1">
          <a:blip r:embed="rId3">
            <a:alphaModFix/>
          </a:blip>
          <a:srcRect b="0" l="0" r="0" t="0"/>
          <a:stretch/>
        </p:blipFill>
        <p:spPr>
          <a:xfrm>
            <a:off x="734616" y="1653064"/>
            <a:ext cx="12179975" cy="60515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p:nvPr/>
        </p:nvSpPr>
        <p:spPr>
          <a:xfrm>
            <a:off x="750689" y="589836"/>
            <a:ext cx="5362813" cy="67032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4200"/>
              <a:buFont typeface="Inter Medium"/>
              <a:buNone/>
            </a:pPr>
            <a:r>
              <a:rPr b="0" i="0" lang="en-US" sz="4200" u="none" cap="none" strike="noStrike">
                <a:solidFill>
                  <a:srgbClr val="D75BE2"/>
                </a:solidFill>
                <a:latin typeface="Inter Medium"/>
                <a:ea typeface="Inter Medium"/>
                <a:cs typeface="Inter Medium"/>
                <a:sym typeface="Inter Medium"/>
              </a:rPr>
              <a:t>Claude Preview</a:t>
            </a:r>
            <a:endParaRPr b="0" i="0" sz="4200" u="none" cap="none" strike="noStrike">
              <a:solidFill>
                <a:schemeClr val="dk1"/>
              </a:solidFill>
              <a:latin typeface="Calibri"/>
              <a:ea typeface="Calibri"/>
              <a:cs typeface="Calibri"/>
              <a:sym typeface="Calibri"/>
            </a:endParaRPr>
          </a:p>
        </p:txBody>
      </p:sp>
      <p:pic>
        <p:nvPicPr>
          <p:cNvPr descr="preencoded.png" id="232" name="Google Shape;232;p14"/>
          <p:cNvPicPr preferRelativeResize="0"/>
          <p:nvPr/>
        </p:nvPicPr>
        <p:blipFill rotWithShape="1">
          <a:blip r:embed="rId3">
            <a:alphaModFix/>
          </a:blip>
          <a:srcRect b="0" l="0" r="0" t="0"/>
          <a:stretch/>
        </p:blipFill>
        <p:spPr>
          <a:xfrm>
            <a:off x="750689" y="1823085"/>
            <a:ext cx="11254145" cy="5612130"/>
          </a:xfrm>
          <a:prstGeom prst="rect">
            <a:avLst/>
          </a:prstGeom>
          <a:noFill/>
          <a:ln>
            <a:noFill/>
          </a:ln>
        </p:spPr>
      </p:pic>
      <p:sp>
        <p:nvSpPr>
          <p:cNvPr id="233" name="Google Shape;233;p14"/>
          <p:cNvSpPr/>
          <p:nvPr/>
        </p:nvSpPr>
        <p:spPr>
          <a:xfrm>
            <a:off x="13182005" y="1774865"/>
            <a:ext cx="705207" cy="34325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chemeClr val="dk1"/>
              </a:buClr>
              <a:buSzPts val="1650"/>
              <a:buFont typeface="Calibri"/>
              <a:buNone/>
            </a:pPr>
            <a:r>
              <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p:nvPr/>
        </p:nvSpPr>
        <p:spPr>
          <a:xfrm>
            <a:off x="6599875" y="320202"/>
            <a:ext cx="7236600" cy="1240200"/>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1" i="0" lang="en-US" sz="4450" u="none" cap="none" strike="noStrike">
                <a:solidFill>
                  <a:srgbClr val="D75BE2"/>
                </a:solidFill>
                <a:latin typeface="Inter Medium"/>
                <a:ea typeface="Inter Medium"/>
                <a:cs typeface="Inter Medium"/>
                <a:sym typeface="Inter Medium"/>
              </a:rPr>
              <a:t>טיפים לשיחה עם בינה מלאכותית</a:t>
            </a:r>
            <a:endParaRPr b="1" i="0" sz="4450" u="none" cap="none" strike="noStrike">
              <a:solidFill>
                <a:schemeClr val="dk1"/>
              </a:solidFill>
              <a:latin typeface="Calibri"/>
              <a:ea typeface="Calibri"/>
              <a:cs typeface="Calibri"/>
              <a:sym typeface="Calibri"/>
            </a:endParaRPr>
          </a:p>
        </p:txBody>
      </p:sp>
      <p:pic>
        <p:nvPicPr>
          <p:cNvPr descr="preencoded.png" id="240" name="Google Shape;240;p15"/>
          <p:cNvPicPr preferRelativeResize="0"/>
          <p:nvPr/>
        </p:nvPicPr>
        <p:blipFill rotWithShape="1">
          <a:blip r:embed="rId3">
            <a:alphaModFix/>
          </a:blip>
          <a:srcRect b="0" l="0" r="0" t="0"/>
          <a:stretch/>
        </p:blipFill>
        <p:spPr>
          <a:xfrm>
            <a:off x="13382982" y="2277666"/>
            <a:ext cx="453628" cy="453628"/>
          </a:xfrm>
          <a:prstGeom prst="rect">
            <a:avLst/>
          </a:prstGeom>
          <a:noFill/>
          <a:ln>
            <a:noFill/>
          </a:ln>
        </p:spPr>
      </p:pic>
      <p:sp>
        <p:nvSpPr>
          <p:cNvPr id="241" name="Google Shape;241;p15"/>
          <p:cNvSpPr/>
          <p:nvPr/>
        </p:nvSpPr>
        <p:spPr>
          <a:xfrm>
            <a:off x="10211276" y="2958108"/>
            <a:ext cx="3625334"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היו ברורים, ספציפיים ופשוטים</a:t>
            </a:r>
            <a:endParaRPr b="0" i="0" sz="2200" u="none" cap="none" strike="noStrike">
              <a:solidFill>
                <a:schemeClr val="dk1"/>
              </a:solidFill>
              <a:latin typeface="Calibri"/>
              <a:ea typeface="Calibri"/>
              <a:cs typeface="Calibri"/>
              <a:sym typeface="Calibri"/>
            </a:endParaRPr>
          </a:p>
        </p:txBody>
      </p:sp>
      <p:sp>
        <p:nvSpPr>
          <p:cNvPr id="242" name="Google Shape;242;p15"/>
          <p:cNvSpPr/>
          <p:nvPr/>
        </p:nvSpPr>
        <p:spPr>
          <a:xfrm>
            <a:off x="9715850" y="3811400"/>
            <a:ext cx="4120800" cy="725700"/>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lang="en-US" sz="1750">
                <a:solidFill>
                  <a:srgbClr val="272525"/>
                </a:solidFill>
                <a:latin typeface="Inter"/>
                <a:ea typeface="Inter"/>
                <a:cs typeface="Inter"/>
                <a:sym typeface="Inter"/>
              </a:rPr>
              <a:t>הסבירו</a:t>
            </a:r>
            <a:r>
              <a:rPr b="0" i="0" lang="en-US" sz="1750" u="none" cap="none" strike="noStrike">
                <a:solidFill>
                  <a:srgbClr val="272525"/>
                </a:solidFill>
                <a:latin typeface="Inter"/>
                <a:ea typeface="Inter"/>
                <a:cs typeface="Inter"/>
                <a:sym typeface="Inter"/>
              </a:rPr>
              <a:t> בדיוק </a:t>
            </a:r>
            <a:r>
              <a:rPr lang="en-US" sz="1750">
                <a:solidFill>
                  <a:srgbClr val="272525"/>
                </a:solidFill>
                <a:latin typeface="Inter"/>
                <a:ea typeface="Inter"/>
                <a:cs typeface="Inter"/>
                <a:sym typeface="Inter"/>
              </a:rPr>
              <a:t>עם </a:t>
            </a:r>
            <a:r>
              <a:rPr b="0" i="0" lang="en-US" sz="1750" u="none" cap="none" strike="noStrike">
                <a:solidFill>
                  <a:srgbClr val="272525"/>
                </a:solidFill>
                <a:latin typeface="Inter"/>
                <a:ea typeface="Inter"/>
                <a:cs typeface="Inter"/>
                <a:sym typeface="Inter"/>
              </a:rPr>
              <a:t>מה אתם צריכים עזרה, בשפה פשוטה.</a:t>
            </a:r>
            <a:endParaRPr b="0" i="0" sz="1750" u="none" cap="none" strike="noStrike">
              <a:solidFill>
                <a:schemeClr val="dk1"/>
              </a:solidFill>
              <a:latin typeface="Calibri"/>
              <a:ea typeface="Calibri"/>
              <a:cs typeface="Calibri"/>
              <a:sym typeface="Calibri"/>
            </a:endParaRPr>
          </a:p>
        </p:txBody>
      </p:sp>
      <p:pic>
        <p:nvPicPr>
          <p:cNvPr descr="preencoded.png" id="243" name="Google Shape;243;p15"/>
          <p:cNvPicPr preferRelativeResize="0"/>
          <p:nvPr/>
        </p:nvPicPr>
        <p:blipFill rotWithShape="1">
          <a:blip r:embed="rId4">
            <a:alphaModFix/>
          </a:blip>
          <a:srcRect b="0" l="0" r="0" t="0"/>
          <a:stretch/>
        </p:blipFill>
        <p:spPr>
          <a:xfrm>
            <a:off x="8922068" y="2277666"/>
            <a:ext cx="453628" cy="453628"/>
          </a:xfrm>
          <a:prstGeom prst="rect">
            <a:avLst/>
          </a:prstGeom>
          <a:noFill/>
          <a:ln>
            <a:noFill/>
          </a:ln>
        </p:spPr>
      </p:pic>
      <p:sp>
        <p:nvSpPr>
          <p:cNvPr id="244" name="Google Shape;244;p15"/>
          <p:cNvSpPr/>
          <p:nvPr/>
        </p:nvSpPr>
        <p:spPr>
          <a:xfrm>
            <a:off x="6540460" y="2958108"/>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אל תניחו ידע קודם</a:t>
            </a:r>
            <a:endParaRPr b="0" i="0" sz="2200" u="none" cap="none" strike="noStrike">
              <a:solidFill>
                <a:schemeClr val="dk1"/>
              </a:solidFill>
              <a:latin typeface="Calibri"/>
              <a:ea typeface="Calibri"/>
              <a:cs typeface="Calibri"/>
              <a:sym typeface="Calibri"/>
            </a:endParaRPr>
          </a:p>
        </p:txBody>
      </p:sp>
      <p:sp>
        <p:nvSpPr>
          <p:cNvPr id="245" name="Google Shape;245;p15"/>
          <p:cNvSpPr/>
          <p:nvPr/>
        </p:nvSpPr>
        <p:spPr>
          <a:xfrm>
            <a:off x="5254823" y="3448526"/>
            <a:ext cx="4120872"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אל תניחו שהבינה המלאכותית יודעת על מה אתם מדברים.</a:t>
            </a:r>
            <a:endParaRPr b="0" i="0" sz="1750" u="none" cap="none" strike="noStrike">
              <a:solidFill>
                <a:schemeClr val="dk1"/>
              </a:solidFill>
              <a:latin typeface="Calibri"/>
              <a:ea typeface="Calibri"/>
              <a:cs typeface="Calibri"/>
              <a:sym typeface="Calibri"/>
            </a:endParaRPr>
          </a:p>
        </p:txBody>
      </p:sp>
      <p:pic>
        <p:nvPicPr>
          <p:cNvPr descr="preencoded.png" id="246" name="Google Shape;246;p15"/>
          <p:cNvPicPr preferRelativeResize="0"/>
          <p:nvPr/>
        </p:nvPicPr>
        <p:blipFill rotWithShape="1">
          <a:blip r:embed="rId5">
            <a:alphaModFix/>
          </a:blip>
          <a:srcRect b="0" l="0" r="0" t="0"/>
          <a:stretch/>
        </p:blipFill>
        <p:spPr>
          <a:xfrm>
            <a:off x="4461034" y="2277666"/>
            <a:ext cx="453628" cy="453628"/>
          </a:xfrm>
          <a:prstGeom prst="rect">
            <a:avLst/>
          </a:prstGeom>
          <a:noFill/>
          <a:ln>
            <a:noFill/>
          </a:ln>
        </p:spPr>
      </p:pic>
      <p:sp>
        <p:nvSpPr>
          <p:cNvPr id="247" name="Google Shape;247;p15"/>
          <p:cNvSpPr/>
          <p:nvPr/>
        </p:nvSpPr>
        <p:spPr>
          <a:xfrm>
            <a:off x="1750814" y="2958108"/>
            <a:ext cx="3163848"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ציינו את התפקיד של הAI</a:t>
            </a:r>
            <a:endParaRPr b="0" i="0" sz="2200" u="none" cap="none" strike="noStrike">
              <a:solidFill>
                <a:schemeClr val="dk1"/>
              </a:solidFill>
              <a:latin typeface="Calibri"/>
              <a:ea typeface="Calibri"/>
              <a:cs typeface="Calibri"/>
              <a:sym typeface="Calibri"/>
            </a:endParaRPr>
          </a:p>
        </p:txBody>
      </p:sp>
      <p:sp>
        <p:nvSpPr>
          <p:cNvPr id="248" name="Google Shape;248;p15"/>
          <p:cNvSpPr/>
          <p:nvPr/>
        </p:nvSpPr>
        <p:spPr>
          <a:xfrm>
            <a:off x="793909" y="3448526"/>
            <a:ext cx="4120753"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ציינו את התפקיד או הדמות שאתם רוצים שהבינה המלאכותית תאמץ.</a:t>
            </a:r>
            <a:endParaRPr b="0" i="0" sz="1750" u="none" cap="none" strike="noStrike">
              <a:solidFill>
                <a:schemeClr val="dk1"/>
              </a:solidFill>
              <a:latin typeface="Calibri"/>
              <a:ea typeface="Calibri"/>
              <a:cs typeface="Calibri"/>
              <a:sym typeface="Calibri"/>
            </a:endParaRPr>
          </a:p>
        </p:txBody>
      </p:sp>
      <p:pic>
        <p:nvPicPr>
          <p:cNvPr descr="preencoded.png" id="249" name="Google Shape;249;p15"/>
          <p:cNvPicPr preferRelativeResize="0"/>
          <p:nvPr/>
        </p:nvPicPr>
        <p:blipFill rotWithShape="1">
          <a:blip r:embed="rId6">
            <a:alphaModFix/>
          </a:blip>
          <a:srcRect b="0" l="0" r="0" t="0"/>
          <a:stretch/>
        </p:blipFill>
        <p:spPr>
          <a:xfrm>
            <a:off x="13382982" y="4854773"/>
            <a:ext cx="453628" cy="453628"/>
          </a:xfrm>
          <a:prstGeom prst="rect">
            <a:avLst/>
          </a:prstGeom>
          <a:noFill/>
          <a:ln>
            <a:noFill/>
          </a:ln>
        </p:spPr>
      </p:pic>
      <p:sp>
        <p:nvSpPr>
          <p:cNvPr id="250" name="Google Shape;250;p15"/>
          <p:cNvSpPr/>
          <p:nvPr/>
        </p:nvSpPr>
        <p:spPr>
          <a:xfrm>
            <a:off x="11001375" y="5535216"/>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ציינו את קהל היעד</a:t>
            </a:r>
            <a:endParaRPr b="0" i="0" sz="2200" u="none" cap="none" strike="noStrike">
              <a:solidFill>
                <a:schemeClr val="dk1"/>
              </a:solidFill>
              <a:latin typeface="Calibri"/>
              <a:ea typeface="Calibri"/>
              <a:cs typeface="Calibri"/>
              <a:sym typeface="Calibri"/>
            </a:endParaRPr>
          </a:p>
        </p:txBody>
      </p:sp>
      <p:sp>
        <p:nvSpPr>
          <p:cNvPr id="251" name="Google Shape;251;p15"/>
          <p:cNvSpPr/>
          <p:nvPr/>
        </p:nvSpPr>
        <p:spPr>
          <a:xfrm>
            <a:off x="9715857" y="6025634"/>
            <a:ext cx="4120753" cy="1088708"/>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ציינו את קהל היעד (למשל מומחים או מתחילים) כדי להתאים את התגובה לרמת ההבנה שלהם.</a:t>
            </a:r>
            <a:endParaRPr b="0" i="0" sz="1750" u="none" cap="none" strike="noStrike">
              <a:solidFill>
                <a:schemeClr val="dk1"/>
              </a:solidFill>
              <a:latin typeface="Calibri"/>
              <a:ea typeface="Calibri"/>
              <a:cs typeface="Calibri"/>
              <a:sym typeface="Calibri"/>
            </a:endParaRPr>
          </a:p>
        </p:txBody>
      </p:sp>
      <p:pic>
        <p:nvPicPr>
          <p:cNvPr descr="preencoded.png" id="252" name="Google Shape;252;p15"/>
          <p:cNvPicPr preferRelativeResize="0"/>
          <p:nvPr/>
        </p:nvPicPr>
        <p:blipFill rotWithShape="1">
          <a:blip r:embed="rId7">
            <a:alphaModFix/>
          </a:blip>
          <a:srcRect b="0" l="0" r="0" t="0"/>
          <a:stretch/>
        </p:blipFill>
        <p:spPr>
          <a:xfrm>
            <a:off x="8922068" y="4854773"/>
            <a:ext cx="453628" cy="453628"/>
          </a:xfrm>
          <a:prstGeom prst="rect">
            <a:avLst/>
          </a:prstGeom>
          <a:noFill/>
          <a:ln>
            <a:noFill/>
          </a:ln>
        </p:spPr>
      </p:pic>
      <p:sp>
        <p:nvSpPr>
          <p:cNvPr id="253" name="Google Shape;253;p15"/>
          <p:cNvSpPr/>
          <p:nvPr/>
        </p:nvSpPr>
        <p:spPr>
          <a:xfrm>
            <a:off x="6540460" y="5535216"/>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תתקדמו צעד אחר צעד</a:t>
            </a:r>
            <a:endParaRPr b="0" i="0" sz="2200" u="none" cap="none" strike="noStrike">
              <a:solidFill>
                <a:schemeClr val="dk1"/>
              </a:solidFill>
              <a:latin typeface="Calibri"/>
              <a:ea typeface="Calibri"/>
              <a:cs typeface="Calibri"/>
              <a:sym typeface="Calibri"/>
            </a:endParaRPr>
          </a:p>
        </p:txBody>
      </p:sp>
      <p:sp>
        <p:nvSpPr>
          <p:cNvPr id="254" name="Google Shape;254;p15"/>
          <p:cNvSpPr/>
          <p:nvPr/>
        </p:nvSpPr>
        <p:spPr>
          <a:xfrm>
            <a:off x="5254823" y="6025634"/>
            <a:ext cx="4120872"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עבור משימות גדולות, חלקו אותן לחלקים קטנים יותר.</a:t>
            </a:r>
            <a:endParaRPr b="0" i="0" sz="1750" u="none" cap="none" strike="noStrike">
              <a:solidFill>
                <a:schemeClr val="dk1"/>
              </a:solidFill>
              <a:latin typeface="Calibri"/>
              <a:ea typeface="Calibri"/>
              <a:cs typeface="Calibri"/>
              <a:sym typeface="Calibri"/>
            </a:endParaRPr>
          </a:p>
        </p:txBody>
      </p:sp>
      <p:pic>
        <p:nvPicPr>
          <p:cNvPr descr="preencoded.png" id="255" name="Google Shape;255;p15"/>
          <p:cNvPicPr preferRelativeResize="0"/>
          <p:nvPr/>
        </p:nvPicPr>
        <p:blipFill rotWithShape="1">
          <a:blip r:embed="rId8">
            <a:alphaModFix/>
          </a:blip>
          <a:srcRect b="0" l="0" r="0" t="0"/>
          <a:stretch/>
        </p:blipFill>
        <p:spPr>
          <a:xfrm>
            <a:off x="4461034" y="4854773"/>
            <a:ext cx="453628" cy="453628"/>
          </a:xfrm>
          <a:prstGeom prst="rect">
            <a:avLst/>
          </a:prstGeom>
          <a:noFill/>
          <a:ln>
            <a:noFill/>
          </a:ln>
        </p:spPr>
      </p:pic>
      <p:sp>
        <p:nvSpPr>
          <p:cNvPr id="256" name="Google Shape;256;p15"/>
          <p:cNvSpPr/>
          <p:nvPr/>
        </p:nvSpPr>
        <p:spPr>
          <a:xfrm>
            <a:off x="1289400" y="5203550"/>
            <a:ext cx="3625200" cy="56040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Inter Medium"/>
              <a:buNone/>
            </a:pPr>
            <a:r>
              <a:rPr b="1" i="0" lang="en-US" sz="2200" u="none" cap="none" strike="noStrike">
                <a:solidFill>
                  <a:srgbClr val="272525"/>
                </a:solidFill>
                <a:latin typeface="Inter Medium"/>
                <a:ea typeface="Inter Medium"/>
                <a:cs typeface="Inter Medium"/>
                <a:sym typeface="Inter Medium"/>
              </a:rPr>
              <a:t>היו סבלניים ונהלו שיחה</a:t>
            </a:r>
            <a:endParaRPr b="0" i="0" sz="2200" u="none" cap="none" strike="noStrike">
              <a:solidFill>
                <a:schemeClr val="dk1"/>
              </a:solidFill>
              <a:latin typeface="Calibri"/>
              <a:ea typeface="Calibri"/>
              <a:cs typeface="Calibri"/>
              <a:sym typeface="Calibri"/>
            </a:endParaRPr>
          </a:p>
        </p:txBody>
      </p:sp>
      <p:sp>
        <p:nvSpPr>
          <p:cNvPr id="257" name="Google Shape;257;p15"/>
          <p:cNvSpPr/>
          <p:nvPr/>
        </p:nvSpPr>
        <p:spPr>
          <a:xfrm>
            <a:off x="793909" y="6025634"/>
            <a:ext cx="4120753" cy="1088708"/>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לפעמים אתם עשויים להזדקק לשאול מספר פעמים בדרכים שונות כדי לקבל את התשובה הטובה ביותר.</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preencoded.png" id="263" name="Google Shape;263;p1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64" name="Google Shape;264;p16"/>
          <p:cNvSpPr/>
          <p:nvPr/>
        </p:nvSpPr>
        <p:spPr>
          <a:xfrm>
            <a:off x="7593200" y="1008674"/>
            <a:ext cx="6243300" cy="1248900"/>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1" i="0" lang="en-US" sz="4450" u="none" cap="none" strike="noStrike">
                <a:solidFill>
                  <a:srgbClr val="D75BE2"/>
                </a:solidFill>
                <a:latin typeface="Inter Medium"/>
                <a:ea typeface="Inter Medium"/>
                <a:cs typeface="Inter Medium"/>
                <a:sym typeface="Inter Medium"/>
              </a:rPr>
              <a:t>זכרו - זה לא אדם אמיתי..!</a:t>
            </a:r>
            <a:endParaRPr b="0" i="0" sz="4450" u="none" cap="none" strike="noStrike">
              <a:solidFill>
                <a:schemeClr val="dk1"/>
              </a:solidFill>
              <a:latin typeface="Calibri"/>
              <a:ea typeface="Calibri"/>
              <a:cs typeface="Calibri"/>
              <a:sym typeface="Calibri"/>
            </a:endParaRPr>
          </a:p>
        </p:txBody>
      </p:sp>
      <p:sp>
        <p:nvSpPr>
          <p:cNvPr id="265" name="Google Shape;265;p16"/>
          <p:cNvSpPr/>
          <p:nvPr/>
        </p:nvSpPr>
        <p:spPr>
          <a:xfrm>
            <a:off x="6280190" y="2924413"/>
            <a:ext cx="7556421" cy="1360527"/>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200" u="none" cap="none" strike="noStrike">
                <a:solidFill>
                  <a:srgbClr val="272525"/>
                </a:solidFill>
                <a:latin typeface="Inter"/>
                <a:ea typeface="Inter"/>
                <a:cs typeface="Inter"/>
                <a:sym typeface="Inter"/>
              </a:rPr>
              <a:t>Chat GPT ומודלי שפה גדולים אחרים הם מאוד שימושיים וחזקים אבל הם לא אנשים אמיתיים..! לפעמים הם יכולים לעשות טעויות או לא להבין דברים בצורה נכונה, ולא בהכרח להודות בזה..!</a:t>
            </a:r>
            <a:endParaRPr b="0" i="0" sz="2200" u="none" cap="none" strike="noStrike">
              <a:solidFill>
                <a:schemeClr val="dk1"/>
              </a:solidFill>
              <a:latin typeface="Calibri"/>
              <a:ea typeface="Calibri"/>
              <a:cs typeface="Calibri"/>
              <a:sym typeface="Calibri"/>
            </a:endParaRPr>
          </a:p>
        </p:txBody>
      </p:sp>
      <p:sp>
        <p:nvSpPr>
          <p:cNvPr id="266" name="Google Shape;266;p16"/>
          <p:cNvSpPr/>
          <p:nvPr/>
        </p:nvSpPr>
        <p:spPr>
          <a:xfrm>
            <a:off x="6280200" y="5235576"/>
            <a:ext cx="7556400" cy="1569000"/>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200" u="none" cap="none" strike="noStrike">
                <a:solidFill>
                  <a:srgbClr val="272525"/>
                </a:solidFill>
                <a:latin typeface="Inter"/>
                <a:ea typeface="Inter"/>
                <a:cs typeface="Inter"/>
                <a:sym typeface="Inter"/>
              </a:rPr>
              <a:t>חשוב לזכור שכלים אלה מבוססים על אלגוריתמים ונתונים, ובעוד שהם יכולים לספק מידע שימושי, המטרה העיקרית שלהם היא לייצר תגובה ולקיים שיחה דומה לאנושית. בינה מלאכותית אין לה תודעה או מודעות עצמית.</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p:nvPr/>
        </p:nvSpPr>
        <p:spPr>
          <a:xfrm>
            <a:off x="3402449" y="3625691"/>
            <a:ext cx="7825502" cy="978218"/>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Inter Medium"/>
              <a:buNone/>
            </a:pPr>
            <a:r>
              <a:rPr b="1" i="0" lang="en-US" sz="6150" u="none" cap="none" strike="noStrike">
                <a:solidFill>
                  <a:srgbClr val="D75BE2"/>
                </a:solidFill>
                <a:latin typeface="Inter Medium"/>
                <a:ea typeface="Inter Medium"/>
                <a:cs typeface="Inter Medium"/>
                <a:sym typeface="Inter Medium"/>
              </a:rPr>
              <a:t>שאלות ?</a:t>
            </a:r>
            <a:endParaRPr b="0" i="0" sz="61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p:nvPr/>
        </p:nvSpPr>
        <p:spPr>
          <a:xfrm>
            <a:off x="793790" y="623768"/>
            <a:ext cx="13042821" cy="708779"/>
          </a:xfrm>
          <a:prstGeom prst="rect">
            <a:avLst/>
          </a:prstGeom>
          <a:noFill/>
          <a:ln>
            <a:noFill/>
          </a:ln>
        </p:spPr>
        <p:txBody>
          <a:bodyPr anchorCtr="0" anchor="t" bIns="0" lIns="0" spcFirstLastPara="1" rIns="0" wrap="square" tIns="0">
            <a:noAutofit/>
          </a:bodyPr>
          <a:lstStyle/>
          <a:p>
            <a:pPr indent="0" lvl="0" marL="0" marR="0" rtl="1" algn="r">
              <a:lnSpc>
                <a:spcPct val="92500"/>
              </a:lnSpc>
              <a:spcBef>
                <a:spcPts val="0"/>
              </a:spcBef>
              <a:spcAft>
                <a:spcPts val="0"/>
              </a:spcAft>
              <a:buClr>
                <a:srgbClr val="D75BE2"/>
              </a:buClr>
              <a:buSzPts val="6000"/>
              <a:buFont typeface="Inter Medium"/>
              <a:buNone/>
            </a:pPr>
            <a:r>
              <a:rPr b="1" i="0" lang="en-US" sz="6000" u="none" cap="none" strike="noStrike">
                <a:solidFill>
                  <a:srgbClr val="D75BE2"/>
                </a:solidFill>
                <a:latin typeface="Inter Medium"/>
                <a:ea typeface="Inter Medium"/>
                <a:cs typeface="Inter Medium"/>
                <a:sym typeface="Inter Medium"/>
              </a:rPr>
              <a:t>מה לומדים בקורס</a:t>
            </a:r>
            <a:endParaRPr b="0" i="0" sz="6000" u="none" cap="none" strike="noStrike">
              <a:solidFill>
                <a:schemeClr val="dk1"/>
              </a:solidFill>
              <a:latin typeface="Calibri"/>
              <a:ea typeface="Calibri"/>
              <a:cs typeface="Calibri"/>
              <a:sym typeface="Calibri"/>
            </a:endParaRPr>
          </a:p>
        </p:txBody>
      </p:sp>
      <p:sp>
        <p:nvSpPr>
          <p:cNvPr id="100" name="Course topic 1"/>
          <p:cNvSpPr/>
          <p:nvPr/>
        </p:nvSpPr>
        <p:spPr>
          <a:xfrm>
            <a:off x="793790" y="178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יסודות הבינה המלאכותית וכלים מרכזיים</a:t>
            </a:r>
            <a:endParaRPr b="0" i="0" sz="2400" u="none" cap="none" strike="noStrike">
              <a:solidFill>
                <a:schemeClr val="dk1"/>
              </a:solidFill>
              <a:latin typeface="Calibri"/>
              <a:ea typeface="Calibri"/>
              <a:cs typeface="Calibri"/>
              <a:sym typeface="Calibri"/>
            </a:endParaRPr>
          </a:p>
        </p:txBody>
      </p:sp>
      <p:sp>
        <p:nvSpPr>
          <p:cNvPr id="101" name="Course topic 2"/>
          <p:cNvSpPr/>
          <p:nvPr/>
        </p:nvSpPr>
        <p:spPr>
          <a:xfrm>
            <a:off x="793790" y="237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כתיבת פרומפטים לעבודה עסקית, לכתיבת קוד ולאפיון מוצר</a:t>
            </a:r>
            <a:endParaRPr b="0" i="0" sz="2400" u="none" cap="none" strike="noStrike">
              <a:solidFill>
                <a:schemeClr val="dk1"/>
              </a:solidFill>
              <a:latin typeface="Calibri"/>
              <a:ea typeface="Calibri"/>
              <a:cs typeface="Calibri"/>
              <a:sym typeface="Calibri"/>
            </a:endParaRPr>
          </a:p>
        </p:txBody>
      </p:sp>
      <p:sp>
        <p:nvSpPr>
          <p:cNvPr id="102" name="Course topic 3"/>
          <p:cNvSpPr/>
          <p:nvPr/>
        </p:nvSpPr>
        <p:spPr>
          <a:xfrm>
            <a:off x="793790" y="296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בניית אתרים ואפליקציות בעזרת AI ו־Base44</a:t>
            </a:r>
            <a:endParaRPr b="0" i="0" sz="2400" u="none" cap="none" strike="noStrike">
              <a:solidFill>
                <a:schemeClr val="dk1"/>
              </a:solidFill>
              <a:latin typeface="Calibri"/>
              <a:ea typeface="Calibri"/>
              <a:cs typeface="Calibri"/>
              <a:sym typeface="Calibri"/>
            </a:endParaRPr>
          </a:p>
        </p:txBody>
      </p:sp>
      <p:sp>
        <p:nvSpPr>
          <p:cNvPr id="103" name="Course topic 4"/>
          <p:cNvSpPr/>
          <p:nvPr/>
        </p:nvSpPr>
        <p:spPr>
          <a:xfrm>
            <a:off x="793790" y="355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אפיון מוצר, הבנת המשתמשים ותכנון זרימות עבודה</a:t>
            </a:r>
            <a:endParaRPr b="0" i="0" sz="2400" u="none" cap="none" strike="noStrike">
              <a:solidFill>
                <a:schemeClr val="dk1"/>
              </a:solidFill>
              <a:latin typeface="Calibri"/>
              <a:ea typeface="Calibri"/>
              <a:cs typeface="Calibri"/>
              <a:sym typeface="Calibri"/>
            </a:endParaRPr>
          </a:p>
        </p:txBody>
      </p:sp>
      <p:sp>
        <p:nvSpPr>
          <p:cNvPr id="104" name="Course topic 5"/>
          <p:cNvSpPr/>
          <p:nvPr/>
        </p:nvSpPr>
        <p:spPr>
          <a:xfrm>
            <a:off x="793790" y="414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ניתוח נתונים, דשבורדים ותחזיות בעזרת AI</a:t>
            </a:r>
            <a:endParaRPr b="0" i="0" sz="2400" u="none" cap="none" strike="noStrike">
              <a:solidFill>
                <a:schemeClr val="dk1"/>
              </a:solidFill>
              <a:latin typeface="Calibri"/>
              <a:ea typeface="Calibri"/>
              <a:cs typeface="Calibri"/>
              <a:sym typeface="Calibri"/>
            </a:endParaRPr>
          </a:p>
        </p:txBody>
      </p:sp>
      <p:sp>
        <p:nvSpPr>
          <p:cNvPr id="105" name="Course topic 6"/>
          <p:cNvSpPr/>
          <p:nvPr/>
        </p:nvSpPr>
        <p:spPr>
          <a:xfrm>
            <a:off x="793790" y="473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בניית אוטומציות וחיבור מערכות באמצעות Make</a:t>
            </a:r>
            <a:endParaRPr b="0" i="0" sz="2400" u="none" cap="none" strike="noStrike">
              <a:solidFill>
                <a:schemeClr val="dk1"/>
              </a:solidFill>
              <a:latin typeface="Calibri"/>
              <a:ea typeface="Calibri"/>
              <a:cs typeface="Calibri"/>
              <a:sym typeface="Calibri"/>
            </a:endParaRPr>
          </a:p>
        </p:txBody>
      </p:sp>
      <p:sp>
        <p:nvSpPr>
          <p:cNvPr id="106" name="Course topic 7"/>
          <p:cNvSpPr/>
          <p:nvPr/>
        </p:nvSpPr>
        <p:spPr>
          <a:xfrm>
            <a:off x="793790" y="532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שילוב מודלים וסוכני AI באוטומציות</a:t>
            </a:r>
            <a:endParaRPr b="0" i="0" sz="2400" u="none" cap="none" strike="noStrike">
              <a:solidFill>
                <a:schemeClr val="dk1"/>
              </a:solidFill>
              <a:latin typeface="Calibri"/>
              <a:ea typeface="Calibri"/>
              <a:cs typeface="Calibri"/>
              <a:sym typeface="Calibri"/>
            </a:endParaRPr>
          </a:p>
        </p:txBody>
      </p:sp>
      <p:sp>
        <p:nvSpPr>
          <p:cNvPr id="107" name="Course topic 8"/>
          <p:cNvSpPr/>
          <p:nvPr/>
        </p:nvSpPr>
        <p:spPr>
          <a:xfrm>
            <a:off x="793790" y="591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הטמעת פתרונות בארגונים, מדדי ביצוע, אבטחה ופרטיות</a:t>
            </a:r>
            <a:endParaRPr b="0" i="0" sz="2400" u="none" cap="none" strike="noStrike">
              <a:solidFill>
                <a:schemeClr val="dk1"/>
              </a:solidFill>
              <a:latin typeface="Calibri"/>
              <a:ea typeface="Calibri"/>
              <a:cs typeface="Calibri"/>
              <a:sym typeface="Calibri"/>
            </a:endParaRPr>
          </a:p>
        </p:txBody>
      </p:sp>
      <p:sp>
        <p:nvSpPr>
          <p:cNvPr id="108" name="Course topic 9"/>
          <p:cNvSpPr/>
          <p:nvPr/>
        </p:nvSpPr>
        <p:spPr>
          <a:xfrm>
            <a:off x="793790" y="6506176"/>
            <a:ext cx="13042821" cy="500000"/>
          </a:xfrm>
          <a:prstGeom prst="rect">
            <a:avLst/>
          </a:prstGeom>
          <a:noFill/>
          <a:ln>
            <a:noFill/>
          </a:ln>
        </p:spPr>
        <p:txBody>
          <a:bodyPr anchorCtr="0" anchor="t" bIns="0" lIns="0" spcFirstLastPara="1" rIns="0" wrap="square" tIns="0">
            <a:noAutofit/>
          </a:bodyPr>
          <a:lstStyle/>
          <a:p>
            <a:pPr indent="-342900" lvl="0" marL="342900" marR="0" rtl="1" algn="r">
              <a:lnSpc>
                <a:spcPct val="118750"/>
              </a:lnSpc>
              <a:spcBef>
                <a:spcPts val="0"/>
              </a:spcBef>
              <a:spcAft>
                <a:spcPts val="0"/>
              </a:spcAft>
              <a:buClr>
                <a:srgbClr val="272525"/>
              </a:buClr>
              <a:buSzPts val="2400"/>
              <a:buFont typeface="Inter"/>
              <a:buChar char="•"/>
            </a:pPr>
            <a:r>
              <a:rPr b="0" i="0" lang="en-US" sz="2400" u="none" cap="none" strike="noStrike">
                <a:solidFill>
                  <a:srgbClr val="272525"/>
                </a:solidFill>
                <a:latin typeface="Inter"/>
                <a:ea typeface="Inter"/>
                <a:cs typeface="Inter"/>
                <a:sym typeface="Inter"/>
              </a:rPr>
              <a:t>פרויקט סיכום: תכנון, בנייה והצגת פתרון מעשי</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2025-02-09T12:02:12Z</dcterms:created>
  <dc:creator>PptxGenJS</dc:creator>
</cp:coreProperties>
</file>