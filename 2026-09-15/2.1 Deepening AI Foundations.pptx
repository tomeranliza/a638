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8229600" cx="14630400"/>
  <p:notesSz cx="8229600" cy="14630400"/>
  <p:embeddedFontLst>
    <p:embeddedFont>
      <p:font typeface="Rubik"/>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ubik-regular.fntdata"/><Relationship Id="rId25" Type="http://schemas.openxmlformats.org/officeDocument/2006/relationships/slide" Target="slides/slide21.xml"/><Relationship Id="rId28" Type="http://schemas.openxmlformats.org/officeDocument/2006/relationships/font" Target="fonts/Rubik-italic.fntdata"/><Relationship Id="rId27" Type="http://schemas.openxmlformats.org/officeDocument/2006/relationships/font" Target="fonts/Rubik-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ubik-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7.xml"/><Relationship Id="rId33" Type="http://schemas.openxmlformats.org/officeDocument/2006/relationships/font" Target="fonts/OpenSans-boldItalic.fntdata"/><Relationship Id="rId10" Type="http://schemas.openxmlformats.org/officeDocument/2006/relationships/slide" Target="slides/slide6.xml"/><Relationship Id="rId32"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אנחנו הולכים להבין מה זה בינה מלאכותית, להכיר את הסוגים השונים של הבינה המלאכותית שקיימים ולהבין איפה הבינה הגנרטיבית ממוקמת ביניהם, אנחנו הולכים להכיר את הטכנולוגיות שעומדות בבסיס הבינה המלאכותית ולהכיר את ההתפתחות שלהן על גבי ציר הזמן.</a:t>
            </a:r>
            <a:br>
              <a:rPr lang="en-US"/>
            </a:br>
            <a:br>
              <a:rPr lang="en-US"/>
            </a:br>
            <a:r>
              <a:rPr lang="en-US"/>
              <a:t>לבסוף, אנחנו הולכים להבין בקווים כלליים איך יוצרים מודל חדש של בינה מלאכותית.</a:t>
            </a:r>
            <a:br>
              <a:rPr lang="en-US"/>
            </a:br>
            <a:br>
              <a:rPr lang="en-US"/>
            </a:br>
            <a:r>
              <a:rPr lang="en-US"/>
              <a:t>בסוף ההרצאה הזו אתם אמורים לצאת עם ידע טכני מספק, שיאפשר לכם להבין למה הטכנולוגיה הזו שאתם משתמשים בה היא לא קסם, להבין למה ואיך כל הזמן יוצאים עוד ועוד מודלים ואפליקציות שמבוססות על המודלים האלו, ולהתחיל לפתח את החוש הביקורתי כלפי מה הטכנולוגיה הזו יכולה ולא יכולה לעשות, מתוך היכרות מעמיקה יותר עם איך היא בנויה.</a:t>
            </a:r>
            <a:endParaRPr/>
          </a:p>
        </p:txBody>
      </p:sp>
      <p:sp>
        <p:nvSpPr>
          <p:cNvPr id="86" name="Google Shape;8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יצירת חוזי עתידי - קלסיפיקציה, יצירה, קבלת החלטות מושכלת</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בסופו של דבר מודל AI מוגבל למידע שהוא אומן עליו, ולתבניות שחזרו פעמים רבות בנתונים, ולכן הוא עשוי להיות חלש יותר בסיטואציות חדשות שלא תועדו בעבר או שלא נעשה מאמץ לבנות מהן משהו שאפשר לאמן איתו מודל (ואפשר להגדיר אותן כניסיון חיים של בן אדם למשל).</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הפירמידה - למעלה - הכלים שכבר בשימוש - למטה יותר - הכלים שבעזרתם זה נבנה</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מי שרוצה עוד העמקה - יש פה שני סרטונים מעולים שמסבירים על הטכנולוגיה שעומדת מאחורי ה-AI הגנרטיבי.</a:t>
            </a:r>
            <a:br>
              <a:rPr lang="en-US"/>
            </a:br>
            <a:br>
              <a:rPr lang="en-US"/>
            </a:br>
            <a:r>
              <a:rPr lang="en-US"/>
              <a:t>הם כן די כבדים ומצריכים עוד ידע, אבל בתוך הסרטון הוא מקשר לסרטונים נוספים מהם אפשר לרכוש את הידע החסר.</a:t>
            </a:r>
            <a:endParaRPr/>
          </a:p>
        </p:txBody>
      </p:sp>
      <p:sp>
        <p:nvSpPr>
          <p:cNvPr id="448" name="Google Shape;44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1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1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1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55" name="Shape 55"/>
        <p:cNvGrpSpPr/>
        <p:nvPr/>
      </p:nvGrpSpPr>
      <p:grpSpPr>
        <a:xfrm>
          <a:off x="0" y="0"/>
          <a:ext cx="0" cy="0"/>
          <a:chOff x="0" y="0"/>
          <a:chExt cx="0" cy="0"/>
        </a:xfrm>
      </p:grpSpPr>
      <p:sp>
        <p:nvSpPr>
          <p:cNvPr id="56" name="Google Shape;56;p1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58" name="Shape 58"/>
        <p:cNvGrpSpPr/>
        <p:nvPr/>
      </p:nvGrpSpPr>
      <p:grpSpPr>
        <a:xfrm>
          <a:off x="0" y="0"/>
          <a:ext cx="0" cy="0"/>
          <a:chOff x="0" y="0"/>
          <a:chExt cx="0" cy="0"/>
        </a:xfrm>
      </p:grpSpPr>
      <p:sp>
        <p:nvSpPr>
          <p:cNvPr id="59" name="Google Shape;59;p1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61" name="Shape 61"/>
        <p:cNvGrpSpPr/>
        <p:nvPr/>
      </p:nvGrpSpPr>
      <p:grpSpPr>
        <a:xfrm>
          <a:off x="0" y="0"/>
          <a:ext cx="0" cy="0"/>
          <a:chOff x="0" y="0"/>
          <a:chExt cx="0" cy="0"/>
        </a:xfrm>
      </p:grpSpPr>
      <p:sp>
        <p:nvSpPr>
          <p:cNvPr id="62" name="Google Shape;62;p1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64" name="Shape 64"/>
        <p:cNvGrpSpPr/>
        <p:nvPr/>
      </p:nvGrpSpPr>
      <p:grpSpPr>
        <a:xfrm>
          <a:off x="0" y="0"/>
          <a:ext cx="0" cy="0"/>
          <a:chOff x="0" y="0"/>
          <a:chExt cx="0" cy="0"/>
        </a:xfrm>
      </p:grpSpPr>
      <p:sp>
        <p:nvSpPr>
          <p:cNvPr id="65" name="Google Shape;65;p2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67" name="Shape 67"/>
        <p:cNvGrpSpPr/>
        <p:nvPr/>
      </p:nvGrpSpPr>
      <p:grpSpPr>
        <a:xfrm>
          <a:off x="0" y="0"/>
          <a:ext cx="0" cy="0"/>
          <a:chOff x="0" y="0"/>
          <a:chExt cx="0" cy="0"/>
        </a:xfrm>
      </p:grpSpPr>
      <p:sp>
        <p:nvSpPr>
          <p:cNvPr id="68" name="Google Shape;68;p2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bg>
      <p:bgPr>
        <a:solidFill>
          <a:srgbClr val="000000"/>
        </a:solidFill>
      </p:bgPr>
    </p:bg>
    <p:spTree>
      <p:nvGrpSpPr>
        <p:cNvPr id="70" name="Shape 70"/>
        <p:cNvGrpSpPr/>
        <p:nvPr/>
      </p:nvGrpSpPr>
      <p:grpSpPr>
        <a:xfrm>
          <a:off x="0" y="0"/>
          <a:ext cx="0" cy="0"/>
          <a:chOff x="0" y="0"/>
          <a:chExt cx="0" cy="0"/>
        </a:xfrm>
      </p:grpSpPr>
      <p:sp>
        <p:nvSpPr>
          <p:cNvPr id="71" name="Google Shape;71;p2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3" name="Shape 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13.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0" Type="http://schemas.openxmlformats.org/officeDocument/2006/relationships/image" Target="../media/image24.png"/><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2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7.png"/><Relationship Id="rId5" Type="http://schemas.openxmlformats.org/officeDocument/2006/relationships/image" Target="../media/image19.png"/><Relationship Id="rId6" Type="http://schemas.openxmlformats.org/officeDocument/2006/relationships/image" Target="../media/image30.png"/><Relationship Id="rId7"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hyperlink" Target="https://www.youtube.com/watch?v=LPZh9BOjkQs" TargetMode="External"/><Relationship Id="rId4" Type="http://schemas.openxmlformats.org/officeDocument/2006/relationships/hyperlink" Target="https://www.youtube.com/watch?v=wjZofJX0v4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preencoded.png" id="79" name="Google Shape;79;p2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80" name="Google Shape;80;p24"/>
          <p:cNvSpPr/>
          <p:nvPr/>
        </p:nvSpPr>
        <p:spPr>
          <a:xfrm>
            <a:off x="793790" y="1864400"/>
            <a:ext cx="7556421" cy="1956435"/>
          </a:xfrm>
          <a:prstGeom prst="rect">
            <a:avLst/>
          </a:prstGeom>
          <a:noFill/>
          <a:ln>
            <a:noFill/>
          </a:ln>
        </p:spPr>
        <p:txBody>
          <a:bodyPr anchorCtr="0" anchor="t" bIns="0" lIns="0" spcFirstLastPara="1" rIns="0" wrap="square" tIns="0">
            <a:noAutofit/>
          </a:bodyPr>
          <a:lstStyle/>
          <a:p>
            <a:pPr indent="0" lvl="0" marL="0" marR="0" rtl="0" algn="ctr">
              <a:lnSpc>
                <a:spcPct val="125203"/>
              </a:lnSpc>
              <a:spcBef>
                <a:spcPts val="0"/>
              </a:spcBef>
              <a:spcAft>
                <a:spcPts val="0"/>
              </a:spcAft>
              <a:buClr>
                <a:srgbClr val="D75BE2"/>
              </a:buClr>
              <a:buSzPts val="6150"/>
              <a:buFont typeface="Rubik"/>
              <a:buNone/>
            </a:pPr>
            <a:r>
              <a:rPr b="0" i="0" lang="en-US" sz="6150" u="none" cap="none" strike="noStrike">
                <a:solidFill>
                  <a:srgbClr val="D75BE2"/>
                </a:solidFill>
                <a:latin typeface="Rubik"/>
                <a:ea typeface="Rubik"/>
                <a:cs typeface="Rubik"/>
                <a:sym typeface="Rubik"/>
              </a:rPr>
              <a:t>Deepening AI Foundations</a:t>
            </a:r>
            <a:endParaRPr b="0" i="0" sz="6150" u="none" cap="none" strike="noStrike"/>
          </a:p>
        </p:txBody>
      </p:sp>
      <p:pic>
        <p:nvPicPr>
          <p:cNvPr descr="preencoded.png" id="81" name="Google Shape;81;p24"/>
          <p:cNvPicPr preferRelativeResize="0"/>
          <p:nvPr/>
        </p:nvPicPr>
        <p:blipFill rotWithShape="1">
          <a:blip r:embed="rId4">
            <a:alphaModFix/>
          </a:blip>
          <a:srcRect b="0" l="0" r="0" t="0"/>
          <a:stretch/>
        </p:blipFill>
        <p:spPr>
          <a:xfrm>
            <a:off x="3393758" y="4160996"/>
            <a:ext cx="2356485" cy="1042035"/>
          </a:xfrm>
          <a:prstGeom prst="rect">
            <a:avLst/>
          </a:prstGeom>
          <a:noFill/>
          <a:ln>
            <a:noFill/>
          </a:ln>
        </p:spPr>
      </p:pic>
      <p:sp>
        <p:nvSpPr>
          <p:cNvPr id="82" name="Google Shape;82;p24"/>
          <p:cNvSpPr/>
          <p:nvPr/>
        </p:nvSpPr>
        <p:spPr>
          <a:xfrm>
            <a:off x="793790" y="5458182"/>
            <a:ext cx="7556421" cy="907018"/>
          </a:xfrm>
          <a:prstGeom prst="rect">
            <a:avLst/>
          </a:prstGeom>
          <a:noFill/>
          <a:ln>
            <a:noFill/>
          </a:ln>
        </p:spPr>
        <p:txBody>
          <a:bodyPr anchorCtr="0" anchor="t" bIns="0" lIns="0" spcFirstLastPara="1" rIns="0" wrap="square" tIns="0">
            <a:noAutofit/>
          </a:bodyPr>
          <a:lstStyle/>
          <a:p>
            <a:pPr indent="0" lvl="0" marL="0" marR="0" rtl="0" algn="ctr">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Strategic and basic technical knowledge for advanced AI use.</a:t>
            </a:r>
            <a:endParaRPr b="0" i="0" sz="22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5"/>
          <p:cNvSpPr/>
          <p:nvPr/>
        </p:nvSpPr>
        <p:spPr>
          <a:xfrm>
            <a:off x="793790" y="623768"/>
            <a:ext cx="5103614"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4000"/>
              <a:buFont typeface="Rubik"/>
              <a:buNone/>
            </a:pPr>
            <a:r>
              <a:rPr b="1" i="0" lang="en-US" sz="4000" u="none" cap="none" strike="noStrike">
                <a:solidFill>
                  <a:srgbClr val="D75BE2"/>
                </a:solidFill>
                <a:latin typeface="Rubik"/>
                <a:ea typeface="Rubik"/>
                <a:cs typeface="Rubik"/>
                <a:sym typeface="Rubik"/>
              </a:rPr>
              <a:t>Agenda</a:t>
            </a:r>
            <a:endParaRPr b="0" i="0" sz="4000" u="none" cap="none" strike="noStrike"/>
          </a:p>
        </p:txBody>
      </p:sp>
      <p:sp>
        <p:nvSpPr>
          <p:cNvPr id="89" name="Google Shape;89;p25"/>
          <p:cNvSpPr/>
          <p:nvPr/>
        </p:nvSpPr>
        <p:spPr>
          <a:xfrm>
            <a:off x="793790" y="1669971"/>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a:pPr>
            <a:r>
              <a:rPr b="0" i="0" lang="en-US" sz="1600" u="none" cap="none" strike="noStrike">
                <a:solidFill>
                  <a:srgbClr val="272525"/>
                </a:solidFill>
                <a:latin typeface="Open Sans"/>
                <a:ea typeface="Open Sans"/>
                <a:cs typeface="Open Sans"/>
                <a:sym typeface="Open Sans"/>
              </a:rPr>
              <a:t>Why Foundations Matter for Advanced Users</a:t>
            </a:r>
            <a:endParaRPr b="0" i="0" sz="1600" u="none" cap="none" strike="noStrike"/>
          </a:p>
        </p:txBody>
      </p:sp>
      <p:sp>
        <p:nvSpPr>
          <p:cNvPr id="90" name="Google Shape;90;p25"/>
          <p:cNvSpPr/>
          <p:nvPr/>
        </p:nvSpPr>
        <p:spPr>
          <a:xfrm>
            <a:off x="793790" y="2149554"/>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2"/>
            </a:pPr>
            <a:r>
              <a:rPr b="0" i="0" lang="en-US" sz="1600" u="none" cap="none" strike="noStrike">
                <a:solidFill>
                  <a:srgbClr val="272525"/>
                </a:solidFill>
                <a:latin typeface="Open Sans"/>
                <a:ea typeface="Open Sans"/>
                <a:cs typeface="Open Sans"/>
                <a:sym typeface="Open Sans"/>
              </a:rPr>
              <a:t>The AI Landscape</a:t>
            </a:r>
            <a:endParaRPr b="0" i="0" sz="1600" u="none" cap="none" strike="noStrike"/>
          </a:p>
        </p:txBody>
      </p:sp>
      <p:sp>
        <p:nvSpPr>
          <p:cNvPr id="91" name="Google Shape;91;p25"/>
          <p:cNvSpPr/>
          <p:nvPr/>
        </p:nvSpPr>
        <p:spPr>
          <a:xfrm>
            <a:off x="793790" y="2629138"/>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3"/>
            </a:pPr>
            <a:r>
              <a:rPr b="0" i="0" lang="en-US" sz="1600" u="none" cap="none" strike="noStrike">
                <a:solidFill>
                  <a:srgbClr val="272525"/>
                </a:solidFill>
                <a:latin typeface="Open Sans"/>
                <a:ea typeface="Open Sans"/>
                <a:cs typeface="Open Sans"/>
                <a:sym typeface="Open Sans"/>
              </a:rPr>
              <a:t>Understanding AI Capabilities vs. Limitations</a:t>
            </a:r>
            <a:endParaRPr b="0" i="0" sz="1600" u="none" cap="none" strike="noStrike"/>
          </a:p>
        </p:txBody>
      </p:sp>
      <p:sp>
        <p:nvSpPr>
          <p:cNvPr id="92" name="Google Shape;92;p25"/>
          <p:cNvSpPr/>
          <p:nvPr/>
        </p:nvSpPr>
        <p:spPr>
          <a:xfrm>
            <a:off x="793790" y="3108722"/>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4"/>
            </a:pPr>
            <a:r>
              <a:rPr b="0" i="0" lang="en-US" sz="1600" u="none" cap="none" strike="noStrike">
                <a:solidFill>
                  <a:srgbClr val="272525"/>
                </a:solidFill>
                <a:latin typeface="Open Sans"/>
                <a:ea typeface="Open Sans"/>
                <a:cs typeface="Open Sans"/>
                <a:sym typeface="Open Sans"/>
              </a:rPr>
              <a:t>The Technical Stack: </a:t>
            </a:r>
            <a:endParaRPr b="0" i="0" sz="1600" u="none" cap="none" strike="noStrike"/>
          </a:p>
        </p:txBody>
      </p:sp>
      <p:sp>
        <p:nvSpPr>
          <p:cNvPr id="93" name="Google Shape;93;p25"/>
          <p:cNvSpPr/>
          <p:nvPr/>
        </p:nvSpPr>
        <p:spPr>
          <a:xfrm>
            <a:off x="793790" y="3588306"/>
            <a:ext cx="13042821" cy="408146"/>
          </a:xfrm>
          <a:prstGeom prst="rect">
            <a:avLst/>
          </a:prstGeom>
          <a:noFill/>
          <a:ln>
            <a:noFill/>
          </a:ln>
        </p:spPr>
        <p:txBody>
          <a:bodyPr anchorCtr="0" anchor="t" bIns="0" lIns="0" spcFirstLastPara="1" rIns="0" wrap="square" tIns="0">
            <a:noAutofit/>
          </a:bodyPr>
          <a:lstStyle/>
          <a:p>
            <a:pPr indent="-342900" lvl="1" marL="685800" marR="0" rtl="0" algn="l">
              <a:lnSpc>
                <a:spcPct val="159375"/>
              </a:lnSpc>
              <a:spcBef>
                <a:spcPts val="0"/>
              </a:spcBef>
              <a:spcAft>
                <a:spcPts val="0"/>
              </a:spcAft>
              <a:buClr>
                <a:srgbClr val="272525"/>
              </a:buClr>
              <a:buSzPts val="1600"/>
              <a:buFont typeface="Calibri"/>
              <a:buAutoNum type="arabicPeriod"/>
            </a:pPr>
            <a:r>
              <a:rPr b="0" i="0" lang="en-US" sz="1600" u="none" cap="none" strike="noStrike">
                <a:solidFill>
                  <a:srgbClr val="272525"/>
                </a:solidFill>
                <a:latin typeface="Open Sans"/>
                <a:ea typeface="Open Sans"/>
                <a:cs typeface="Open Sans"/>
                <a:sym typeface="Open Sans"/>
              </a:rPr>
              <a:t>Machine Learning</a:t>
            </a:r>
            <a:endParaRPr b="0" i="0" sz="1600" u="none" cap="none" strike="noStrike"/>
          </a:p>
        </p:txBody>
      </p:sp>
      <p:sp>
        <p:nvSpPr>
          <p:cNvPr id="94" name="Google Shape;94;p25"/>
          <p:cNvSpPr/>
          <p:nvPr/>
        </p:nvSpPr>
        <p:spPr>
          <a:xfrm>
            <a:off x="793790" y="4067889"/>
            <a:ext cx="13042821" cy="408146"/>
          </a:xfrm>
          <a:prstGeom prst="rect">
            <a:avLst/>
          </a:prstGeom>
          <a:noFill/>
          <a:ln>
            <a:noFill/>
          </a:ln>
        </p:spPr>
        <p:txBody>
          <a:bodyPr anchorCtr="0" anchor="t" bIns="0" lIns="0" spcFirstLastPara="1" rIns="0" wrap="square" tIns="0">
            <a:noAutofit/>
          </a:bodyPr>
          <a:lstStyle/>
          <a:p>
            <a:pPr indent="-342900" lvl="1" marL="685800" marR="0" rtl="0" algn="l">
              <a:lnSpc>
                <a:spcPct val="159375"/>
              </a:lnSpc>
              <a:spcBef>
                <a:spcPts val="0"/>
              </a:spcBef>
              <a:spcAft>
                <a:spcPts val="0"/>
              </a:spcAft>
              <a:buClr>
                <a:srgbClr val="272525"/>
              </a:buClr>
              <a:buSzPts val="1600"/>
              <a:buFont typeface="Calibri"/>
              <a:buAutoNum type="arabicPeriod" startAt="2"/>
            </a:pPr>
            <a:r>
              <a:rPr b="0" i="0" lang="en-US" sz="1600" u="none" cap="none" strike="noStrike">
                <a:solidFill>
                  <a:srgbClr val="272525"/>
                </a:solidFill>
                <a:latin typeface="Open Sans"/>
                <a:ea typeface="Open Sans"/>
                <a:cs typeface="Open Sans"/>
                <a:sym typeface="Open Sans"/>
              </a:rPr>
              <a:t>Deep Learning &amp; Neural Networks</a:t>
            </a:r>
            <a:endParaRPr b="0" i="0" sz="1600" u="none" cap="none" strike="noStrike"/>
          </a:p>
        </p:txBody>
      </p:sp>
      <p:sp>
        <p:nvSpPr>
          <p:cNvPr id="95" name="Google Shape;95;p25"/>
          <p:cNvSpPr/>
          <p:nvPr/>
        </p:nvSpPr>
        <p:spPr>
          <a:xfrm>
            <a:off x="793790" y="4547473"/>
            <a:ext cx="13042821" cy="408146"/>
          </a:xfrm>
          <a:prstGeom prst="rect">
            <a:avLst/>
          </a:prstGeom>
          <a:noFill/>
          <a:ln>
            <a:noFill/>
          </a:ln>
        </p:spPr>
        <p:txBody>
          <a:bodyPr anchorCtr="0" anchor="t" bIns="0" lIns="0" spcFirstLastPara="1" rIns="0" wrap="square" tIns="0">
            <a:noAutofit/>
          </a:bodyPr>
          <a:lstStyle/>
          <a:p>
            <a:pPr indent="-342900" lvl="1" marL="685800" marR="0" rtl="0" algn="l">
              <a:lnSpc>
                <a:spcPct val="159375"/>
              </a:lnSpc>
              <a:spcBef>
                <a:spcPts val="0"/>
              </a:spcBef>
              <a:spcAft>
                <a:spcPts val="0"/>
              </a:spcAft>
              <a:buClr>
                <a:srgbClr val="272525"/>
              </a:buClr>
              <a:buSzPts val="1600"/>
              <a:buFont typeface="Calibri"/>
              <a:buAutoNum type="arabicPeriod" startAt="3"/>
            </a:pPr>
            <a:r>
              <a:rPr b="0" i="0" lang="en-US" sz="1600" u="none" cap="none" strike="noStrike">
                <a:solidFill>
                  <a:srgbClr val="272525"/>
                </a:solidFill>
                <a:latin typeface="Open Sans"/>
                <a:ea typeface="Open Sans"/>
                <a:cs typeface="Open Sans"/>
                <a:sym typeface="Open Sans"/>
              </a:rPr>
              <a:t>Large Language Models</a:t>
            </a:r>
            <a:endParaRPr b="0" i="0" sz="1600" u="none" cap="none" strike="noStrike"/>
          </a:p>
        </p:txBody>
      </p:sp>
      <p:sp>
        <p:nvSpPr>
          <p:cNvPr id="96" name="Google Shape;96;p25"/>
          <p:cNvSpPr/>
          <p:nvPr/>
        </p:nvSpPr>
        <p:spPr>
          <a:xfrm>
            <a:off x="793790" y="5027057"/>
            <a:ext cx="13042821" cy="408146"/>
          </a:xfrm>
          <a:prstGeom prst="rect">
            <a:avLst/>
          </a:prstGeom>
          <a:noFill/>
          <a:ln>
            <a:noFill/>
          </a:ln>
        </p:spPr>
        <p:txBody>
          <a:bodyPr anchorCtr="0" anchor="t" bIns="0" lIns="0" spcFirstLastPara="1" rIns="0" wrap="square" tIns="0">
            <a:noAutofit/>
          </a:bodyPr>
          <a:lstStyle/>
          <a:p>
            <a:pPr indent="-342900" lvl="1" marL="685800" marR="0" rtl="0" algn="l">
              <a:lnSpc>
                <a:spcPct val="159375"/>
              </a:lnSpc>
              <a:spcBef>
                <a:spcPts val="0"/>
              </a:spcBef>
              <a:spcAft>
                <a:spcPts val="0"/>
              </a:spcAft>
              <a:buClr>
                <a:srgbClr val="272525"/>
              </a:buClr>
              <a:buSzPts val="1600"/>
              <a:buFont typeface="Calibri"/>
              <a:buAutoNum type="arabicPeriod" startAt="4"/>
            </a:pPr>
            <a:r>
              <a:rPr b="0" i="0" lang="en-US" sz="1600" u="none" cap="none" strike="noStrike">
                <a:solidFill>
                  <a:srgbClr val="272525"/>
                </a:solidFill>
                <a:latin typeface="Open Sans"/>
                <a:ea typeface="Open Sans"/>
                <a:cs typeface="Open Sans"/>
                <a:sym typeface="Open Sans"/>
              </a:rPr>
              <a:t>How Generative AI Models are Created</a:t>
            </a:r>
            <a:endParaRPr b="0" i="0" sz="1600" u="none" cap="none" strike="noStrike"/>
          </a:p>
        </p:txBody>
      </p:sp>
      <p:sp>
        <p:nvSpPr>
          <p:cNvPr id="97" name="Google Shape;97;p25"/>
          <p:cNvSpPr/>
          <p:nvPr/>
        </p:nvSpPr>
        <p:spPr>
          <a:xfrm>
            <a:off x="793790" y="5506641"/>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5"/>
            </a:pPr>
            <a:r>
              <a:rPr b="0" i="0" lang="en-US" sz="1600" u="none" cap="none" strike="noStrike">
                <a:solidFill>
                  <a:srgbClr val="272525"/>
                </a:solidFill>
                <a:latin typeface="Open Sans"/>
                <a:ea typeface="Open Sans"/>
                <a:cs typeface="Open Sans"/>
                <a:sym typeface="Open Sans"/>
              </a:rPr>
              <a:t>Quality Assessment Framework</a:t>
            </a:r>
            <a:endParaRPr b="0" i="0" sz="1600" u="none" cap="none" strike="noStrike"/>
          </a:p>
        </p:txBody>
      </p:sp>
      <p:sp>
        <p:nvSpPr>
          <p:cNvPr id="98" name="Google Shape;98;p25"/>
          <p:cNvSpPr/>
          <p:nvPr/>
        </p:nvSpPr>
        <p:spPr>
          <a:xfrm>
            <a:off x="793790" y="5986224"/>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6"/>
            </a:pPr>
            <a:r>
              <a:rPr b="0" i="0" lang="en-US" sz="1600" u="none" cap="none" strike="noStrike">
                <a:solidFill>
                  <a:srgbClr val="272525"/>
                </a:solidFill>
                <a:latin typeface="Open Sans"/>
                <a:ea typeface="Open Sans"/>
                <a:cs typeface="Open Sans"/>
                <a:sym typeface="Open Sans"/>
              </a:rPr>
              <a:t>Integration Thinking - AI in Business Workflows</a:t>
            </a:r>
            <a:endParaRPr b="0" i="0" sz="1600" u="none" cap="none" strike="noStrike"/>
          </a:p>
        </p:txBody>
      </p:sp>
      <p:sp>
        <p:nvSpPr>
          <p:cNvPr id="99" name="Google Shape;99;p25"/>
          <p:cNvSpPr/>
          <p:nvPr/>
        </p:nvSpPr>
        <p:spPr>
          <a:xfrm>
            <a:off x="793790" y="6465808"/>
            <a:ext cx="13042821" cy="408146"/>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272525"/>
              </a:buClr>
              <a:buSzPts val="1600"/>
              <a:buFont typeface="Calibri"/>
              <a:buAutoNum type="arabicPeriod" startAt="7"/>
            </a:pPr>
            <a:r>
              <a:rPr b="0" i="0" lang="en-US" sz="1600" u="none" cap="none" strike="noStrike">
                <a:solidFill>
                  <a:srgbClr val="272525"/>
                </a:solidFill>
                <a:latin typeface="Open Sans"/>
                <a:ea typeface="Open Sans"/>
                <a:cs typeface="Open Sans"/>
                <a:sym typeface="Open Sans"/>
              </a:rPr>
              <a:t>How These Foundations Connects to the Course Sections ?</a:t>
            </a:r>
            <a:endParaRPr b="0" i="0" sz="1600" u="none" cap="none" strike="noStrike"/>
          </a:p>
        </p:txBody>
      </p:sp>
      <p:sp>
        <p:nvSpPr>
          <p:cNvPr id="100" name="Google Shape;100;p25"/>
          <p:cNvSpPr/>
          <p:nvPr/>
        </p:nvSpPr>
        <p:spPr>
          <a:xfrm>
            <a:off x="793790" y="7103507"/>
            <a:ext cx="13042821" cy="40814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SzPts val="2000"/>
              <a:buFont typeface="Arial"/>
              <a:buNone/>
            </a:pPr>
            <a:r>
              <a:t/>
            </a:r>
            <a:endParaRPr b="0" i="0" sz="20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preencoded.png" id="106" name="Google Shape;106;p2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07" name="Google Shape;107;p26"/>
          <p:cNvSpPr/>
          <p:nvPr/>
        </p:nvSpPr>
        <p:spPr>
          <a:xfrm>
            <a:off x="793790" y="2382560"/>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Why Foundations Matter for Advanced Users?</a:t>
            </a:r>
            <a:endParaRPr b="0" i="0" sz="4450" u="none" cap="none" strike="noStrike"/>
          </a:p>
        </p:txBody>
      </p:sp>
      <p:sp>
        <p:nvSpPr>
          <p:cNvPr id="108" name="Google Shape;108;p26"/>
          <p:cNvSpPr/>
          <p:nvPr/>
        </p:nvSpPr>
        <p:spPr>
          <a:xfrm>
            <a:off x="793790" y="4140279"/>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You're Not Just Using AI Anymore - You're Building With It! </a:t>
            </a:r>
            <a:endParaRPr b="0" i="0" sz="1750" u="none" cap="none" strike="noStrike"/>
          </a:p>
        </p:txBody>
      </p:sp>
      <p:sp>
        <p:nvSpPr>
          <p:cNvPr id="109" name="Google Shape;109;p26"/>
          <p:cNvSpPr/>
          <p:nvPr/>
        </p:nvSpPr>
        <p:spPr>
          <a:xfrm>
            <a:off x="793790" y="4758333"/>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Strategic Foundation = Better Decisions</a:t>
            </a:r>
            <a:r>
              <a:rPr b="0" i="0" lang="en-US" sz="1750" u="none" cap="none" strike="noStrike">
                <a:solidFill>
                  <a:srgbClr val="272525"/>
                </a:solidFill>
                <a:latin typeface="Open Sans"/>
                <a:ea typeface="Open Sans"/>
                <a:cs typeface="Open Sans"/>
                <a:sym typeface="Open Sans"/>
              </a:rPr>
              <a:t> Understanding AI's capabilities and limitations is crucial for choosing the right tool, avoiding costly mistakes, and building solutions that actually work.</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p:nvPr/>
        </p:nvSpPr>
        <p:spPr>
          <a:xfrm>
            <a:off x="793790" y="92987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The AI Landscape</a:t>
            </a:r>
            <a:endParaRPr b="0" i="0" sz="4450" u="none" cap="none" strike="noStrike"/>
          </a:p>
        </p:txBody>
      </p:sp>
      <p:sp>
        <p:nvSpPr>
          <p:cNvPr id="116" name="Google Shape;116;p27"/>
          <p:cNvSpPr/>
          <p:nvPr/>
        </p:nvSpPr>
        <p:spPr>
          <a:xfrm>
            <a:off x="793790" y="1978819"/>
            <a:ext cx="6408063" cy="2546985"/>
          </a:xfrm>
          <a:prstGeom prst="roundRect">
            <a:avLst>
              <a:gd fmla="val 374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7"/>
          <p:cNvSpPr/>
          <p:nvPr/>
        </p:nvSpPr>
        <p:spPr>
          <a:xfrm>
            <a:off x="1028224" y="221325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Predictive AI</a:t>
            </a:r>
            <a:endParaRPr b="0" i="0" sz="2200" u="none" cap="none" strike="noStrike"/>
          </a:p>
        </p:txBody>
      </p:sp>
      <p:sp>
        <p:nvSpPr>
          <p:cNvPr id="118" name="Google Shape;118;p27"/>
          <p:cNvSpPr/>
          <p:nvPr/>
        </p:nvSpPr>
        <p:spPr>
          <a:xfrm>
            <a:off x="1028224" y="2703671"/>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Forecasting sales, identifying risks, predicting customer behavior.</a:t>
            </a:r>
            <a:endParaRPr b="0" i="0" sz="1750" u="none" cap="none" strike="noStrike"/>
          </a:p>
        </p:txBody>
      </p:sp>
      <p:sp>
        <p:nvSpPr>
          <p:cNvPr id="119" name="Google Shape;119;p27"/>
          <p:cNvSpPr/>
          <p:nvPr/>
        </p:nvSpPr>
        <p:spPr>
          <a:xfrm>
            <a:off x="1028224" y="3565565"/>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Use for: Data analysis projects, business intelligence dashboards.</a:t>
            </a:r>
            <a:endParaRPr b="0" i="0" sz="1750" u="none" cap="none" strike="noStrike"/>
          </a:p>
        </p:txBody>
      </p:sp>
      <p:sp>
        <p:nvSpPr>
          <p:cNvPr id="120" name="Google Shape;120;p27"/>
          <p:cNvSpPr/>
          <p:nvPr/>
        </p:nvSpPr>
        <p:spPr>
          <a:xfrm>
            <a:off x="7428667" y="1978819"/>
            <a:ext cx="6408063" cy="2546985"/>
          </a:xfrm>
          <a:prstGeom prst="roundRect">
            <a:avLst>
              <a:gd fmla="val 374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7"/>
          <p:cNvSpPr/>
          <p:nvPr/>
        </p:nvSpPr>
        <p:spPr>
          <a:xfrm>
            <a:off x="7663101" y="221325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Classification AI</a:t>
            </a:r>
            <a:endParaRPr b="0" i="0" sz="2200" u="none" cap="none" strike="noStrike"/>
          </a:p>
        </p:txBody>
      </p:sp>
      <p:sp>
        <p:nvSpPr>
          <p:cNvPr id="122" name="Google Shape;122;p27"/>
          <p:cNvSpPr/>
          <p:nvPr/>
        </p:nvSpPr>
        <p:spPr>
          <a:xfrm>
            <a:off x="7663101" y="2703671"/>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Sorting emails, categorizing support tickets, content moderation.</a:t>
            </a:r>
            <a:endParaRPr b="0" i="0" sz="1750" u="none" cap="none" strike="noStrike"/>
          </a:p>
        </p:txBody>
      </p:sp>
      <p:sp>
        <p:nvSpPr>
          <p:cNvPr id="123" name="Google Shape;123;p27"/>
          <p:cNvSpPr/>
          <p:nvPr/>
        </p:nvSpPr>
        <p:spPr>
          <a:xfrm>
            <a:off x="7663101" y="3565565"/>
            <a:ext cx="593919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Use for: Automated workflows, content organization.</a:t>
            </a:r>
            <a:endParaRPr b="0" i="0" sz="1750" u="none" cap="none" strike="noStrike"/>
          </a:p>
        </p:txBody>
      </p:sp>
      <p:sp>
        <p:nvSpPr>
          <p:cNvPr id="124" name="Google Shape;124;p27"/>
          <p:cNvSpPr/>
          <p:nvPr/>
        </p:nvSpPr>
        <p:spPr>
          <a:xfrm>
            <a:off x="793790" y="4752618"/>
            <a:ext cx="6408063" cy="2546985"/>
          </a:xfrm>
          <a:prstGeom prst="roundRect">
            <a:avLst>
              <a:gd fmla="val 374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7"/>
          <p:cNvSpPr/>
          <p:nvPr/>
        </p:nvSpPr>
        <p:spPr>
          <a:xfrm>
            <a:off x="1028224" y="49870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Generative AI</a:t>
            </a:r>
            <a:endParaRPr b="0" i="0" sz="2200" u="none" cap="none" strike="noStrike"/>
          </a:p>
        </p:txBody>
      </p:sp>
      <p:sp>
        <p:nvSpPr>
          <p:cNvPr id="126" name="Google Shape;126;p27"/>
          <p:cNvSpPr/>
          <p:nvPr/>
        </p:nvSpPr>
        <p:spPr>
          <a:xfrm>
            <a:off x="1028224" y="5477470"/>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Creating content, answering questions, code generation.</a:t>
            </a:r>
            <a:endParaRPr b="0" i="0" sz="1750" u="none" cap="none" strike="noStrike"/>
          </a:p>
        </p:txBody>
      </p:sp>
      <p:sp>
        <p:nvSpPr>
          <p:cNvPr id="127" name="Google Shape;127;p27"/>
          <p:cNvSpPr/>
          <p:nvPr/>
        </p:nvSpPr>
        <p:spPr>
          <a:xfrm>
            <a:off x="1028224" y="6339364"/>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Use for: Custom GPTs, content creation, no-code app development.</a:t>
            </a:r>
            <a:endParaRPr b="0" i="0" sz="1750" u="none" cap="none" strike="noStrike"/>
          </a:p>
        </p:txBody>
      </p:sp>
      <p:sp>
        <p:nvSpPr>
          <p:cNvPr id="128" name="Google Shape;128;p27"/>
          <p:cNvSpPr/>
          <p:nvPr/>
        </p:nvSpPr>
        <p:spPr>
          <a:xfrm>
            <a:off x="7428667" y="4752618"/>
            <a:ext cx="6408063" cy="2546985"/>
          </a:xfrm>
          <a:prstGeom prst="roundRect">
            <a:avLst>
              <a:gd fmla="val 374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p:nvPr/>
        </p:nvSpPr>
        <p:spPr>
          <a:xfrm>
            <a:off x="7663101" y="49870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Augmented AI</a:t>
            </a:r>
            <a:endParaRPr b="0" i="0" sz="2200" u="none" cap="none" strike="noStrike"/>
          </a:p>
        </p:txBody>
      </p:sp>
      <p:sp>
        <p:nvSpPr>
          <p:cNvPr id="130" name="Google Shape;130;p27"/>
          <p:cNvSpPr/>
          <p:nvPr/>
        </p:nvSpPr>
        <p:spPr>
          <a:xfrm>
            <a:off x="7663101" y="5477470"/>
            <a:ext cx="593919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Enhancing human decision-making, providing intelligent suggestions.</a:t>
            </a:r>
            <a:endParaRPr b="0" i="0" sz="1750" u="none" cap="none" strike="noStrike"/>
          </a:p>
        </p:txBody>
      </p:sp>
      <p:sp>
        <p:nvSpPr>
          <p:cNvPr id="131" name="Google Shape;131;p27"/>
          <p:cNvSpPr/>
          <p:nvPr/>
        </p:nvSpPr>
        <p:spPr>
          <a:xfrm>
            <a:off x="7663101" y="6339364"/>
            <a:ext cx="593919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Use for: Business analytics, enhanced productivity tools.</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p:nvPr/>
        </p:nvSpPr>
        <p:spPr>
          <a:xfrm>
            <a:off x="793790" y="1754743"/>
            <a:ext cx="799671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AI Capabilities vs. Limitations</a:t>
            </a:r>
            <a:endParaRPr b="0" i="0" sz="4450" u="none" cap="none" strike="noStrike"/>
          </a:p>
        </p:txBody>
      </p:sp>
      <p:sp>
        <p:nvSpPr>
          <p:cNvPr id="138" name="Google Shape;138;p28"/>
          <p:cNvSpPr/>
          <p:nvPr/>
        </p:nvSpPr>
        <p:spPr>
          <a:xfrm>
            <a:off x="793790" y="291715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This knowledge helps you set realistic expectations, design appropriate workflows, and create necessary safeguards in your applications.</a:t>
            </a:r>
            <a:endParaRPr b="0" i="0" sz="1750" u="none" cap="none" strike="noStrike"/>
          </a:p>
        </p:txBody>
      </p:sp>
      <p:sp>
        <p:nvSpPr>
          <p:cNvPr id="139" name="Google Shape;139;p28"/>
          <p:cNvSpPr/>
          <p:nvPr/>
        </p:nvSpPr>
        <p:spPr>
          <a:xfrm>
            <a:off x="793790" y="412492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2200"/>
              <a:buFont typeface="Rubik"/>
              <a:buNone/>
            </a:pPr>
            <a:r>
              <a:rPr b="0" i="0" lang="en-US" sz="2200" u="none" cap="none" strike="noStrike">
                <a:solidFill>
                  <a:srgbClr val="D75BE2"/>
                </a:solidFill>
                <a:latin typeface="Rubik"/>
                <a:ea typeface="Rubik"/>
                <a:cs typeface="Rubik"/>
                <a:sym typeface="Rubik"/>
              </a:rPr>
              <a:t>What AI Excels At</a:t>
            </a:r>
            <a:endParaRPr b="0" i="0" sz="2200" u="none" cap="none" strike="noStrike"/>
          </a:p>
        </p:txBody>
      </p:sp>
      <p:sp>
        <p:nvSpPr>
          <p:cNvPr id="140" name="Google Shape;140;p28"/>
          <p:cNvSpPr/>
          <p:nvPr/>
        </p:nvSpPr>
        <p:spPr>
          <a:xfrm>
            <a:off x="793790" y="4706064"/>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Pattern recognition from large datasets</a:t>
            </a:r>
            <a:endParaRPr b="0" i="0" sz="1750" u="none" cap="none" strike="noStrike"/>
          </a:p>
        </p:txBody>
      </p:sp>
      <p:sp>
        <p:nvSpPr>
          <p:cNvPr id="141" name="Google Shape;141;p28"/>
          <p:cNvSpPr/>
          <p:nvPr/>
        </p:nvSpPr>
        <p:spPr>
          <a:xfrm>
            <a:off x="793790" y="514826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Generating content based on learned patterns</a:t>
            </a:r>
            <a:endParaRPr b="0" i="0" sz="1750" u="none" cap="none" strike="noStrike"/>
          </a:p>
        </p:txBody>
      </p:sp>
      <p:sp>
        <p:nvSpPr>
          <p:cNvPr id="142" name="Google Shape;142;p28"/>
          <p:cNvSpPr/>
          <p:nvPr/>
        </p:nvSpPr>
        <p:spPr>
          <a:xfrm>
            <a:off x="793790" y="559046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Processing structured and unstructured data quickly</a:t>
            </a:r>
            <a:endParaRPr b="0" i="0" sz="1750" u="none" cap="none" strike="noStrike"/>
          </a:p>
        </p:txBody>
      </p:sp>
      <p:sp>
        <p:nvSpPr>
          <p:cNvPr id="143" name="Google Shape;143;p28"/>
          <p:cNvSpPr/>
          <p:nvPr/>
        </p:nvSpPr>
        <p:spPr>
          <a:xfrm>
            <a:off x="793790" y="603265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Automating repetitive cognitive tasks</a:t>
            </a:r>
            <a:endParaRPr b="0" i="0" sz="1750" u="none" cap="none" strike="noStrike"/>
          </a:p>
        </p:txBody>
      </p:sp>
      <p:sp>
        <p:nvSpPr>
          <p:cNvPr id="144" name="Google Shape;144;p28"/>
          <p:cNvSpPr/>
          <p:nvPr/>
        </p:nvSpPr>
        <p:spPr>
          <a:xfrm>
            <a:off x="7599521" y="4124920"/>
            <a:ext cx="309836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2200"/>
              <a:buFont typeface="Rubik"/>
              <a:buNone/>
            </a:pPr>
            <a:r>
              <a:rPr b="0" i="0" lang="en-US" sz="2200" u="none" cap="none" strike="noStrike">
                <a:solidFill>
                  <a:srgbClr val="D75BE2"/>
                </a:solidFill>
                <a:latin typeface="Rubik"/>
                <a:ea typeface="Rubik"/>
                <a:cs typeface="Rubik"/>
                <a:sym typeface="Rubik"/>
              </a:rPr>
              <a:t>What AI Struggles With</a:t>
            </a:r>
            <a:endParaRPr b="0" i="0" sz="2200" u="none" cap="none" strike="noStrike"/>
          </a:p>
        </p:txBody>
      </p:sp>
      <p:sp>
        <p:nvSpPr>
          <p:cNvPr id="145" name="Google Shape;145;p28"/>
          <p:cNvSpPr/>
          <p:nvPr/>
        </p:nvSpPr>
        <p:spPr>
          <a:xfrm>
            <a:off x="7599521" y="4706064"/>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Real-time information beyond training data</a:t>
            </a:r>
            <a:endParaRPr b="0" i="0" sz="1750" u="none" cap="none" strike="noStrike"/>
          </a:p>
        </p:txBody>
      </p:sp>
      <p:sp>
        <p:nvSpPr>
          <p:cNvPr id="146" name="Google Shape;146;p28"/>
          <p:cNvSpPr/>
          <p:nvPr/>
        </p:nvSpPr>
        <p:spPr>
          <a:xfrm>
            <a:off x="7599521" y="514826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True reasoning vs. pattern matching</a:t>
            </a:r>
            <a:endParaRPr b="0" i="0" sz="1750" u="none" cap="none" strike="noStrike"/>
          </a:p>
        </p:txBody>
      </p:sp>
      <p:sp>
        <p:nvSpPr>
          <p:cNvPr id="147" name="Google Shape;147;p28"/>
          <p:cNvSpPr/>
          <p:nvPr/>
        </p:nvSpPr>
        <p:spPr>
          <a:xfrm>
            <a:off x="7599521" y="559046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Context that requires human experience</a:t>
            </a:r>
            <a:endParaRPr b="0" i="0" sz="1750" u="none" cap="none" strike="noStrike"/>
          </a:p>
        </p:txBody>
      </p:sp>
      <p:sp>
        <p:nvSpPr>
          <p:cNvPr id="148" name="Google Shape;148;p28"/>
          <p:cNvSpPr/>
          <p:nvPr/>
        </p:nvSpPr>
        <p:spPr>
          <a:xfrm>
            <a:off x="7599521" y="603265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Handling edge cases and exceptions</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p:nvPr/>
        </p:nvSpPr>
        <p:spPr>
          <a:xfrm>
            <a:off x="3402449" y="3625691"/>
            <a:ext cx="7825502" cy="978218"/>
          </a:xfrm>
          <a:prstGeom prst="rect">
            <a:avLst/>
          </a:prstGeom>
          <a:noFill/>
          <a:ln>
            <a:noFill/>
          </a:ln>
        </p:spPr>
        <p:txBody>
          <a:bodyPr anchorCtr="0" anchor="t" bIns="0" lIns="0" spcFirstLastPara="1" rIns="0" wrap="square" tIns="0">
            <a:noAutofit/>
          </a:bodyPr>
          <a:lstStyle/>
          <a:p>
            <a:pPr indent="0" lvl="0" marL="0" marR="0" rtl="0" algn="ctr">
              <a:lnSpc>
                <a:spcPct val="125203"/>
              </a:lnSpc>
              <a:spcBef>
                <a:spcPts val="0"/>
              </a:spcBef>
              <a:spcAft>
                <a:spcPts val="0"/>
              </a:spcAft>
              <a:buClr>
                <a:srgbClr val="D75BE2"/>
              </a:buClr>
              <a:buSzPts val="6150"/>
              <a:buFont typeface="Rubik"/>
              <a:buNone/>
            </a:pPr>
            <a:r>
              <a:rPr b="0" i="0" lang="en-US" sz="6150" u="none" cap="none" strike="noStrike">
                <a:solidFill>
                  <a:srgbClr val="D75BE2"/>
                </a:solidFill>
                <a:latin typeface="Rubik"/>
                <a:ea typeface="Rubik"/>
                <a:cs typeface="Rubik"/>
                <a:sym typeface="Rubik"/>
              </a:rPr>
              <a:t>The Technical Stack</a:t>
            </a:r>
            <a:endParaRPr b="0" i="0" sz="61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p:nvPr/>
        </p:nvSpPr>
        <p:spPr>
          <a:xfrm>
            <a:off x="793790" y="776049"/>
            <a:ext cx="4252913" cy="531614"/>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D75BE2"/>
              </a:buClr>
              <a:buSzPts val="3300"/>
              <a:buFont typeface="Rubik"/>
              <a:buNone/>
            </a:pPr>
            <a:r>
              <a:rPr b="0" i="0" lang="en-US" sz="3300" u="none" cap="none" strike="noStrike">
                <a:solidFill>
                  <a:srgbClr val="D75BE2"/>
                </a:solidFill>
                <a:latin typeface="Rubik"/>
                <a:ea typeface="Rubik"/>
                <a:cs typeface="Rubik"/>
                <a:sym typeface="Rubik"/>
              </a:rPr>
              <a:t>The Technical Stack</a:t>
            </a:r>
            <a:endParaRPr b="0" i="0" sz="3300" u="none" cap="none" strike="noStrike"/>
          </a:p>
        </p:txBody>
      </p:sp>
      <p:sp>
        <p:nvSpPr>
          <p:cNvPr id="161" name="Google Shape;161;p30"/>
          <p:cNvSpPr/>
          <p:nvPr/>
        </p:nvSpPr>
        <p:spPr>
          <a:xfrm>
            <a:off x="793790" y="1647825"/>
            <a:ext cx="13042821" cy="544354"/>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272525"/>
              </a:buClr>
              <a:buSzPts val="1300"/>
              <a:buFont typeface="Open Sans"/>
              <a:buNone/>
            </a:pPr>
            <a:r>
              <a:rPr b="1" i="0" lang="en-US" sz="1300" u="none" cap="none" strike="noStrike">
                <a:solidFill>
                  <a:srgbClr val="272525"/>
                </a:solidFill>
                <a:latin typeface="Open Sans"/>
                <a:ea typeface="Open Sans"/>
                <a:cs typeface="Open Sans"/>
                <a:sym typeface="Open Sans"/>
              </a:rPr>
              <a:t>Strategic Insight</a:t>
            </a:r>
            <a:r>
              <a:rPr b="0" i="0" lang="en-US" sz="1300" u="none" cap="none" strike="noStrike">
                <a:solidFill>
                  <a:srgbClr val="272525"/>
                </a:solidFill>
                <a:latin typeface="Open Sans"/>
                <a:ea typeface="Open Sans"/>
                <a:cs typeface="Open Sans"/>
                <a:sym typeface="Open Sans"/>
              </a:rPr>
              <a:t>: Higher levels are easier to use but less customizable. Lower levels offer more control but require more technical knowledge. Choose based on your specific needs and technical capacity.</a:t>
            </a:r>
            <a:endParaRPr b="0" i="0" sz="1300" u="none" cap="none" strike="noStrike"/>
          </a:p>
        </p:txBody>
      </p:sp>
      <p:pic>
        <p:nvPicPr>
          <p:cNvPr descr="preencoded.png" id="162" name="Google Shape;162;p30"/>
          <p:cNvPicPr preferRelativeResize="0"/>
          <p:nvPr/>
        </p:nvPicPr>
        <p:blipFill rotWithShape="1">
          <a:blip r:embed="rId3">
            <a:alphaModFix/>
          </a:blip>
          <a:srcRect b="0" l="0" r="0" t="0"/>
          <a:stretch/>
        </p:blipFill>
        <p:spPr>
          <a:xfrm>
            <a:off x="5428893" y="2383512"/>
            <a:ext cx="3772495" cy="980003"/>
          </a:xfrm>
          <a:prstGeom prst="rect">
            <a:avLst/>
          </a:prstGeom>
          <a:noFill/>
          <a:ln>
            <a:noFill/>
          </a:ln>
        </p:spPr>
      </p:pic>
      <p:sp>
        <p:nvSpPr>
          <p:cNvPr id="163" name="Google Shape;163;p30"/>
          <p:cNvSpPr/>
          <p:nvPr/>
        </p:nvSpPr>
        <p:spPr>
          <a:xfrm>
            <a:off x="5935623" y="2553533"/>
            <a:ext cx="2759035" cy="265747"/>
          </a:xfrm>
          <a:prstGeom prst="rect">
            <a:avLst/>
          </a:prstGeom>
          <a:noFill/>
          <a:ln>
            <a:noFill/>
          </a:ln>
        </p:spPr>
        <p:txBody>
          <a:bodyPr anchorCtr="0" anchor="t" bIns="0" lIns="0" spcFirstLastPara="1" rIns="0" wrap="square" tIns="0">
            <a:noAutofit/>
          </a:bodyPr>
          <a:lstStyle/>
          <a:p>
            <a:pPr indent="0" lvl="0" marL="0" marR="0" rtl="0" algn="ctr">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Business Application Layer</a:t>
            </a:r>
            <a:endParaRPr b="0" i="0" sz="1650" u="none" cap="none" strike="noStrike"/>
          </a:p>
        </p:txBody>
      </p:sp>
      <p:sp>
        <p:nvSpPr>
          <p:cNvPr id="164" name="Google Shape;164;p30"/>
          <p:cNvSpPr/>
          <p:nvPr/>
        </p:nvSpPr>
        <p:spPr>
          <a:xfrm>
            <a:off x="5776555" y="2921318"/>
            <a:ext cx="3077170" cy="272177"/>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Custom solutions for specific needs</a:t>
            </a:r>
            <a:endParaRPr b="0" i="0" sz="1300" u="none" cap="none" strike="noStrike"/>
          </a:p>
        </p:txBody>
      </p:sp>
      <p:pic>
        <p:nvPicPr>
          <p:cNvPr descr="preencoded.png" id="165" name="Google Shape;165;p30"/>
          <p:cNvPicPr preferRelativeResize="0"/>
          <p:nvPr/>
        </p:nvPicPr>
        <p:blipFill rotWithShape="1">
          <a:blip r:embed="rId4">
            <a:alphaModFix/>
          </a:blip>
          <a:srcRect b="0" l="0" r="0" t="0"/>
          <a:stretch/>
        </p:blipFill>
        <p:spPr>
          <a:xfrm>
            <a:off x="5058370" y="3406021"/>
            <a:ext cx="4513540" cy="980003"/>
          </a:xfrm>
          <a:prstGeom prst="rect">
            <a:avLst/>
          </a:prstGeom>
          <a:noFill/>
          <a:ln>
            <a:noFill/>
          </a:ln>
        </p:spPr>
      </p:pic>
      <p:sp>
        <p:nvSpPr>
          <p:cNvPr id="166" name="Google Shape;166;p30"/>
          <p:cNvSpPr/>
          <p:nvPr/>
        </p:nvSpPr>
        <p:spPr>
          <a:xfrm>
            <a:off x="6251853" y="3576042"/>
            <a:ext cx="2126456" cy="265747"/>
          </a:xfrm>
          <a:prstGeom prst="rect">
            <a:avLst/>
          </a:prstGeom>
          <a:noFill/>
          <a:ln>
            <a:noFill/>
          </a:ln>
        </p:spPr>
        <p:txBody>
          <a:bodyPr anchorCtr="0" anchor="t" bIns="0" lIns="0" spcFirstLastPara="1" rIns="0" wrap="square" tIns="0">
            <a:noAutofit/>
          </a:bodyPr>
          <a:lstStyle/>
          <a:p>
            <a:pPr indent="0" lvl="0" marL="0" marR="0" rtl="0" algn="ctr">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AI </a:t>
            </a:r>
            <a:r>
              <a:rPr lang="en-US" sz="1650">
                <a:solidFill>
                  <a:srgbClr val="272525"/>
                </a:solidFill>
                <a:latin typeface="Rubik"/>
                <a:ea typeface="Rubik"/>
                <a:cs typeface="Rubik"/>
                <a:sym typeface="Rubik"/>
              </a:rPr>
              <a:t>Agents</a:t>
            </a:r>
            <a:endParaRPr b="0" i="0" sz="1650" u="none" cap="none" strike="noStrike"/>
          </a:p>
        </p:txBody>
      </p:sp>
      <p:sp>
        <p:nvSpPr>
          <p:cNvPr id="167" name="Google Shape;167;p30"/>
          <p:cNvSpPr/>
          <p:nvPr/>
        </p:nvSpPr>
        <p:spPr>
          <a:xfrm>
            <a:off x="5404128" y="3943826"/>
            <a:ext cx="3822025" cy="272177"/>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ChatGPT, Claude, Custom GPTs</a:t>
            </a:r>
            <a:endParaRPr b="0" i="0" sz="1300" u="none" cap="none" strike="noStrike"/>
          </a:p>
        </p:txBody>
      </p:sp>
      <p:pic>
        <p:nvPicPr>
          <p:cNvPr descr="preencoded.png" id="168" name="Google Shape;168;p30"/>
          <p:cNvPicPr preferRelativeResize="0"/>
          <p:nvPr/>
        </p:nvPicPr>
        <p:blipFill rotWithShape="1">
          <a:blip r:embed="rId5">
            <a:alphaModFix/>
          </a:blip>
          <a:srcRect b="0" l="0" r="0" t="0"/>
          <a:stretch/>
        </p:blipFill>
        <p:spPr>
          <a:xfrm>
            <a:off x="4687848" y="4428530"/>
            <a:ext cx="5254585" cy="980003"/>
          </a:xfrm>
          <a:prstGeom prst="rect">
            <a:avLst/>
          </a:prstGeom>
          <a:noFill/>
          <a:ln>
            <a:noFill/>
          </a:ln>
        </p:spPr>
      </p:pic>
      <p:sp>
        <p:nvSpPr>
          <p:cNvPr id="169" name="Google Shape;169;p30"/>
          <p:cNvSpPr/>
          <p:nvPr/>
        </p:nvSpPr>
        <p:spPr>
          <a:xfrm>
            <a:off x="6106120" y="4598551"/>
            <a:ext cx="2417921" cy="265747"/>
          </a:xfrm>
          <a:prstGeom prst="rect">
            <a:avLst/>
          </a:prstGeom>
          <a:noFill/>
          <a:ln>
            <a:noFill/>
          </a:ln>
        </p:spPr>
        <p:txBody>
          <a:bodyPr anchorCtr="0" anchor="t" bIns="0" lIns="0" spcFirstLastPara="1" rIns="0" wrap="square" tIns="0">
            <a:noAutofit/>
          </a:bodyPr>
          <a:lstStyle/>
          <a:p>
            <a:pPr indent="0" lvl="0" marL="0" marR="0" rtl="0" algn="ctr">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Large Language Models</a:t>
            </a:r>
            <a:endParaRPr b="0" i="0" sz="1650" u="none" cap="none" strike="noStrike"/>
          </a:p>
        </p:txBody>
      </p:sp>
      <p:sp>
        <p:nvSpPr>
          <p:cNvPr id="170" name="Google Shape;170;p30"/>
          <p:cNvSpPr/>
          <p:nvPr/>
        </p:nvSpPr>
        <p:spPr>
          <a:xfrm>
            <a:off x="5113550" y="5021623"/>
            <a:ext cx="4566900" cy="272100"/>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GPT, Claude, Gemini</a:t>
            </a:r>
            <a:endParaRPr b="0" i="0" sz="1300" u="none" cap="none" strike="noStrike"/>
          </a:p>
        </p:txBody>
      </p:sp>
      <p:pic>
        <p:nvPicPr>
          <p:cNvPr descr="preencoded.png" id="171" name="Google Shape;171;p30"/>
          <p:cNvPicPr preferRelativeResize="0"/>
          <p:nvPr/>
        </p:nvPicPr>
        <p:blipFill rotWithShape="1">
          <a:blip r:embed="rId6">
            <a:alphaModFix/>
          </a:blip>
          <a:srcRect b="0" l="0" r="0" t="0"/>
          <a:stretch/>
        </p:blipFill>
        <p:spPr>
          <a:xfrm>
            <a:off x="4317325" y="5451038"/>
            <a:ext cx="5995630" cy="980003"/>
          </a:xfrm>
          <a:prstGeom prst="rect">
            <a:avLst/>
          </a:prstGeom>
          <a:noFill/>
          <a:ln>
            <a:noFill/>
          </a:ln>
        </p:spPr>
      </p:pic>
      <p:sp>
        <p:nvSpPr>
          <p:cNvPr id="172" name="Google Shape;172;p30"/>
          <p:cNvSpPr/>
          <p:nvPr/>
        </p:nvSpPr>
        <p:spPr>
          <a:xfrm>
            <a:off x="6251853" y="5621060"/>
            <a:ext cx="2126456" cy="265747"/>
          </a:xfrm>
          <a:prstGeom prst="rect">
            <a:avLst/>
          </a:prstGeom>
          <a:noFill/>
          <a:ln>
            <a:noFill/>
          </a:ln>
        </p:spPr>
        <p:txBody>
          <a:bodyPr anchorCtr="0" anchor="t" bIns="0" lIns="0" spcFirstLastPara="1" rIns="0" wrap="square" tIns="0">
            <a:noAutofit/>
          </a:bodyPr>
          <a:lstStyle/>
          <a:p>
            <a:pPr indent="0" lvl="0" marL="0" marR="0" rtl="0" algn="ctr">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Deep Learning</a:t>
            </a:r>
            <a:endParaRPr b="0" i="0" sz="1650" u="none" cap="none" strike="noStrike"/>
          </a:p>
        </p:txBody>
      </p:sp>
      <p:sp>
        <p:nvSpPr>
          <p:cNvPr id="173" name="Google Shape;173;p30"/>
          <p:cNvSpPr/>
          <p:nvPr/>
        </p:nvSpPr>
        <p:spPr>
          <a:xfrm>
            <a:off x="4659392" y="5988844"/>
            <a:ext cx="5311497" cy="272177"/>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Neural Networks, Transformers</a:t>
            </a:r>
            <a:endParaRPr b="0" i="0" sz="1300" u="none" cap="none" strike="noStrike"/>
          </a:p>
        </p:txBody>
      </p:sp>
      <p:pic>
        <p:nvPicPr>
          <p:cNvPr descr="preencoded.png" id="174" name="Google Shape;174;p30"/>
          <p:cNvPicPr preferRelativeResize="0"/>
          <p:nvPr/>
        </p:nvPicPr>
        <p:blipFill rotWithShape="1">
          <a:blip r:embed="rId7">
            <a:alphaModFix/>
          </a:blip>
          <a:srcRect b="0" l="0" r="0" t="0"/>
          <a:stretch/>
        </p:blipFill>
        <p:spPr>
          <a:xfrm>
            <a:off x="3946803" y="6473547"/>
            <a:ext cx="6736675" cy="980003"/>
          </a:xfrm>
          <a:prstGeom prst="rect">
            <a:avLst/>
          </a:prstGeom>
          <a:noFill/>
          <a:ln>
            <a:noFill/>
          </a:ln>
        </p:spPr>
      </p:pic>
      <p:sp>
        <p:nvSpPr>
          <p:cNvPr id="175" name="Google Shape;175;p30"/>
          <p:cNvSpPr/>
          <p:nvPr/>
        </p:nvSpPr>
        <p:spPr>
          <a:xfrm>
            <a:off x="5547717" y="6643568"/>
            <a:ext cx="3534847" cy="265747"/>
          </a:xfrm>
          <a:prstGeom prst="rect">
            <a:avLst/>
          </a:prstGeom>
          <a:noFill/>
          <a:ln>
            <a:noFill/>
          </a:ln>
        </p:spPr>
        <p:txBody>
          <a:bodyPr anchorCtr="0" anchor="t" bIns="0" lIns="0" spcFirstLastPara="1" rIns="0" wrap="square" tIns="0">
            <a:noAutofit/>
          </a:bodyPr>
          <a:lstStyle/>
          <a:p>
            <a:pPr indent="0" lvl="0" marL="0" marR="0" rtl="0" algn="ctr">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Machine Learning &amp; Infrastructure</a:t>
            </a:r>
            <a:endParaRPr b="0" i="0" sz="1650" u="none" cap="none" strike="noStrike"/>
          </a:p>
        </p:txBody>
      </p:sp>
      <p:sp>
        <p:nvSpPr>
          <p:cNvPr id="176" name="Google Shape;176;p30"/>
          <p:cNvSpPr/>
          <p:nvPr/>
        </p:nvSpPr>
        <p:spPr>
          <a:xfrm>
            <a:off x="4286964" y="7011352"/>
            <a:ext cx="6056352" cy="272177"/>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Algorithms, Training Data, Cloud, APIs</a:t>
            </a:r>
            <a:endParaRPr b="0" i="0" sz="13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p:nvPr/>
        </p:nvSpPr>
        <p:spPr>
          <a:xfrm>
            <a:off x="779383" y="612338"/>
            <a:ext cx="8248055" cy="695920"/>
          </a:xfrm>
          <a:prstGeom prst="rect">
            <a:avLst/>
          </a:prstGeom>
          <a:noFill/>
          <a:ln>
            <a:noFill/>
          </a:ln>
        </p:spPr>
        <p:txBody>
          <a:bodyPr anchorCtr="0" anchor="t" bIns="0" lIns="0" spcFirstLastPara="1" rIns="0" wrap="square" tIns="0">
            <a:noAutofit/>
          </a:bodyPr>
          <a:lstStyle/>
          <a:p>
            <a:pPr indent="0" lvl="0" marL="0" marR="0" rtl="0" algn="l">
              <a:lnSpc>
                <a:spcPct val="125287"/>
              </a:lnSpc>
              <a:spcBef>
                <a:spcPts val="0"/>
              </a:spcBef>
              <a:spcAft>
                <a:spcPts val="0"/>
              </a:spcAft>
              <a:buClr>
                <a:srgbClr val="D75BE2"/>
              </a:buClr>
              <a:buSzPts val="4350"/>
              <a:buFont typeface="Rubik"/>
              <a:buNone/>
            </a:pPr>
            <a:r>
              <a:rPr b="0" i="0" lang="en-US" sz="4350" u="none" cap="none" strike="noStrike">
                <a:solidFill>
                  <a:srgbClr val="D75BE2"/>
                </a:solidFill>
                <a:latin typeface="Rubik"/>
                <a:ea typeface="Rubik"/>
                <a:cs typeface="Rubik"/>
                <a:sym typeface="Rubik"/>
              </a:rPr>
              <a:t>Machine Learning Foundations</a:t>
            </a:r>
            <a:endParaRPr b="0" i="0" sz="4350" u="none" cap="none" strike="noStrike"/>
          </a:p>
        </p:txBody>
      </p:sp>
      <p:sp>
        <p:nvSpPr>
          <p:cNvPr id="183" name="Google Shape;183;p31"/>
          <p:cNvSpPr/>
          <p:nvPr/>
        </p:nvSpPr>
        <p:spPr>
          <a:xfrm>
            <a:off x="779383" y="1642229"/>
            <a:ext cx="13071634"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Why This Matters for Your Applications? </a:t>
            </a:r>
            <a:endParaRPr b="0" i="0" sz="1750" u="none" cap="none" strike="noStrike"/>
          </a:p>
        </p:txBody>
      </p:sp>
      <p:sp>
        <p:nvSpPr>
          <p:cNvPr id="184" name="Google Shape;184;p31"/>
          <p:cNvSpPr/>
          <p:nvPr/>
        </p:nvSpPr>
        <p:spPr>
          <a:xfrm>
            <a:off x="779383" y="2248972"/>
            <a:ext cx="13071634"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Machine Learning Core Principle: Systems learn patterns from data to make predictions or decisions</a:t>
            </a:r>
            <a:endParaRPr b="0" i="0" sz="1750" u="none" cap="none" strike="noStrike"/>
          </a:p>
        </p:txBody>
      </p:sp>
      <p:pic>
        <p:nvPicPr>
          <p:cNvPr descr="preencoded.png" id="185" name="Google Shape;185;p31"/>
          <p:cNvPicPr preferRelativeResize="0"/>
          <p:nvPr/>
        </p:nvPicPr>
        <p:blipFill rotWithShape="1">
          <a:blip r:embed="rId3">
            <a:alphaModFix/>
          </a:blip>
          <a:srcRect b="0" l="0" r="0" t="0"/>
          <a:stretch/>
        </p:blipFill>
        <p:spPr>
          <a:xfrm>
            <a:off x="779383" y="2894648"/>
            <a:ext cx="556736" cy="556736"/>
          </a:xfrm>
          <a:prstGeom prst="rect">
            <a:avLst/>
          </a:prstGeom>
          <a:noFill/>
          <a:ln>
            <a:noFill/>
          </a:ln>
        </p:spPr>
      </p:pic>
      <p:sp>
        <p:nvSpPr>
          <p:cNvPr id="186" name="Google Shape;186;p31"/>
          <p:cNvSpPr/>
          <p:nvPr/>
        </p:nvSpPr>
        <p:spPr>
          <a:xfrm>
            <a:off x="1558766" y="2987873"/>
            <a:ext cx="3888343"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Data Quality = Output Quality</a:t>
            </a:r>
            <a:endParaRPr b="0" i="0" sz="2150" u="none" cap="none" strike="noStrike"/>
          </a:p>
        </p:txBody>
      </p:sp>
      <p:sp>
        <p:nvSpPr>
          <p:cNvPr id="187" name="Google Shape;187;p31"/>
          <p:cNvSpPr/>
          <p:nvPr/>
        </p:nvSpPr>
        <p:spPr>
          <a:xfrm>
            <a:off x="1558766" y="3469362"/>
            <a:ext cx="12292251"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Your AI tools will only be as good as the data you feed them.</a:t>
            </a:r>
            <a:endParaRPr b="0" i="0" sz="1750" u="none" cap="none" strike="noStrike"/>
          </a:p>
        </p:txBody>
      </p:sp>
      <p:pic>
        <p:nvPicPr>
          <p:cNvPr descr="preencoded.png" id="188" name="Google Shape;188;p31"/>
          <p:cNvPicPr preferRelativeResize="0"/>
          <p:nvPr/>
        </p:nvPicPr>
        <p:blipFill rotWithShape="1">
          <a:blip r:embed="rId4">
            <a:alphaModFix/>
          </a:blip>
          <a:srcRect b="0" l="0" r="0" t="0"/>
          <a:stretch/>
        </p:blipFill>
        <p:spPr>
          <a:xfrm>
            <a:off x="779383" y="4309824"/>
            <a:ext cx="556736" cy="556736"/>
          </a:xfrm>
          <a:prstGeom prst="rect">
            <a:avLst/>
          </a:prstGeom>
          <a:noFill/>
          <a:ln>
            <a:noFill/>
          </a:ln>
        </p:spPr>
      </p:pic>
      <p:sp>
        <p:nvSpPr>
          <p:cNvPr id="189" name="Google Shape;189;p31"/>
          <p:cNvSpPr/>
          <p:nvPr/>
        </p:nvSpPr>
        <p:spPr>
          <a:xfrm>
            <a:off x="1558766" y="4403050"/>
            <a:ext cx="2783681"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Training Limitations</a:t>
            </a:r>
            <a:endParaRPr b="0" i="0" sz="2150" u="none" cap="none" strike="noStrike"/>
          </a:p>
        </p:txBody>
      </p:sp>
      <p:sp>
        <p:nvSpPr>
          <p:cNvPr id="190" name="Google Shape;190;p31"/>
          <p:cNvSpPr/>
          <p:nvPr/>
        </p:nvSpPr>
        <p:spPr>
          <a:xfrm>
            <a:off x="1558766" y="4884539"/>
            <a:ext cx="12292251"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models reflect their training data's biases and knowledge cutoffs.</a:t>
            </a:r>
            <a:endParaRPr b="0" i="0" sz="1750" u="none" cap="none" strike="noStrike"/>
          </a:p>
        </p:txBody>
      </p:sp>
      <p:pic>
        <p:nvPicPr>
          <p:cNvPr descr="preencoded.png" id="191" name="Google Shape;191;p31"/>
          <p:cNvPicPr preferRelativeResize="0"/>
          <p:nvPr/>
        </p:nvPicPr>
        <p:blipFill rotWithShape="1">
          <a:blip r:embed="rId5">
            <a:alphaModFix/>
          </a:blip>
          <a:srcRect b="0" l="0" r="0" t="0"/>
          <a:stretch/>
        </p:blipFill>
        <p:spPr>
          <a:xfrm>
            <a:off x="779383" y="5725001"/>
            <a:ext cx="556736" cy="556736"/>
          </a:xfrm>
          <a:prstGeom prst="rect">
            <a:avLst/>
          </a:prstGeom>
          <a:noFill/>
          <a:ln>
            <a:noFill/>
          </a:ln>
        </p:spPr>
      </p:pic>
      <p:sp>
        <p:nvSpPr>
          <p:cNvPr id="192" name="Google Shape;192;p31"/>
          <p:cNvSpPr/>
          <p:nvPr/>
        </p:nvSpPr>
        <p:spPr>
          <a:xfrm>
            <a:off x="1558766" y="5818227"/>
            <a:ext cx="2783681"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Pattern Dependency</a:t>
            </a:r>
            <a:endParaRPr b="0" i="0" sz="2150" u="none" cap="none" strike="noStrike"/>
          </a:p>
        </p:txBody>
      </p:sp>
      <p:sp>
        <p:nvSpPr>
          <p:cNvPr id="193" name="Google Shape;193;p31"/>
          <p:cNvSpPr/>
          <p:nvPr/>
        </p:nvSpPr>
        <p:spPr>
          <a:xfrm>
            <a:off x="1558766" y="6299716"/>
            <a:ext cx="12292251"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works best with clear, consistent patterns in data.</a:t>
            </a:r>
            <a:endParaRPr b="0" i="0" sz="1750" u="none" cap="none" strike="noStrike"/>
          </a:p>
        </p:txBody>
      </p:sp>
      <p:sp>
        <p:nvSpPr>
          <p:cNvPr id="194" name="Google Shape;194;p31"/>
          <p:cNvSpPr/>
          <p:nvPr/>
        </p:nvSpPr>
        <p:spPr>
          <a:xfrm>
            <a:off x="779383" y="6906458"/>
            <a:ext cx="13071634" cy="71247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Practical Application</a:t>
            </a:r>
            <a:r>
              <a:rPr b="0" i="0" lang="en-US" sz="1750" u="none" cap="none" strike="noStrike">
                <a:solidFill>
                  <a:srgbClr val="272525"/>
                </a:solidFill>
                <a:latin typeface="Open Sans"/>
                <a:ea typeface="Open Sans"/>
                <a:cs typeface="Open Sans"/>
                <a:sym typeface="Open Sans"/>
              </a:rPr>
              <a:t>: When building custom GPTs, provide high-quality, representative examples. When using AI for data analysis, ensure your data is clean and relevant.</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preencoded.png" id="200" name="Google Shape;200;p3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01" name="Google Shape;201;p32"/>
          <p:cNvSpPr/>
          <p:nvPr/>
        </p:nvSpPr>
        <p:spPr>
          <a:xfrm>
            <a:off x="793790" y="636389"/>
            <a:ext cx="7556421" cy="1346835"/>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D75BE2"/>
              </a:buClr>
              <a:buSzPts val="4200"/>
              <a:buFont typeface="Rubik"/>
              <a:buNone/>
            </a:pPr>
            <a:r>
              <a:rPr b="0" i="0" lang="en-US" sz="4200" u="none" cap="none" strike="noStrike">
                <a:solidFill>
                  <a:srgbClr val="D75BE2"/>
                </a:solidFill>
                <a:latin typeface="Rubik"/>
                <a:ea typeface="Rubik"/>
                <a:cs typeface="Rubik"/>
                <a:sym typeface="Rubik"/>
              </a:rPr>
              <a:t>Deep Learning and Neural Networks</a:t>
            </a:r>
            <a:endParaRPr b="0" i="0" sz="4200" u="none" cap="none" strike="noStrike"/>
          </a:p>
        </p:txBody>
      </p:sp>
      <p:sp>
        <p:nvSpPr>
          <p:cNvPr id="202" name="Google Shape;202;p32"/>
          <p:cNvSpPr/>
          <p:nvPr/>
        </p:nvSpPr>
        <p:spPr>
          <a:xfrm>
            <a:off x="793790" y="2306360"/>
            <a:ext cx="7556421"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1" i="0" lang="en-US" sz="1650" u="none" cap="none" strike="noStrike">
                <a:solidFill>
                  <a:srgbClr val="272525"/>
                </a:solidFill>
                <a:latin typeface="Open Sans"/>
                <a:ea typeface="Open Sans"/>
                <a:cs typeface="Open Sans"/>
                <a:sym typeface="Open Sans"/>
              </a:rPr>
              <a:t>The Engine Behind Modern AI Tools</a:t>
            </a:r>
            <a:endParaRPr b="0" i="0" sz="1650" u="none" cap="none" strike="noStrike"/>
          </a:p>
        </p:txBody>
      </p:sp>
      <p:sp>
        <p:nvSpPr>
          <p:cNvPr id="203" name="Google Shape;203;p32"/>
          <p:cNvSpPr/>
          <p:nvPr/>
        </p:nvSpPr>
        <p:spPr>
          <a:xfrm>
            <a:off x="793790" y="2893589"/>
            <a:ext cx="7556400" cy="34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Deep Learning = Complex Pattern Recognition</a:t>
            </a:r>
            <a:endParaRPr b="0" i="0" sz="1650" u="none" cap="none" strike="noStrike"/>
          </a:p>
        </p:txBody>
      </p:sp>
      <p:sp>
        <p:nvSpPr>
          <p:cNvPr id="204" name="Google Shape;204;p32"/>
          <p:cNvSpPr/>
          <p:nvPr/>
        </p:nvSpPr>
        <p:spPr>
          <a:xfrm>
            <a:off x="793790" y="3480792"/>
            <a:ext cx="161568" cy="1155382"/>
          </a:xfrm>
          <a:prstGeom prst="roundRect">
            <a:avLst>
              <a:gd fmla="val 56016"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p:nvPr/>
        </p:nvSpPr>
        <p:spPr>
          <a:xfrm>
            <a:off x="1278493" y="3480792"/>
            <a:ext cx="3809762"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72525"/>
              </a:buClr>
              <a:buSzPts val="2100"/>
              <a:buFont typeface="Rubik"/>
              <a:buNone/>
            </a:pPr>
            <a:r>
              <a:rPr b="0" i="0" lang="en-US" sz="2100" u="none" cap="none" strike="noStrike">
                <a:solidFill>
                  <a:srgbClr val="272525"/>
                </a:solidFill>
                <a:latin typeface="Rubik"/>
                <a:ea typeface="Rubik"/>
                <a:cs typeface="Rubik"/>
                <a:sym typeface="Rubik"/>
              </a:rPr>
              <a:t>Complex Pattern Recognition</a:t>
            </a:r>
            <a:endParaRPr b="0" i="0" sz="2100" u="none" cap="none" strike="noStrike"/>
          </a:p>
        </p:txBody>
      </p:sp>
      <p:sp>
        <p:nvSpPr>
          <p:cNvPr id="206" name="Google Shape;206;p32"/>
          <p:cNvSpPr/>
          <p:nvPr/>
        </p:nvSpPr>
        <p:spPr>
          <a:xfrm>
            <a:off x="1278493" y="3946565"/>
            <a:ext cx="7071717"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Multiple layers process information hierarchically, enabling understanding of context and relationships.</a:t>
            </a:r>
            <a:endParaRPr b="0" i="0" sz="1650" u="none" cap="none" strike="noStrike"/>
          </a:p>
        </p:txBody>
      </p:sp>
      <p:sp>
        <p:nvSpPr>
          <p:cNvPr id="207" name="Google Shape;207;p32"/>
          <p:cNvSpPr/>
          <p:nvPr/>
        </p:nvSpPr>
        <p:spPr>
          <a:xfrm>
            <a:off x="1116925" y="4851559"/>
            <a:ext cx="161568" cy="1155382"/>
          </a:xfrm>
          <a:prstGeom prst="roundRect">
            <a:avLst>
              <a:gd fmla="val 56016"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2"/>
          <p:cNvSpPr/>
          <p:nvPr/>
        </p:nvSpPr>
        <p:spPr>
          <a:xfrm>
            <a:off x="1601629" y="4851559"/>
            <a:ext cx="3814643"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72525"/>
              </a:buClr>
              <a:buSzPts val="2100"/>
              <a:buFont typeface="Rubik"/>
              <a:buNone/>
            </a:pPr>
            <a:r>
              <a:rPr b="0" i="0" lang="en-US" sz="2100" u="none" cap="none" strike="noStrike">
                <a:solidFill>
                  <a:srgbClr val="272525"/>
                </a:solidFill>
                <a:latin typeface="Rubik"/>
                <a:ea typeface="Rubik"/>
                <a:cs typeface="Rubik"/>
                <a:sym typeface="Rubik"/>
              </a:rPr>
              <a:t>Computational Requirements</a:t>
            </a:r>
            <a:endParaRPr b="0" i="0" sz="2100" u="none" cap="none" strike="noStrike"/>
          </a:p>
        </p:txBody>
      </p:sp>
      <p:sp>
        <p:nvSpPr>
          <p:cNvPr id="209" name="Google Shape;209;p32"/>
          <p:cNvSpPr/>
          <p:nvPr/>
        </p:nvSpPr>
        <p:spPr>
          <a:xfrm>
            <a:off x="1601629" y="5317331"/>
            <a:ext cx="6748582"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More sophisticated AI requires more resources, affecting speed and cost of implementation.</a:t>
            </a:r>
            <a:endParaRPr b="0" i="0" sz="1650" u="none" cap="none" strike="noStrike"/>
          </a:p>
        </p:txBody>
      </p:sp>
      <p:sp>
        <p:nvSpPr>
          <p:cNvPr id="210" name="Google Shape;210;p32"/>
          <p:cNvSpPr/>
          <p:nvPr/>
        </p:nvSpPr>
        <p:spPr>
          <a:xfrm>
            <a:off x="1440180" y="6222325"/>
            <a:ext cx="161568" cy="1155382"/>
          </a:xfrm>
          <a:prstGeom prst="roundRect">
            <a:avLst>
              <a:gd fmla="val 56016"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2"/>
          <p:cNvSpPr/>
          <p:nvPr/>
        </p:nvSpPr>
        <p:spPr>
          <a:xfrm>
            <a:off x="1924883" y="6222325"/>
            <a:ext cx="3136225"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72525"/>
              </a:buClr>
              <a:buSzPts val="2100"/>
              <a:buFont typeface="Rubik"/>
              <a:buNone/>
            </a:pPr>
            <a:r>
              <a:rPr b="0" i="0" lang="en-US" sz="2100" u="none" cap="none" strike="noStrike">
                <a:solidFill>
                  <a:srgbClr val="272525"/>
                </a:solidFill>
                <a:latin typeface="Rubik"/>
                <a:ea typeface="Rubik"/>
                <a:cs typeface="Rubik"/>
                <a:sym typeface="Rubik"/>
              </a:rPr>
              <a:t>Customization Potential</a:t>
            </a:r>
            <a:endParaRPr b="0" i="0" sz="2100" u="none" cap="none" strike="noStrike"/>
          </a:p>
        </p:txBody>
      </p:sp>
      <p:sp>
        <p:nvSpPr>
          <p:cNvPr id="212" name="Google Shape;212;p32"/>
          <p:cNvSpPr/>
          <p:nvPr/>
        </p:nvSpPr>
        <p:spPr>
          <a:xfrm>
            <a:off x="1924883" y="6688098"/>
            <a:ext cx="6425327"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The more layers, the more you can fine-tune for specific business use cases.</a:t>
            </a:r>
            <a:endParaRPr b="0" i="0" sz="16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p:nvPr/>
        </p:nvSpPr>
        <p:spPr>
          <a:xfrm>
            <a:off x="793790" y="1089541"/>
            <a:ext cx="645056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Large Language Models</a:t>
            </a:r>
            <a:endParaRPr b="0" i="0" sz="4450" u="none" cap="none" strike="noStrike"/>
          </a:p>
        </p:txBody>
      </p:sp>
      <p:sp>
        <p:nvSpPr>
          <p:cNvPr id="219" name="Google Shape;219;p33"/>
          <p:cNvSpPr/>
          <p:nvPr/>
        </p:nvSpPr>
        <p:spPr>
          <a:xfrm>
            <a:off x="793790" y="2251948"/>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The Foundation of Your Custom AI Solutions</a:t>
            </a:r>
            <a:endParaRPr b="0" i="0" sz="1750" u="none" cap="none" strike="noStrike"/>
          </a:p>
        </p:txBody>
      </p:sp>
      <p:sp>
        <p:nvSpPr>
          <p:cNvPr id="220" name="Google Shape;220;p33"/>
          <p:cNvSpPr/>
          <p:nvPr/>
        </p:nvSpPr>
        <p:spPr>
          <a:xfrm>
            <a:off x="793790" y="2870002"/>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What Makes LLMs Powerful:</a:t>
            </a:r>
            <a:endParaRPr b="0" i="0" sz="1750" u="none" cap="none" strike="noStrike"/>
          </a:p>
        </p:txBody>
      </p:sp>
      <p:sp>
        <p:nvSpPr>
          <p:cNvPr id="221" name="Google Shape;221;p33"/>
          <p:cNvSpPr/>
          <p:nvPr/>
        </p:nvSpPr>
        <p:spPr>
          <a:xfrm>
            <a:off x="2186464" y="3707844"/>
            <a:ext cx="2962632"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Massive Training Data</a:t>
            </a:r>
            <a:endParaRPr b="0" i="0" sz="2200" u="none" cap="none" strike="noStrike"/>
          </a:p>
        </p:txBody>
      </p:sp>
      <p:sp>
        <p:nvSpPr>
          <p:cNvPr id="222" name="Google Shape;222;p33"/>
          <p:cNvSpPr/>
          <p:nvPr/>
        </p:nvSpPr>
        <p:spPr>
          <a:xfrm>
            <a:off x="793790" y="4198263"/>
            <a:ext cx="4355306" cy="725805"/>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Trained on diverse text datasets across multiple languages and formats</a:t>
            </a:r>
            <a:endParaRPr b="0" i="0" sz="1750" u="none" cap="none" strike="noStrike"/>
          </a:p>
        </p:txBody>
      </p:sp>
      <p:pic>
        <p:nvPicPr>
          <p:cNvPr descr="preencoded.png" id="223" name="Google Shape;223;p33"/>
          <p:cNvPicPr preferRelativeResize="0"/>
          <p:nvPr/>
        </p:nvPicPr>
        <p:blipFill rotWithShape="1">
          <a:blip r:embed="rId3">
            <a:alphaModFix/>
          </a:blip>
          <a:srcRect b="0" l="0" r="0" t="0"/>
          <a:stretch/>
        </p:blipFill>
        <p:spPr>
          <a:xfrm>
            <a:off x="5489258" y="3488055"/>
            <a:ext cx="3651885" cy="3651885"/>
          </a:xfrm>
          <a:prstGeom prst="rect">
            <a:avLst/>
          </a:prstGeom>
          <a:noFill/>
          <a:ln>
            <a:noFill/>
          </a:ln>
        </p:spPr>
      </p:pic>
      <p:sp>
        <p:nvSpPr>
          <p:cNvPr id="224" name="Google Shape;224;p33"/>
          <p:cNvSpPr/>
          <p:nvPr/>
        </p:nvSpPr>
        <p:spPr>
          <a:xfrm>
            <a:off x="5788938" y="3787735"/>
            <a:ext cx="566976" cy="566976"/>
          </a:xfrm>
          <a:prstGeom prst="roundRect">
            <a:avLst>
              <a:gd fmla="val 1611154"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5" name="Google Shape;225;p33"/>
          <p:cNvPicPr preferRelativeResize="0"/>
          <p:nvPr/>
        </p:nvPicPr>
        <p:blipFill rotWithShape="1">
          <a:blip r:embed="rId4">
            <a:alphaModFix/>
          </a:blip>
          <a:srcRect b="0" l="0" r="0" t="0"/>
          <a:stretch/>
        </p:blipFill>
        <p:spPr>
          <a:xfrm>
            <a:off x="5944791" y="3911679"/>
            <a:ext cx="255151" cy="318968"/>
          </a:xfrm>
          <a:prstGeom prst="rect">
            <a:avLst/>
          </a:prstGeom>
          <a:noFill/>
          <a:ln>
            <a:noFill/>
          </a:ln>
        </p:spPr>
      </p:pic>
      <p:sp>
        <p:nvSpPr>
          <p:cNvPr id="226" name="Google Shape;226;p33"/>
          <p:cNvSpPr/>
          <p:nvPr/>
        </p:nvSpPr>
        <p:spPr>
          <a:xfrm>
            <a:off x="9481304" y="3707844"/>
            <a:ext cx="320861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Context Understanding</a:t>
            </a:r>
            <a:endParaRPr b="0" i="0" sz="2200" u="none" cap="none" strike="noStrike"/>
          </a:p>
        </p:txBody>
      </p:sp>
      <p:sp>
        <p:nvSpPr>
          <p:cNvPr id="227" name="Google Shape;227;p33"/>
          <p:cNvSpPr/>
          <p:nvPr/>
        </p:nvSpPr>
        <p:spPr>
          <a:xfrm>
            <a:off x="9481304" y="4198263"/>
            <a:ext cx="435530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Comprehends meaning across long conversations</a:t>
            </a:r>
            <a:endParaRPr b="0" i="0" sz="1750" u="none" cap="none" strike="noStrike"/>
          </a:p>
        </p:txBody>
      </p:sp>
      <p:pic>
        <p:nvPicPr>
          <p:cNvPr descr="preencoded.png" id="228" name="Google Shape;228;p33"/>
          <p:cNvPicPr preferRelativeResize="0"/>
          <p:nvPr/>
        </p:nvPicPr>
        <p:blipFill rotWithShape="1">
          <a:blip r:embed="rId5">
            <a:alphaModFix/>
          </a:blip>
          <a:srcRect b="0" l="0" r="0" t="0"/>
          <a:stretch/>
        </p:blipFill>
        <p:spPr>
          <a:xfrm>
            <a:off x="5489258" y="3488055"/>
            <a:ext cx="3651885" cy="3651885"/>
          </a:xfrm>
          <a:prstGeom prst="rect">
            <a:avLst/>
          </a:prstGeom>
          <a:noFill/>
          <a:ln>
            <a:noFill/>
          </a:ln>
        </p:spPr>
      </p:pic>
      <p:sp>
        <p:nvSpPr>
          <p:cNvPr id="229" name="Google Shape;229;p33"/>
          <p:cNvSpPr/>
          <p:nvPr/>
        </p:nvSpPr>
        <p:spPr>
          <a:xfrm>
            <a:off x="8274368" y="3787735"/>
            <a:ext cx="566976" cy="566976"/>
          </a:xfrm>
          <a:prstGeom prst="roundRect">
            <a:avLst>
              <a:gd fmla="val 1611154"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0" name="Google Shape;230;p33"/>
          <p:cNvPicPr preferRelativeResize="0"/>
          <p:nvPr/>
        </p:nvPicPr>
        <p:blipFill rotWithShape="1">
          <a:blip r:embed="rId6">
            <a:alphaModFix/>
          </a:blip>
          <a:srcRect b="0" l="0" r="0" t="0"/>
          <a:stretch/>
        </p:blipFill>
        <p:spPr>
          <a:xfrm>
            <a:off x="8430220" y="3911679"/>
            <a:ext cx="255151" cy="318968"/>
          </a:xfrm>
          <a:prstGeom prst="rect">
            <a:avLst/>
          </a:prstGeom>
          <a:noFill/>
          <a:ln>
            <a:noFill/>
          </a:ln>
        </p:spPr>
      </p:pic>
      <p:sp>
        <p:nvSpPr>
          <p:cNvPr id="231" name="Google Shape;231;p33"/>
          <p:cNvSpPr/>
          <p:nvPr/>
        </p:nvSpPr>
        <p:spPr>
          <a:xfrm>
            <a:off x="9481304" y="5885259"/>
            <a:ext cx="312729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Human-like Responses</a:t>
            </a:r>
            <a:endParaRPr b="0" i="0" sz="2200" u="none" cap="none" strike="noStrike"/>
          </a:p>
        </p:txBody>
      </p:sp>
      <p:sp>
        <p:nvSpPr>
          <p:cNvPr id="232" name="Google Shape;232;p33"/>
          <p:cNvSpPr/>
          <p:nvPr/>
        </p:nvSpPr>
        <p:spPr>
          <a:xfrm>
            <a:off x="9481304" y="6375678"/>
            <a:ext cx="435530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Generates natural language content</a:t>
            </a:r>
            <a:endParaRPr b="0" i="0" sz="1750" u="none" cap="none" strike="noStrike"/>
          </a:p>
        </p:txBody>
      </p:sp>
      <p:pic>
        <p:nvPicPr>
          <p:cNvPr descr="preencoded.png" id="233" name="Google Shape;233;p33"/>
          <p:cNvPicPr preferRelativeResize="0"/>
          <p:nvPr/>
        </p:nvPicPr>
        <p:blipFill rotWithShape="1">
          <a:blip r:embed="rId7">
            <a:alphaModFix/>
          </a:blip>
          <a:srcRect b="0" l="0" r="0" t="0"/>
          <a:stretch/>
        </p:blipFill>
        <p:spPr>
          <a:xfrm>
            <a:off x="5489258" y="3488055"/>
            <a:ext cx="3651885" cy="3651885"/>
          </a:xfrm>
          <a:prstGeom prst="rect">
            <a:avLst/>
          </a:prstGeom>
          <a:noFill/>
          <a:ln>
            <a:noFill/>
          </a:ln>
        </p:spPr>
      </p:pic>
      <p:sp>
        <p:nvSpPr>
          <p:cNvPr id="234" name="Google Shape;234;p33"/>
          <p:cNvSpPr/>
          <p:nvPr/>
        </p:nvSpPr>
        <p:spPr>
          <a:xfrm>
            <a:off x="8274368" y="6273165"/>
            <a:ext cx="566976" cy="566976"/>
          </a:xfrm>
          <a:prstGeom prst="roundRect">
            <a:avLst>
              <a:gd fmla="val 1611154"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33"/>
          <p:cNvPicPr preferRelativeResize="0"/>
          <p:nvPr/>
        </p:nvPicPr>
        <p:blipFill rotWithShape="1">
          <a:blip r:embed="rId8">
            <a:alphaModFix/>
          </a:blip>
          <a:srcRect b="0" l="0" r="0" t="0"/>
          <a:stretch/>
        </p:blipFill>
        <p:spPr>
          <a:xfrm>
            <a:off x="8430220" y="6397109"/>
            <a:ext cx="255151" cy="318968"/>
          </a:xfrm>
          <a:prstGeom prst="rect">
            <a:avLst/>
          </a:prstGeom>
          <a:noFill/>
          <a:ln>
            <a:noFill/>
          </a:ln>
        </p:spPr>
      </p:pic>
      <p:sp>
        <p:nvSpPr>
          <p:cNvPr id="236" name="Google Shape;236;p33"/>
          <p:cNvSpPr/>
          <p:nvPr/>
        </p:nvSpPr>
        <p:spPr>
          <a:xfrm>
            <a:off x="2264926" y="5703808"/>
            <a:ext cx="2884170"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Strategic Limitations</a:t>
            </a:r>
            <a:endParaRPr b="0" i="0" sz="2200" u="none" cap="none" strike="noStrike"/>
          </a:p>
        </p:txBody>
      </p:sp>
      <p:sp>
        <p:nvSpPr>
          <p:cNvPr id="237" name="Google Shape;237;p33"/>
          <p:cNvSpPr/>
          <p:nvPr/>
        </p:nvSpPr>
        <p:spPr>
          <a:xfrm>
            <a:off x="793790" y="6194227"/>
            <a:ext cx="4355306" cy="725805"/>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Token limits, knowledge cutoffs, hallucination risks</a:t>
            </a:r>
            <a:endParaRPr b="0" i="0" sz="1750" u="none" cap="none" strike="noStrike"/>
          </a:p>
        </p:txBody>
      </p:sp>
      <p:pic>
        <p:nvPicPr>
          <p:cNvPr descr="preencoded.png" id="238" name="Google Shape;238;p33"/>
          <p:cNvPicPr preferRelativeResize="0"/>
          <p:nvPr/>
        </p:nvPicPr>
        <p:blipFill rotWithShape="1">
          <a:blip r:embed="rId9">
            <a:alphaModFix/>
          </a:blip>
          <a:srcRect b="0" l="0" r="0" t="0"/>
          <a:stretch/>
        </p:blipFill>
        <p:spPr>
          <a:xfrm>
            <a:off x="5489258" y="3488055"/>
            <a:ext cx="3651885" cy="3651885"/>
          </a:xfrm>
          <a:prstGeom prst="rect">
            <a:avLst/>
          </a:prstGeom>
          <a:noFill/>
          <a:ln>
            <a:noFill/>
          </a:ln>
        </p:spPr>
      </p:pic>
      <p:sp>
        <p:nvSpPr>
          <p:cNvPr id="239" name="Google Shape;239;p33"/>
          <p:cNvSpPr/>
          <p:nvPr/>
        </p:nvSpPr>
        <p:spPr>
          <a:xfrm>
            <a:off x="5788938" y="6273165"/>
            <a:ext cx="566976" cy="566976"/>
          </a:xfrm>
          <a:prstGeom prst="roundRect">
            <a:avLst>
              <a:gd fmla="val 1611154"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33"/>
          <p:cNvPicPr preferRelativeResize="0"/>
          <p:nvPr/>
        </p:nvPicPr>
        <p:blipFill rotWithShape="1">
          <a:blip r:embed="rId10">
            <a:alphaModFix/>
          </a:blip>
          <a:srcRect b="0" l="0" r="0" t="0"/>
          <a:stretch/>
        </p:blipFill>
        <p:spPr>
          <a:xfrm>
            <a:off x="5944791" y="6397109"/>
            <a:ext cx="255151" cy="31896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p:nvPr/>
        </p:nvSpPr>
        <p:spPr>
          <a:xfrm>
            <a:off x="771644" y="606266"/>
            <a:ext cx="10084237" cy="68901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75BE2"/>
              </a:buClr>
              <a:buSzPts val="4300"/>
              <a:buFont typeface="Rubik"/>
              <a:buNone/>
            </a:pPr>
            <a:r>
              <a:rPr b="0" i="0" lang="en-US" sz="4300" u="none" cap="none" strike="noStrike">
                <a:solidFill>
                  <a:srgbClr val="D75BE2"/>
                </a:solidFill>
                <a:latin typeface="Rubik"/>
                <a:ea typeface="Rubik"/>
                <a:cs typeface="Rubik"/>
                <a:sym typeface="Rubik"/>
              </a:rPr>
              <a:t>How Generative AI Models are Created</a:t>
            </a:r>
            <a:endParaRPr b="0" i="0" sz="4300" u="none" cap="none" strike="noStrike"/>
          </a:p>
        </p:txBody>
      </p:sp>
      <p:sp>
        <p:nvSpPr>
          <p:cNvPr id="247" name="Google Shape;247;p34"/>
          <p:cNvSpPr/>
          <p:nvPr/>
        </p:nvSpPr>
        <p:spPr>
          <a:xfrm>
            <a:off x="771644" y="4740116"/>
            <a:ext cx="13087112" cy="30480"/>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4"/>
          <p:cNvSpPr/>
          <p:nvPr/>
        </p:nvSpPr>
        <p:spPr>
          <a:xfrm>
            <a:off x="2103358" y="4078724"/>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4"/>
          <p:cNvSpPr/>
          <p:nvPr/>
        </p:nvSpPr>
        <p:spPr>
          <a:xfrm>
            <a:off x="1870591"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4"/>
          <p:cNvSpPr/>
          <p:nvPr/>
        </p:nvSpPr>
        <p:spPr>
          <a:xfrm>
            <a:off x="1953280"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1</a:t>
            </a:r>
            <a:endParaRPr b="0" i="0" sz="2600" u="none" cap="none" strike="noStrike"/>
          </a:p>
        </p:txBody>
      </p:sp>
      <p:sp>
        <p:nvSpPr>
          <p:cNvPr id="251" name="Google Shape;251;p34"/>
          <p:cNvSpPr/>
          <p:nvPr/>
        </p:nvSpPr>
        <p:spPr>
          <a:xfrm>
            <a:off x="992029" y="3169325"/>
            <a:ext cx="2253139" cy="688896"/>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Collecting and Preparing Data</a:t>
            </a:r>
            <a:endParaRPr b="0" i="0" sz="2150" u="none" cap="none" strike="noStrike"/>
          </a:p>
        </p:txBody>
      </p:sp>
      <p:sp>
        <p:nvSpPr>
          <p:cNvPr id="252" name="Google Shape;252;p34"/>
          <p:cNvSpPr/>
          <p:nvPr/>
        </p:nvSpPr>
        <p:spPr>
          <a:xfrm>
            <a:off x="3588068" y="4740116"/>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4"/>
          <p:cNvSpPr/>
          <p:nvPr/>
        </p:nvSpPr>
        <p:spPr>
          <a:xfrm>
            <a:off x="3355300"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4"/>
          <p:cNvSpPr/>
          <p:nvPr/>
        </p:nvSpPr>
        <p:spPr>
          <a:xfrm>
            <a:off x="3437989"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2</a:t>
            </a:r>
            <a:endParaRPr b="0" i="0" sz="2600" u="none" cap="none" strike="noStrike"/>
          </a:p>
        </p:txBody>
      </p:sp>
      <p:sp>
        <p:nvSpPr>
          <p:cNvPr id="255" name="Google Shape;255;p34"/>
          <p:cNvSpPr/>
          <p:nvPr/>
        </p:nvSpPr>
        <p:spPr>
          <a:xfrm>
            <a:off x="2476738" y="5622012"/>
            <a:ext cx="2253139" cy="1033343"/>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Building the Computational Model</a:t>
            </a:r>
            <a:endParaRPr b="0" i="0" sz="2150" u="none" cap="none" strike="noStrike"/>
          </a:p>
        </p:txBody>
      </p:sp>
      <p:sp>
        <p:nvSpPr>
          <p:cNvPr id="256" name="Google Shape;256;p34"/>
          <p:cNvSpPr/>
          <p:nvPr/>
        </p:nvSpPr>
        <p:spPr>
          <a:xfrm>
            <a:off x="2476738" y="6787634"/>
            <a:ext cx="2253139" cy="352782"/>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272525"/>
              </a:buClr>
              <a:buSzPts val="1700"/>
              <a:buFont typeface="Open Sans"/>
              <a:buNone/>
            </a:pPr>
            <a:r>
              <a:rPr b="0" i="0" lang="en-US" sz="1700" u="none" cap="none" strike="noStrike">
                <a:solidFill>
                  <a:srgbClr val="272525"/>
                </a:solidFill>
                <a:latin typeface="Open Sans"/>
                <a:ea typeface="Open Sans"/>
                <a:cs typeface="Open Sans"/>
                <a:sym typeface="Open Sans"/>
              </a:rPr>
              <a:t>Transformers</a:t>
            </a:r>
            <a:endParaRPr b="0" i="0" sz="1700" u="none" cap="none" strike="noStrike"/>
          </a:p>
        </p:txBody>
      </p:sp>
      <p:sp>
        <p:nvSpPr>
          <p:cNvPr id="257" name="Google Shape;257;p34"/>
          <p:cNvSpPr/>
          <p:nvPr/>
        </p:nvSpPr>
        <p:spPr>
          <a:xfrm>
            <a:off x="2476738" y="7272695"/>
            <a:ext cx="2253139" cy="352782"/>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272525"/>
              </a:buClr>
              <a:buSzPts val="1700"/>
              <a:buFont typeface="Open Sans"/>
              <a:buNone/>
            </a:pPr>
            <a:r>
              <a:rPr b="0" i="0" lang="en-US" sz="1700" u="none" cap="none" strike="noStrike">
                <a:solidFill>
                  <a:srgbClr val="272525"/>
                </a:solidFill>
                <a:latin typeface="Open Sans"/>
                <a:ea typeface="Open Sans"/>
                <a:cs typeface="Open Sans"/>
                <a:sym typeface="Open Sans"/>
              </a:rPr>
              <a:t>Setting Parameters</a:t>
            </a:r>
            <a:endParaRPr b="0" i="0" sz="1700" u="none" cap="none" strike="noStrike"/>
          </a:p>
        </p:txBody>
      </p:sp>
      <p:sp>
        <p:nvSpPr>
          <p:cNvPr id="258" name="Google Shape;258;p34"/>
          <p:cNvSpPr/>
          <p:nvPr/>
        </p:nvSpPr>
        <p:spPr>
          <a:xfrm>
            <a:off x="5072777" y="4078724"/>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4"/>
          <p:cNvSpPr/>
          <p:nvPr/>
        </p:nvSpPr>
        <p:spPr>
          <a:xfrm>
            <a:off x="4840010"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4"/>
          <p:cNvSpPr/>
          <p:nvPr/>
        </p:nvSpPr>
        <p:spPr>
          <a:xfrm>
            <a:off x="4922699"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3</a:t>
            </a:r>
            <a:endParaRPr b="0" i="0" sz="2600" u="none" cap="none" strike="noStrike"/>
          </a:p>
        </p:txBody>
      </p:sp>
      <p:sp>
        <p:nvSpPr>
          <p:cNvPr id="261" name="Google Shape;261;p34"/>
          <p:cNvSpPr/>
          <p:nvPr/>
        </p:nvSpPr>
        <p:spPr>
          <a:xfrm>
            <a:off x="3961448" y="3513773"/>
            <a:ext cx="2253139" cy="344448"/>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Pre-Training</a:t>
            </a:r>
            <a:endParaRPr b="0" i="0" sz="2150" u="none" cap="none" strike="noStrike"/>
          </a:p>
        </p:txBody>
      </p:sp>
      <p:sp>
        <p:nvSpPr>
          <p:cNvPr id="262" name="Google Shape;262;p34"/>
          <p:cNvSpPr/>
          <p:nvPr/>
        </p:nvSpPr>
        <p:spPr>
          <a:xfrm>
            <a:off x="6557486" y="4740116"/>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4"/>
          <p:cNvSpPr/>
          <p:nvPr/>
        </p:nvSpPr>
        <p:spPr>
          <a:xfrm>
            <a:off x="6324719"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4"/>
          <p:cNvSpPr/>
          <p:nvPr/>
        </p:nvSpPr>
        <p:spPr>
          <a:xfrm>
            <a:off x="6407408"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4</a:t>
            </a:r>
            <a:endParaRPr b="0" i="0" sz="2600" u="none" cap="none" strike="noStrike"/>
          </a:p>
        </p:txBody>
      </p:sp>
      <p:sp>
        <p:nvSpPr>
          <p:cNvPr id="265" name="Google Shape;265;p34"/>
          <p:cNvSpPr/>
          <p:nvPr/>
        </p:nvSpPr>
        <p:spPr>
          <a:xfrm>
            <a:off x="5446157" y="5622012"/>
            <a:ext cx="2253258" cy="344448"/>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Fine-Tuning</a:t>
            </a:r>
            <a:endParaRPr b="0" i="0" sz="2150" u="none" cap="none" strike="noStrike"/>
          </a:p>
        </p:txBody>
      </p:sp>
      <p:sp>
        <p:nvSpPr>
          <p:cNvPr id="266" name="Google Shape;266;p34"/>
          <p:cNvSpPr/>
          <p:nvPr/>
        </p:nvSpPr>
        <p:spPr>
          <a:xfrm>
            <a:off x="5446157" y="6098738"/>
            <a:ext cx="2253258" cy="1058347"/>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272525"/>
              </a:buClr>
              <a:buSzPts val="1700"/>
              <a:buFont typeface="Open Sans"/>
              <a:buNone/>
            </a:pPr>
            <a:r>
              <a:rPr b="0" i="0" lang="en-US" sz="1700" u="none" cap="none" strike="noStrike">
                <a:solidFill>
                  <a:srgbClr val="272525"/>
                </a:solidFill>
                <a:latin typeface="Open Sans"/>
                <a:ea typeface="Open Sans"/>
                <a:cs typeface="Open Sans"/>
                <a:sym typeface="Open Sans"/>
              </a:rPr>
              <a:t>Making the Model More Useful for Specific Tasks</a:t>
            </a:r>
            <a:endParaRPr b="0" i="0" sz="1700" u="none" cap="none" strike="noStrike"/>
          </a:p>
        </p:txBody>
      </p:sp>
      <p:sp>
        <p:nvSpPr>
          <p:cNvPr id="267" name="Google Shape;267;p34"/>
          <p:cNvSpPr/>
          <p:nvPr/>
        </p:nvSpPr>
        <p:spPr>
          <a:xfrm>
            <a:off x="8042196" y="4078724"/>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4"/>
          <p:cNvSpPr/>
          <p:nvPr/>
        </p:nvSpPr>
        <p:spPr>
          <a:xfrm>
            <a:off x="7809428"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4"/>
          <p:cNvSpPr/>
          <p:nvPr/>
        </p:nvSpPr>
        <p:spPr>
          <a:xfrm>
            <a:off x="7892117"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5</a:t>
            </a:r>
            <a:endParaRPr b="0" i="0" sz="2600" u="none" cap="none" strike="noStrike"/>
          </a:p>
        </p:txBody>
      </p:sp>
      <p:sp>
        <p:nvSpPr>
          <p:cNvPr id="270" name="Google Shape;270;p34"/>
          <p:cNvSpPr/>
          <p:nvPr/>
        </p:nvSpPr>
        <p:spPr>
          <a:xfrm>
            <a:off x="6930866" y="1625918"/>
            <a:ext cx="2253258" cy="688896"/>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Enhancing </a:t>
            </a:r>
            <a:r>
              <a:rPr lang="en-US" sz="2150">
                <a:solidFill>
                  <a:srgbClr val="272525"/>
                </a:solidFill>
                <a:latin typeface="Rubik"/>
                <a:ea typeface="Rubik"/>
                <a:cs typeface="Rubik"/>
                <a:sym typeface="Rubik"/>
              </a:rPr>
              <a:t>Performance</a:t>
            </a:r>
            <a:endParaRPr b="0" i="0" sz="2150" u="none" cap="none" strike="noStrike"/>
          </a:p>
        </p:txBody>
      </p:sp>
      <p:sp>
        <p:nvSpPr>
          <p:cNvPr id="271" name="Google Shape;271;p34"/>
          <p:cNvSpPr/>
          <p:nvPr/>
        </p:nvSpPr>
        <p:spPr>
          <a:xfrm>
            <a:off x="6930866" y="2447092"/>
            <a:ext cx="2253258" cy="1411129"/>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272525"/>
              </a:buClr>
              <a:buSzPts val="1700"/>
              <a:buFont typeface="Open Sans"/>
              <a:buNone/>
            </a:pPr>
            <a:r>
              <a:rPr b="0" i="0" lang="en-US" sz="1700" u="none" cap="none" strike="noStrike">
                <a:solidFill>
                  <a:srgbClr val="272525"/>
                </a:solidFill>
                <a:latin typeface="Open Sans"/>
                <a:ea typeface="Open Sans"/>
                <a:cs typeface="Open Sans"/>
                <a:sym typeface="Open Sans"/>
              </a:rPr>
              <a:t>Reinforcement Learning from Human Feedback (RLHF)</a:t>
            </a:r>
            <a:endParaRPr b="0" i="0" sz="1700" u="none" cap="none" strike="noStrike"/>
          </a:p>
        </p:txBody>
      </p:sp>
      <p:sp>
        <p:nvSpPr>
          <p:cNvPr id="272" name="Google Shape;272;p34"/>
          <p:cNvSpPr/>
          <p:nvPr/>
        </p:nvSpPr>
        <p:spPr>
          <a:xfrm>
            <a:off x="9527024" y="4740116"/>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
          <p:cNvSpPr/>
          <p:nvPr/>
        </p:nvSpPr>
        <p:spPr>
          <a:xfrm>
            <a:off x="9294257"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9376946"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6</a:t>
            </a:r>
            <a:endParaRPr b="0" i="0" sz="2600" u="none" cap="none" strike="noStrike"/>
          </a:p>
        </p:txBody>
      </p:sp>
      <p:sp>
        <p:nvSpPr>
          <p:cNvPr id="275" name="Google Shape;275;p34"/>
          <p:cNvSpPr/>
          <p:nvPr/>
        </p:nvSpPr>
        <p:spPr>
          <a:xfrm>
            <a:off x="8415695" y="5622012"/>
            <a:ext cx="2253139" cy="688896"/>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Testing and Evaluating</a:t>
            </a:r>
            <a:endParaRPr b="0" i="0" sz="2150" u="none" cap="none" strike="noStrike"/>
          </a:p>
        </p:txBody>
      </p:sp>
      <p:sp>
        <p:nvSpPr>
          <p:cNvPr id="276" name="Google Shape;276;p34"/>
          <p:cNvSpPr/>
          <p:nvPr/>
        </p:nvSpPr>
        <p:spPr>
          <a:xfrm>
            <a:off x="11011733" y="4078724"/>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4"/>
          <p:cNvSpPr/>
          <p:nvPr/>
        </p:nvSpPr>
        <p:spPr>
          <a:xfrm>
            <a:off x="10778966"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4"/>
          <p:cNvSpPr/>
          <p:nvPr/>
        </p:nvSpPr>
        <p:spPr>
          <a:xfrm>
            <a:off x="10861655"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7</a:t>
            </a:r>
            <a:endParaRPr b="0" i="0" sz="2600" u="none" cap="none" strike="noStrike"/>
          </a:p>
        </p:txBody>
      </p:sp>
      <p:sp>
        <p:nvSpPr>
          <p:cNvPr id="279" name="Google Shape;279;p34"/>
          <p:cNvSpPr/>
          <p:nvPr/>
        </p:nvSpPr>
        <p:spPr>
          <a:xfrm>
            <a:off x="9900404" y="2675930"/>
            <a:ext cx="2253139" cy="344448"/>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Deployment</a:t>
            </a:r>
            <a:endParaRPr b="0" i="0" sz="2150" u="none" cap="none" strike="noStrike"/>
          </a:p>
        </p:txBody>
      </p:sp>
      <p:sp>
        <p:nvSpPr>
          <p:cNvPr id="280" name="Google Shape;280;p34"/>
          <p:cNvSpPr/>
          <p:nvPr/>
        </p:nvSpPr>
        <p:spPr>
          <a:xfrm>
            <a:off x="9900404" y="3152656"/>
            <a:ext cx="2253139" cy="705564"/>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272525"/>
              </a:buClr>
              <a:buSzPts val="1700"/>
              <a:buFont typeface="Open Sans"/>
              <a:buNone/>
            </a:pPr>
            <a:r>
              <a:rPr b="0" i="0" lang="en-US" sz="1700" u="none" cap="none" strike="noStrike">
                <a:solidFill>
                  <a:srgbClr val="272525"/>
                </a:solidFill>
                <a:latin typeface="Open Sans"/>
                <a:ea typeface="Open Sans"/>
                <a:cs typeface="Open Sans"/>
                <a:sym typeface="Open Sans"/>
              </a:rPr>
              <a:t>Making the AI Available to Users</a:t>
            </a:r>
            <a:endParaRPr b="0" i="0" sz="1700" u="none" cap="none" strike="noStrike"/>
          </a:p>
        </p:txBody>
      </p:sp>
      <p:sp>
        <p:nvSpPr>
          <p:cNvPr id="281" name="Google Shape;281;p34"/>
          <p:cNvSpPr/>
          <p:nvPr/>
        </p:nvSpPr>
        <p:spPr>
          <a:xfrm>
            <a:off x="12496443" y="4740116"/>
            <a:ext cx="30480" cy="661392"/>
          </a:xfrm>
          <a:prstGeom prst="roundRect">
            <a:avLst>
              <a:gd fmla="val 303837"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4"/>
          <p:cNvSpPr/>
          <p:nvPr/>
        </p:nvSpPr>
        <p:spPr>
          <a:xfrm>
            <a:off x="12263676" y="4492109"/>
            <a:ext cx="496014" cy="49601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4"/>
          <p:cNvSpPr/>
          <p:nvPr/>
        </p:nvSpPr>
        <p:spPr>
          <a:xfrm>
            <a:off x="12346365" y="4533424"/>
            <a:ext cx="330637" cy="41338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00"/>
              <a:buFont typeface="Rubik"/>
              <a:buNone/>
            </a:pPr>
            <a:r>
              <a:rPr b="0" i="0" lang="en-US" sz="2600" u="none" cap="none" strike="noStrike">
                <a:solidFill>
                  <a:srgbClr val="272525"/>
                </a:solidFill>
                <a:latin typeface="Rubik"/>
                <a:ea typeface="Rubik"/>
                <a:cs typeface="Rubik"/>
                <a:sym typeface="Rubik"/>
              </a:rPr>
              <a:t>8</a:t>
            </a:r>
            <a:endParaRPr b="0" i="0" sz="2600" u="none" cap="none" strike="noStrike"/>
          </a:p>
        </p:txBody>
      </p:sp>
      <p:sp>
        <p:nvSpPr>
          <p:cNvPr id="284" name="Google Shape;284;p34"/>
          <p:cNvSpPr/>
          <p:nvPr/>
        </p:nvSpPr>
        <p:spPr>
          <a:xfrm>
            <a:off x="11385113" y="5622012"/>
            <a:ext cx="2253258" cy="688896"/>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272525"/>
              </a:buClr>
              <a:buSzPts val="2150"/>
              <a:buFont typeface="Rubik"/>
              <a:buNone/>
            </a:pPr>
            <a:r>
              <a:rPr b="0" i="0" lang="en-US" sz="2150" u="none" cap="none" strike="noStrike">
                <a:solidFill>
                  <a:srgbClr val="272525"/>
                </a:solidFill>
                <a:latin typeface="Rubik"/>
                <a:ea typeface="Rubik"/>
                <a:cs typeface="Rubik"/>
                <a:sym typeface="Rubik"/>
              </a:rPr>
              <a:t>Continuous Improvement</a:t>
            </a:r>
            <a:endParaRPr b="0" i="0" sz="21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p:nvPr/>
        </p:nvSpPr>
        <p:spPr>
          <a:xfrm>
            <a:off x="793790" y="623768"/>
            <a:ext cx="1037403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How Generative AI Models are Created</a:t>
            </a:r>
            <a:endParaRPr b="0" i="0" sz="4450" u="none" cap="none" strike="noStrike"/>
          </a:p>
        </p:txBody>
      </p:sp>
      <p:sp>
        <p:nvSpPr>
          <p:cNvPr id="291" name="Google Shape;291;p35"/>
          <p:cNvSpPr/>
          <p:nvPr/>
        </p:nvSpPr>
        <p:spPr>
          <a:xfrm>
            <a:off x="793790" y="1672709"/>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5"/>
          <p:cNvSpPr/>
          <p:nvPr/>
        </p:nvSpPr>
        <p:spPr>
          <a:xfrm>
            <a:off x="878860" y="1715214"/>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1</a:t>
            </a:r>
            <a:endParaRPr b="0" i="0" sz="2650" u="none" cap="none" strike="noStrike"/>
          </a:p>
        </p:txBody>
      </p:sp>
      <p:sp>
        <p:nvSpPr>
          <p:cNvPr id="293" name="Google Shape;293;p35"/>
          <p:cNvSpPr/>
          <p:nvPr/>
        </p:nvSpPr>
        <p:spPr>
          <a:xfrm>
            <a:off x="1530906" y="1750576"/>
            <a:ext cx="408146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Collecting and Preparing Data</a:t>
            </a:r>
            <a:endParaRPr b="0" i="0" sz="2200" u="none" cap="none" strike="noStrike"/>
          </a:p>
        </p:txBody>
      </p:sp>
      <p:sp>
        <p:nvSpPr>
          <p:cNvPr id="294" name="Google Shape;294;p35"/>
          <p:cNvSpPr/>
          <p:nvPr/>
        </p:nvSpPr>
        <p:spPr>
          <a:xfrm>
            <a:off x="1530906" y="2240994"/>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Massive amounts of text (books, articles, websites) are collected to train the AI.</a:t>
            </a:r>
            <a:endParaRPr b="0" i="0" sz="1750" u="none" cap="none" strike="noStrike"/>
          </a:p>
        </p:txBody>
      </p:sp>
      <p:sp>
        <p:nvSpPr>
          <p:cNvPr id="295" name="Google Shape;295;p35"/>
          <p:cNvSpPr/>
          <p:nvPr/>
        </p:nvSpPr>
        <p:spPr>
          <a:xfrm>
            <a:off x="1530906" y="2739985"/>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The model does </a:t>
            </a:r>
            <a:r>
              <a:rPr b="1" i="0" lang="en-US" sz="1750" u="none" cap="none" strike="noStrike">
                <a:solidFill>
                  <a:srgbClr val="272525"/>
                </a:solidFill>
                <a:latin typeface="Open Sans"/>
                <a:ea typeface="Open Sans"/>
                <a:cs typeface="Open Sans"/>
                <a:sym typeface="Open Sans"/>
              </a:rPr>
              <a:t>not have </a:t>
            </a:r>
            <a:r>
              <a:rPr b="0" i="0" lang="en-US" sz="1750" u="none" cap="none" strike="noStrike">
                <a:solidFill>
                  <a:srgbClr val="272525"/>
                </a:solidFill>
                <a:latin typeface="Open Sans"/>
                <a:ea typeface="Open Sans"/>
                <a:cs typeface="Open Sans"/>
                <a:sym typeface="Open Sans"/>
              </a:rPr>
              <a:t>updated knowledge after its last training date.</a:t>
            </a:r>
            <a:endParaRPr b="0" i="0" sz="1750" u="none" cap="none" strike="noStrike"/>
          </a:p>
        </p:txBody>
      </p:sp>
      <p:sp>
        <p:nvSpPr>
          <p:cNvPr id="296" name="Google Shape;296;p35"/>
          <p:cNvSpPr/>
          <p:nvPr/>
        </p:nvSpPr>
        <p:spPr>
          <a:xfrm>
            <a:off x="793790" y="3556516"/>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p:nvPr/>
        </p:nvSpPr>
        <p:spPr>
          <a:xfrm>
            <a:off x="878860" y="359902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2</a:t>
            </a:r>
            <a:endParaRPr b="0" i="0" sz="2650" u="none" cap="none" strike="noStrike"/>
          </a:p>
        </p:txBody>
      </p:sp>
      <p:sp>
        <p:nvSpPr>
          <p:cNvPr id="298" name="Google Shape;298;p35"/>
          <p:cNvSpPr/>
          <p:nvPr/>
        </p:nvSpPr>
        <p:spPr>
          <a:xfrm>
            <a:off x="1530906" y="3634383"/>
            <a:ext cx="996957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Building the Computational Model (Transformers, Setting Up Parameters)</a:t>
            </a:r>
            <a:endParaRPr b="0" i="0" sz="2200" u="none" cap="none" strike="noStrike"/>
          </a:p>
        </p:txBody>
      </p:sp>
      <p:sp>
        <p:nvSpPr>
          <p:cNvPr id="299" name="Google Shape;299;p35"/>
          <p:cNvSpPr/>
          <p:nvPr/>
        </p:nvSpPr>
        <p:spPr>
          <a:xfrm>
            <a:off x="1530906" y="4124801"/>
            <a:ext cx="123057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researchers design a </a:t>
            </a:r>
            <a:r>
              <a:rPr b="1" i="0" lang="en-US" sz="1750" u="none" cap="none" strike="noStrike">
                <a:solidFill>
                  <a:srgbClr val="272525"/>
                </a:solidFill>
                <a:latin typeface="Open Sans"/>
                <a:ea typeface="Open Sans"/>
                <a:cs typeface="Open Sans"/>
                <a:sym typeface="Open Sans"/>
              </a:rPr>
              <a:t>Transformer model</a:t>
            </a:r>
            <a:r>
              <a:rPr b="0" i="0" lang="en-US" sz="1750" u="none" cap="none" strike="noStrike">
                <a:solidFill>
                  <a:srgbClr val="272525"/>
                </a:solidFill>
                <a:latin typeface="Open Sans"/>
                <a:ea typeface="Open Sans"/>
                <a:cs typeface="Open Sans"/>
                <a:sym typeface="Open Sans"/>
              </a:rPr>
              <a:t>, a deep learning architecture that understands text by analyzing relationships between words. In this model, they set up the parameters, which control how the AI processes information. The final parameters reflect the model's learning.</a:t>
            </a:r>
            <a:endParaRPr b="0" i="0" sz="1750" u="none" cap="none" strike="noStrike"/>
          </a:p>
        </p:txBody>
      </p:sp>
      <p:sp>
        <p:nvSpPr>
          <p:cNvPr id="300" name="Google Shape;300;p35"/>
          <p:cNvSpPr/>
          <p:nvPr/>
        </p:nvSpPr>
        <p:spPr>
          <a:xfrm>
            <a:off x="1530906" y="5349597"/>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Models like GPT-4 have </a:t>
            </a:r>
            <a:r>
              <a:rPr b="1" i="0" lang="en-US" sz="1750" u="none" cap="none" strike="noStrike">
                <a:solidFill>
                  <a:srgbClr val="272525"/>
                </a:solidFill>
                <a:latin typeface="Open Sans"/>
                <a:ea typeface="Open Sans"/>
                <a:cs typeface="Open Sans"/>
                <a:sym typeface="Open Sans"/>
              </a:rPr>
              <a:t>hundreds of billions of parameters</a:t>
            </a:r>
            <a:r>
              <a:rPr b="0" i="0" lang="en-US" sz="1750" u="none" cap="none" strike="noStrike">
                <a:solidFill>
                  <a:srgbClr val="272525"/>
                </a:solidFill>
                <a:latin typeface="Open Sans"/>
                <a:ea typeface="Open Sans"/>
                <a:cs typeface="Open Sans"/>
                <a:sym typeface="Open Sans"/>
              </a:rPr>
              <a:t>.</a:t>
            </a:r>
            <a:endParaRPr b="0" i="0" sz="1750" u="none" cap="none" strike="noStrike"/>
          </a:p>
        </p:txBody>
      </p:sp>
      <p:sp>
        <p:nvSpPr>
          <p:cNvPr id="301" name="Google Shape;301;p35"/>
          <p:cNvSpPr/>
          <p:nvPr/>
        </p:nvSpPr>
        <p:spPr>
          <a:xfrm>
            <a:off x="1530906" y="5848588"/>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The AI does </a:t>
            </a:r>
            <a:r>
              <a:rPr b="1" i="0" lang="en-US" sz="1750" u="none" cap="none" strike="noStrike">
                <a:solidFill>
                  <a:srgbClr val="272525"/>
                </a:solidFill>
                <a:latin typeface="Open Sans"/>
                <a:ea typeface="Open Sans"/>
                <a:cs typeface="Open Sans"/>
                <a:sym typeface="Open Sans"/>
              </a:rPr>
              <a:t>not</a:t>
            </a:r>
            <a:r>
              <a:rPr b="0" i="0" lang="en-US" sz="1750" u="none" cap="none" strike="noStrike">
                <a:solidFill>
                  <a:srgbClr val="272525"/>
                </a:solidFill>
                <a:latin typeface="Open Sans"/>
                <a:ea typeface="Open Sans"/>
                <a:cs typeface="Open Sans"/>
                <a:sym typeface="Open Sans"/>
              </a:rPr>
              <a:t> "think" like a human—it's a computational model!</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p:nvPr/>
        </p:nvSpPr>
        <p:spPr>
          <a:xfrm>
            <a:off x="793790" y="623768"/>
            <a:ext cx="1037403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How Generative AI Models are Created</a:t>
            </a:r>
            <a:endParaRPr b="0" i="0" sz="4450" u="none" cap="none" strike="noStrike"/>
          </a:p>
        </p:txBody>
      </p:sp>
      <p:sp>
        <p:nvSpPr>
          <p:cNvPr id="308" name="Google Shape;308;p36"/>
          <p:cNvSpPr/>
          <p:nvPr/>
        </p:nvSpPr>
        <p:spPr>
          <a:xfrm>
            <a:off x="793790" y="1786176"/>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6"/>
          <p:cNvSpPr/>
          <p:nvPr/>
        </p:nvSpPr>
        <p:spPr>
          <a:xfrm>
            <a:off x="878860" y="182868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3</a:t>
            </a:r>
            <a:endParaRPr b="0" i="0" sz="2650" u="none" cap="none" strike="noStrike"/>
          </a:p>
        </p:txBody>
      </p:sp>
      <p:sp>
        <p:nvSpPr>
          <p:cNvPr id="310" name="Google Shape;310;p36"/>
          <p:cNvSpPr/>
          <p:nvPr/>
        </p:nvSpPr>
        <p:spPr>
          <a:xfrm>
            <a:off x="1530906" y="1864042"/>
            <a:ext cx="402157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Pre-Training: Where AI Learns</a:t>
            </a:r>
            <a:endParaRPr b="0" i="0" sz="2200" u="none" cap="none" strike="noStrike"/>
          </a:p>
        </p:txBody>
      </p:sp>
      <p:sp>
        <p:nvSpPr>
          <p:cNvPr id="311" name="Google Shape;311;p36"/>
          <p:cNvSpPr/>
          <p:nvPr/>
        </p:nvSpPr>
        <p:spPr>
          <a:xfrm>
            <a:off x="1530906" y="2354461"/>
            <a:ext cx="1230570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The model is trained to predict the next word in a sentence using a method called </a:t>
            </a:r>
            <a:r>
              <a:rPr b="1" i="0" lang="en-US" sz="1750" u="none" cap="none" strike="noStrike">
                <a:solidFill>
                  <a:srgbClr val="272525"/>
                </a:solidFill>
                <a:latin typeface="Open Sans"/>
                <a:ea typeface="Open Sans"/>
                <a:cs typeface="Open Sans"/>
                <a:sym typeface="Open Sans"/>
              </a:rPr>
              <a:t>self-supervised learning</a:t>
            </a:r>
            <a:r>
              <a:rPr b="0" i="0" lang="en-US" sz="1750" u="none" cap="none" strike="noStrike">
                <a:solidFill>
                  <a:srgbClr val="272525"/>
                </a:solidFill>
                <a:latin typeface="Open Sans"/>
                <a:ea typeface="Open Sans"/>
                <a:cs typeface="Open Sans"/>
                <a:sym typeface="Open Sans"/>
              </a:rPr>
              <a:t>. Example: Given the sentence </a:t>
            </a:r>
            <a:r>
              <a:rPr b="1" i="0" lang="en-US" sz="1750" u="none" cap="none" strike="noStrike">
                <a:solidFill>
                  <a:srgbClr val="272525"/>
                </a:solidFill>
                <a:latin typeface="Open Sans"/>
                <a:ea typeface="Open Sans"/>
                <a:cs typeface="Open Sans"/>
                <a:sym typeface="Open Sans"/>
              </a:rPr>
              <a:t>"The sun rises in the ___."</a:t>
            </a:r>
            <a:r>
              <a:rPr b="0" i="0" lang="en-US" sz="1750" u="none" cap="none" strike="noStrike">
                <a:solidFill>
                  <a:srgbClr val="272525"/>
                </a:solidFill>
                <a:latin typeface="Open Sans"/>
                <a:ea typeface="Open Sans"/>
                <a:cs typeface="Open Sans"/>
                <a:sym typeface="Open Sans"/>
              </a:rPr>
              <a:t>, the AI learns that "east" is a likely word. The parameters are adjusted based of the learning of the model.</a:t>
            </a:r>
            <a:endParaRPr b="0" i="0" sz="1750" u="none" cap="none" strike="noStrike"/>
          </a:p>
        </p:txBody>
      </p:sp>
      <p:sp>
        <p:nvSpPr>
          <p:cNvPr id="312" name="Google Shape;312;p36"/>
          <p:cNvSpPr/>
          <p:nvPr/>
        </p:nvSpPr>
        <p:spPr>
          <a:xfrm>
            <a:off x="1530906" y="3579257"/>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The AI </a:t>
            </a:r>
            <a:r>
              <a:rPr b="1" i="0" lang="en-US" sz="1750" u="none" cap="none" strike="noStrike">
                <a:solidFill>
                  <a:srgbClr val="272525"/>
                </a:solidFill>
                <a:latin typeface="Open Sans"/>
                <a:ea typeface="Open Sans"/>
                <a:cs typeface="Open Sans"/>
                <a:sym typeface="Open Sans"/>
              </a:rPr>
              <a:t>does not "know" </a:t>
            </a:r>
            <a:r>
              <a:rPr b="0" i="0" lang="en-US" sz="1750" u="none" cap="none" strike="noStrike">
                <a:solidFill>
                  <a:srgbClr val="272525"/>
                </a:solidFill>
                <a:latin typeface="Open Sans"/>
                <a:ea typeface="Open Sans"/>
                <a:cs typeface="Open Sans"/>
                <a:sym typeface="Open Sans"/>
              </a:rPr>
              <a:t>- it only predicts what words are statistically likely to come next. This can lead to </a:t>
            </a:r>
            <a:r>
              <a:rPr b="1" i="0" lang="en-US" sz="1750" u="none" cap="none" strike="noStrike">
                <a:solidFill>
                  <a:srgbClr val="272525"/>
                </a:solidFill>
                <a:latin typeface="Open Sans"/>
                <a:ea typeface="Open Sans"/>
                <a:cs typeface="Open Sans"/>
                <a:sym typeface="Open Sans"/>
              </a:rPr>
              <a:t>hallucinations</a:t>
            </a:r>
            <a:r>
              <a:rPr b="0" i="0" lang="en-US" sz="1750" u="none" cap="none" strike="noStrike">
                <a:solidFill>
                  <a:srgbClr val="272525"/>
                </a:solidFill>
                <a:latin typeface="Open Sans"/>
                <a:ea typeface="Open Sans"/>
                <a:cs typeface="Open Sans"/>
                <a:sym typeface="Open Sans"/>
              </a:rPr>
              <a:t> (confidently generation of wrong answers that sound believable).</a:t>
            </a:r>
            <a:endParaRPr b="0" i="0" sz="1750" u="none" cap="none" strike="noStrike"/>
          </a:p>
        </p:txBody>
      </p:sp>
      <p:sp>
        <p:nvSpPr>
          <p:cNvPr id="313" name="Google Shape;313;p36"/>
          <p:cNvSpPr/>
          <p:nvPr/>
        </p:nvSpPr>
        <p:spPr>
          <a:xfrm>
            <a:off x="793790" y="4758690"/>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6"/>
          <p:cNvSpPr/>
          <p:nvPr/>
        </p:nvSpPr>
        <p:spPr>
          <a:xfrm>
            <a:off x="878860" y="4801195"/>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4</a:t>
            </a:r>
            <a:endParaRPr b="0" i="0" sz="2650" u="none" cap="none" strike="noStrike"/>
          </a:p>
        </p:txBody>
      </p:sp>
      <p:sp>
        <p:nvSpPr>
          <p:cNvPr id="315" name="Google Shape;315;p36"/>
          <p:cNvSpPr/>
          <p:nvPr/>
        </p:nvSpPr>
        <p:spPr>
          <a:xfrm>
            <a:off x="1530906" y="4836557"/>
            <a:ext cx="828853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Fine-Tuning: Making the Model More Useful for Specific Tasks</a:t>
            </a:r>
            <a:endParaRPr b="0" i="0" sz="2200" u="none" cap="none" strike="noStrike"/>
          </a:p>
        </p:txBody>
      </p:sp>
      <p:sp>
        <p:nvSpPr>
          <p:cNvPr id="316" name="Google Shape;316;p36"/>
          <p:cNvSpPr/>
          <p:nvPr/>
        </p:nvSpPr>
        <p:spPr>
          <a:xfrm>
            <a:off x="1530906" y="5326975"/>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The AI is fine-tuned on specific examples, such as polite conversation, technical support, or customer service.</a:t>
            </a:r>
            <a:endParaRPr b="0" i="0" sz="1750" u="none" cap="none" strike="noStrike"/>
          </a:p>
        </p:txBody>
      </p:sp>
      <p:sp>
        <p:nvSpPr>
          <p:cNvPr id="317" name="Google Shape;317;p36"/>
          <p:cNvSpPr/>
          <p:nvPr/>
        </p:nvSpPr>
        <p:spPr>
          <a:xfrm>
            <a:off x="1530906" y="5825966"/>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Different AI models are fine-tuned for different purposes. A chatbot might be tuned for friendliness, while a legal AI might be tuned for professionalism.</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7"/>
          <p:cNvSpPr/>
          <p:nvPr/>
        </p:nvSpPr>
        <p:spPr>
          <a:xfrm>
            <a:off x="793790" y="623768"/>
            <a:ext cx="1037403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How Generative AI Models are Created</a:t>
            </a:r>
            <a:endParaRPr b="0" i="0" sz="4450" u="none" cap="none" strike="noStrike"/>
          </a:p>
        </p:txBody>
      </p:sp>
      <p:sp>
        <p:nvSpPr>
          <p:cNvPr id="324" name="Google Shape;324;p37"/>
          <p:cNvSpPr/>
          <p:nvPr/>
        </p:nvSpPr>
        <p:spPr>
          <a:xfrm>
            <a:off x="793790" y="1786176"/>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7"/>
          <p:cNvSpPr/>
          <p:nvPr/>
        </p:nvSpPr>
        <p:spPr>
          <a:xfrm>
            <a:off x="878860" y="182868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5</a:t>
            </a:r>
            <a:endParaRPr b="0" i="0" sz="2650" u="none" cap="none" strike="noStrike"/>
          </a:p>
        </p:txBody>
      </p:sp>
      <p:sp>
        <p:nvSpPr>
          <p:cNvPr id="326" name="Google Shape;326;p37"/>
          <p:cNvSpPr/>
          <p:nvPr/>
        </p:nvSpPr>
        <p:spPr>
          <a:xfrm>
            <a:off x="1530906" y="1864042"/>
            <a:ext cx="1091457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Enhancing </a:t>
            </a:r>
            <a:r>
              <a:rPr lang="en-US" sz="2200">
                <a:solidFill>
                  <a:srgbClr val="272525"/>
                </a:solidFill>
                <a:latin typeface="Rubik"/>
                <a:ea typeface="Rubik"/>
                <a:cs typeface="Rubik"/>
                <a:sym typeface="Rubik"/>
              </a:rPr>
              <a:t>Performance</a:t>
            </a:r>
            <a:r>
              <a:rPr b="0" i="0" lang="en-US" sz="2200" u="none" cap="none" strike="noStrike">
                <a:solidFill>
                  <a:srgbClr val="272525"/>
                </a:solidFill>
                <a:latin typeface="Rubik"/>
                <a:ea typeface="Rubik"/>
                <a:cs typeface="Rubik"/>
                <a:sym typeface="Rubik"/>
              </a:rPr>
              <a:t>: </a:t>
            </a:r>
            <a:r>
              <a:rPr b="1" i="0" lang="en-US" sz="2200" u="none" cap="none" strike="noStrike">
                <a:solidFill>
                  <a:srgbClr val="272525"/>
                </a:solidFill>
                <a:latin typeface="Rubik"/>
                <a:ea typeface="Rubik"/>
                <a:cs typeface="Rubik"/>
                <a:sym typeface="Rubik"/>
              </a:rPr>
              <a:t>R</a:t>
            </a:r>
            <a:r>
              <a:rPr b="0" i="0" lang="en-US" sz="2200" u="none" cap="none" strike="noStrike">
                <a:solidFill>
                  <a:srgbClr val="272525"/>
                </a:solidFill>
                <a:latin typeface="Rubik"/>
                <a:ea typeface="Rubik"/>
                <a:cs typeface="Rubik"/>
                <a:sym typeface="Rubik"/>
              </a:rPr>
              <a:t>einforcement </a:t>
            </a:r>
            <a:r>
              <a:rPr b="1" i="0" lang="en-US" sz="2200" u="none" cap="none" strike="noStrike">
                <a:solidFill>
                  <a:srgbClr val="272525"/>
                </a:solidFill>
                <a:latin typeface="Rubik"/>
                <a:ea typeface="Rubik"/>
                <a:cs typeface="Rubik"/>
                <a:sym typeface="Rubik"/>
              </a:rPr>
              <a:t>L</a:t>
            </a:r>
            <a:r>
              <a:rPr b="0" i="0" lang="en-US" sz="2200" u="none" cap="none" strike="noStrike">
                <a:solidFill>
                  <a:srgbClr val="272525"/>
                </a:solidFill>
                <a:latin typeface="Rubik"/>
                <a:ea typeface="Rubik"/>
                <a:cs typeface="Rubik"/>
                <a:sym typeface="Rubik"/>
              </a:rPr>
              <a:t>earning from </a:t>
            </a:r>
            <a:r>
              <a:rPr b="1" i="0" lang="en-US" sz="2200" u="none" cap="none" strike="noStrike">
                <a:solidFill>
                  <a:srgbClr val="272525"/>
                </a:solidFill>
                <a:latin typeface="Rubik"/>
                <a:ea typeface="Rubik"/>
                <a:cs typeface="Rubik"/>
                <a:sym typeface="Rubik"/>
              </a:rPr>
              <a:t>H</a:t>
            </a:r>
            <a:r>
              <a:rPr b="0" i="0" lang="en-US" sz="2200" u="none" cap="none" strike="noStrike">
                <a:solidFill>
                  <a:srgbClr val="272525"/>
                </a:solidFill>
                <a:latin typeface="Rubik"/>
                <a:ea typeface="Rubik"/>
                <a:cs typeface="Rubik"/>
                <a:sym typeface="Rubik"/>
              </a:rPr>
              <a:t>uman </a:t>
            </a:r>
            <a:r>
              <a:rPr b="1" i="0" lang="en-US" sz="2200" u="none" cap="none" strike="noStrike">
                <a:solidFill>
                  <a:srgbClr val="272525"/>
                </a:solidFill>
                <a:latin typeface="Rubik"/>
                <a:ea typeface="Rubik"/>
                <a:cs typeface="Rubik"/>
                <a:sym typeface="Rubik"/>
              </a:rPr>
              <a:t>F</a:t>
            </a:r>
            <a:r>
              <a:rPr b="0" i="0" lang="en-US" sz="2200" u="none" cap="none" strike="noStrike">
                <a:solidFill>
                  <a:srgbClr val="272525"/>
                </a:solidFill>
                <a:latin typeface="Rubik"/>
                <a:ea typeface="Rubik"/>
                <a:cs typeface="Rubik"/>
                <a:sym typeface="Rubik"/>
              </a:rPr>
              <a:t>eedback (</a:t>
            </a:r>
            <a:r>
              <a:rPr b="1" i="0" lang="en-US" sz="2200" u="none" cap="none" strike="noStrike">
                <a:solidFill>
                  <a:srgbClr val="272525"/>
                </a:solidFill>
                <a:latin typeface="Rubik"/>
                <a:ea typeface="Rubik"/>
                <a:cs typeface="Rubik"/>
                <a:sym typeface="Rubik"/>
              </a:rPr>
              <a:t>RLHF</a:t>
            </a:r>
            <a:r>
              <a:rPr b="0" i="0" lang="en-US" sz="2200" u="none" cap="none" strike="noStrike">
                <a:solidFill>
                  <a:srgbClr val="272525"/>
                </a:solidFill>
                <a:latin typeface="Rubik"/>
                <a:ea typeface="Rubik"/>
                <a:cs typeface="Rubik"/>
                <a:sym typeface="Rubik"/>
              </a:rPr>
              <a:t>)</a:t>
            </a:r>
            <a:endParaRPr b="0" i="0" sz="2200" u="none" cap="none" strike="noStrike"/>
          </a:p>
        </p:txBody>
      </p:sp>
      <p:sp>
        <p:nvSpPr>
          <p:cNvPr id="327" name="Google Shape;327;p37"/>
          <p:cNvSpPr/>
          <p:nvPr/>
        </p:nvSpPr>
        <p:spPr>
          <a:xfrm>
            <a:off x="1530906" y="2354461"/>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Humans rate the AI’s responses, ranking which ones are </a:t>
            </a:r>
            <a:r>
              <a:rPr b="1" i="0" lang="en-US" sz="1750" u="none" cap="none" strike="noStrike">
                <a:solidFill>
                  <a:srgbClr val="272525"/>
                </a:solidFill>
                <a:latin typeface="Open Sans"/>
                <a:ea typeface="Open Sans"/>
                <a:cs typeface="Open Sans"/>
                <a:sym typeface="Open Sans"/>
              </a:rPr>
              <a:t>most helpful, safe, and accurate</a:t>
            </a:r>
            <a:r>
              <a:rPr b="0" i="0" lang="en-US" sz="1750" u="none" cap="none" strike="noStrike">
                <a:solidFill>
                  <a:srgbClr val="272525"/>
                </a:solidFill>
                <a:latin typeface="Open Sans"/>
                <a:ea typeface="Open Sans"/>
                <a:cs typeface="Open Sans"/>
                <a:sym typeface="Open Sans"/>
              </a:rPr>
              <a:t>. The AI is then adjusted based on this feedback.</a:t>
            </a:r>
            <a:endParaRPr b="0" i="0" sz="1750" u="none" cap="none" strike="noStrike"/>
          </a:p>
        </p:txBody>
      </p:sp>
      <p:sp>
        <p:nvSpPr>
          <p:cNvPr id="328" name="Google Shape;328;p37"/>
          <p:cNvSpPr/>
          <p:nvPr/>
        </p:nvSpPr>
        <p:spPr>
          <a:xfrm>
            <a:off x="1530906" y="3216354"/>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 </a:t>
            </a:r>
            <a:r>
              <a:rPr b="0" i="0" lang="en-US" sz="1750" u="none" cap="none" strike="noStrike">
                <a:solidFill>
                  <a:srgbClr val="272525"/>
                </a:solidFill>
                <a:latin typeface="Open Sans"/>
                <a:ea typeface="Open Sans"/>
                <a:cs typeface="Open Sans"/>
                <a:sym typeface="Open Sans"/>
              </a:rPr>
              <a:t>This makes AI responses </a:t>
            </a:r>
            <a:r>
              <a:rPr b="1" i="0" lang="en-US" sz="1750" u="none" cap="none" strike="noStrike">
                <a:solidFill>
                  <a:srgbClr val="272525"/>
                </a:solidFill>
                <a:latin typeface="Open Sans"/>
                <a:ea typeface="Open Sans"/>
                <a:cs typeface="Open Sans"/>
                <a:sym typeface="Open Sans"/>
              </a:rPr>
              <a:t>more aligned with human values</a:t>
            </a:r>
            <a:r>
              <a:rPr b="0" i="0" lang="en-US" sz="1750" u="none" cap="none" strike="noStrike">
                <a:solidFill>
                  <a:srgbClr val="272525"/>
                </a:solidFill>
                <a:latin typeface="Open Sans"/>
                <a:ea typeface="Open Sans"/>
                <a:cs typeface="Open Sans"/>
                <a:sym typeface="Open Sans"/>
              </a:rPr>
              <a:t>, but it can also introduce </a:t>
            </a:r>
            <a:r>
              <a:rPr b="1" i="0" lang="en-US" sz="1750" u="none" cap="none" strike="noStrike">
                <a:solidFill>
                  <a:srgbClr val="272525"/>
                </a:solidFill>
                <a:latin typeface="Open Sans"/>
                <a:ea typeface="Open Sans"/>
                <a:cs typeface="Open Sans"/>
                <a:sym typeface="Open Sans"/>
              </a:rPr>
              <a:t>bias</a:t>
            </a:r>
            <a:r>
              <a:rPr b="0" i="0" lang="en-US" sz="1750" u="none" cap="none" strike="noStrike">
                <a:solidFill>
                  <a:srgbClr val="272525"/>
                </a:solidFill>
                <a:latin typeface="Open Sans"/>
                <a:ea typeface="Open Sans"/>
                <a:cs typeface="Open Sans"/>
                <a:sym typeface="Open Sans"/>
              </a:rPr>
              <a:t> depending on the perspectives of the reviewers.</a:t>
            </a:r>
            <a:endParaRPr b="0" i="0" sz="1750" u="none" cap="none" strike="noStrike"/>
          </a:p>
        </p:txBody>
      </p:sp>
      <p:sp>
        <p:nvSpPr>
          <p:cNvPr id="329" name="Google Shape;329;p37"/>
          <p:cNvSpPr/>
          <p:nvPr/>
        </p:nvSpPr>
        <p:spPr>
          <a:xfrm>
            <a:off x="793790" y="439578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
          <p:cNvSpPr/>
          <p:nvPr/>
        </p:nvSpPr>
        <p:spPr>
          <a:xfrm>
            <a:off x="878860" y="443829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6</a:t>
            </a:r>
            <a:endParaRPr b="0" i="0" sz="2650" u="none" cap="none" strike="noStrike"/>
          </a:p>
        </p:txBody>
      </p:sp>
      <p:sp>
        <p:nvSpPr>
          <p:cNvPr id="331" name="Google Shape;331;p37"/>
          <p:cNvSpPr/>
          <p:nvPr/>
        </p:nvSpPr>
        <p:spPr>
          <a:xfrm>
            <a:off x="1530906" y="4473654"/>
            <a:ext cx="309979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Testing and Evaluating</a:t>
            </a:r>
            <a:endParaRPr b="0" i="0" sz="2200" u="none" cap="none" strike="noStrike"/>
          </a:p>
        </p:txBody>
      </p:sp>
      <p:sp>
        <p:nvSpPr>
          <p:cNvPr id="332" name="Google Shape;332;p37"/>
          <p:cNvSpPr/>
          <p:nvPr/>
        </p:nvSpPr>
        <p:spPr>
          <a:xfrm>
            <a:off x="1530906" y="4964073"/>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developers test the model by giving it thousands of questions and evaluating its </a:t>
            </a:r>
            <a:r>
              <a:rPr b="1" i="0" lang="en-US" sz="1750" u="none" cap="none" strike="noStrike">
                <a:solidFill>
                  <a:srgbClr val="272525"/>
                </a:solidFill>
                <a:latin typeface="Open Sans"/>
                <a:ea typeface="Open Sans"/>
                <a:cs typeface="Open Sans"/>
                <a:sym typeface="Open Sans"/>
              </a:rPr>
              <a:t>accuracy, fairness, and safety</a:t>
            </a:r>
            <a:r>
              <a:rPr b="0" i="0" lang="en-US" sz="1750" u="none" cap="none" strike="noStrike">
                <a:solidFill>
                  <a:srgbClr val="272525"/>
                </a:solidFill>
                <a:latin typeface="Open Sans"/>
                <a:ea typeface="Open Sans"/>
                <a:cs typeface="Open Sans"/>
                <a:sym typeface="Open Sans"/>
              </a:rPr>
              <a:t>. If issues are found, further fine-tuning is done.</a:t>
            </a:r>
            <a:endParaRPr b="0" i="0" sz="1750" u="none" cap="none" strike="noStrike"/>
          </a:p>
        </p:txBody>
      </p:sp>
      <p:sp>
        <p:nvSpPr>
          <p:cNvPr id="333" name="Google Shape;333;p37"/>
          <p:cNvSpPr/>
          <p:nvPr/>
        </p:nvSpPr>
        <p:spPr>
          <a:xfrm>
            <a:off x="1530906" y="5825966"/>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Even with testing, AI can still make </a:t>
            </a:r>
            <a:r>
              <a:rPr b="1" i="0" lang="en-US" sz="1750" u="none" cap="none" strike="noStrike">
                <a:solidFill>
                  <a:srgbClr val="272525"/>
                </a:solidFill>
                <a:latin typeface="Open Sans"/>
                <a:ea typeface="Open Sans"/>
                <a:cs typeface="Open Sans"/>
                <a:sym typeface="Open Sans"/>
              </a:rPr>
              <a:t>mistakes or biased assumptions</a:t>
            </a:r>
            <a:r>
              <a:rPr b="0" i="0" lang="en-US" sz="1750" u="none" cap="none" strike="noStrike">
                <a:solidFill>
                  <a:srgbClr val="272525"/>
                </a:solidFill>
                <a:latin typeface="Open Sans"/>
                <a:ea typeface="Open Sans"/>
                <a:cs typeface="Open Sans"/>
                <a:sym typeface="Open Sans"/>
              </a:rPr>
              <a:t>, so users should </a:t>
            </a:r>
            <a:r>
              <a:rPr b="1" i="0" lang="en-US" sz="1750" u="none" cap="none" strike="noStrike">
                <a:solidFill>
                  <a:srgbClr val="272525"/>
                </a:solidFill>
                <a:latin typeface="Open Sans"/>
                <a:ea typeface="Open Sans"/>
                <a:cs typeface="Open Sans"/>
                <a:sym typeface="Open Sans"/>
              </a:rPr>
              <a:t>critically evaluate responses</a:t>
            </a:r>
            <a:r>
              <a:rPr b="0" i="0" lang="en-US" sz="1750" u="none" cap="none" strike="noStrike">
                <a:solidFill>
                  <a:srgbClr val="272525"/>
                </a:solidFill>
                <a:latin typeface="Open Sans"/>
                <a:ea typeface="Open Sans"/>
                <a:cs typeface="Open Sans"/>
                <a:sym typeface="Open Sans"/>
              </a:rPr>
              <a:t> instead of assuming everything is 100% accurate.</a:t>
            </a:r>
            <a:endParaRPr b="0" i="0" sz="17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p:nvPr/>
        </p:nvSpPr>
        <p:spPr>
          <a:xfrm>
            <a:off x="793790" y="623768"/>
            <a:ext cx="1037403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How Generative AI Models are Created</a:t>
            </a:r>
            <a:endParaRPr b="0" i="0" sz="4450" u="none" cap="none" strike="noStrike"/>
          </a:p>
        </p:txBody>
      </p:sp>
      <p:sp>
        <p:nvSpPr>
          <p:cNvPr id="340" name="Google Shape;340;p38"/>
          <p:cNvSpPr/>
          <p:nvPr/>
        </p:nvSpPr>
        <p:spPr>
          <a:xfrm>
            <a:off x="793790" y="1786176"/>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8"/>
          <p:cNvSpPr/>
          <p:nvPr/>
        </p:nvSpPr>
        <p:spPr>
          <a:xfrm>
            <a:off x="878860" y="182868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7</a:t>
            </a:r>
            <a:endParaRPr b="0" i="0" sz="2650" u="none" cap="none" strike="noStrike"/>
          </a:p>
        </p:txBody>
      </p:sp>
      <p:sp>
        <p:nvSpPr>
          <p:cNvPr id="342" name="Google Shape;342;p38"/>
          <p:cNvSpPr/>
          <p:nvPr/>
        </p:nvSpPr>
        <p:spPr>
          <a:xfrm>
            <a:off x="1530906" y="1864042"/>
            <a:ext cx="611397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Deployment: Making the AI Available to Users</a:t>
            </a:r>
            <a:endParaRPr b="0" i="0" sz="2200" u="none" cap="none" strike="noStrike"/>
          </a:p>
        </p:txBody>
      </p:sp>
      <p:sp>
        <p:nvSpPr>
          <p:cNvPr id="343" name="Google Shape;343;p38"/>
          <p:cNvSpPr/>
          <p:nvPr/>
        </p:nvSpPr>
        <p:spPr>
          <a:xfrm>
            <a:off x="1530906" y="2354461"/>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The model is made available to users in applications like </a:t>
            </a:r>
            <a:r>
              <a:rPr b="1" i="0" lang="en-US" sz="1750" u="none" cap="none" strike="noStrike">
                <a:solidFill>
                  <a:srgbClr val="272525"/>
                </a:solidFill>
                <a:latin typeface="Open Sans"/>
                <a:ea typeface="Open Sans"/>
                <a:cs typeface="Open Sans"/>
                <a:sym typeface="Open Sans"/>
              </a:rPr>
              <a:t>ChatGPT, Google Gemini, or Claude</a:t>
            </a:r>
            <a:r>
              <a:rPr b="0" i="0" lang="en-US" sz="1750" u="none" cap="none" strike="noStrike">
                <a:solidFill>
                  <a:srgbClr val="272525"/>
                </a:solidFill>
                <a:latin typeface="Open Sans"/>
                <a:ea typeface="Open Sans"/>
                <a:cs typeface="Open Sans"/>
                <a:sym typeface="Open Sans"/>
              </a:rPr>
              <a:t>.</a:t>
            </a:r>
            <a:endParaRPr b="0" i="0" sz="1750" u="none" cap="none" strike="noStrike"/>
          </a:p>
        </p:txBody>
      </p:sp>
      <p:sp>
        <p:nvSpPr>
          <p:cNvPr id="344" name="Google Shape;344;p38"/>
          <p:cNvSpPr/>
          <p:nvPr/>
        </p:nvSpPr>
        <p:spPr>
          <a:xfrm>
            <a:off x="1530906" y="2853452"/>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a:t>
            </a:r>
            <a:r>
              <a:rPr b="0" i="0" lang="en-US" sz="1750" u="none" cap="none" strike="noStrike">
                <a:solidFill>
                  <a:srgbClr val="272525"/>
                </a:solidFill>
                <a:latin typeface="Open Sans"/>
                <a:ea typeface="Open Sans"/>
                <a:cs typeface="Open Sans"/>
                <a:sym typeface="Open Sans"/>
              </a:rPr>
              <a:t> The quality of the AI’s responses depends on how users interact with it.</a:t>
            </a:r>
            <a:endParaRPr b="0" i="0" sz="1750" u="none" cap="none" strike="noStrike"/>
          </a:p>
        </p:txBody>
      </p:sp>
      <p:sp>
        <p:nvSpPr>
          <p:cNvPr id="345" name="Google Shape;345;p38"/>
          <p:cNvSpPr/>
          <p:nvPr/>
        </p:nvSpPr>
        <p:spPr>
          <a:xfrm>
            <a:off x="1530906" y="3352443"/>
            <a:ext cx="12305705"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Clear, specific prompts lead to better answers. Vague or misleading prompts can cause inaccurate or irrelevant responses.</a:t>
            </a:r>
            <a:endParaRPr b="0" i="0" sz="1750" u="none" cap="none" strike="noStrike"/>
          </a:p>
        </p:txBody>
      </p:sp>
      <p:sp>
        <p:nvSpPr>
          <p:cNvPr id="346" name="Google Shape;346;p38"/>
          <p:cNvSpPr/>
          <p:nvPr/>
        </p:nvSpPr>
        <p:spPr>
          <a:xfrm>
            <a:off x="1530906" y="4157543"/>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doesn’t "think" like a human - it generates text based on patterns, so </a:t>
            </a:r>
            <a:r>
              <a:rPr b="1" i="0" lang="en-US" sz="1750" u="none" cap="none" strike="noStrike">
                <a:solidFill>
                  <a:srgbClr val="272525"/>
                </a:solidFill>
                <a:latin typeface="Open Sans"/>
                <a:ea typeface="Open Sans"/>
                <a:cs typeface="Open Sans"/>
                <a:sym typeface="Open Sans"/>
              </a:rPr>
              <a:t>guiding it properly improves its usefulness</a:t>
            </a:r>
            <a:r>
              <a:rPr b="0" i="0" lang="en-US" sz="1750" u="none" cap="none" strike="noStrike">
                <a:solidFill>
                  <a:srgbClr val="272525"/>
                </a:solidFill>
                <a:latin typeface="Open Sans"/>
                <a:ea typeface="Open Sans"/>
                <a:cs typeface="Open Sans"/>
                <a:sym typeface="Open Sans"/>
              </a:rPr>
              <a:t>.</a:t>
            </a:r>
            <a:endParaRPr b="0" i="0" sz="1750" u="none" cap="none" strike="noStrike"/>
          </a:p>
        </p:txBody>
      </p:sp>
      <p:sp>
        <p:nvSpPr>
          <p:cNvPr id="347" name="Google Shape;347;p38"/>
          <p:cNvSpPr/>
          <p:nvPr/>
        </p:nvSpPr>
        <p:spPr>
          <a:xfrm>
            <a:off x="793790" y="5336977"/>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a:off x="878860" y="537948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Rubik"/>
              <a:buNone/>
            </a:pPr>
            <a:r>
              <a:rPr lang="en-US" sz="2650">
                <a:solidFill>
                  <a:srgbClr val="272525"/>
                </a:solidFill>
                <a:latin typeface="Rubik"/>
                <a:ea typeface="Rubik"/>
                <a:cs typeface="Rubik"/>
                <a:sym typeface="Rubik"/>
              </a:rPr>
              <a:t>8</a:t>
            </a:r>
            <a:endParaRPr b="0" i="0" sz="2650" u="none" cap="none" strike="noStrike"/>
          </a:p>
        </p:txBody>
      </p:sp>
      <p:sp>
        <p:nvSpPr>
          <p:cNvPr id="349" name="Google Shape;349;p38"/>
          <p:cNvSpPr/>
          <p:nvPr/>
        </p:nvSpPr>
        <p:spPr>
          <a:xfrm>
            <a:off x="1530906" y="5414843"/>
            <a:ext cx="347472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Continuous Improvement</a:t>
            </a:r>
            <a:endParaRPr b="0" i="0" sz="2200" u="none" cap="none" strike="noStrike"/>
          </a:p>
        </p:txBody>
      </p:sp>
      <p:sp>
        <p:nvSpPr>
          <p:cNvPr id="350" name="Google Shape;350;p38"/>
          <p:cNvSpPr/>
          <p:nvPr/>
        </p:nvSpPr>
        <p:spPr>
          <a:xfrm>
            <a:off x="1530906" y="5905262"/>
            <a:ext cx="1230570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AI companies update models based on retraining with new data and improve capabilities.</a:t>
            </a:r>
            <a:endParaRPr b="0" i="0" sz="1750" u="none" cap="none" strike="noStrike"/>
          </a:p>
        </p:txBody>
      </p:sp>
      <p:sp>
        <p:nvSpPr>
          <p:cNvPr id="351" name="Google Shape;351;p38"/>
          <p:cNvSpPr/>
          <p:nvPr/>
        </p:nvSpPr>
        <p:spPr>
          <a:xfrm>
            <a:off x="1530906" y="6404253"/>
            <a:ext cx="123057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Key Insight: </a:t>
            </a:r>
            <a:r>
              <a:rPr b="0" i="0" lang="en-US" sz="1750" u="none" cap="none" strike="noStrike">
                <a:solidFill>
                  <a:srgbClr val="272525"/>
                </a:solidFill>
                <a:latin typeface="Open Sans"/>
                <a:ea typeface="Open Sans"/>
                <a:cs typeface="Open Sans"/>
                <a:sym typeface="Open Sans"/>
              </a:rPr>
              <a:t>Its </a:t>
            </a:r>
            <a:r>
              <a:rPr lang="en-US" sz="1750">
                <a:solidFill>
                  <a:srgbClr val="272525"/>
                </a:solidFill>
                <a:latin typeface="Open Sans"/>
                <a:ea typeface="Open Sans"/>
                <a:cs typeface="Open Sans"/>
                <a:sym typeface="Open Sans"/>
              </a:rPr>
              <a:t>performance</a:t>
            </a:r>
            <a:r>
              <a:rPr b="0" i="0" lang="en-US" sz="1750" u="none" cap="none" strike="noStrike">
                <a:solidFill>
                  <a:srgbClr val="272525"/>
                </a:solidFill>
                <a:latin typeface="Open Sans"/>
                <a:ea typeface="Open Sans"/>
                <a:cs typeface="Open Sans"/>
                <a:sym typeface="Open Sans"/>
              </a:rPr>
              <a:t> and abilities are changing </a:t>
            </a:r>
            <a:r>
              <a:rPr lang="en-US" sz="1750">
                <a:solidFill>
                  <a:srgbClr val="272525"/>
                </a:solidFill>
                <a:latin typeface="Open Sans"/>
                <a:ea typeface="Open Sans"/>
                <a:cs typeface="Open Sans"/>
                <a:sym typeface="Open Sans"/>
              </a:rPr>
              <a:t>rapidly</a:t>
            </a:r>
            <a:r>
              <a:rPr b="0" i="0" lang="en-US" sz="1750" u="none" cap="none" strike="noStrike">
                <a:solidFill>
                  <a:srgbClr val="272525"/>
                </a:solidFill>
                <a:latin typeface="Open Sans"/>
                <a:ea typeface="Open Sans"/>
                <a:cs typeface="Open Sans"/>
                <a:sym typeface="Open Sans"/>
              </a:rPr>
              <a:t>, with each company want to be the first and the best</a:t>
            </a:r>
            <a:endParaRPr b="0" i="0" sz="17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9"/>
          <p:cNvSpPr/>
          <p:nvPr/>
        </p:nvSpPr>
        <p:spPr>
          <a:xfrm>
            <a:off x="793790" y="1100614"/>
            <a:ext cx="858750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Quality Assessment Framework</a:t>
            </a:r>
            <a:endParaRPr b="0" i="0" sz="4450" u="none" cap="none" strike="noStrike"/>
          </a:p>
        </p:txBody>
      </p:sp>
      <p:sp>
        <p:nvSpPr>
          <p:cNvPr id="358" name="Google Shape;358;p39"/>
          <p:cNvSpPr/>
          <p:nvPr/>
        </p:nvSpPr>
        <p:spPr>
          <a:xfrm>
            <a:off x="793790" y="2263021"/>
            <a:ext cx="13042821" cy="362903"/>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750">
                <a:solidFill>
                  <a:srgbClr val="272525"/>
                </a:solidFill>
                <a:latin typeface="Open Sans"/>
                <a:ea typeface="Open Sans"/>
                <a:cs typeface="Open Sans"/>
                <a:sym typeface="Open Sans"/>
              </a:rPr>
              <a:t>Understanding training processes (pre-training, fine-tuning, RLHF) is crucial for critical evaluation of AI outputs. </a:t>
            </a:r>
            <a:endParaRPr sz="1750">
              <a:solidFill>
                <a:srgbClr val="272525"/>
              </a:solidFill>
              <a:latin typeface="Open Sans"/>
              <a:ea typeface="Open Sans"/>
              <a:cs typeface="Open Sans"/>
              <a:sym typeface="Open Sans"/>
            </a:endParaRPr>
          </a:p>
          <a:p>
            <a:pPr indent="0" lvl="0" marL="0" marR="0" rtl="0" algn="l">
              <a:lnSpc>
                <a:spcPct val="162857"/>
              </a:lnSpc>
              <a:spcBef>
                <a:spcPts val="1200"/>
              </a:spcBef>
              <a:spcAft>
                <a:spcPts val="0"/>
              </a:spcAft>
              <a:buClr>
                <a:srgbClr val="272525"/>
              </a:buClr>
              <a:buSzPts val="1750"/>
              <a:buFont typeface="Open Sans"/>
              <a:buNone/>
            </a:pPr>
            <a:r>
              <a:t/>
            </a:r>
            <a:endParaRPr b="1" sz="1750">
              <a:solidFill>
                <a:srgbClr val="272525"/>
              </a:solidFill>
              <a:latin typeface="Open Sans"/>
              <a:ea typeface="Open Sans"/>
              <a:cs typeface="Open Sans"/>
              <a:sym typeface="Open Sans"/>
            </a:endParaRPr>
          </a:p>
        </p:txBody>
      </p:sp>
      <p:sp>
        <p:nvSpPr>
          <p:cNvPr id="359" name="Google Shape;359;p39"/>
          <p:cNvSpPr/>
          <p:nvPr/>
        </p:nvSpPr>
        <p:spPr>
          <a:xfrm>
            <a:off x="793790" y="2881074"/>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The "Trust but Verify" Approach:</a:t>
            </a:r>
            <a:endParaRPr b="0" i="0" sz="1750" u="none" cap="none" strike="noStrike"/>
          </a:p>
        </p:txBody>
      </p:sp>
      <p:sp>
        <p:nvSpPr>
          <p:cNvPr id="360" name="Google Shape;360;p39"/>
          <p:cNvSpPr/>
          <p:nvPr/>
        </p:nvSpPr>
        <p:spPr>
          <a:xfrm>
            <a:off x="793790" y="3499128"/>
            <a:ext cx="6408063" cy="2648783"/>
          </a:xfrm>
          <a:prstGeom prst="roundRect">
            <a:avLst>
              <a:gd fmla="val 359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9"/>
          <p:cNvSpPr/>
          <p:nvPr/>
        </p:nvSpPr>
        <p:spPr>
          <a:xfrm>
            <a:off x="1028224" y="3733562"/>
            <a:ext cx="327695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Red Flags to Watch For:</a:t>
            </a:r>
            <a:endParaRPr b="0" i="0" sz="2200" u="none" cap="none" strike="noStrike"/>
          </a:p>
        </p:txBody>
      </p:sp>
      <p:sp>
        <p:nvSpPr>
          <p:cNvPr id="362" name="Google Shape;362;p39"/>
          <p:cNvSpPr/>
          <p:nvPr/>
        </p:nvSpPr>
        <p:spPr>
          <a:xfrm>
            <a:off x="1028224" y="4223980"/>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Overconfident responses about recent events</a:t>
            </a:r>
            <a:endParaRPr b="0" i="0" sz="1750" u="none" cap="none" strike="noStrike"/>
          </a:p>
        </p:txBody>
      </p:sp>
      <p:sp>
        <p:nvSpPr>
          <p:cNvPr id="363" name="Google Shape;363;p39"/>
          <p:cNvSpPr/>
          <p:nvPr/>
        </p:nvSpPr>
        <p:spPr>
          <a:xfrm>
            <a:off x="1028224" y="4666178"/>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Specific facts without sources</a:t>
            </a:r>
            <a:endParaRPr b="0" i="0" sz="1750" u="none" cap="none" strike="noStrike"/>
          </a:p>
        </p:txBody>
      </p:sp>
      <p:sp>
        <p:nvSpPr>
          <p:cNvPr id="364" name="Google Shape;364;p39"/>
          <p:cNvSpPr/>
          <p:nvPr/>
        </p:nvSpPr>
        <p:spPr>
          <a:xfrm>
            <a:off x="1028224" y="5108377"/>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Complex calculations without showing work</a:t>
            </a:r>
            <a:endParaRPr b="0" i="0" sz="1750" u="none" cap="none" strike="noStrike"/>
          </a:p>
        </p:txBody>
      </p:sp>
      <p:sp>
        <p:nvSpPr>
          <p:cNvPr id="365" name="Google Shape;365;p39"/>
          <p:cNvSpPr/>
          <p:nvPr/>
        </p:nvSpPr>
        <p:spPr>
          <a:xfrm>
            <a:off x="1028224" y="5550575"/>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Responses that seem "too perfect"</a:t>
            </a:r>
            <a:endParaRPr b="0" i="0" sz="1750" u="none" cap="none" strike="noStrike"/>
          </a:p>
        </p:txBody>
      </p:sp>
      <p:sp>
        <p:nvSpPr>
          <p:cNvPr id="366" name="Google Shape;366;p39"/>
          <p:cNvSpPr/>
          <p:nvPr/>
        </p:nvSpPr>
        <p:spPr>
          <a:xfrm>
            <a:off x="7428667" y="3499128"/>
            <a:ext cx="6408063" cy="2648783"/>
          </a:xfrm>
          <a:prstGeom prst="roundRect">
            <a:avLst>
              <a:gd fmla="val 359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9"/>
          <p:cNvSpPr/>
          <p:nvPr/>
        </p:nvSpPr>
        <p:spPr>
          <a:xfrm>
            <a:off x="7663101" y="3733562"/>
            <a:ext cx="306443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Validation Strategies:</a:t>
            </a:r>
            <a:endParaRPr b="0" i="0" sz="2200" u="none" cap="none" strike="noStrike"/>
          </a:p>
        </p:txBody>
      </p:sp>
      <p:sp>
        <p:nvSpPr>
          <p:cNvPr id="368" name="Google Shape;368;p39"/>
          <p:cNvSpPr/>
          <p:nvPr/>
        </p:nvSpPr>
        <p:spPr>
          <a:xfrm>
            <a:off x="7663101" y="4223980"/>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Cross-check factual claims with reliable sources</a:t>
            </a:r>
            <a:endParaRPr b="0" i="0" sz="1750" u="none" cap="none" strike="noStrike"/>
          </a:p>
        </p:txBody>
      </p:sp>
      <p:sp>
        <p:nvSpPr>
          <p:cNvPr id="369" name="Google Shape;369;p39"/>
          <p:cNvSpPr/>
          <p:nvPr/>
        </p:nvSpPr>
        <p:spPr>
          <a:xfrm>
            <a:off x="7663101" y="4666178"/>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Test AI responses with known correct examples</a:t>
            </a:r>
            <a:endParaRPr b="0" i="0" sz="1750" u="none" cap="none" strike="noStrike"/>
          </a:p>
        </p:txBody>
      </p:sp>
      <p:sp>
        <p:nvSpPr>
          <p:cNvPr id="370" name="Google Shape;370;p39"/>
          <p:cNvSpPr/>
          <p:nvPr/>
        </p:nvSpPr>
        <p:spPr>
          <a:xfrm>
            <a:off x="7663101" y="5108377"/>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Look for consistency across multiple queries</a:t>
            </a:r>
            <a:endParaRPr b="0" i="0" sz="1750" u="none" cap="none" strike="noStrike"/>
          </a:p>
        </p:txBody>
      </p:sp>
      <p:sp>
        <p:nvSpPr>
          <p:cNvPr id="371" name="Google Shape;371;p39"/>
          <p:cNvSpPr/>
          <p:nvPr/>
        </p:nvSpPr>
        <p:spPr>
          <a:xfrm>
            <a:off x="7663101" y="5550575"/>
            <a:ext cx="5939195"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Understand the AI's training limitations</a:t>
            </a:r>
            <a:endParaRPr b="0" i="0" sz="1750" u="none" cap="none" strike="noStrike"/>
          </a:p>
        </p:txBody>
      </p:sp>
      <p:sp>
        <p:nvSpPr>
          <p:cNvPr id="372" name="Google Shape;372;p39"/>
          <p:cNvSpPr/>
          <p:nvPr/>
        </p:nvSpPr>
        <p:spPr>
          <a:xfrm>
            <a:off x="793790" y="6403062"/>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For Your Applications</a:t>
            </a:r>
            <a:r>
              <a:rPr b="0" i="0" lang="en-US" sz="1750" u="none" cap="none" strike="noStrike">
                <a:solidFill>
                  <a:srgbClr val="272525"/>
                </a:solidFill>
                <a:latin typeface="Open Sans"/>
                <a:ea typeface="Open Sans"/>
                <a:cs typeface="Open Sans"/>
                <a:sym typeface="Open Sans"/>
              </a:rPr>
              <a:t>: Build verification steps into workflows. Educate end-users about AI limitations. Design interfaces that encourage critical thinking.</a:t>
            </a:r>
            <a:endParaRPr b="0" i="0" sz="17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0"/>
          <p:cNvSpPr/>
          <p:nvPr/>
        </p:nvSpPr>
        <p:spPr>
          <a:xfrm>
            <a:off x="788670" y="619958"/>
            <a:ext cx="11443335" cy="63377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D75BE2"/>
              </a:buClr>
              <a:buSzPts val="3950"/>
              <a:buFont typeface="Rubik"/>
              <a:buNone/>
            </a:pPr>
            <a:r>
              <a:rPr b="0" i="0" lang="en-US" sz="3950" u="none" cap="none" strike="noStrike">
                <a:solidFill>
                  <a:srgbClr val="D75BE2"/>
                </a:solidFill>
                <a:latin typeface="Rubik"/>
                <a:ea typeface="Rubik"/>
                <a:cs typeface="Rubik"/>
                <a:sym typeface="Rubik"/>
              </a:rPr>
              <a:t>Integration Thinking - AI in Business Workflows</a:t>
            </a:r>
            <a:endParaRPr b="0" i="0" sz="3950" u="none" cap="none" strike="noStrike"/>
          </a:p>
        </p:txBody>
      </p:sp>
      <p:sp>
        <p:nvSpPr>
          <p:cNvPr id="379" name="Google Shape;379;p40"/>
          <p:cNvSpPr/>
          <p:nvPr/>
        </p:nvSpPr>
        <p:spPr>
          <a:xfrm>
            <a:off x="788670" y="1659374"/>
            <a:ext cx="13053060"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How AI Fits into Larger Systems?</a:t>
            </a:r>
            <a:endParaRPr b="0" i="0" sz="1550" u="none" cap="none" strike="noStrike"/>
          </a:p>
        </p:txBody>
      </p:sp>
      <p:sp>
        <p:nvSpPr>
          <p:cNvPr id="380" name="Google Shape;380;p40"/>
          <p:cNvSpPr/>
          <p:nvPr/>
        </p:nvSpPr>
        <p:spPr>
          <a:xfrm>
            <a:off x="788670" y="2212062"/>
            <a:ext cx="13053060"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AI as a Component, Not a Solution:</a:t>
            </a:r>
            <a:endParaRPr b="0" i="0" sz="1550" u="none" cap="none" strike="noStrike"/>
          </a:p>
        </p:txBody>
      </p:sp>
      <p:sp>
        <p:nvSpPr>
          <p:cNvPr id="381" name="Google Shape;381;p40"/>
          <p:cNvSpPr/>
          <p:nvPr/>
        </p:nvSpPr>
        <p:spPr>
          <a:xfrm>
            <a:off x="788670" y="2764750"/>
            <a:ext cx="13053060" cy="324564"/>
          </a:xfrm>
          <a:prstGeom prst="rect">
            <a:avLst/>
          </a:prstGeom>
          <a:noFill/>
          <a:ln>
            <a:noFill/>
          </a:ln>
        </p:spPr>
        <p:txBody>
          <a:bodyPr anchorCtr="0" anchor="t" bIns="0" lIns="0" spcFirstLastPara="1" rIns="0" wrap="square" tIns="0">
            <a:noAutofit/>
          </a:bodyPr>
          <a:lstStyle/>
          <a:p>
            <a:pPr indent="-342900" lvl="0" marL="342900" marR="0" rtl="0" algn="l">
              <a:lnSpc>
                <a:spcPct val="164516"/>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AI enhances existing processes rather than replacing entire workflows</a:t>
            </a:r>
            <a:endParaRPr b="0" i="0" sz="1550" u="none" cap="none" strike="noStrike"/>
          </a:p>
        </p:txBody>
      </p:sp>
      <p:sp>
        <p:nvSpPr>
          <p:cNvPr id="382" name="Google Shape;382;p40"/>
          <p:cNvSpPr/>
          <p:nvPr/>
        </p:nvSpPr>
        <p:spPr>
          <a:xfrm>
            <a:off x="788670" y="3160276"/>
            <a:ext cx="13053060" cy="324564"/>
          </a:xfrm>
          <a:prstGeom prst="rect">
            <a:avLst/>
          </a:prstGeom>
          <a:noFill/>
          <a:ln>
            <a:noFill/>
          </a:ln>
        </p:spPr>
        <p:txBody>
          <a:bodyPr anchorCtr="0" anchor="t" bIns="0" lIns="0" spcFirstLastPara="1" rIns="0" wrap="square" tIns="0">
            <a:noAutofit/>
          </a:bodyPr>
          <a:lstStyle/>
          <a:p>
            <a:pPr indent="-342900" lvl="0" marL="342900" marR="0" rtl="0" algn="l">
              <a:lnSpc>
                <a:spcPct val="164516"/>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Most effective when combined with human oversight and other systems</a:t>
            </a:r>
            <a:endParaRPr b="0" i="0" sz="1550" u="none" cap="none" strike="noStrike"/>
          </a:p>
        </p:txBody>
      </p:sp>
      <p:sp>
        <p:nvSpPr>
          <p:cNvPr id="383" name="Google Shape;383;p40"/>
          <p:cNvSpPr/>
          <p:nvPr/>
        </p:nvSpPr>
        <p:spPr>
          <a:xfrm>
            <a:off x="788670" y="3555802"/>
            <a:ext cx="13053060" cy="324564"/>
          </a:xfrm>
          <a:prstGeom prst="rect">
            <a:avLst/>
          </a:prstGeom>
          <a:noFill/>
          <a:ln>
            <a:noFill/>
          </a:ln>
        </p:spPr>
        <p:txBody>
          <a:bodyPr anchorCtr="0" anchor="t" bIns="0" lIns="0" spcFirstLastPara="1" rIns="0" wrap="square" tIns="0">
            <a:noAutofit/>
          </a:bodyPr>
          <a:lstStyle/>
          <a:p>
            <a:pPr indent="-342900" lvl="0" marL="342900" marR="0" rtl="0" algn="l">
              <a:lnSpc>
                <a:spcPct val="164516"/>
              </a:lnSpc>
              <a:spcBef>
                <a:spcPts val="0"/>
              </a:spcBef>
              <a:spcAft>
                <a:spcPts val="0"/>
              </a:spcAft>
              <a:buClr>
                <a:srgbClr val="272525"/>
              </a:buClr>
              <a:buSzPts val="1550"/>
              <a:buFont typeface="Open Sans"/>
              <a:buChar char="•"/>
            </a:pPr>
            <a:r>
              <a:rPr b="0" i="0" lang="en-US" sz="1550" u="none" cap="none" strike="noStrike">
                <a:solidFill>
                  <a:srgbClr val="272525"/>
                </a:solidFill>
                <a:latin typeface="Open Sans"/>
                <a:ea typeface="Open Sans"/>
                <a:cs typeface="Open Sans"/>
                <a:sym typeface="Open Sans"/>
              </a:rPr>
              <a:t>Requires clear input/output specifications</a:t>
            </a:r>
            <a:endParaRPr b="0" i="0" sz="1550" u="none" cap="none" strike="noStrike"/>
          </a:p>
        </p:txBody>
      </p:sp>
      <p:sp>
        <p:nvSpPr>
          <p:cNvPr id="384" name="Google Shape;384;p40"/>
          <p:cNvSpPr/>
          <p:nvPr/>
        </p:nvSpPr>
        <p:spPr>
          <a:xfrm>
            <a:off x="788670" y="4108490"/>
            <a:ext cx="13053060"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Integration Considerations:</a:t>
            </a:r>
            <a:endParaRPr b="0" i="0" sz="1550" u="none" cap="none" strike="noStrike"/>
          </a:p>
        </p:txBody>
      </p:sp>
      <p:sp>
        <p:nvSpPr>
          <p:cNvPr id="385" name="Google Shape;385;p40"/>
          <p:cNvSpPr/>
          <p:nvPr/>
        </p:nvSpPr>
        <p:spPr>
          <a:xfrm>
            <a:off x="788670" y="4661178"/>
            <a:ext cx="456367" cy="456367"/>
          </a:xfrm>
          <a:prstGeom prst="roundRect">
            <a:avLst>
              <a:gd fmla="val 1866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6" name="Google Shape;386;p40"/>
          <p:cNvPicPr preferRelativeResize="0"/>
          <p:nvPr/>
        </p:nvPicPr>
        <p:blipFill rotWithShape="1">
          <a:blip r:embed="rId3">
            <a:alphaModFix/>
          </a:blip>
          <a:srcRect b="0" l="0" r="0" t="0"/>
          <a:stretch/>
        </p:blipFill>
        <p:spPr>
          <a:xfrm>
            <a:off x="864691" y="4699159"/>
            <a:ext cx="304205" cy="380286"/>
          </a:xfrm>
          <a:prstGeom prst="rect">
            <a:avLst/>
          </a:prstGeom>
          <a:noFill/>
          <a:ln>
            <a:noFill/>
          </a:ln>
        </p:spPr>
      </p:pic>
      <p:sp>
        <p:nvSpPr>
          <p:cNvPr id="387" name="Google Shape;387;p40"/>
          <p:cNvSpPr/>
          <p:nvPr/>
        </p:nvSpPr>
        <p:spPr>
          <a:xfrm>
            <a:off x="1447800" y="4730829"/>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Data Flow</a:t>
            </a:r>
            <a:endParaRPr b="0" i="0" sz="1950" u="none" cap="none" strike="noStrike"/>
          </a:p>
        </p:txBody>
      </p:sp>
      <p:sp>
        <p:nvSpPr>
          <p:cNvPr id="388" name="Google Shape;388;p40"/>
          <p:cNvSpPr/>
          <p:nvPr/>
        </p:nvSpPr>
        <p:spPr>
          <a:xfrm>
            <a:off x="1447800" y="5169337"/>
            <a:ext cx="5740718"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How information moves between AI and other systems</a:t>
            </a:r>
            <a:endParaRPr b="0" i="0" sz="1550" u="none" cap="none" strike="noStrike"/>
          </a:p>
        </p:txBody>
      </p:sp>
      <p:sp>
        <p:nvSpPr>
          <p:cNvPr id="389" name="Google Shape;389;p40"/>
          <p:cNvSpPr/>
          <p:nvPr/>
        </p:nvSpPr>
        <p:spPr>
          <a:xfrm>
            <a:off x="7442002" y="4661178"/>
            <a:ext cx="456367" cy="456367"/>
          </a:xfrm>
          <a:prstGeom prst="roundRect">
            <a:avLst>
              <a:gd fmla="val 1866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0" name="Google Shape;390;p40"/>
          <p:cNvPicPr preferRelativeResize="0"/>
          <p:nvPr/>
        </p:nvPicPr>
        <p:blipFill rotWithShape="1">
          <a:blip r:embed="rId4">
            <a:alphaModFix/>
          </a:blip>
          <a:srcRect b="0" l="0" r="0" t="0"/>
          <a:stretch/>
        </p:blipFill>
        <p:spPr>
          <a:xfrm>
            <a:off x="7518023" y="4699159"/>
            <a:ext cx="304205" cy="380286"/>
          </a:xfrm>
          <a:prstGeom prst="rect">
            <a:avLst/>
          </a:prstGeom>
          <a:noFill/>
          <a:ln>
            <a:noFill/>
          </a:ln>
        </p:spPr>
      </p:pic>
      <p:sp>
        <p:nvSpPr>
          <p:cNvPr id="391" name="Google Shape;391;p40"/>
          <p:cNvSpPr/>
          <p:nvPr/>
        </p:nvSpPr>
        <p:spPr>
          <a:xfrm>
            <a:off x="8101132" y="4730829"/>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Human-in-the-Loop</a:t>
            </a:r>
            <a:endParaRPr b="0" i="0" sz="1950" u="none" cap="none" strike="noStrike"/>
          </a:p>
        </p:txBody>
      </p:sp>
      <p:sp>
        <p:nvSpPr>
          <p:cNvPr id="392" name="Google Shape;392;p40"/>
          <p:cNvSpPr/>
          <p:nvPr/>
        </p:nvSpPr>
        <p:spPr>
          <a:xfrm>
            <a:off x="8101132" y="5169337"/>
            <a:ext cx="5740718"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Where human judgment is essential</a:t>
            </a:r>
            <a:endParaRPr b="0" i="0" sz="1550" u="none" cap="none" strike="noStrike"/>
          </a:p>
        </p:txBody>
      </p:sp>
      <p:sp>
        <p:nvSpPr>
          <p:cNvPr id="393" name="Google Shape;393;p40"/>
          <p:cNvSpPr/>
          <p:nvPr/>
        </p:nvSpPr>
        <p:spPr>
          <a:xfrm>
            <a:off x="788670" y="5899547"/>
            <a:ext cx="456367" cy="456367"/>
          </a:xfrm>
          <a:prstGeom prst="roundRect">
            <a:avLst>
              <a:gd fmla="val 1866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4" name="Google Shape;394;p40"/>
          <p:cNvPicPr preferRelativeResize="0"/>
          <p:nvPr/>
        </p:nvPicPr>
        <p:blipFill rotWithShape="1">
          <a:blip r:embed="rId5">
            <a:alphaModFix/>
          </a:blip>
          <a:srcRect b="0" l="0" r="0" t="0"/>
          <a:stretch/>
        </p:blipFill>
        <p:spPr>
          <a:xfrm>
            <a:off x="864691" y="5937528"/>
            <a:ext cx="304205" cy="380286"/>
          </a:xfrm>
          <a:prstGeom prst="rect">
            <a:avLst/>
          </a:prstGeom>
          <a:noFill/>
          <a:ln>
            <a:noFill/>
          </a:ln>
        </p:spPr>
      </p:pic>
      <p:sp>
        <p:nvSpPr>
          <p:cNvPr id="395" name="Google Shape;395;p40"/>
          <p:cNvSpPr/>
          <p:nvPr/>
        </p:nvSpPr>
        <p:spPr>
          <a:xfrm>
            <a:off x="1447800" y="5969198"/>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Error Handling</a:t>
            </a:r>
            <a:endParaRPr b="0" i="0" sz="1950" u="none" cap="none" strike="noStrike"/>
          </a:p>
        </p:txBody>
      </p:sp>
      <p:sp>
        <p:nvSpPr>
          <p:cNvPr id="396" name="Google Shape;396;p40"/>
          <p:cNvSpPr/>
          <p:nvPr/>
        </p:nvSpPr>
        <p:spPr>
          <a:xfrm>
            <a:off x="1447800" y="6407706"/>
            <a:ext cx="5740718"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What happens when AI fails or produces poor output</a:t>
            </a:r>
            <a:endParaRPr b="0" i="0" sz="1550" u="none" cap="none" strike="noStrike"/>
          </a:p>
        </p:txBody>
      </p:sp>
      <p:sp>
        <p:nvSpPr>
          <p:cNvPr id="397" name="Google Shape;397;p40"/>
          <p:cNvSpPr/>
          <p:nvPr/>
        </p:nvSpPr>
        <p:spPr>
          <a:xfrm>
            <a:off x="7442002" y="5899547"/>
            <a:ext cx="456367" cy="456367"/>
          </a:xfrm>
          <a:prstGeom prst="roundRect">
            <a:avLst>
              <a:gd fmla="val 1866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40"/>
          <p:cNvPicPr preferRelativeResize="0"/>
          <p:nvPr/>
        </p:nvPicPr>
        <p:blipFill rotWithShape="1">
          <a:blip r:embed="rId6">
            <a:alphaModFix/>
          </a:blip>
          <a:srcRect b="0" l="0" r="0" t="0"/>
          <a:stretch/>
        </p:blipFill>
        <p:spPr>
          <a:xfrm>
            <a:off x="7518023" y="5937528"/>
            <a:ext cx="304205" cy="380286"/>
          </a:xfrm>
          <a:prstGeom prst="rect">
            <a:avLst/>
          </a:prstGeom>
          <a:noFill/>
          <a:ln>
            <a:noFill/>
          </a:ln>
        </p:spPr>
      </p:pic>
      <p:sp>
        <p:nvSpPr>
          <p:cNvPr id="399" name="Google Shape;399;p40"/>
          <p:cNvSpPr/>
          <p:nvPr/>
        </p:nvSpPr>
        <p:spPr>
          <a:xfrm>
            <a:off x="8101132" y="5969198"/>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Scalability</a:t>
            </a:r>
            <a:endParaRPr b="0" i="0" sz="1950" u="none" cap="none" strike="noStrike"/>
          </a:p>
        </p:txBody>
      </p:sp>
      <p:sp>
        <p:nvSpPr>
          <p:cNvPr id="400" name="Google Shape;400;p40"/>
          <p:cNvSpPr/>
          <p:nvPr/>
        </p:nvSpPr>
        <p:spPr>
          <a:xfrm>
            <a:off x="8101132" y="6407706"/>
            <a:ext cx="5740718" cy="324564"/>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How the solution grows with increased usage</a:t>
            </a:r>
            <a:endParaRPr b="0" i="0" sz="1550" u="none" cap="none" strike="noStrike"/>
          </a:p>
        </p:txBody>
      </p:sp>
      <p:sp>
        <p:nvSpPr>
          <p:cNvPr id="401" name="Google Shape;401;p40"/>
          <p:cNvSpPr/>
          <p:nvPr/>
        </p:nvSpPr>
        <p:spPr>
          <a:xfrm>
            <a:off x="788670" y="6960394"/>
            <a:ext cx="13053060" cy="649129"/>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Context for Your Learning</a:t>
            </a:r>
            <a:r>
              <a:rPr b="0" i="0" lang="en-US" sz="1550" u="none" cap="none" strike="noStrike">
                <a:solidFill>
                  <a:srgbClr val="272525"/>
                </a:solidFill>
                <a:latin typeface="Open Sans"/>
                <a:ea typeface="Open Sans"/>
                <a:cs typeface="Open Sans"/>
                <a:sym typeface="Open Sans"/>
              </a:rPr>
              <a:t>: Understanding integration helps you design better custom GPTs and no-code applications that work well in real business environments.</a:t>
            </a:r>
            <a:endParaRPr b="0" i="0" sz="155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descr="preencoded.png" id="407" name="Google Shape;407;p4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08" name="Google Shape;408;p41"/>
          <p:cNvSpPr/>
          <p:nvPr/>
        </p:nvSpPr>
        <p:spPr>
          <a:xfrm>
            <a:off x="6280190" y="664250"/>
            <a:ext cx="7556421" cy="2020253"/>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D75BE2"/>
              </a:buClr>
              <a:buSzPts val="4200"/>
              <a:buFont typeface="Rubik"/>
              <a:buNone/>
            </a:pPr>
            <a:r>
              <a:rPr b="0" i="0" lang="en-US" sz="4200" u="none" cap="none" strike="noStrike">
                <a:solidFill>
                  <a:srgbClr val="D75BE2"/>
                </a:solidFill>
                <a:latin typeface="Rubik"/>
                <a:ea typeface="Rubik"/>
                <a:cs typeface="Rubik"/>
                <a:sym typeface="Rubik"/>
              </a:rPr>
              <a:t>How These Foundations Connects to the Course Sections ?</a:t>
            </a:r>
            <a:endParaRPr b="0" i="0" sz="4200" u="none" cap="none" strike="noStrike"/>
          </a:p>
        </p:txBody>
      </p:sp>
      <p:sp>
        <p:nvSpPr>
          <p:cNvPr id="409" name="Google Shape;409;p41"/>
          <p:cNvSpPr/>
          <p:nvPr/>
        </p:nvSpPr>
        <p:spPr>
          <a:xfrm>
            <a:off x="6280190" y="3007638"/>
            <a:ext cx="7556421" cy="4557713"/>
          </a:xfrm>
          <a:prstGeom prst="roundRect">
            <a:avLst>
              <a:gd fmla="val 1986"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1"/>
          <p:cNvSpPr/>
          <p:nvPr/>
        </p:nvSpPr>
        <p:spPr>
          <a:xfrm>
            <a:off x="6287810" y="3015258"/>
            <a:ext cx="7541181" cy="61841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1"/>
          <p:cNvSpPr/>
          <p:nvPr/>
        </p:nvSpPr>
        <p:spPr>
          <a:xfrm>
            <a:off x="6503313" y="3152061"/>
            <a:ext cx="1822490"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1" i="0" lang="en-US" sz="1650" u="none" cap="none" strike="noStrike">
                <a:solidFill>
                  <a:srgbClr val="272525"/>
                </a:solidFill>
                <a:latin typeface="Open Sans"/>
                <a:ea typeface="Open Sans"/>
                <a:cs typeface="Open Sans"/>
                <a:sym typeface="Open Sans"/>
              </a:rPr>
              <a:t>Course Section </a:t>
            </a:r>
            <a:endParaRPr b="0" i="0" sz="1650" u="none" cap="none" strike="noStrike"/>
          </a:p>
        </p:txBody>
      </p:sp>
      <p:sp>
        <p:nvSpPr>
          <p:cNvPr id="412" name="Google Shape;412;p41"/>
          <p:cNvSpPr/>
          <p:nvPr/>
        </p:nvSpPr>
        <p:spPr>
          <a:xfrm>
            <a:off x="8764191" y="3152061"/>
            <a:ext cx="4849416"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1" i="0" lang="en-US" sz="1650" u="none" cap="none" strike="noStrike">
                <a:solidFill>
                  <a:srgbClr val="272525"/>
                </a:solidFill>
                <a:latin typeface="Open Sans"/>
                <a:ea typeface="Open Sans"/>
                <a:cs typeface="Open Sans"/>
                <a:sym typeface="Open Sans"/>
              </a:rPr>
              <a:t>How Foundations Apply</a:t>
            </a:r>
            <a:endParaRPr b="0" i="0" sz="1650" u="none" cap="none" strike="noStrike"/>
          </a:p>
        </p:txBody>
      </p:sp>
      <p:sp>
        <p:nvSpPr>
          <p:cNvPr id="413" name="Google Shape;413;p41"/>
          <p:cNvSpPr/>
          <p:nvPr/>
        </p:nvSpPr>
        <p:spPr>
          <a:xfrm>
            <a:off x="6287810" y="3633668"/>
            <a:ext cx="7541181" cy="130802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1"/>
          <p:cNvSpPr/>
          <p:nvPr/>
        </p:nvSpPr>
        <p:spPr>
          <a:xfrm>
            <a:off x="6503313" y="3770471"/>
            <a:ext cx="1822490"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Custom GPTs</a:t>
            </a:r>
            <a:endParaRPr b="0" i="0" sz="1650" u="none" cap="none" strike="noStrike"/>
          </a:p>
        </p:txBody>
      </p:sp>
      <p:sp>
        <p:nvSpPr>
          <p:cNvPr id="415" name="Google Shape;415;p41"/>
          <p:cNvSpPr/>
          <p:nvPr/>
        </p:nvSpPr>
        <p:spPr>
          <a:xfrm>
            <a:off x="8764191" y="3770471"/>
            <a:ext cx="4849416" cy="10344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Understanding LLM capabilities helps you write better instructions. Knowledge of limitations guides your knowledge base design.</a:t>
            </a:r>
            <a:endParaRPr b="0" i="0" sz="1650" u="none" cap="none" strike="noStrike"/>
          </a:p>
        </p:txBody>
      </p:sp>
      <p:sp>
        <p:nvSpPr>
          <p:cNvPr id="416" name="Google Shape;416;p41"/>
          <p:cNvSpPr/>
          <p:nvPr/>
        </p:nvSpPr>
        <p:spPr>
          <a:xfrm>
            <a:off x="6287810" y="4941689"/>
            <a:ext cx="7541181" cy="130802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1"/>
          <p:cNvSpPr/>
          <p:nvPr/>
        </p:nvSpPr>
        <p:spPr>
          <a:xfrm>
            <a:off x="6503313" y="5078492"/>
            <a:ext cx="1822490"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No-Code Development</a:t>
            </a:r>
            <a:endParaRPr b="0" i="0" sz="1650" u="none" cap="none" strike="noStrike"/>
          </a:p>
        </p:txBody>
      </p:sp>
      <p:sp>
        <p:nvSpPr>
          <p:cNvPr id="418" name="Google Shape;418;p41"/>
          <p:cNvSpPr/>
          <p:nvPr/>
        </p:nvSpPr>
        <p:spPr>
          <a:xfrm>
            <a:off x="8764191" y="5078492"/>
            <a:ext cx="4849416" cy="10344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AI type knowledge helps you choose the right platform. Integration thinking guides your app architecture decisions.</a:t>
            </a:r>
            <a:endParaRPr b="0" i="0" sz="1650" u="none" cap="none" strike="noStrike"/>
          </a:p>
        </p:txBody>
      </p:sp>
      <p:sp>
        <p:nvSpPr>
          <p:cNvPr id="419" name="Google Shape;419;p41"/>
          <p:cNvSpPr/>
          <p:nvPr/>
        </p:nvSpPr>
        <p:spPr>
          <a:xfrm>
            <a:off x="6287810" y="6249710"/>
            <a:ext cx="7541181" cy="130802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1"/>
          <p:cNvSpPr/>
          <p:nvPr/>
        </p:nvSpPr>
        <p:spPr>
          <a:xfrm>
            <a:off x="6503313" y="6386513"/>
            <a:ext cx="1822490"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Data Analysis and Decision Making</a:t>
            </a:r>
            <a:endParaRPr b="0" i="0" sz="1650" u="none" cap="none" strike="noStrike"/>
          </a:p>
        </p:txBody>
      </p:sp>
      <p:sp>
        <p:nvSpPr>
          <p:cNvPr id="421" name="Google Shape;421;p41"/>
          <p:cNvSpPr/>
          <p:nvPr/>
        </p:nvSpPr>
        <p:spPr>
          <a:xfrm>
            <a:off x="8764191" y="6386513"/>
            <a:ext cx="4849416" cy="10344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650"/>
              <a:buFont typeface="Open Sans"/>
              <a:buNone/>
            </a:pPr>
            <a:r>
              <a:rPr b="0" i="0" lang="en-US" sz="1650" u="none" cap="none" strike="noStrike">
                <a:solidFill>
                  <a:srgbClr val="272525"/>
                </a:solidFill>
                <a:latin typeface="Open Sans"/>
                <a:ea typeface="Open Sans"/>
                <a:cs typeface="Open Sans"/>
                <a:sym typeface="Open Sans"/>
              </a:rPr>
              <a:t>ML understanding helps you interpret AI-generated insights critically. Quality assessment skills prevent incorrect business decisions.</a:t>
            </a:r>
            <a:endParaRPr b="0" i="0" sz="165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descr="preencoded.png" id="427" name="Google Shape;427;p4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28" name="Google Shape;428;p42"/>
          <p:cNvSpPr/>
          <p:nvPr/>
        </p:nvSpPr>
        <p:spPr>
          <a:xfrm>
            <a:off x="793790" y="871895"/>
            <a:ext cx="7556421" cy="127587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4000"/>
              <a:buFont typeface="Rubik"/>
              <a:buNone/>
            </a:pPr>
            <a:r>
              <a:rPr b="0" i="0" lang="en-US" sz="4000" u="none" cap="none" strike="noStrike">
                <a:solidFill>
                  <a:srgbClr val="D75BE2"/>
                </a:solidFill>
                <a:latin typeface="Rubik"/>
                <a:ea typeface="Rubik"/>
                <a:cs typeface="Rubik"/>
                <a:sym typeface="Rubik"/>
              </a:rPr>
              <a:t>Key Takeaways for Advanced Users</a:t>
            </a:r>
            <a:endParaRPr b="0" i="0" sz="4000" u="none" cap="none" strike="noStrike"/>
          </a:p>
        </p:txBody>
      </p:sp>
      <p:sp>
        <p:nvSpPr>
          <p:cNvPr id="429" name="Google Shape;429;p42"/>
          <p:cNvSpPr/>
          <p:nvPr/>
        </p:nvSpPr>
        <p:spPr>
          <a:xfrm>
            <a:off x="793790" y="2453878"/>
            <a:ext cx="459224" cy="45922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0" name="Google Shape;430;p42"/>
          <p:cNvPicPr preferRelativeResize="0"/>
          <p:nvPr/>
        </p:nvPicPr>
        <p:blipFill rotWithShape="1">
          <a:blip r:embed="rId4">
            <a:alphaModFix/>
          </a:blip>
          <a:srcRect b="0" l="0" r="0" t="0"/>
          <a:stretch/>
        </p:blipFill>
        <p:spPr>
          <a:xfrm>
            <a:off x="870287" y="2492097"/>
            <a:ext cx="306110" cy="382667"/>
          </a:xfrm>
          <a:prstGeom prst="rect">
            <a:avLst/>
          </a:prstGeom>
          <a:noFill/>
          <a:ln>
            <a:noFill/>
          </a:ln>
        </p:spPr>
      </p:pic>
      <p:sp>
        <p:nvSpPr>
          <p:cNvPr id="431" name="Google Shape;431;p42"/>
          <p:cNvSpPr/>
          <p:nvPr/>
        </p:nvSpPr>
        <p:spPr>
          <a:xfrm>
            <a:off x="1457087" y="2524006"/>
            <a:ext cx="3824288"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Rubik"/>
              <a:buNone/>
            </a:pPr>
            <a:r>
              <a:rPr b="0" i="0" lang="en-US" sz="2000" u="none" cap="none" strike="noStrike">
                <a:solidFill>
                  <a:srgbClr val="272525"/>
                </a:solidFill>
                <a:latin typeface="Rubik"/>
                <a:ea typeface="Rubik"/>
                <a:cs typeface="Rubik"/>
                <a:sym typeface="Rubik"/>
              </a:rPr>
              <a:t>AI is a Strategic Tool, Not Magic</a:t>
            </a:r>
            <a:endParaRPr b="0" i="0" sz="2000" u="none" cap="none" strike="noStrike"/>
          </a:p>
        </p:txBody>
      </p:sp>
      <p:sp>
        <p:nvSpPr>
          <p:cNvPr id="432" name="Google Shape;432;p42"/>
          <p:cNvSpPr/>
          <p:nvPr/>
        </p:nvSpPr>
        <p:spPr>
          <a:xfrm>
            <a:off x="1457087" y="2965252"/>
            <a:ext cx="6893123"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Open Sans"/>
              <a:buNone/>
            </a:pPr>
            <a:r>
              <a:rPr b="0" i="0" lang="en-US" sz="1600" u="none" cap="none" strike="noStrike">
                <a:solidFill>
                  <a:srgbClr val="272525"/>
                </a:solidFill>
                <a:latin typeface="Open Sans"/>
                <a:ea typeface="Open Sans"/>
                <a:cs typeface="Open Sans"/>
                <a:sym typeface="Open Sans"/>
              </a:rPr>
              <a:t>Success depends on matching AI capabilities to specific business problems.</a:t>
            </a:r>
            <a:endParaRPr b="0" i="0" sz="1600" u="none" cap="none" strike="noStrike"/>
          </a:p>
        </p:txBody>
      </p:sp>
      <p:sp>
        <p:nvSpPr>
          <p:cNvPr id="433" name="Google Shape;433;p42"/>
          <p:cNvSpPr/>
          <p:nvPr/>
        </p:nvSpPr>
        <p:spPr>
          <a:xfrm>
            <a:off x="793790" y="4026932"/>
            <a:ext cx="459224" cy="45922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4" name="Google Shape;434;p42"/>
          <p:cNvPicPr preferRelativeResize="0"/>
          <p:nvPr/>
        </p:nvPicPr>
        <p:blipFill rotWithShape="1">
          <a:blip r:embed="rId5">
            <a:alphaModFix/>
          </a:blip>
          <a:srcRect b="0" l="0" r="0" t="0"/>
          <a:stretch/>
        </p:blipFill>
        <p:spPr>
          <a:xfrm>
            <a:off x="870287" y="4065151"/>
            <a:ext cx="306110" cy="382667"/>
          </a:xfrm>
          <a:prstGeom prst="rect">
            <a:avLst/>
          </a:prstGeom>
          <a:noFill/>
          <a:ln>
            <a:noFill/>
          </a:ln>
        </p:spPr>
      </p:pic>
      <p:sp>
        <p:nvSpPr>
          <p:cNvPr id="435" name="Google Shape;435;p42"/>
          <p:cNvSpPr/>
          <p:nvPr/>
        </p:nvSpPr>
        <p:spPr>
          <a:xfrm>
            <a:off x="1457087" y="4097060"/>
            <a:ext cx="3738086"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Rubik"/>
              <a:buNone/>
            </a:pPr>
            <a:r>
              <a:rPr b="0" i="0" lang="en-US" sz="2000" u="none" cap="none" strike="noStrike">
                <a:solidFill>
                  <a:srgbClr val="272525"/>
                </a:solidFill>
                <a:latin typeface="Rubik"/>
                <a:ea typeface="Rubik"/>
                <a:cs typeface="Rubik"/>
                <a:sym typeface="Rubik"/>
              </a:rPr>
              <a:t>Think Like a Solution Architect</a:t>
            </a:r>
            <a:endParaRPr b="0" i="0" sz="2000" u="none" cap="none" strike="noStrike"/>
          </a:p>
        </p:txBody>
      </p:sp>
      <p:sp>
        <p:nvSpPr>
          <p:cNvPr id="436" name="Google Shape;436;p42"/>
          <p:cNvSpPr/>
          <p:nvPr/>
        </p:nvSpPr>
        <p:spPr>
          <a:xfrm>
            <a:off x="1457087" y="4538305"/>
            <a:ext cx="6893123"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Open Sans"/>
              <a:buNone/>
            </a:pPr>
            <a:r>
              <a:rPr b="0" i="0" lang="en-US" sz="1600" u="none" cap="none" strike="noStrike">
                <a:solidFill>
                  <a:srgbClr val="272525"/>
                </a:solidFill>
                <a:latin typeface="Open Sans"/>
                <a:ea typeface="Open Sans"/>
                <a:cs typeface="Open Sans"/>
                <a:sym typeface="Open Sans"/>
              </a:rPr>
              <a:t>Consider the entire workflow, not just the AI component.</a:t>
            </a:r>
            <a:endParaRPr b="0" i="0" sz="1600" u="none" cap="none" strike="noStrike"/>
          </a:p>
        </p:txBody>
      </p:sp>
      <p:sp>
        <p:nvSpPr>
          <p:cNvPr id="437" name="Google Shape;437;p42"/>
          <p:cNvSpPr/>
          <p:nvPr/>
        </p:nvSpPr>
        <p:spPr>
          <a:xfrm>
            <a:off x="793790" y="5273278"/>
            <a:ext cx="459224" cy="45922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8" name="Google Shape;438;p42"/>
          <p:cNvPicPr preferRelativeResize="0"/>
          <p:nvPr/>
        </p:nvPicPr>
        <p:blipFill rotWithShape="1">
          <a:blip r:embed="rId6">
            <a:alphaModFix/>
          </a:blip>
          <a:srcRect b="0" l="0" r="0" t="0"/>
          <a:stretch/>
        </p:blipFill>
        <p:spPr>
          <a:xfrm>
            <a:off x="870287" y="5311497"/>
            <a:ext cx="306110" cy="382667"/>
          </a:xfrm>
          <a:prstGeom prst="rect">
            <a:avLst/>
          </a:prstGeom>
          <a:noFill/>
          <a:ln>
            <a:noFill/>
          </a:ln>
        </p:spPr>
      </p:pic>
      <p:sp>
        <p:nvSpPr>
          <p:cNvPr id="439" name="Google Shape;439;p42"/>
          <p:cNvSpPr/>
          <p:nvPr/>
        </p:nvSpPr>
        <p:spPr>
          <a:xfrm>
            <a:off x="1457087" y="5343406"/>
            <a:ext cx="2551748"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Rubik"/>
              <a:buNone/>
            </a:pPr>
            <a:r>
              <a:rPr b="0" i="0" lang="en-US" sz="2000" u="none" cap="none" strike="noStrike">
                <a:solidFill>
                  <a:srgbClr val="272525"/>
                </a:solidFill>
                <a:latin typeface="Rubik"/>
                <a:ea typeface="Rubik"/>
                <a:cs typeface="Rubik"/>
                <a:sym typeface="Rubik"/>
              </a:rPr>
              <a:t>Build Responsibly</a:t>
            </a:r>
            <a:endParaRPr b="0" i="0" sz="2000" u="none" cap="none" strike="noStrike"/>
          </a:p>
        </p:txBody>
      </p:sp>
      <p:sp>
        <p:nvSpPr>
          <p:cNvPr id="440" name="Google Shape;440;p42"/>
          <p:cNvSpPr/>
          <p:nvPr/>
        </p:nvSpPr>
        <p:spPr>
          <a:xfrm>
            <a:off x="1457087" y="5784652"/>
            <a:ext cx="6893123"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Open Sans"/>
              <a:buNone/>
            </a:pPr>
            <a:r>
              <a:rPr b="0" i="0" lang="en-US" sz="1600" u="none" cap="none" strike="noStrike">
                <a:solidFill>
                  <a:srgbClr val="272525"/>
                </a:solidFill>
                <a:latin typeface="Open Sans"/>
                <a:ea typeface="Open Sans"/>
                <a:cs typeface="Open Sans"/>
                <a:sym typeface="Open Sans"/>
              </a:rPr>
              <a:t>Understand and communicate AI limitations to users.</a:t>
            </a:r>
            <a:endParaRPr b="0" i="0" sz="1600" u="none" cap="none" strike="noStrike"/>
          </a:p>
        </p:txBody>
      </p:sp>
      <p:sp>
        <p:nvSpPr>
          <p:cNvPr id="441" name="Google Shape;441;p42"/>
          <p:cNvSpPr/>
          <p:nvPr/>
        </p:nvSpPr>
        <p:spPr>
          <a:xfrm>
            <a:off x="793790" y="6519624"/>
            <a:ext cx="459224" cy="459224"/>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2" name="Google Shape;442;p42"/>
          <p:cNvPicPr preferRelativeResize="0"/>
          <p:nvPr/>
        </p:nvPicPr>
        <p:blipFill rotWithShape="1">
          <a:blip r:embed="rId7">
            <a:alphaModFix/>
          </a:blip>
          <a:srcRect b="0" l="0" r="0" t="0"/>
          <a:stretch/>
        </p:blipFill>
        <p:spPr>
          <a:xfrm>
            <a:off x="870287" y="6557843"/>
            <a:ext cx="306110" cy="382667"/>
          </a:xfrm>
          <a:prstGeom prst="rect">
            <a:avLst/>
          </a:prstGeom>
          <a:noFill/>
          <a:ln>
            <a:noFill/>
          </a:ln>
        </p:spPr>
      </p:pic>
      <p:sp>
        <p:nvSpPr>
          <p:cNvPr id="443" name="Google Shape;443;p42"/>
          <p:cNvSpPr/>
          <p:nvPr/>
        </p:nvSpPr>
        <p:spPr>
          <a:xfrm>
            <a:off x="1457087" y="6589752"/>
            <a:ext cx="4009906"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000"/>
              <a:buFont typeface="Rubik"/>
              <a:buNone/>
            </a:pPr>
            <a:r>
              <a:rPr b="0" i="0" lang="en-US" sz="2000" u="none" cap="none" strike="noStrike">
                <a:solidFill>
                  <a:srgbClr val="272525"/>
                </a:solidFill>
                <a:latin typeface="Rubik"/>
                <a:ea typeface="Rubik"/>
                <a:cs typeface="Rubik"/>
                <a:sym typeface="Rubik"/>
              </a:rPr>
              <a:t>Prepare for Continuous Learning</a:t>
            </a:r>
            <a:endParaRPr b="0" i="0" sz="2000" u="none" cap="none" strike="noStrike"/>
          </a:p>
        </p:txBody>
      </p:sp>
      <p:sp>
        <p:nvSpPr>
          <p:cNvPr id="444" name="Google Shape;444;p42"/>
          <p:cNvSpPr/>
          <p:nvPr/>
        </p:nvSpPr>
        <p:spPr>
          <a:xfrm>
            <a:off x="1457087" y="7030998"/>
            <a:ext cx="6893123"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Open Sans"/>
              <a:buNone/>
            </a:pPr>
            <a:r>
              <a:rPr b="0" i="0" lang="en-US" sz="1600" u="none" cap="none" strike="noStrike">
                <a:solidFill>
                  <a:srgbClr val="272525"/>
                </a:solidFill>
                <a:latin typeface="Open Sans"/>
                <a:ea typeface="Open Sans"/>
                <a:cs typeface="Open Sans"/>
                <a:sym typeface="Open Sans"/>
              </a:rPr>
              <a:t>AI capabilities evolve rapidly - stay informed about new developments.</a:t>
            </a:r>
            <a:endParaRPr b="0" i="0" sz="16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3"/>
          <p:cNvSpPr/>
          <p:nvPr/>
        </p:nvSpPr>
        <p:spPr>
          <a:xfrm>
            <a:off x="793790" y="623768"/>
            <a:ext cx="653617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1" i="0" lang="en-US" sz="4450" u="none" cap="none" strike="noStrike">
                <a:solidFill>
                  <a:srgbClr val="D75BE2"/>
                </a:solidFill>
                <a:latin typeface="Rubik"/>
                <a:ea typeface="Rubik"/>
                <a:cs typeface="Rubik"/>
                <a:sym typeface="Rubik"/>
              </a:rPr>
              <a:t>Sources of Information</a:t>
            </a:r>
            <a:endParaRPr b="0" i="0" sz="4450" u="none" cap="none" strike="noStrike"/>
          </a:p>
        </p:txBody>
      </p:sp>
      <p:sp>
        <p:nvSpPr>
          <p:cNvPr id="451" name="Google Shape;451;p43"/>
          <p:cNvSpPr/>
          <p:nvPr/>
        </p:nvSpPr>
        <p:spPr>
          <a:xfrm>
            <a:off x="793790" y="1786176"/>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sng" cap="none" strike="noStrike">
                <a:solidFill>
                  <a:schemeClr val="hlink"/>
                </a:solidFill>
                <a:latin typeface="Open Sans"/>
                <a:ea typeface="Open Sans"/>
                <a:cs typeface="Open Sans"/>
                <a:sym typeface="Open Sans"/>
                <a:hlinkClick r:id="rId3"/>
              </a:rPr>
              <a:t>https://www.youtube.com/watch?v=LPZh9BOjkQs</a:t>
            </a:r>
            <a:endParaRPr b="0" i="0" sz="1750" u="none" cap="none" strike="noStrike"/>
          </a:p>
        </p:txBody>
      </p:sp>
      <p:sp>
        <p:nvSpPr>
          <p:cNvPr id="452" name="Google Shape;452;p43"/>
          <p:cNvSpPr/>
          <p:nvPr/>
        </p:nvSpPr>
        <p:spPr>
          <a:xfrm>
            <a:off x="793790" y="3994305"/>
            <a:ext cx="13042800" cy="4536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sng" cap="none" strike="noStrike">
                <a:solidFill>
                  <a:schemeClr val="hlink"/>
                </a:solidFill>
                <a:latin typeface="Open Sans"/>
                <a:ea typeface="Open Sans"/>
                <a:cs typeface="Open Sans"/>
                <a:sym typeface="Open Sans"/>
                <a:hlinkClick r:id="rId4"/>
              </a:rPr>
              <a:t>https://www.youtube.com/watch?v=wjZofJX0v4M</a:t>
            </a:r>
            <a:endParaRPr b="0" i="0" sz="1750" u="none" cap="none" strike="noStrik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4"/>
          <p:cNvSpPr/>
          <p:nvPr/>
        </p:nvSpPr>
        <p:spPr>
          <a:xfrm>
            <a:off x="3402449" y="3625691"/>
            <a:ext cx="7825502" cy="978218"/>
          </a:xfrm>
          <a:prstGeom prst="rect">
            <a:avLst/>
          </a:prstGeom>
          <a:noFill/>
          <a:ln>
            <a:noFill/>
          </a:ln>
        </p:spPr>
        <p:txBody>
          <a:bodyPr anchorCtr="0" anchor="t" bIns="0" lIns="0" spcFirstLastPara="1" rIns="0" wrap="square" tIns="0">
            <a:noAutofit/>
          </a:bodyPr>
          <a:lstStyle/>
          <a:p>
            <a:pPr indent="0" lvl="0" marL="0" marR="0" rtl="0" algn="ctr">
              <a:lnSpc>
                <a:spcPct val="125203"/>
              </a:lnSpc>
              <a:spcBef>
                <a:spcPts val="0"/>
              </a:spcBef>
              <a:spcAft>
                <a:spcPts val="0"/>
              </a:spcAft>
              <a:buClr>
                <a:srgbClr val="D75BE2"/>
              </a:buClr>
              <a:buSzPts val="6150"/>
              <a:buFont typeface="Rubik"/>
              <a:buNone/>
            </a:pPr>
            <a:r>
              <a:rPr b="0" i="0" lang="en-US" sz="6150" u="none" cap="none" strike="noStrike">
                <a:solidFill>
                  <a:srgbClr val="D75BE2"/>
                </a:solidFill>
                <a:latin typeface="Rubik"/>
                <a:ea typeface="Rubik"/>
                <a:cs typeface="Rubik"/>
                <a:sym typeface="Rubik"/>
              </a:rPr>
              <a:t>Questions?</a:t>
            </a:r>
            <a:endParaRPr b="0" i="0" sz="61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