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33.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39.xml" ContentType="application/vnd.openxmlformats-officedocument.presentationml.slide+xml"/>
  <Override PartName="/ppt/slides/slide27.xml" ContentType="application/vnd.openxmlformats-officedocument.presentationml.slide+xml"/>
  <Override PartName="/ppt/slides/slide30.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22.xml" ContentType="application/vnd.openxmlformats-officedocument.presentationml.slide+xml"/>
  <Override PartName="/ppt/slides/slide29.xml" ContentType="application/vnd.openxmlformats-officedocument.presentationml.slide+xml"/>
  <Override PartName="/ppt/slides/slide35.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31.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7.xml" ContentType="application/vnd.openxmlformats-officedocument.presentationml.slide+xml"/>
  <Override PartName="/ppt/slides/slide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46.xml" ContentType="application/vnd.openxmlformats-officedocument.presentationml.slide+xml"/>
  <Override PartName="/ppt/slides/slide28.xml" ContentType="application/vnd.openxmlformats-officedocument.presentationml.slide+xml"/>
  <Override PartName="/ppt/slides/slide5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37.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8.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5.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23.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6.xml" ContentType="application/vnd.openxmlformats-officedocument.presentationml.notesSlide+xml"/>
  <Override PartName="/ppt/notesSlides/notesSlide27.xml" ContentType="application/vnd.openxmlformats-officedocument.presentationml.notesSlide+xml"/>
  <Override PartName="/ppt/notesSlides/notesSlide9.xml" ContentType="application/vnd.openxmlformats-officedocument.presentationml.notesSlide+xml"/>
  <Override PartName="/ppt/notesSlides/notesSlide40.xml" ContentType="application/vnd.openxmlformats-officedocument.presentationml.notesSlide+xml"/>
  <Override PartName="/ppt/notesSlides/notesSlide29.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5.xml" ContentType="application/vnd.openxmlformats-officedocument.presentationml.notesSlide+xml"/>
  <Override PartName="/ppt/notesSlides/notesSlide41.xml" ContentType="application/vnd.openxmlformats-officedocument.presentationml.notesSlide+xml"/>
  <Override PartName="/ppt/notesSlides/notesSlide34.xml" ContentType="application/vnd.openxmlformats-officedocument.presentationml.notesSlide+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43.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15.xml" ContentType="application/vnd.openxmlformats-officedocument.presentationml.notesSlide+xml"/>
  <Override PartName="/ppt/notesSlides/notesSlide42.xml" ContentType="application/vnd.openxmlformats-officedocument.presentationml.notesSlide+xml"/>
  <Override PartName="/ppt/notesSlides/notesSlide30.xml" ContentType="application/vnd.openxmlformats-officedocument.presentationml.notesSlide+xml"/>
  <Override PartName="/ppt/notesSlides/notesSlide39.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47.xml" ContentType="application/vnd.openxmlformats-officedocument.presentationml.notesSlide+xml"/>
  <Override PartName="/ppt/notesSlides/notesSlide44.xml" ContentType="application/vnd.openxmlformats-officedocument.presentationml.notesSlide+xml"/>
  <Override PartName="/ppt/notesSlides/notesSlide35.xml" ContentType="application/vnd.openxmlformats-officedocument.presentationml.notesSlide+xml"/>
  <Override PartName="/ppt/notesSlides/notesSlide5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a:r>
              <a:rPr lang="en-IL" sz="4400" b="0" u="none" strike="noStrike">
                <a:solidFill>
                  <a:srgbClr val="000000"/>
                </a:solidFill>
                <a:effectLst/>
                <a:uFillTx/>
                <a:latin typeface="Arial"/>
              </a:rPr>
              <a:t>Click to move the slide</a:t>
            </a:r>
            <a:endParaRPr lang="en-IL" sz="4400" b="0" u="none" strike="noStrike">
              <a:solidFill>
                <a:srgbClr val="000000"/>
              </a:solidFill>
              <a:effectLst/>
              <a:uFillTx/>
              <a:latin typeface="Arial"/>
            </a:endParaRP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L" sz="2000" b="0" u="none" strike="noStrike">
                <a:solidFill>
                  <a:srgbClr val="000000"/>
                </a:solidFill>
                <a:effectLst/>
                <a:uFillTx/>
                <a:latin typeface="Arial"/>
              </a:rPr>
              <a:t>Click to edit the notes format</a:t>
            </a:r>
            <a:endParaRPr lang="en-IL" sz="2000" b="0" u="none" strike="noStrike">
              <a:solidFill>
                <a:srgbClr val="000000"/>
              </a:solidFill>
              <a:effectLst/>
              <a:uFillTx/>
              <a:latin typeface="Arial"/>
            </a:endParaRPr>
          </a:p>
        </p:txBody>
      </p:sp>
      <p:sp>
        <p:nvSpPr>
          <p:cNvPr id="10"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L" sz="1400" b="0" u="none" strike="noStrike">
                <a:solidFill>
                  <a:srgbClr val="000000"/>
                </a:solidFill>
                <a:effectLst/>
                <a:uFillTx/>
                <a:latin typeface="Times New Roman"/>
              </a:rPr>
              <a:t>&lt;header&gt;</a:t>
            </a:r>
            <a:endParaRPr lang="en-IL" sz="1400" b="0" u="none" strike="noStrike">
              <a:solidFill>
                <a:srgbClr val="000000"/>
              </a:solidFill>
              <a:effectLst/>
              <a:uFillTx/>
              <a:latin typeface="Times New Roman"/>
            </a:endParaRPr>
          </a:p>
        </p:txBody>
      </p:sp>
      <p:sp>
        <p:nvSpPr>
          <p:cNvPr id="11"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L" sz="1400" b="0" u="none" strike="noStrike">
                <a:solidFill>
                  <a:srgbClr val="000000"/>
                </a:solidFill>
                <a:effectLst/>
                <a:uFillTx/>
                <a:latin typeface="Times New Roman"/>
              </a:defRPr>
            </a:lvl1pPr>
          </a:lstStyle>
          <a:p>
            <a:pPr indent="0" algn="r">
              <a:buNone/>
            </a:pPr>
            <a:r>
              <a:rPr lang="en-IL" sz="1400" b="0" u="none" strike="noStrike">
                <a:solidFill>
                  <a:srgbClr val="000000"/>
                </a:solidFill>
                <a:effectLst/>
                <a:uFillTx/>
                <a:latin typeface="Times New Roman"/>
              </a:rPr>
              <a:t>&lt;date/time&gt;</a:t>
            </a:r>
            <a:endParaRPr lang="en-IL" sz="1400" b="0" u="none" strike="noStrike">
              <a:solidFill>
                <a:srgbClr val="000000"/>
              </a:solidFill>
              <a:effectLst/>
              <a:uFillTx/>
              <a:latin typeface="Times New Roman"/>
            </a:endParaRPr>
          </a:p>
        </p:txBody>
      </p:sp>
      <p:sp>
        <p:nvSpPr>
          <p:cNvPr id="12"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L" sz="1400" b="0" u="none" strike="noStrike">
                <a:solidFill>
                  <a:srgbClr val="000000"/>
                </a:solidFill>
                <a:effectLst/>
                <a:uFillTx/>
                <a:latin typeface="Times New Roman"/>
              </a:defRPr>
            </a:lvl1pPr>
          </a:lstStyle>
          <a:p>
            <a:pPr indent="0" algn="l">
              <a:buNone/>
            </a:pPr>
            <a:r>
              <a:rPr lang="en-IL" sz="1400" b="0" u="none" strike="noStrike">
                <a:solidFill>
                  <a:srgbClr val="000000"/>
                </a:solidFill>
                <a:effectLst/>
                <a:uFillTx/>
                <a:latin typeface="Times New Roman"/>
              </a:rPr>
              <a:t>&lt;footer&gt;</a:t>
            </a:r>
            <a:endParaRPr lang="en-IL" sz="1400" b="0" u="none" strike="noStrike">
              <a:solidFill>
                <a:srgbClr val="000000"/>
              </a:solidFill>
              <a:effectLst/>
              <a:uFillTx/>
              <a:latin typeface="Times New Roman"/>
            </a:endParaRPr>
          </a:p>
        </p:txBody>
      </p:sp>
      <p:sp>
        <p:nvSpPr>
          <p:cNvPr id="13"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L" sz="1400" b="0" u="none" strike="noStrike">
                <a:solidFill>
                  <a:srgbClr val="000000"/>
                </a:solidFill>
                <a:effectLst/>
                <a:uFillTx/>
                <a:latin typeface="Times New Roman"/>
              </a:defRPr>
            </a:lvl1pPr>
          </a:lstStyle>
          <a:p>
            <a:pPr indent="0" algn="r">
              <a:buNone/>
            </a:pPr>
            <a:fld id="{D985161F-4D11-49B9-AF59-5EADA1F23EA0}" type="slidenum">
              <a:rPr lang="en-IL" sz="1400" b="0" u="none" strike="noStrike">
                <a:solidFill>
                  <a:srgbClr val="000000"/>
                </a:solidFill>
                <a:effectLst/>
                <a:uFillTx/>
                <a:latin typeface="Times New Roman"/>
              </a:rPr>
              <a:t>&lt;number&gt;</a:t>
            </a:fld>
            <a:endParaRPr lang="en-I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1371600" y="768240"/>
            <a:ext cx="5029200" cy="3767400"/>
          </a:xfrm>
          <a:prstGeom prst="rect">
            <a:avLst/>
          </a:prstGeom>
          <a:ln w="0">
            <a:noFill/>
          </a:ln>
        </p:spPr>
      </p:sp>
      <p:sp>
        <p:nvSpPr>
          <p:cNvPr id="43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פתיחה: היום לומדים לעבוד עם סוכני קוד לאורך זמן. התיקייה שומרת את האפיון וההחלטות, והסוכן משתמש בכלים כדי לבצע משימות ולבדוק תוצאות.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עיצוב ואיור: מצגות הקורס שסיפק המרצה.</a:t>
            </a:r>
            <a:endParaRPr lang="en-IL" sz="12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1371600" y="768240"/>
            <a:ext cx="5029200" cy="3767400"/>
          </a:xfrm>
          <a:prstGeom prst="rect">
            <a:avLst/>
          </a:prstGeom>
          <a:ln w="0">
            <a:noFill/>
          </a:ln>
        </p:spPr>
      </p:sp>
      <p:sp>
        <p:nvSpPr>
          <p:cNvPr id="44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צילום מסך שסיפק המרצה מתוך </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לוחצים על סימן + ובוחרים </a:t>
            </a:r>
            <a:r>
              <a:rPr lang="en-IL" sz="1200" b="0" u="none" strike="noStrike">
                <a:solidFill>
                  <a:srgbClr val="000000"/>
                </a:solidFill>
                <a:effectLst/>
                <a:uFillTx/>
                <a:latin typeface="HelveticaNeue"/>
                <a:ea typeface="HelveticaNeue"/>
              </a:rPr>
              <a:t>Add folder</a:t>
            </a:r>
            <a:r>
              <a:rPr lang="en-IL" sz="1200" b="0" u="none" strike="noStrike">
                <a:solidFill>
                  <a:srgbClr val="000000"/>
                </a:solidFill>
                <a:effectLst/>
                <a:uFillTx/>
                <a:latin typeface="HelveticaNeue"/>
                <a:ea typeface="HelveticaNeue"/>
              </a:rPr>
              <a:t> כדי לחבר את תיקיית הפרויקט. אפשר לעבוד ישירות מתוך יישום הסוכן בלי </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התיקייה מרכזת את החומרים, ההנחיות והתוצרים. יכולות הקריאה, העריכה וההרצה תלויות בכלים ובהרשאות הזמינים בסביבת הסוכן. בהמשך נראה כיצד </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מרכז תוספי סוכנים וכלים נוספים לעבודה עם קבצים.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1371600" y="768240"/>
            <a:ext cx="5029200" cy="3767400"/>
          </a:xfrm>
          <a:prstGeom prst="rect">
            <a:avLst/>
          </a:prstGeom>
          <a:ln w="0">
            <a:noFill/>
          </a:ln>
        </p:spPr>
      </p:sp>
      <p:sp>
        <p:nvSpPr>
          <p:cNvPr id="44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צילום מסך שסיפק המרצה מתוך </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לוחצים על סימן + ובוחרים </a:t>
            </a:r>
            <a:r>
              <a:rPr lang="en-IL" sz="1200" b="0" u="none" strike="noStrike">
                <a:solidFill>
                  <a:srgbClr val="000000"/>
                </a:solidFill>
                <a:effectLst/>
                <a:uFillTx/>
                <a:latin typeface="HelveticaNeue"/>
                <a:ea typeface="HelveticaNeue"/>
              </a:rPr>
              <a:t>Add folder</a:t>
            </a:r>
            <a:r>
              <a:rPr lang="en-IL" sz="1200" b="0" u="none" strike="noStrike">
                <a:solidFill>
                  <a:srgbClr val="000000"/>
                </a:solidFill>
                <a:effectLst/>
                <a:uFillTx/>
                <a:latin typeface="HelveticaNeue"/>
                <a:ea typeface="HelveticaNeue"/>
              </a:rPr>
              <a:t> כדי לחבר את תיקיית הפרויקט. אפשר לעבוד ישירות מתוך יישום הסוכן בלי </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התיקייה מרכזת את החומרים, ההנחיות והתוצרים. יכולות הקריאה, העריכה וההרצה תלויות בכלים ובהרשאות הזמינים בסביבת הסוכן. בהמשך נראה כיצד </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מרכז תוספי סוכנים וכלים נוספים לעבודה עם קבצים.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1371600" y="768240"/>
            <a:ext cx="5029200" cy="3767400"/>
          </a:xfrm>
          <a:prstGeom prst="rect">
            <a:avLst/>
          </a:prstGeom>
          <a:ln w="0">
            <a:noFill/>
          </a:ln>
        </p:spPr>
      </p:sp>
      <p:sp>
        <p:nvSpPr>
          <p:cNvPr id="44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צילום מסך שסיפק המרצה מתוך </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לוחצים על סימן + ובוחרים </a:t>
            </a:r>
            <a:r>
              <a:rPr lang="en-IL" sz="1200" b="0" u="none" strike="noStrike">
                <a:solidFill>
                  <a:srgbClr val="000000"/>
                </a:solidFill>
                <a:effectLst/>
                <a:uFillTx/>
                <a:latin typeface="HelveticaNeue"/>
                <a:ea typeface="HelveticaNeue"/>
              </a:rPr>
              <a:t>Add folder</a:t>
            </a:r>
            <a:r>
              <a:rPr lang="en-IL" sz="1200" b="0" u="none" strike="noStrike">
                <a:solidFill>
                  <a:srgbClr val="000000"/>
                </a:solidFill>
                <a:effectLst/>
                <a:uFillTx/>
                <a:latin typeface="HelveticaNeue"/>
                <a:ea typeface="HelveticaNeue"/>
              </a:rPr>
              <a:t> כדי לחבר את תיקיית הפרויקט. אפשר לעבוד ישירות מתוך יישום הסוכן בלי </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התיקייה מרכזת את החומרים, ההנחיות והתוצרים. יכולות הקריאה, העריכה וההרצה תלויות בכלים ובהרשאות הזמינים בסביבת הסוכן. בהמשך נראה כיצד </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מרכז תוספי סוכנים וכלים נוספים לעבודה עם קבצים.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1371600" y="768240"/>
            <a:ext cx="5029200" cy="3767400"/>
          </a:xfrm>
          <a:prstGeom prst="rect">
            <a:avLst/>
          </a:prstGeom>
          <a:ln w="0">
            <a:noFill/>
          </a:ln>
        </p:spPr>
      </p:sp>
      <p:sp>
        <p:nvSpPr>
          <p:cNvPr id="44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מודל שפה מייצר תשובות ובקשות להפעלת כלים. סביבת הסוכן מבצעת את הקריאות ומחזירה תוצאות למודל להחלטת ההמשך. הכלים יכולים להיות מובנים או מחוברים באמצעות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בסביבת ההדגמה זמינים גם חיבורי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לעבודה על קבצים שהועברו לסוכן. היכולות בפועל תלויות בכלים שחוברו ובהרשאות. גם מוצר צ׳אט יכול להפעיל כלים, ולכן ההבחנה אינה לפי צורת החלון.</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https://code.claude.com/docs/en/overview</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https://modelcontextprotocol.io/docs/learn/architecture</a:t>
            </a:r>
            <a:endParaRPr lang="en-IL" sz="12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1371600" y="768240"/>
            <a:ext cx="5029200" cy="3767400"/>
          </a:xfrm>
          <a:prstGeom prst="rect">
            <a:avLst/>
          </a:prstGeom>
          <a:ln w="0">
            <a:noFill/>
          </a:ln>
        </p:spPr>
      </p:sp>
      <p:sp>
        <p:nvSpPr>
          <p:cNvPr id="44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מודל שפה מייצר תשובות ובקשות להפעלת כלים. סביבת הסוכן מבצעת את הקריאות ומחזירה תוצאות למודל להחלטת ההמשך. הכלים יכולים להיות מובנים או מחוברים באמצעות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בסביבת ההדגמה זמינים גם חיבורי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לעבודה על קבצים שהועברו לסוכן. היכולות בפועל תלויות בכלים שחוברו ובהרשאות. גם מוצר צ׳אט יכול להפעיל כלים, ולכן ההבחנה אינה לפי צורת החלון.</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https://code.claude.com/docs/en/overview</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https://modelcontextprotocol.io/docs/learn/architecture</a:t>
            </a:r>
            <a:endParaRPr lang="en-IL" sz="12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1371600" y="768240"/>
            <a:ext cx="5029200" cy="3767400"/>
          </a:xfrm>
          <a:prstGeom prst="rect">
            <a:avLst/>
          </a:prstGeom>
          <a:ln w="0">
            <a:noFill/>
          </a:ln>
        </p:spPr>
      </p:sp>
      <p:sp>
        <p:nvSpPr>
          <p:cNvPr id="45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מודל שפה מייצר תשובות ובקשות להפעלת כלים. סביבת הסוכן מבצעת את הקריאות ומחזירה תוצאות למודל להחלטת ההמשך. הכלים יכולים להיות מובנים או מחוברים באמצעות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בסביבת ההדגמה זמינים גם חיבורי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לעבודה על קבצים שהועברו לסוכן. היכולות בפועל תלויות בכלים שחוברו ובהרשאות. גם מוצר צ׳אט יכול להפעיל כלים, ולכן ההבחנה אינה לפי צורת החלון.</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https://code.claude.com/docs/en/overview</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https://modelcontextprotocol.io/docs/learn/architecture</a:t>
            </a:r>
            <a:endParaRPr lang="en-IL" sz="12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1371600" y="768240"/>
            <a:ext cx="5029200" cy="3767400"/>
          </a:xfrm>
          <a:prstGeom prst="rect">
            <a:avLst/>
          </a:prstGeom>
          <a:ln w="0">
            <a:noFill/>
          </a:ln>
        </p:spPr>
      </p:sp>
      <p:sp>
        <p:nvSpPr>
          <p:cNvPr id="45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endParaRPr lang="en-IL" sz="20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1371600" y="768240"/>
            <a:ext cx="5029200" cy="3767400"/>
          </a:xfrm>
          <a:prstGeom prst="rect">
            <a:avLst/>
          </a:prstGeom>
          <a:ln w="0">
            <a:noFill/>
          </a:ln>
        </p:spPr>
      </p:sp>
      <p:sp>
        <p:nvSpPr>
          <p:cNvPr id="45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התשתיות מספקות בסיס ליישום עצמאי. הבחירה בכלים מאפשרת להרחיב אותו לפי הרעיון: מסמכים, תקשורת, תשלומים, </a:t>
            </a:r>
            <a:r>
              <a:rPr lang="en-IL" sz="1200" b="0" u="none" strike="noStrike">
                <a:solidFill>
                  <a:srgbClr val="000000"/>
                </a:solidFill>
                <a:effectLst/>
                <a:uFillTx/>
                <a:latin typeface="HelveticaNeue"/>
                <a:ea typeface="HelveticaNeue"/>
              </a:rPr>
              <a:t>AI</a:t>
            </a:r>
            <a:r>
              <a:rPr lang="en-IL" sz="1200" b="0" u="none" strike="noStrike">
                <a:solidFill>
                  <a:srgbClr val="000000"/>
                </a:solidFill>
                <a:effectLst/>
                <a:uFillTx/>
                <a:latin typeface="HelveticaNeue"/>
                <a:ea typeface="HelveticaNeue"/>
              </a:rPr>
              <a:t> ועוד. הסוכנים מסייעים לחבר את השירותים ולממש את ההתנהגות הרצויה.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https://nextjs.org/docs/app/getting-started/installation</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https://supabase.com/docs</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https://vercel.com/docs/deployments</a:t>
            </a:r>
            <a:endParaRPr lang="en-IL" sz="12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1371600" y="768240"/>
            <a:ext cx="5029200" cy="3767400"/>
          </a:xfrm>
          <a:prstGeom prst="rect">
            <a:avLst/>
          </a:prstGeom>
          <a:ln w="0">
            <a:noFill/>
          </a:ln>
        </p:spPr>
      </p:sp>
      <p:sp>
        <p:nvSpPr>
          <p:cNvPr id="45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הפרוטוקול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מאפשר לסביבת הסוכן להתחבר לשרתים המספקים כלים ומקורות מידע. הוא אינו מודל נוסף ואינו מעניק הרשאות אוטומטית. קריאת קבצים מקומיים יכולה להתבצע בכלי מובנה או בשרת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בהדגמה יש גם חיבורי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לעבודה על קבצים שהסוכן קיבל.</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https://modelcontextprotocol.io/docs/learn/architecture</a:t>
            </a:r>
            <a:endParaRPr lang="en-IL" sz="12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1371600" y="768240"/>
            <a:ext cx="5029200" cy="3767400"/>
          </a:xfrm>
          <a:prstGeom prst="rect">
            <a:avLst/>
          </a:prstGeom>
          <a:ln w="0">
            <a:noFill/>
          </a:ln>
        </p:spPr>
      </p:sp>
      <p:sp>
        <p:nvSpPr>
          <p:cNvPr id="45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אפשר להמשיך לעבוד ביישום הסוכן או בטרמינל. </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הוא סביבת עבודה נוספת ונוחה. תוספי </a:t>
            </a:r>
            <a:r>
              <a:rPr lang="en-IL" sz="1200" b="0" u="none" strike="noStrike">
                <a:solidFill>
                  <a:srgbClr val="000000"/>
                </a:solidFill>
                <a:effectLst/>
                <a:uFillTx/>
                <a:latin typeface="HelveticaNeue"/>
                <a:ea typeface="HelveticaNeue"/>
              </a:rPr>
              <a:t>Claude Code</a:t>
            </a:r>
            <a:r>
              <a:rPr lang="en-IL" sz="1200" b="0" u="none" strike="noStrike">
                <a:solidFill>
                  <a:srgbClr val="000000"/>
                </a:solidFill>
                <a:effectLst/>
                <a:uFillTx/>
                <a:latin typeface="HelveticaNeue"/>
                <a:ea typeface="HelveticaNeue"/>
              </a:rPr>
              <a:t> ו־</a:t>
            </a:r>
            <a:r>
              <a:rPr lang="en-IL" sz="1200" b="0" u="none" strike="noStrike">
                <a:solidFill>
                  <a:srgbClr val="000000"/>
                </a:solidFill>
                <a:effectLst/>
                <a:uFillTx/>
                <a:latin typeface="HelveticaNeue"/>
                <a:ea typeface="HelveticaNeue"/>
              </a:rPr>
              <a:t>Codex</a:t>
            </a:r>
            <a:r>
              <a:rPr lang="en-IL" sz="1200" b="0" u="none" strike="noStrike">
                <a:solidFill>
                  <a:srgbClr val="000000"/>
                </a:solidFill>
                <a:effectLst/>
                <a:uFillTx/>
                <a:latin typeface="HelveticaNeue"/>
                <a:ea typeface="HelveticaNeue"/>
              </a:rPr>
              <a:t> מאפשרים לעבוד עם סוכנים שונים על אותה תיקייה. המעבר בין תוספים אינו מעביר אוטומטית היסטוריית שיחה. קובצי האפיון והמצב מאפשרים להעביר הקשר. תוספים נוספים מספקים תצוגת </a:t>
            </a:r>
            <a:r>
              <a:rPr lang="en-IL" sz="1200" b="0" u="none" strike="noStrike">
                <a:solidFill>
                  <a:srgbClr val="000000"/>
                </a:solidFill>
                <a:effectLst/>
                <a:uFillTx/>
                <a:latin typeface="HelveticaNeue"/>
                <a:ea typeface="HelveticaNeue"/>
              </a:rPr>
              <a:t>Markdown</a:t>
            </a:r>
            <a:r>
              <a:rPr lang="en-IL" sz="1200" b="0" u="none" strike="noStrike">
                <a:solidFill>
                  <a:srgbClr val="000000"/>
                </a:solidFill>
                <a:effectLst/>
                <a:uFillTx/>
                <a:latin typeface="HelveticaNeue"/>
                <a:ea typeface="HelveticaNeue"/>
              </a:rPr>
              <a:t>, עבודה עם נתונים וקבצים וכלי פיתוח. מתקינים גם </a:t>
            </a:r>
            <a:r>
              <a:rPr lang="en-IL" sz="1200" b="0" u="none" strike="noStrike">
                <a:solidFill>
                  <a:srgbClr val="000000"/>
                </a:solidFill>
                <a:effectLst/>
                <a:uFillTx/>
                <a:latin typeface="HelveticaNeue"/>
                <a:ea typeface="HelveticaNeue"/>
              </a:rPr>
              <a:t>Node.js</a:t>
            </a:r>
            <a:r>
              <a:rPr lang="en-IL" sz="1200" b="0" u="none" strike="noStrike">
                <a:solidFill>
                  <a:srgbClr val="000000"/>
                </a:solidFill>
                <a:effectLst/>
                <a:uFillTx/>
                <a:latin typeface="HelveticaNeue"/>
                <a:ea typeface="HelveticaNeue"/>
              </a:rPr>
              <a:t> ו־</a:t>
            </a:r>
            <a:r>
              <a:rPr lang="en-IL" sz="1200" b="0" u="none" strike="noStrike">
                <a:solidFill>
                  <a:srgbClr val="000000"/>
                </a:solidFill>
                <a:effectLst/>
                <a:uFillTx/>
                <a:latin typeface="HelveticaNeue"/>
                <a:ea typeface="HelveticaNeue"/>
              </a:rPr>
              <a:t>Git</a:t>
            </a:r>
            <a:r>
              <a:rPr lang="en-IL" sz="1200" b="0" u="none" strike="noStrike">
                <a:solidFill>
                  <a:srgbClr val="000000"/>
                </a:solidFill>
                <a:effectLst/>
                <a:uFillTx/>
                <a:latin typeface="HelveticaNeue"/>
                <a:ea typeface="HelveticaNeue"/>
              </a:rPr>
              <a:t> לפי דרישות הפרויקט.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https://code.visualstudio.com/docs/editing/getting-started/editor-tutorial</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https://code.claude.com/docs/en/vs-code</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https://learn.chatgpt.com/docs/codex/ide</a:t>
            </a:r>
            <a:endParaRPr lang="en-IL" sz="12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1371600" y="768240"/>
            <a:ext cx="5029200" cy="3767400"/>
          </a:xfrm>
          <a:prstGeom prst="rect">
            <a:avLst/>
          </a:prstGeom>
          <a:ln w="0">
            <a:noFill/>
          </a:ln>
        </p:spPr>
      </p:sp>
      <p:sp>
        <p:nvSpPr>
          <p:cNvPr id="46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נשתמש ב־</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במהלך הקורס. מתקינים את יישום שולחן העבודה מהאתר הרשמי. ב־</a:t>
            </a:r>
            <a:r>
              <a:rPr lang="en-IL" sz="1200" b="0" u="none" strike="noStrike">
                <a:solidFill>
                  <a:srgbClr val="000000"/>
                </a:solidFill>
                <a:effectLst/>
                <a:uFillTx/>
                <a:latin typeface="HelveticaNeue"/>
                <a:ea typeface="HelveticaNeue"/>
              </a:rPr>
              <a:t>Windows</a:t>
            </a:r>
            <a:r>
              <a:rPr lang="en-IL" sz="1200" b="0" u="none" strike="noStrike">
                <a:solidFill>
                  <a:srgbClr val="000000"/>
                </a:solidFill>
                <a:effectLst/>
                <a:uFillTx/>
                <a:latin typeface="HelveticaNeue"/>
                <a:ea typeface="HelveticaNeue"/>
              </a:rPr>
              <a:t> מפעילים את קובץ ההתקנה וב־</a:t>
            </a:r>
            <a:r>
              <a:rPr lang="en-IL" sz="1200" b="0" u="none" strike="noStrike">
                <a:solidFill>
                  <a:srgbClr val="000000"/>
                </a:solidFill>
                <a:effectLst/>
                <a:uFillTx/>
                <a:latin typeface="HelveticaNeue"/>
                <a:ea typeface="HelveticaNeue"/>
              </a:rPr>
              <a:t>Mac</a:t>
            </a:r>
            <a:r>
              <a:rPr lang="en-IL" sz="1200" b="0" u="none" strike="noStrike">
                <a:solidFill>
                  <a:srgbClr val="000000"/>
                </a:solidFill>
                <a:effectLst/>
                <a:uFillTx/>
                <a:latin typeface="HelveticaNeue"/>
                <a:ea typeface="HelveticaNeue"/>
              </a:rPr>
              <a:t> מחלצים את ההורדה וגוררים ל־</a:t>
            </a:r>
            <a:r>
              <a:rPr lang="en-IL" sz="1200" b="0" u="none" strike="noStrike">
                <a:solidFill>
                  <a:srgbClr val="000000"/>
                </a:solidFill>
                <a:effectLst/>
                <a:uFillTx/>
                <a:latin typeface="HelveticaNeue"/>
                <a:ea typeface="HelveticaNeue"/>
              </a:rPr>
              <a:t>Applications</a:t>
            </a:r>
            <a:r>
              <a:rPr lang="en-IL" sz="1200" b="0" u="none" strike="noStrike">
                <a:solidFill>
                  <a:srgbClr val="000000"/>
                </a:solidFill>
                <a:effectLst/>
                <a:uFillTx/>
                <a:latin typeface="HelveticaNeue"/>
                <a:ea typeface="HelveticaNeue"/>
              </a:rPr>
              <a:t>. ב־</a:t>
            </a:r>
            <a:r>
              <a:rPr lang="en-IL" sz="1200" b="0" u="none" strike="noStrike">
                <a:solidFill>
                  <a:srgbClr val="000000"/>
                </a:solidFill>
                <a:effectLst/>
                <a:uFillTx/>
                <a:latin typeface="HelveticaNeue"/>
                <a:ea typeface="HelveticaNeue"/>
              </a:rPr>
              <a:t>Linux</a:t>
            </a:r>
            <a:r>
              <a:rPr lang="en-IL" sz="1200" b="0" u="none" strike="noStrike">
                <a:solidFill>
                  <a:srgbClr val="000000"/>
                </a:solidFill>
                <a:effectLst/>
                <a:uFillTx/>
                <a:latin typeface="HelveticaNeue"/>
                <a:ea typeface="HelveticaNeue"/>
              </a:rPr>
              <a:t> פועלים לפי הוראות ההפצה באתר.</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https://code.visualstudio.com/download</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https://code.visualstudio.com/docs/getstarted/overview</a:t>
            </a:r>
            <a:endParaRPr lang="en-IL" sz="12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1371600" y="768240"/>
            <a:ext cx="5029200" cy="3767400"/>
          </a:xfrm>
          <a:prstGeom prst="rect">
            <a:avLst/>
          </a:prstGeom>
          <a:ln w="0">
            <a:noFill/>
          </a:ln>
        </p:spPr>
      </p:sp>
      <p:sp>
        <p:nvSpPr>
          <p:cNvPr id="46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נשתמש במהלך הקורס גם בסביבת </a:t>
            </a:r>
            <a:r>
              <a:rPr lang="en-IL" sz="1200" b="0" u="none" strike="noStrike">
                <a:solidFill>
                  <a:srgbClr val="000000"/>
                </a:solidFill>
                <a:effectLst/>
                <a:uFillTx/>
                <a:latin typeface="HelveticaNeue"/>
                <a:ea typeface="HelveticaNeue"/>
              </a:rPr>
              <a:t>Antigravity</a:t>
            </a:r>
            <a:r>
              <a:rPr lang="en-IL" sz="1200" b="0" u="none" strike="noStrike">
                <a:solidFill>
                  <a:srgbClr val="000000"/>
                </a:solidFill>
                <a:effectLst/>
                <a:uFillTx/>
                <a:latin typeface="HelveticaNeue"/>
                <a:ea typeface="HelveticaNeue"/>
              </a:rPr>
              <a:t> של </a:t>
            </a:r>
            <a:r>
              <a:rPr lang="en-IL" sz="1200" b="0" u="none" strike="noStrike">
                <a:solidFill>
                  <a:srgbClr val="000000"/>
                </a:solidFill>
                <a:effectLst/>
                <a:uFillTx/>
                <a:latin typeface="HelveticaNeue"/>
                <a:ea typeface="HelveticaNeue"/>
              </a:rPr>
              <a:t>Google</a:t>
            </a:r>
            <a:r>
              <a:rPr lang="en-IL" sz="1200" b="0" u="none" strike="noStrike">
                <a:solidFill>
                  <a:srgbClr val="000000"/>
                </a:solidFill>
                <a:effectLst/>
                <a:uFillTx/>
                <a:latin typeface="HelveticaNeue"/>
                <a:ea typeface="HelveticaNeue"/>
              </a:rPr>
              <a:t>. באתר קיימים כמה מוצרים, ובשיעור זה הכוונה לעורך </a:t>
            </a:r>
            <a:r>
              <a:rPr lang="en-IL" sz="1200" b="0" u="none" strike="noStrike">
                <a:solidFill>
                  <a:srgbClr val="000000"/>
                </a:solidFill>
                <a:effectLst/>
                <a:uFillTx/>
                <a:latin typeface="HelveticaNeue"/>
                <a:ea typeface="HelveticaNeue"/>
              </a:rPr>
              <a:t>Antigravity IDE</a:t>
            </a:r>
            <a:r>
              <a:rPr lang="en-IL" sz="1200" b="0" u="none" strike="noStrike">
                <a:solidFill>
                  <a:srgbClr val="000000"/>
                </a:solidFill>
                <a:effectLst/>
                <a:uFillTx/>
                <a:latin typeface="HelveticaNeue"/>
                <a:ea typeface="HelveticaNeue"/>
              </a:rPr>
              <a:t> העצמאי. בוחרים את ההורדה למערכת ההפעלה ולסוג המעבד. משלימים את ההתקנה וההתחברות לפי המסכים המוצגים. התוספים בשקפים הבאים מודגמים ב־</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https://antigravity.google/download</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https://antigravity.google/docs/getting-started</a:t>
            </a:r>
            <a:endParaRPr lang="en-IL" sz="12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1371600" y="768240"/>
            <a:ext cx="5029200" cy="3767400"/>
          </a:xfrm>
          <a:prstGeom prst="rect">
            <a:avLst/>
          </a:prstGeom>
          <a:ln w="0">
            <a:noFill/>
          </a:ln>
        </p:spPr>
      </p:sp>
      <p:sp>
        <p:nvSpPr>
          <p:cNvPr id="46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צילום מקור: מדריך </a:t>
            </a:r>
            <a:r>
              <a:rPr lang="en-IL" sz="1200" b="0" u="none" strike="noStrike">
                <a:solidFill>
                  <a:srgbClr val="000000"/>
                </a:solidFill>
                <a:effectLst/>
                <a:uFillTx/>
                <a:latin typeface="HelveticaNeue"/>
                <a:ea typeface="HelveticaNeue"/>
              </a:rPr>
              <a:t>Harvard CS205</a:t>
            </a:r>
            <a:r>
              <a:rPr lang="en-IL" sz="1200" b="0" u="none" strike="noStrike">
                <a:solidFill>
                  <a:srgbClr val="000000"/>
                </a:solidFill>
                <a:effectLst/>
                <a:uFillTx/>
                <a:latin typeface="HelveticaNeue"/>
                <a:ea typeface="HelveticaNeue"/>
              </a:rPr>
              <a:t> משנת </a:t>
            </a:r>
            <a:r>
              <a:rPr lang="en-IL" sz="1200" b="0" u="none" strike="noStrike">
                <a:solidFill>
                  <a:srgbClr val="000000"/>
                </a:solidFill>
                <a:effectLst/>
                <a:uFillTx/>
                <a:latin typeface="HelveticaNeue"/>
                <a:ea typeface="HelveticaNeue"/>
              </a:rPr>
              <a:t>2020</a:t>
            </a:r>
            <a:r>
              <a:rPr lang="en-IL" sz="1200" b="0" u="none" strike="noStrike">
                <a:solidFill>
                  <a:srgbClr val="000000"/>
                </a:solidFill>
                <a:effectLst/>
                <a:uFillTx/>
                <a:latin typeface="HelveticaNeue"/>
                <a:ea typeface="HelveticaNeue"/>
              </a:rPr>
              <a:t>, עמוד </a:t>
            </a:r>
            <a:r>
              <a:rPr lang="en-IL" sz="1200" b="0" u="none" strike="noStrike">
                <a:solidFill>
                  <a:srgbClr val="000000"/>
                </a:solidFill>
                <a:effectLst/>
                <a:uFillTx/>
                <a:latin typeface="HelveticaNeue"/>
                <a:ea typeface="HelveticaNeue"/>
              </a:rPr>
              <a:t>5</a:t>
            </a:r>
            <a:r>
              <a:rPr lang="en-IL" sz="1200" b="0" u="none" strike="noStrike">
                <a:solidFill>
                  <a:srgbClr val="000000"/>
                </a:solidFill>
                <a:effectLst/>
                <a:uFillTx/>
                <a:latin typeface="HelveticaNeue"/>
                <a:ea typeface="HelveticaNeue"/>
              </a:rPr>
              <a:t>. הצילום מדגים תפריט </a:t>
            </a:r>
            <a:r>
              <a:rPr lang="en-IL" sz="1200" b="0" u="none" strike="noStrike">
                <a:solidFill>
                  <a:srgbClr val="000000"/>
                </a:solidFill>
                <a:effectLst/>
                <a:uFillTx/>
                <a:latin typeface="HelveticaNeue"/>
                <a:ea typeface="HelveticaNeue"/>
              </a:rPr>
              <a:t>Windows</a:t>
            </a:r>
            <a:r>
              <a:rPr lang="en-IL" sz="1200" b="0" u="none" strike="noStrike">
                <a:solidFill>
                  <a:srgbClr val="000000"/>
                </a:solidFill>
                <a:effectLst/>
                <a:uFillTx/>
                <a:latin typeface="HelveticaNeue"/>
                <a:ea typeface="HelveticaNeue"/>
              </a:rPr>
              <a:t> ותיק יחסית. הנתיב </a:t>
            </a:r>
            <a:r>
              <a:rPr lang="en-IL" sz="1200" b="0" u="none" strike="noStrike">
                <a:solidFill>
                  <a:srgbClr val="000000"/>
                </a:solidFill>
                <a:effectLst/>
                <a:uFillTx/>
                <a:latin typeface="HelveticaNeue"/>
                <a:ea typeface="HelveticaNeue"/>
              </a:rPr>
              <a:t>File &gt; Open Folder</a:t>
            </a:r>
            <a:r>
              <a:rPr lang="en-IL" sz="1200" b="0" u="none" strike="noStrike">
                <a:solidFill>
                  <a:srgbClr val="000000"/>
                </a:solidFill>
                <a:effectLst/>
                <a:uFillTx/>
                <a:latin typeface="HelveticaNeue"/>
                <a:ea typeface="HelveticaNeue"/>
              </a:rPr>
              <a:t> קיים גם בתיעוד </a:t>
            </a:r>
            <a:r>
              <a:rPr lang="en-IL" sz="1200" b="0" u="none" strike="noStrike">
                <a:solidFill>
                  <a:srgbClr val="000000"/>
                </a:solidFill>
                <a:effectLst/>
                <a:uFillTx/>
                <a:latin typeface="HelveticaNeue"/>
                <a:ea typeface="HelveticaNeue"/>
              </a:rPr>
              <a:t>Microsoft</a:t>
            </a:r>
            <a:r>
              <a:rPr lang="en-IL" sz="1200" b="0" u="none" strike="noStrike">
                <a:solidFill>
                  <a:srgbClr val="000000"/>
                </a:solidFill>
                <a:effectLst/>
                <a:uFillTx/>
                <a:latin typeface="HelveticaNeue"/>
                <a:ea typeface="HelveticaNeue"/>
              </a:rPr>
              <a:t> הנוכחי. ב־</a:t>
            </a:r>
            <a:r>
              <a:rPr lang="en-IL" sz="1200" b="0" u="none" strike="noStrike">
                <a:solidFill>
                  <a:srgbClr val="000000"/>
                </a:solidFill>
                <a:effectLst/>
                <a:uFillTx/>
                <a:latin typeface="HelveticaNeue"/>
                <a:ea typeface="HelveticaNeue"/>
              </a:rPr>
              <a:t>macOS</a:t>
            </a:r>
            <a:r>
              <a:rPr lang="en-IL" sz="1200" b="0" u="none" strike="noStrike">
                <a:solidFill>
                  <a:srgbClr val="000000"/>
                </a:solidFill>
                <a:effectLst/>
                <a:uFillTx/>
                <a:latin typeface="HelveticaNeue"/>
                <a:ea typeface="HelveticaNeue"/>
              </a:rPr>
              <a:t> התפריט נמצא בשורת התפריטים העליונה. מקשי </a:t>
            </a:r>
            <a:r>
              <a:rPr lang="en-IL" sz="1200" b="0" u="none" strike="noStrike">
                <a:solidFill>
                  <a:srgbClr val="000000"/>
                </a:solidFill>
                <a:effectLst/>
                <a:uFillTx/>
                <a:latin typeface="HelveticaNeue"/>
                <a:ea typeface="HelveticaNeue"/>
              </a:rPr>
              <a:t>Windows: Ctrl+K</a:t>
            </a:r>
            <a:r>
              <a:rPr lang="en-IL" sz="1200" b="0" u="none" strike="noStrike">
                <a:solidFill>
                  <a:srgbClr val="000000"/>
                </a:solidFill>
                <a:effectLst/>
                <a:uFillTx/>
                <a:latin typeface="HelveticaNeue"/>
                <a:ea typeface="HelveticaNeue"/>
              </a:rPr>
              <a:t> ואז </a:t>
            </a:r>
            <a:r>
              <a:rPr lang="en-IL" sz="1200" b="0" u="none" strike="noStrike">
                <a:solidFill>
                  <a:srgbClr val="000000"/>
                </a:solidFill>
                <a:effectLst/>
                <a:uFillTx/>
                <a:latin typeface="HelveticaNeue"/>
                <a:ea typeface="HelveticaNeue"/>
              </a:rPr>
              <a:t>Ctrl+O</a:t>
            </a:r>
            <a:r>
              <a:rPr lang="en-IL" sz="1200" b="0" u="none" strike="noStrike">
                <a:solidFill>
                  <a:srgbClr val="000000"/>
                </a:solidFill>
                <a:effectLst/>
                <a:uFillTx/>
                <a:latin typeface="HelveticaNeue"/>
                <a:ea typeface="HelveticaNeue"/>
              </a:rPr>
              <a:t>. ב־</a:t>
            </a:r>
            <a:r>
              <a:rPr lang="en-IL" sz="1200" b="0" u="none" strike="noStrike">
                <a:solidFill>
                  <a:srgbClr val="000000"/>
                </a:solidFill>
                <a:effectLst/>
                <a:uFillTx/>
                <a:latin typeface="HelveticaNeue"/>
                <a:ea typeface="HelveticaNeue"/>
              </a:rPr>
              <a:t>Mac: Cmd+K</a:t>
            </a:r>
            <a:r>
              <a:rPr lang="en-IL" sz="1200" b="0" u="none" strike="noStrike">
                <a:solidFill>
                  <a:srgbClr val="000000"/>
                </a:solidFill>
                <a:effectLst/>
                <a:uFillTx/>
                <a:latin typeface="HelveticaNeue"/>
                <a:ea typeface="HelveticaNeue"/>
              </a:rPr>
              <a:t> ואז </a:t>
            </a:r>
            <a:r>
              <a:rPr lang="en-IL" sz="1200" b="0" u="none" strike="noStrike">
                <a:solidFill>
                  <a:srgbClr val="000000"/>
                </a:solidFill>
                <a:effectLst/>
                <a:uFillTx/>
                <a:latin typeface="HelveticaNeue"/>
                <a:ea typeface="HelveticaNeue"/>
              </a:rPr>
              <a:t>Cmd+O</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https://code.visualstudio.com/docs/editing/getting-started/editor-tutorial</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https://harvard-iacs.github.io/2021-CS205/pages/VS_Code_Install_Guide.pdf</a:t>
            </a:r>
            <a:endParaRPr lang="en-IL" sz="12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1371600" y="768240"/>
            <a:ext cx="5029200" cy="3767400"/>
          </a:xfrm>
          <a:prstGeom prst="rect">
            <a:avLst/>
          </a:prstGeom>
          <a:ln w="0">
            <a:noFill/>
          </a:ln>
        </p:spPr>
      </p:sp>
      <p:sp>
        <p:nvSpPr>
          <p:cNvPr id="46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צילום </a:t>
            </a:r>
            <a:r>
              <a:rPr lang="en-IL" sz="1200" b="0" u="none" strike="noStrike">
                <a:solidFill>
                  <a:srgbClr val="000000"/>
                </a:solidFill>
                <a:effectLst/>
                <a:uFillTx/>
                <a:latin typeface="HelveticaNeue"/>
                <a:ea typeface="HelveticaNeue"/>
              </a:rPr>
              <a:t>Microsoft</a:t>
            </a:r>
            <a:r>
              <a:rPr lang="en-IL" sz="1200" b="0" u="none" strike="noStrike">
                <a:solidFill>
                  <a:srgbClr val="000000"/>
                </a:solidFill>
                <a:effectLst/>
                <a:uFillTx/>
                <a:latin typeface="HelveticaNeue"/>
                <a:ea typeface="HelveticaNeue"/>
              </a:rPr>
              <a:t> מתוך מדריך העורך. השם </a:t>
            </a:r>
            <a:r>
              <a:rPr lang="en-IL" sz="1200" b="0" u="none" strike="noStrike">
                <a:solidFill>
                  <a:srgbClr val="000000"/>
                </a:solidFill>
                <a:effectLst/>
                <a:uFillTx/>
                <a:latin typeface="HelveticaNeue"/>
                <a:ea typeface="HelveticaNeue"/>
              </a:rPr>
              <a:t>vscode101</a:t>
            </a:r>
            <a:r>
              <a:rPr lang="en-IL" sz="1200" b="0" u="none" strike="noStrike">
                <a:solidFill>
                  <a:srgbClr val="000000"/>
                </a:solidFill>
                <a:effectLst/>
                <a:uFillTx/>
                <a:latin typeface="HelveticaNeue"/>
                <a:ea typeface="HelveticaNeue"/>
              </a:rPr>
              <a:t> הוא שם הדוגמה במדריך. בכיתה שם התיקייה יהיה </a:t>
            </a:r>
            <a:r>
              <a:rPr lang="en-IL" sz="1200" b="0" u="none" strike="noStrike">
                <a:solidFill>
                  <a:srgbClr val="000000"/>
                </a:solidFill>
                <a:effectLst/>
                <a:uFillTx/>
                <a:latin typeface="HelveticaNeue"/>
                <a:ea typeface="HelveticaNeue"/>
              </a:rPr>
              <a:t>my-project</a:t>
            </a:r>
            <a:r>
              <a:rPr lang="en-IL" sz="1200" b="0" u="none" strike="noStrike">
                <a:solidFill>
                  <a:srgbClr val="000000"/>
                </a:solidFill>
                <a:effectLst/>
                <a:uFillTx/>
                <a:latin typeface="HelveticaNeue"/>
                <a:ea typeface="HelveticaNeue"/>
              </a:rPr>
              <a:t>. פתיחת התיקייה אינה גורמת לסוכן לקרוא אוטומטית את כל הקבצים.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https://code.visualstudio.com/docs/editing/getting-started/editor-tutorial</a:t>
            </a:r>
            <a:endParaRPr lang="en-IL" sz="12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1371600" y="768240"/>
            <a:ext cx="5029200" cy="3767400"/>
          </a:xfrm>
          <a:prstGeom prst="rect">
            <a:avLst/>
          </a:prstGeom>
          <a:ln w="0">
            <a:noFill/>
          </a:ln>
        </p:spPr>
      </p:sp>
      <p:sp>
        <p:nvSpPr>
          <p:cNvPr id="46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צילום </a:t>
            </a:r>
            <a:r>
              <a:rPr lang="en-IL" sz="1200" b="0" u="none" strike="noStrike">
                <a:solidFill>
                  <a:srgbClr val="000000"/>
                </a:solidFill>
                <a:effectLst/>
                <a:uFillTx/>
                <a:latin typeface="HelveticaNeue"/>
                <a:ea typeface="HelveticaNeue"/>
              </a:rPr>
              <a:t>Microsoft</a:t>
            </a:r>
            <a:r>
              <a:rPr lang="en-IL" sz="1200" b="0" u="none" strike="noStrike">
                <a:solidFill>
                  <a:srgbClr val="000000"/>
                </a:solidFill>
                <a:effectLst/>
                <a:uFillTx/>
                <a:latin typeface="HelveticaNeue"/>
                <a:ea typeface="HelveticaNeue"/>
              </a:rPr>
              <a:t> מדגים את חלון התוספים. התלמידים מחפשים את אחד משני התוספים הרשמיים ומוודאים את המפרסם. אין צורך להתקין תוספי צד שלישי דומים. המזהים הרשמיים: </a:t>
            </a:r>
            <a:r>
              <a:rPr lang="en-IL" sz="1200" b="0" u="none" strike="noStrike">
                <a:solidFill>
                  <a:srgbClr val="000000"/>
                </a:solidFill>
                <a:effectLst/>
                <a:uFillTx/>
                <a:latin typeface="HelveticaNeue"/>
                <a:ea typeface="HelveticaNeue"/>
              </a:rPr>
              <a:t>anthropic.claude-code</a:t>
            </a:r>
            <a:r>
              <a:rPr lang="en-IL" sz="1200" b="0" u="none" strike="noStrike">
                <a:solidFill>
                  <a:srgbClr val="000000"/>
                </a:solidFill>
                <a:effectLst/>
                <a:uFillTx/>
                <a:latin typeface="HelveticaNeue"/>
                <a:ea typeface="HelveticaNeue"/>
              </a:rPr>
              <a:t> ו־</a:t>
            </a:r>
            <a:r>
              <a:rPr lang="en-IL" sz="1200" b="0" u="none" strike="noStrike">
                <a:solidFill>
                  <a:srgbClr val="000000"/>
                </a:solidFill>
                <a:effectLst/>
                <a:uFillTx/>
                <a:latin typeface="HelveticaNeue"/>
                <a:ea typeface="HelveticaNeue"/>
              </a:rPr>
              <a:t>openai.chatgpt</a:t>
            </a:r>
            <a:r>
              <a:rPr lang="en-IL" sz="1200" b="0" u="none" strike="noStrike">
                <a:solidFill>
                  <a:srgbClr val="000000"/>
                </a:solidFill>
                <a:effectLst/>
                <a:uFillTx/>
                <a:latin typeface="HelveticaNeue"/>
                <a:ea typeface="HelveticaNeue"/>
              </a:rPr>
              <a:t>. אחרי ההתקנה פותחים את חלונית הסוכן ומשלימים </a:t>
            </a:r>
            <a:r>
              <a:rPr lang="en-IL" sz="1200" b="0" u="none" strike="noStrike">
                <a:solidFill>
                  <a:srgbClr val="000000"/>
                </a:solidFill>
                <a:effectLst/>
                <a:uFillTx/>
                <a:latin typeface="HelveticaNeue"/>
                <a:ea typeface="HelveticaNeue"/>
              </a:rPr>
              <a:t>Sign in</a:t>
            </a:r>
            <a:r>
              <a:rPr lang="en-IL" sz="1200" b="0" u="none" strike="noStrike">
                <a:solidFill>
                  <a:srgbClr val="000000"/>
                </a:solidFill>
                <a:effectLst/>
                <a:uFillTx/>
                <a:latin typeface="HelveticaNeue"/>
                <a:ea typeface="HelveticaNeue"/>
              </a:rPr>
              <a:t> בחשבון המתאים.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https://code.visualstudio.com/docs/editing/getting-started/editor-tutorial</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https://code.claude.com/docs/en/vs-code</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https://learn.chatgpt.com/docs/codex/ide</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https://marketplace.visualstudio.com/items?itemName=anthropic.claude-code</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https://marketplace.visualstudio.com/items?itemName=openai.chatgpt</a:t>
            </a:r>
            <a:endParaRPr lang="en-IL" sz="1200" b="0" u="none" strike="noStrik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1371600" y="768240"/>
            <a:ext cx="5029200" cy="3767400"/>
          </a:xfrm>
          <a:prstGeom prst="rect">
            <a:avLst/>
          </a:prstGeom>
          <a:ln w="0">
            <a:noFill/>
          </a:ln>
        </p:spPr>
      </p:sp>
      <p:sp>
        <p:nvSpPr>
          <p:cNvPr id="47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צילום </a:t>
            </a:r>
            <a:r>
              <a:rPr lang="en-IL" sz="1200" b="0" u="none" strike="noStrike">
                <a:solidFill>
                  <a:srgbClr val="000000"/>
                </a:solidFill>
                <a:effectLst/>
                <a:uFillTx/>
                <a:latin typeface="HelveticaNeue"/>
                <a:ea typeface="HelveticaNeue"/>
              </a:rPr>
              <a:t>Microsoft</a:t>
            </a:r>
            <a:r>
              <a:rPr lang="en-IL" sz="1200" b="0" u="none" strike="noStrike">
                <a:solidFill>
                  <a:srgbClr val="000000"/>
                </a:solidFill>
                <a:effectLst/>
                <a:uFillTx/>
                <a:latin typeface="HelveticaNeue"/>
                <a:ea typeface="HelveticaNeue"/>
              </a:rPr>
              <a:t> מדגים את חלון התוספים. התלמידים מחפשים את אחד משני התוספים הרשמיים ומוודאים את המפרסם. אין צורך להתקין תוספי צד שלישי דומים. המזהים הרשמיים: </a:t>
            </a:r>
            <a:r>
              <a:rPr lang="en-IL" sz="1200" b="0" u="none" strike="noStrike">
                <a:solidFill>
                  <a:srgbClr val="000000"/>
                </a:solidFill>
                <a:effectLst/>
                <a:uFillTx/>
                <a:latin typeface="HelveticaNeue"/>
                <a:ea typeface="HelveticaNeue"/>
              </a:rPr>
              <a:t>anthropic.claude-code</a:t>
            </a:r>
            <a:r>
              <a:rPr lang="en-IL" sz="1200" b="0" u="none" strike="noStrike">
                <a:solidFill>
                  <a:srgbClr val="000000"/>
                </a:solidFill>
                <a:effectLst/>
                <a:uFillTx/>
                <a:latin typeface="HelveticaNeue"/>
                <a:ea typeface="HelveticaNeue"/>
              </a:rPr>
              <a:t> ו־</a:t>
            </a:r>
            <a:r>
              <a:rPr lang="en-IL" sz="1200" b="0" u="none" strike="noStrike">
                <a:solidFill>
                  <a:srgbClr val="000000"/>
                </a:solidFill>
                <a:effectLst/>
                <a:uFillTx/>
                <a:latin typeface="HelveticaNeue"/>
                <a:ea typeface="HelveticaNeue"/>
              </a:rPr>
              <a:t>openai.chatgpt</a:t>
            </a:r>
            <a:r>
              <a:rPr lang="en-IL" sz="1200" b="0" u="none" strike="noStrike">
                <a:solidFill>
                  <a:srgbClr val="000000"/>
                </a:solidFill>
                <a:effectLst/>
                <a:uFillTx/>
                <a:latin typeface="HelveticaNeue"/>
                <a:ea typeface="HelveticaNeue"/>
              </a:rPr>
              <a:t>. אחרי ההתקנה פותחים את חלונית הסוכן ומשלימים </a:t>
            </a:r>
            <a:r>
              <a:rPr lang="en-IL" sz="1200" b="0" u="none" strike="noStrike">
                <a:solidFill>
                  <a:srgbClr val="000000"/>
                </a:solidFill>
                <a:effectLst/>
                <a:uFillTx/>
                <a:latin typeface="HelveticaNeue"/>
                <a:ea typeface="HelveticaNeue"/>
              </a:rPr>
              <a:t>Sign in</a:t>
            </a:r>
            <a:r>
              <a:rPr lang="en-IL" sz="1200" b="0" u="none" strike="noStrike">
                <a:solidFill>
                  <a:srgbClr val="000000"/>
                </a:solidFill>
                <a:effectLst/>
                <a:uFillTx/>
                <a:latin typeface="HelveticaNeue"/>
                <a:ea typeface="HelveticaNeue"/>
              </a:rPr>
              <a:t> בחשבון המתאים.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https://code.visualstudio.com/docs/editing/getting-started/editor-tutorial</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https://code.claude.com/docs/en/vs-code</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https://learn.chatgpt.com/docs/codex/ide</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https://marketplace.visualstudio.com/items?itemName=anthropic.claude-code</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https://marketplace.visualstudio.com/items?itemName=openai.chatgpt</a:t>
            </a:r>
            <a:endParaRPr lang="en-IL" sz="1200" b="0" u="none" strike="noStrik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1371600" y="768240"/>
            <a:ext cx="5029200" cy="3767400"/>
          </a:xfrm>
          <a:prstGeom prst="rect">
            <a:avLst/>
          </a:prstGeom>
          <a:ln w="0">
            <a:noFill/>
          </a:ln>
        </p:spPr>
      </p:sp>
      <p:sp>
        <p:nvSpPr>
          <p:cNvPr id="47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ההדגמה ב־</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פותחים </a:t>
            </a:r>
            <a:r>
              <a:rPr lang="en-IL" sz="1200" b="0" u="none" strike="noStrike">
                <a:solidFill>
                  <a:srgbClr val="000000"/>
                </a:solidFill>
                <a:effectLst/>
                <a:uFillTx/>
                <a:latin typeface="HelveticaNeue"/>
                <a:ea typeface="HelveticaNeue"/>
              </a:rPr>
              <a:t>Extensions</a:t>
            </a:r>
            <a:r>
              <a:rPr lang="en-IL" sz="1200" b="0" u="none" strike="noStrike">
                <a:solidFill>
                  <a:srgbClr val="000000"/>
                </a:solidFill>
                <a:effectLst/>
                <a:uFillTx/>
                <a:latin typeface="HelveticaNeue"/>
                <a:ea typeface="HelveticaNeue"/>
              </a:rPr>
              <a:t>, מחפשים את מזהה התוסף </a:t>
            </a:r>
            <a:r>
              <a:rPr lang="en-IL" sz="1200" b="0" u="none" strike="noStrike">
                <a:solidFill>
                  <a:srgbClr val="000000"/>
                </a:solidFill>
                <a:effectLst/>
                <a:uFillTx/>
                <a:latin typeface="HelveticaNeue"/>
                <a:ea typeface="HelveticaNeue"/>
              </a:rPr>
              <a:t>ritwickdey.LiveServer</a:t>
            </a:r>
            <a:r>
              <a:rPr lang="en-IL" sz="1200" b="0" u="none" strike="noStrike">
                <a:solidFill>
                  <a:srgbClr val="000000"/>
                </a:solidFill>
                <a:effectLst/>
                <a:uFillTx/>
                <a:latin typeface="HelveticaNeue"/>
                <a:ea typeface="HelveticaNeue"/>
              </a:rPr>
              <a:t> ומתקינים. פותחים תיקייה ולא רק קובץ יחיד. פותחים </a:t>
            </a:r>
            <a:r>
              <a:rPr lang="en-IL" sz="1200" b="0" u="none" strike="noStrike">
                <a:solidFill>
                  <a:srgbClr val="000000"/>
                </a:solidFill>
                <a:effectLst/>
                <a:uFillTx/>
                <a:latin typeface="HelveticaNeue"/>
                <a:ea typeface="HelveticaNeue"/>
              </a:rPr>
              <a:t>index.html</a:t>
            </a:r>
            <a:r>
              <a:rPr lang="en-IL" sz="1200" b="0" u="none" strike="noStrike">
                <a:solidFill>
                  <a:srgbClr val="000000"/>
                </a:solidFill>
                <a:effectLst/>
                <a:uFillTx/>
                <a:latin typeface="HelveticaNeue"/>
                <a:ea typeface="HelveticaNeue"/>
              </a:rPr>
              <a:t>, בוחרים </a:t>
            </a:r>
            <a:r>
              <a:rPr lang="en-IL" sz="1200" b="0" u="none" strike="noStrike">
                <a:solidFill>
                  <a:srgbClr val="000000"/>
                </a:solidFill>
                <a:effectLst/>
                <a:uFillTx/>
                <a:latin typeface="HelveticaNeue"/>
                <a:ea typeface="HelveticaNeue"/>
              </a:rPr>
              <a:t>Open with Live Server</a:t>
            </a:r>
            <a:r>
              <a:rPr lang="en-IL" sz="1200" b="0" u="none" strike="noStrike">
                <a:solidFill>
                  <a:srgbClr val="000000"/>
                </a:solidFill>
                <a:effectLst/>
                <a:uFillTx/>
                <a:latin typeface="HelveticaNeue"/>
                <a:ea typeface="HelveticaNeue"/>
              </a:rPr>
              <a:t> או </a:t>
            </a:r>
            <a:r>
              <a:rPr lang="en-IL" sz="1200" b="0" u="none" strike="noStrike">
                <a:solidFill>
                  <a:srgbClr val="000000"/>
                </a:solidFill>
                <a:effectLst/>
                <a:uFillTx/>
                <a:latin typeface="HelveticaNeue"/>
                <a:ea typeface="HelveticaNeue"/>
              </a:rPr>
              <a:t>Go Live</a:t>
            </a:r>
            <a:r>
              <a:rPr lang="en-IL" sz="1200" b="0" u="none" strike="noStrike">
                <a:solidFill>
                  <a:srgbClr val="000000"/>
                </a:solidFill>
                <a:effectLst/>
                <a:uFillTx/>
                <a:latin typeface="HelveticaNeue"/>
                <a:ea typeface="HelveticaNeue"/>
              </a:rPr>
              <a:t>. שמירת שינוי מרעננת את הדף. בפרויקט </a:t>
            </a:r>
            <a:r>
              <a:rPr lang="en-IL" sz="1200" b="0" u="none" strike="noStrike">
                <a:solidFill>
                  <a:srgbClr val="000000"/>
                </a:solidFill>
                <a:effectLst/>
                <a:uFillTx/>
                <a:latin typeface="HelveticaNeue"/>
                <a:ea typeface="HelveticaNeue"/>
              </a:rPr>
              <a:t>Next.js</a:t>
            </a:r>
            <a:r>
              <a:rPr lang="en-IL" sz="1200" b="0" u="none" strike="noStrike">
                <a:solidFill>
                  <a:srgbClr val="000000"/>
                </a:solidFill>
                <a:effectLst/>
                <a:uFillTx/>
                <a:latin typeface="HelveticaNeue"/>
                <a:ea typeface="HelveticaNeue"/>
              </a:rPr>
              <a:t> משתמשים בשרת הפיתוח של הפרויקט, </a:t>
            </a:r>
            <a:r>
              <a:rPr lang="en-IL" sz="1200" b="0" u="none" strike="noStrike">
                <a:solidFill>
                  <a:srgbClr val="000000"/>
                </a:solidFill>
                <a:effectLst/>
                <a:uFillTx/>
                <a:latin typeface="HelveticaNeue"/>
                <a:ea typeface="HelveticaNeue"/>
              </a:rPr>
              <a:t>npm run dev</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https://marketplace.visualstudio.com/items?itemName=ritwickdey.LiveServer</a:t>
            </a:r>
            <a:endParaRPr lang="en-IL" sz="1200" b="0" u="none" strike="noStrik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1371600" y="768240"/>
            <a:ext cx="5029200" cy="3767400"/>
          </a:xfrm>
          <a:prstGeom prst="rect">
            <a:avLst/>
          </a:prstGeom>
          <a:ln w="0">
            <a:noFill/>
          </a:ln>
        </p:spPr>
      </p:sp>
      <p:sp>
        <p:nvSpPr>
          <p:cNvPr id="47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ההדגמה ב־</a:t>
            </a:r>
            <a:r>
              <a:rPr lang="en-IL" sz="1200" b="0" u="none" strike="noStrike">
                <a:solidFill>
                  <a:srgbClr val="000000"/>
                </a:solidFill>
                <a:effectLst/>
                <a:uFillTx/>
                <a:latin typeface="HelveticaNeue"/>
                <a:ea typeface="HelveticaNeue"/>
              </a:rPr>
              <a:t>VS Code</a:t>
            </a:r>
            <a:r>
              <a:rPr lang="en-IL" sz="1200" b="0" u="none" strike="noStrike">
                <a:solidFill>
                  <a:srgbClr val="000000"/>
                </a:solidFill>
                <a:effectLst/>
                <a:uFillTx/>
                <a:latin typeface="HelveticaNeue"/>
                <a:ea typeface="HelveticaNeue"/>
              </a:rPr>
              <a:t>. מזהה התוסף </a:t>
            </a:r>
            <a:r>
              <a:rPr lang="en-IL" sz="1200" b="0" u="none" strike="noStrike">
                <a:solidFill>
                  <a:srgbClr val="000000"/>
                </a:solidFill>
                <a:effectLst/>
                <a:uFillTx/>
                <a:latin typeface="HelveticaNeue"/>
                <a:ea typeface="HelveticaNeue"/>
              </a:rPr>
              <a:t>cweijan.vscode-office</a:t>
            </a:r>
            <a:r>
              <a:rPr lang="en-IL" sz="1200" b="0" u="none" strike="noStrike">
                <a:solidFill>
                  <a:srgbClr val="000000"/>
                </a:solidFill>
                <a:effectLst/>
                <a:uFillTx/>
                <a:latin typeface="HelveticaNeue"/>
                <a:ea typeface="HelveticaNeue"/>
              </a:rPr>
              <a:t>. התוסף תומך בצפייה בסוגי קבצים שונים ובהם </a:t>
            </a:r>
            <a:r>
              <a:rPr lang="en-IL" sz="1200" b="0" u="none" strike="noStrike">
                <a:solidFill>
                  <a:srgbClr val="000000"/>
                </a:solidFill>
                <a:effectLst/>
                <a:uFillTx/>
                <a:latin typeface="HelveticaNeue"/>
                <a:ea typeface="HelveticaNeue"/>
              </a:rPr>
              <a:t>DOCX, XLSX, PPTX</a:t>
            </a:r>
            <a:r>
              <a:rPr lang="en-IL" sz="1200" b="0" u="none" strike="noStrike">
                <a:solidFill>
                  <a:srgbClr val="000000"/>
                </a:solidFill>
                <a:effectLst/>
                <a:uFillTx/>
                <a:latin typeface="HelveticaNeue"/>
                <a:ea typeface="HelveticaNeue"/>
              </a:rPr>
              <a:t> ו־</a:t>
            </a:r>
            <a:r>
              <a:rPr lang="en-IL" sz="1200" b="0" u="none" strike="noStrike">
                <a:solidFill>
                  <a:srgbClr val="000000"/>
                </a:solidFill>
                <a:effectLst/>
                <a:uFillTx/>
                <a:latin typeface="HelveticaNeue"/>
                <a:ea typeface="HelveticaNeue"/>
              </a:rPr>
              <a:t>PDF</a:t>
            </a:r>
            <a:r>
              <a:rPr lang="en-IL" sz="1200" b="0" u="none" strike="noStrike">
                <a:solidFill>
                  <a:srgbClr val="000000"/>
                </a:solidFill>
                <a:effectLst/>
                <a:uFillTx/>
                <a:latin typeface="HelveticaNeue"/>
                <a:ea typeface="HelveticaNeue"/>
              </a:rPr>
              <a:t> לפי תיעודו. אם הקובץ נפתח בעורך אחר, משתמשים בתפריט </a:t>
            </a:r>
            <a:r>
              <a:rPr lang="en-IL" sz="1200" b="0" u="none" strike="noStrike">
                <a:solidFill>
                  <a:srgbClr val="000000"/>
                </a:solidFill>
                <a:effectLst/>
                <a:uFillTx/>
                <a:latin typeface="HelveticaNeue"/>
                <a:ea typeface="HelveticaNeue"/>
              </a:rPr>
              <a:t>Reopen Editor With</a:t>
            </a:r>
            <a:r>
              <a:rPr lang="en-IL" sz="1200" b="0" u="none" strike="noStrike">
                <a:solidFill>
                  <a:srgbClr val="000000"/>
                </a:solidFill>
                <a:effectLst/>
                <a:uFillTx/>
                <a:latin typeface="HelveticaNeue"/>
                <a:ea typeface="HelveticaNeue"/>
              </a:rPr>
              <a:t> לבחירת הצופה המתאים. זמינות התוספים בעורכים אחרים תלויה בקטלוג ובגרסה שלהם.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https://marketplace.visualstudio.com/items?itemName=cweijan.vscode-office</a:t>
            </a:r>
            <a:endParaRPr lang="en-IL" sz="1200" b="0" u="none" strike="noStrik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1371600" y="768240"/>
            <a:ext cx="5029200" cy="3767400"/>
          </a:xfrm>
          <a:prstGeom prst="rect">
            <a:avLst/>
          </a:prstGeom>
          <a:ln w="0">
            <a:noFill/>
          </a:ln>
        </p:spPr>
      </p:sp>
      <p:sp>
        <p:nvSpPr>
          <p:cNvPr id="47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פעל כסוכן פיתוח שמלווה אותי מהרעיון לגרסה ראשונה עובדת.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המוצר שאני רוצה לבנות: [תיאור הרעיון וקהל היעד].</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הפעולה המרכזית שהמשתמש צריך לבצע: [תיאור הפעולה].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התחל בהבנת הדרישה ובסקירת החומרים שסיפקתי בתיקייה.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קרא הנחיות קיימות, קוד ומסמכים. שמור עבודה קיימת.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הצג מה הבנת, מה כבר קיים ואילו פרטים דרושים להחלטה.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שאל שאלות ממוקדות רק כשחסר מידע שמשנה את המוצר.</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הצע גרסה ראשונה ממוקדת, כולל מה יישאר לשלב הבא.</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הצע שימוש ב־</a:t>
            </a:r>
            <a:r>
              <a:rPr lang="en-IL" sz="1200" b="0" u="none" strike="noStrike">
                <a:solidFill>
                  <a:srgbClr val="000000"/>
                </a:solidFill>
                <a:effectLst/>
                <a:uFillTx/>
                <a:latin typeface="HelveticaNeue"/>
                <a:ea typeface="HelveticaNeue"/>
              </a:rPr>
              <a:t>Next.js</a:t>
            </a:r>
            <a:r>
              <a:rPr lang="en-IL" sz="1200" b="0" u="none" strike="noStrike">
                <a:solidFill>
                  <a:srgbClr val="000000"/>
                </a:solidFill>
                <a:effectLst/>
                <a:uFillTx/>
                <a:latin typeface="HelveticaNeue"/>
                <a:ea typeface="HelveticaNeue"/>
              </a:rPr>
              <a:t>, ב־</a:t>
            </a:r>
            <a:r>
              <a:rPr lang="en-IL" sz="1200" b="0" u="none" strike="noStrike">
                <a:solidFill>
                  <a:srgbClr val="000000"/>
                </a:solidFill>
                <a:effectLst/>
                <a:uFillTx/>
                <a:latin typeface="HelveticaNeue"/>
                <a:ea typeface="HelveticaNeue"/>
              </a:rPr>
              <a:t>Supabase</a:t>
            </a:r>
            <a:r>
              <a:rPr lang="en-IL" sz="1200" b="0" u="none" strike="noStrike">
                <a:solidFill>
                  <a:srgbClr val="000000"/>
                </a:solidFill>
                <a:effectLst/>
                <a:uFillTx/>
                <a:latin typeface="HelveticaNeue"/>
                <a:ea typeface="HelveticaNeue"/>
              </a:rPr>
              <a:t> וב־</a:t>
            </a:r>
            <a:r>
              <a:rPr lang="en-IL" sz="1200" b="0" u="none" strike="noStrike">
                <a:solidFill>
                  <a:srgbClr val="000000"/>
                </a:solidFill>
                <a:effectLst/>
                <a:uFillTx/>
                <a:latin typeface="HelveticaNeue"/>
                <a:ea typeface="HelveticaNeue"/>
              </a:rPr>
              <a:t>Vercel</a:t>
            </a:r>
            <a:r>
              <a:rPr lang="en-IL" sz="1200" b="0" u="none" strike="noStrike">
                <a:solidFill>
                  <a:srgbClr val="000000"/>
                </a:solidFill>
                <a:effectLst/>
                <a:uFillTx/>
                <a:latin typeface="HelveticaNeue"/>
                <a:ea typeface="HelveticaNeue"/>
              </a:rPr>
              <a:t> לפי הצורך.</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הסבר מה כל כלי ייתן למוצר ואילו חיבורים נוספים יקדמו אותו.</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בדוק אילו כלים וחיבורי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זמינים לך לעבודה על החומרים.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1371600" y="768240"/>
            <a:ext cx="5029200" cy="3767400"/>
          </a:xfrm>
          <a:prstGeom prst="rect">
            <a:avLst/>
          </a:prstGeom>
          <a:ln w="0">
            <a:noFill/>
          </a:ln>
        </p:spPr>
      </p:sp>
      <p:sp>
        <p:nvSpPr>
          <p:cNvPr id="47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פעל כסוכן פיתוח שמלווה אותי מהרעיון לגרסה ראשונה עובדת.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המוצר שאני רוצה לבנות: [תיאור הרעיון וקהל היעד].</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הפעולה המרכזית שהמשתמש צריך לבצע: [תיאור הפעולה].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התחל בהבנת הדרישה ובסקירת החומרים שסיפקתי בתיקייה.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קרא הנחיות קיימות, קוד ומסמכים. שמור עבודה קיימת.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הצג מה הבנת, מה כבר קיים ואילו פרטים דרושים להחלטה.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שאל שאלות ממוקדות רק כשחסר מידע שמשנה את המוצר.</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הצע גרסה ראשונה ממוקדת, כולל מה יישאר לשלב הבא.</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הצע שימוש ב־</a:t>
            </a:r>
            <a:r>
              <a:rPr lang="en-IL" sz="1200" b="0" u="none" strike="noStrike">
                <a:solidFill>
                  <a:srgbClr val="000000"/>
                </a:solidFill>
                <a:effectLst/>
                <a:uFillTx/>
                <a:latin typeface="HelveticaNeue"/>
                <a:ea typeface="HelveticaNeue"/>
              </a:rPr>
              <a:t>Next.js</a:t>
            </a:r>
            <a:r>
              <a:rPr lang="en-IL" sz="1200" b="0" u="none" strike="noStrike">
                <a:solidFill>
                  <a:srgbClr val="000000"/>
                </a:solidFill>
                <a:effectLst/>
                <a:uFillTx/>
                <a:latin typeface="HelveticaNeue"/>
                <a:ea typeface="HelveticaNeue"/>
              </a:rPr>
              <a:t>, ב־</a:t>
            </a:r>
            <a:r>
              <a:rPr lang="en-IL" sz="1200" b="0" u="none" strike="noStrike">
                <a:solidFill>
                  <a:srgbClr val="000000"/>
                </a:solidFill>
                <a:effectLst/>
                <a:uFillTx/>
                <a:latin typeface="HelveticaNeue"/>
                <a:ea typeface="HelveticaNeue"/>
              </a:rPr>
              <a:t>Supabase</a:t>
            </a:r>
            <a:r>
              <a:rPr lang="en-IL" sz="1200" b="0" u="none" strike="noStrike">
                <a:solidFill>
                  <a:srgbClr val="000000"/>
                </a:solidFill>
                <a:effectLst/>
                <a:uFillTx/>
                <a:latin typeface="HelveticaNeue"/>
                <a:ea typeface="HelveticaNeue"/>
              </a:rPr>
              <a:t> וב־</a:t>
            </a:r>
            <a:r>
              <a:rPr lang="en-IL" sz="1200" b="0" u="none" strike="noStrike">
                <a:solidFill>
                  <a:srgbClr val="000000"/>
                </a:solidFill>
                <a:effectLst/>
                <a:uFillTx/>
                <a:latin typeface="HelveticaNeue"/>
                <a:ea typeface="HelveticaNeue"/>
              </a:rPr>
              <a:t>Vercel</a:t>
            </a:r>
            <a:r>
              <a:rPr lang="en-IL" sz="1200" b="0" u="none" strike="noStrike">
                <a:solidFill>
                  <a:srgbClr val="000000"/>
                </a:solidFill>
                <a:effectLst/>
                <a:uFillTx/>
                <a:latin typeface="HelveticaNeue"/>
                <a:ea typeface="HelveticaNeue"/>
              </a:rPr>
              <a:t> לפי הצורך.</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הסבר מה כל כלי ייתן למוצר ואילו חיבורים נוספים יקדמו אותו.</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בדוק אילו כלים וחיבורי </a:t>
            </a:r>
            <a:r>
              <a:rPr lang="en-IL" sz="1200" b="0" u="none" strike="noStrike">
                <a:solidFill>
                  <a:srgbClr val="000000"/>
                </a:solidFill>
                <a:effectLst/>
                <a:uFillTx/>
                <a:latin typeface="HelveticaNeue"/>
                <a:ea typeface="HelveticaNeue"/>
              </a:rPr>
              <a:t>MCP</a:t>
            </a:r>
            <a:r>
              <a:rPr lang="en-IL" sz="1200" b="0" u="none" strike="noStrike">
                <a:solidFill>
                  <a:srgbClr val="000000"/>
                </a:solidFill>
                <a:effectLst/>
                <a:uFillTx/>
                <a:latin typeface="HelveticaNeue"/>
                <a:ea typeface="HelveticaNeue"/>
              </a:rPr>
              <a:t> זמינים לך לעבודה על החומרים.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1371600" y="768240"/>
            <a:ext cx="5029200" cy="3767400"/>
          </a:xfrm>
          <a:prstGeom prst="rect">
            <a:avLst/>
          </a:prstGeom>
          <a:ln w="0">
            <a:noFill/>
          </a:ln>
        </p:spPr>
      </p:sp>
      <p:sp>
        <p:nvSpPr>
          <p:cNvPr id="48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כתוב בקובץ </a:t>
            </a:r>
            <a:r>
              <a:rPr lang="en-IL" sz="1200" b="0" u="none" strike="noStrike">
                <a:solidFill>
                  <a:srgbClr val="000000"/>
                </a:solidFill>
                <a:effectLst/>
                <a:uFillTx/>
                <a:latin typeface="HelveticaNeue"/>
                <a:ea typeface="HelveticaNeue"/>
              </a:rPr>
              <a:t>docs/spec.md</a:t>
            </a:r>
            <a:r>
              <a:rPr lang="en-IL" sz="1200" b="0" u="none" strike="noStrike">
                <a:solidFill>
                  <a:srgbClr val="000000"/>
                </a:solidFill>
                <a:effectLst/>
                <a:uFillTx/>
                <a:latin typeface="HelveticaNeue"/>
                <a:ea typeface="HelveticaNeue"/>
              </a:rPr>
              <a:t> את המטרה, קהל היעד וגבולות הגרסה.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הוסף תרחישי שימוש, נתונים, הרשאות ותנאי קבלה מדידים.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שמור החלטות והנמקות בקובץ </a:t>
            </a:r>
            <a:r>
              <a:rPr lang="en-IL" sz="1200" b="0" u="none" strike="noStrike">
                <a:solidFill>
                  <a:srgbClr val="000000"/>
                </a:solidFill>
                <a:effectLst/>
                <a:uFillTx/>
                <a:latin typeface="HelveticaNeue"/>
                <a:ea typeface="HelveticaNeue"/>
              </a:rPr>
              <a:t>docs/decisions.md</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צור הוראות עבודה ב־</a:t>
            </a:r>
            <a:r>
              <a:rPr lang="en-IL" sz="1200" b="0" u="none" strike="noStrike">
                <a:solidFill>
                  <a:srgbClr val="000000"/>
                </a:solidFill>
                <a:effectLst/>
                <a:uFillTx/>
                <a:latin typeface="HelveticaNeue"/>
                <a:ea typeface="HelveticaNeue"/>
              </a:rPr>
              <a:t>AGENTS.md</a:t>
            </a:r>
            <a:r>
              <a:rPr lang="en-IL" sz="1200" b="0" u="none" strike="noStrike">
                <a:solidFill>
                  <a:srgbClr val="000000"/>
                </a:solidFill>
                <a:effectLst/>
                <a:uFillTx/>
                <a:latin typeface="HelveticaNeue"/>
                <a:ea typeface="HelveticaNeue"/>
              </a:rPr>
              <a:t> והתאם אותן לכלי שבו אנו עובדים.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בשימוש ב־</a:t>
            </a:r>
            <a:r>
              <a:rPr lang="en-IL" sz="1200" b="0" u="none" strike="noStrike">
                <a:solidFill>
                  <a:srgbClr val="000000"/>
                </a:solidFill>
                <a:effectLst/>
                <a:uFillTx/>
                <a:latin typeface="HelveticaNeue"/>
                <a:ea typeface="HelveticaNeue"/>
              </a:rPr>
              <a:t>Claude Code</a:t>
            </a:r>
            <a:r>
              <a:rPr lang="en-IL" sz="1200" b="0" u="none" strike="noStrike">
                <a:solidFill>
                  <a:srgbClr val="000000"/>
                </a:solidFill>
                <a:effectLst/>
                <a:uFillTx/>
                <a:latin typeface="HelveticaNeue"/>
                <a:ea typeface="HelveticaNeue"/>
              </a:rPr>
              <a:t> הוסף </a:t>
            </a:r>
            <a:r>
              <a:rPr lang="en-IL" sz="1200" b="0" u="none" strike="noStrike">
                <a:solidFill>
                  <a:srgbClr val="000000"/>
                </a:solidFill>
                <a:effectLst/>
                <a:uFillTx/>
                <a:latin typeface="HelveticaNeue"/>
                <a:ea typeface="HelveticaNeue"/>
              </a:rPr>
              <a:t>CLAUDE.md</a:t>
            </a:r>
            <a:r>
              <a:rPr lang="en-IL" sz="1200" b="0" u="none" strike="noStrike">
                <a:solidFill>
                  <a:srgbClr val="000000"/>
                </a:solidFill>
                <a:effectLst/>
                <a:uFillTx/>
                <a:latin typeface="HelveticaNeue"/>
                <a:ea typeface="HelveticaNeue"/>
              </a:rPr>
              <a:t> שמפנה להנחיות המשותפות.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תעד בקובץ </a:t>
            </a:r>
            <a:r>
              <a:rPr lang="en-IL" sz="1200" b="0" u="none" strike="noStrike">
                <a:solidFill>
                  <a:srgbClr val="000000"/>
                </a:solidFill>
                <a:effectLst/>
                <a:uFillTx/>
                <a:latin typeface="HelveticaNeue"/>
                <a:ea typeface="HelveticaNeue"/>
              </a:rPr>
              <a:t>README.md</a:t>
            </a:r>
            <a:r>
              <a:rPr lang="en-IL" sz="1200" b="0" u="none" strike="noStrike">
                <a:solidFill>
                  <a:srgbClr val="000000"/>
                </a:solidFill>
                <a:effectLst/>
                <a:uFillTx/>
                <a:latin typeface="HelveticaNeue"/>
                <a:ea typeface="HelveticaNeue"/>
              </a:rPr>
              <a:t> התקנה, הפעלה ופקודות בדיקה.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חלק את העבודה למשימות קטנות ושמור אותן ב־</a:t>
            </a:r>
            <a:r>
              <a:rPr lang="en-IL" sz="1200" b="0" u="none" strike="noStrike">
                <a:solidFill>
                  <a:srgbClr val="000000"/>
                </a:solidFill>
                <a:effectLst/>
                <a:uFillTx/>
                <a:latin typeface="HelveticaNeue"/>
                <a:ea typeface="HelveticaNeue"/>
              </a:rPr>
              <a:t>docs/status.md</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הצג לי את האפיון ואת התוכנית לקבלת החלטה לפני המימוש.</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לאחר אישור, בנה תרחיש שימוש שלם אחד עם נתוני דוגמה.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כתוב בדיקות להתנהגות, הרץ אותן ובדוק את התוצאה בממשק.</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בסיום דווח מה עובד, מה נבדק בפועל ומה המשימה הבאה.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1371600" y="768240"/>
            <a:ext cx="5029200" cy="3767400"/>
          </a:xfrm>
          <a:prstGeom prst="rect">
            <a:avLst/>
          </a:prstGeom>
          <a:ln w="0">
            <a:noFill/>
          </a:ln>
        </p:spPr>
      </p:sp>
      <p:sp>
        <p:nvSpPr>
          <p:cNvPr id="48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כתוב בקובץ </a:t>
            </a:r>
            <a:r>
              <a:rPr lang="en-IL" sz="1200" b="0" u="none" strike="noStrike">
                <a:solidFill>
                  <a:srgbClr val="000000"/>
                </a:solidFill>
                <a:effectLst/>
                <a:uFillTx/>
                <a:latin typeface="HelveticaNeue"/>
                <a:ea typeface="HelveticaNeue"/>
              </a:rPr>
              <a:t>docs/spec.md</a:t>
            </a:r>
            <a:r>
              <a:rPr lang="en-IL" sz="1200" b="0" u="none" strike="noStrike">
                <a:solidFill>
                  <a:srgbClr val="000000"/>
                </a:solidFill>
                <a:effectLst/>
                <a:uFillTx/>
                <a:latin typeface="HelveticaNeue"/>
                <a:ea typeface="HelveticaNeue"/>
              </a:rPr>
              <a:t> את המטרה, קהל היעד וגבולות הגרסה.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הוסף תרחישי שימוש, נתונים, הרשאות ותנאי קבלה מדידים.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שמור החלטות והנמקות בקובץ </a:t>
            </a:r>
            <a:r>
              <a:rPr lang="en-IL" sz="1200" b="0" u="none" strike="noStrike">
                <a:solidFill>
                  <a:srgbClr val="000000"/>
                </a:solidFill>
                <a:effectLst/>
                <a:uFillTx/>
                <a:latin typeface="HelveticaNeue"/>
                <a:ea typeface="HelveticaNeue"/>
              </a:rPr>
              <a:t>docs/decisions.md</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צור הוראות עבודה ב־</a:t>
            </a:r>
            <a:r>
              <a:rPr lang="en-IL" sz="1200" b="0" u="none" strike="noStrike">
                <a:solidFill>
                  <a:srgbClr val="000000"/>
                </a:solidFill>
                <a:effectLst/>
                <a:uFillTx/>
                <a:latin typeface="HelveticaNeue"/>
                <a:ea typeface="HelveticaNeue"/>
              </a:rPr>
              <a:t>AGENTS.md</a:t>
            </a:r>
            <a:r>
              <a:rPr lang="en-IL" sz="1200" b="0" u="none" strike="noStrike">
                <a:solidFill>
                  <a:srgbClr val="000000"/>
                </a:solidFill>
                <a:effectLst/>
                <a:uFillTx/>
                <a:latin typeface="HelveticaNeue"/>
                <a:ea typeface="HelveticaNeue"/>
              </a:rPr>
              <a:t> והתאם אותן לכלי שבו אנו עובדים.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בשימוש ב־</a:t>
            </a:r>
            <a:r>
              <a:rPr lang="en-IL" sz="1200" b="0" u="none" strike="noStrike">
                <a:solidFill>
                  <a:srgbClr val="000000"/>
                </a:solidFill>
                <a:effectLst/>
                <a:uFillTx/>
                <a:latin typeface="HelveticaNeue"/>
                <a:ea typeface="HelveticaNeue"/>
              </a:rPr>
              <a:t>Claude Code</a:t>
            </a:r>
            <a:r>
              <a:rPr lang="en-IL" sz="1200" b="0" u="none" strike="noStrike">
                <a:solidFill>
                  <a:srgbClr val="000000"/>
                </a:solidFill>
                <a:effectLst/>
                <a:uFillTx/>
                <a:latin typeface="HelveticaNeue"/>
                <a:ea typeface="HelveticaNeue"/>
              </a:rPr>
              <a:t> הוסף </a:t>
            </a:r>
            <a:r>
              <a:rPr lang="en-IL" sz="1200" b="0" u="none" strike="noStrike">
                <a:solidFill>
                  <a:srgbClr val="000000"/>
                </a:solidFill>
                <a:effectLst/>
                <a:uFillTx/>
                <a:latin typeface="HelveticaNeue"/>
                <a:ea typeface="HelveticaNeue"/>
              </a:rPr>
              <a:t>CLAUDE.md</a:t>
            </a:r>
            <a:r>
              <a:rPr lang="en-IL" sz="1200" b="0" u="none" strike="noStrike">
                <a:solidFill>
                  <a:srgbClr val="000000"/>
                </a:solidFill>
                <a:effectLst/>
                <a:uFillTx/>
                <a:latin typeface="HelveticaNeue"/>
                <a:ea typeface="HelveticaNeue"/>
              </a:rPr>
              <a:t> שמפנה להנחיות המשותפות.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תעד בקובץ </a:t>
            </a:r>
            <a:r>
              <a:rPr lang="en-IL" sz="1200" b="0" u="none" strike="noStrike">
                <a:solidFill>
                  <a:srgbClr val="000000"/>
                </a:solidFill>
                <a:effectLst/>
                <a:uFillTx/>
                <a:latin typeface="HelveticaNeue"/>
                <a:ea typeface="HelveticaNeue"/>
              </a:rPr>
              <a:t>README.md</a:t>
            </a:r>
            <a:r>
              <a:rPr lang="en-IL" sz="1200" b="0" u="none" strike="noStrike">
                <a:solidFill>
                  <a:srgbClr val="000000"/>
                </a:solidFill>
                <a:effectLst/>
                <a:uFillTx/>
                <a:latin typeface="HelveticaNeue"/>
                <a:ea typeface="HelveticaNeue"/>
              </a:rPr>
              <a:t> התקנה, הפעלה ופקודות בדיקה.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חלק את העבודה למשימות קטנות ושמור אותן ב־</a:t>
            </a:r>
            <a:r>
              <a:rPr lang="en-IL" sz="1200" b="0" u="none" strike="noStrike">
                <a:solidFill>
                  <a:srgbClr val="000000"/>
                </a:solidFill>
                <a:effectLst/>
                <a:uFillTx/>
                <a:latin typeface="HelveticaNeue"/>
                <a:ea typeface="HelveticaNeue"/>
              </a:rPr>
              <a:t>docs/status.md</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הצג לי את האפיון ואת התוכנית לקבלת החלטה לפני המימוש.</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לאחר אישור, בנה תרחיש שימוש שלם אחד עם נתוני דוגמה.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כתוב בדיקות להתנהגות, הרץ אותן ובדוק את התוצאה בממשק.</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בסיום דווח מה עובד, מה נבדק בפועל ומה המשימה הבאה.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1371600" y="768240"/>
            <a:ext cx="5029200" cy="3767400"/>
          </a:xfrm>
          <a:prstGeom prst="rect">
            <a:avLst/>
          </a:prstGeom>
          <a:ln w="0">
            <a:noFill/>
          </a:ln>
        </p:spPr>
      </p:sp>
      <p:sp>
        <p:nvSpPr>
          <p:cNvPr id="48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כתוב בקובץ </a:t>
            </a:r>
            <a:r>
              <a:rPr lang="en-IL" sz="1200" b="0" u="none" strike="noStrike">
                <a:solidFill>
                  <a:srgbClr val="000000"/>
                </a:solidFill>
                <a:effectLst/>
                <a:uFillTx/>
                <a:latin typeface="HelveticaNeue"/>
                <a:ea typeface="HelveticaNeue"/>
              </a:rPr>
              <a:t>docs/spec.md</a:t>
            </a:r>
            <a:r>
              <a:rPr lang="en-IL" sz="1200" b="0" u="none" strike="noStrike">
                <a:solidFill>
                  <a:srgbClr val="000000"/>
                </a:solidFill>
                <a:effectLst/>
                <a:uFillTx/>
                <a:latin typeface="HelveticaNeue"/>
                <a:ea typeface="HelveticaNeue"/>
              </a:rPr>
              <a:t> את המטרה, קהל היעד וגבולות הגרסה.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הוסף תרחישי שימוש, נתונים, הרשאות ותנאי קבלה מדידים.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שמור החלטות והנמקות בקובץ </a:t>
            </a:r>
            <a:r>
              <a:rPr lang="en-IL" sz="1200" b="0" u="none" strike="noStrike">
                <a:solidFill>
                  <a:srgbClr val="000000"/>
                </a:solidFill>
                <a:effectLst/>
                <a:uFillTx/>
                <a:latin typeface="HelveticaNeue"/>
                <a:ea typeface="HelveticaNeue"/>
              </a:rPr>
              <a:t>docs/decisions.md</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צור הוראות עבודה ב־</a:t>
            </a:r>
            <a:r>
              <a:rPr lang="en-IL" sz="1200" b="0" u="none" strike="noStrike">
                <a:solidFill>
                  <a:srgbClr val="000000"/>
                </a:solidFill>
                <a:effectLst/>
                <a:uFillTx/>
                <a:latin typeface="HelveticaNeue"/>
                <a:ea typeface="HelveticaNeue"/>
              </a:rPr>
              <a:t>AGENTS.md</a:t>
            </a:r>
            <a:r>
              <a:rPr lang="en-IL" sz="1200" b="0" u="none" strike="noStrike">
                <a:solidFill>
                  <a:srgbClr val="000000"/>
                </a:solidFill>
                <a:effectLst/>
                <a:uFillTx/>
                <a:latin typeface="HelveticaNeue"/>
                <a:ea typeface="HelveticaNeue"/>
              </a:rPr>
              <a:t> והתאם אותן לכלי שבו אנו עובדים.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בשימוש ב־</a:t>
            </a:r>
            <a:r>
              <a:rPr lang="en-IL" sz="1200" b="0" u="none" strike="noStrike">
                <a:solidFill>
                  <a:srgbClr val="000000"/>
                </a:solidFill>
                <a:effectLst/>
                <a:uFillTx/>
                <a:latin typeface="HelveticaNeue"/>
                <a:ea typeface="HelveticaNeue"/>
              </a:rPr>
              <a:t>Claude Code</a:t>
            </a:r>
            <a:r>
              <a:rPr lang="en-IL" sz="1200" b="0" u="none" strike="noStrike">
                <a:solidFill>
                  <a:srgbClr val="000000"/>
                </a:solidFill>
                <a:effectLst/>
                <a:uFillTx/>
                <a:latin typeface="HelveticaNeue"/>
                <a:ea typeface="HelveticaNeue"/>
              </a:rPr>
              <a:t> הוסף </a:t>
            </a:r>
            <a:r>
              <a:rPr lang="en-IL" sz="1200" b="0" u="none" strike="noStrike">
                <a:solidFill>
                  <a:srgbClr val="000000"/>
                </a:solidFill>
                <a:effectLst/>
                <a:uFillTx/>
                <a:latin typeface="HelveticaNeue"/>
                <a:ea typeface="HelveticaNeue"/>
              </a:rPr>
              <a:t>CLAUDE.md</a:t>
            </a:r>
            <a:r>
              <a:rPr lang="en-IL" sz="1200" b="0" u="none" strike="noStrike">
                <a:solidFill>
                  <a:srgbClr val="000000"/>
                </a:solidFill>
                <a:effectLst/>
                <a:uFillTx/>
                <a:latin typeface="HelveticaNeue"/>
                <a:ea typeface="HelveticaNeue"/>
              </a:rPr>
              <a:t> שמפנה להנחיות המשותפות.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תעד בקובץ </a:t>
            </a:r>
            <a:r>
              <a:rPr lang="en-IL" sz="1200" b="0" u="none" strike="noStrike">
                <a:solidFill>
                  <a:srgbClr val="000000"/>
                </a:solidFill>
                <a:effectLst/>
                <a:uFillTx/>
                <a:latin typeface="HelveticaNeue"/>
                <a:ea typeface="HelveticaNeue"/>
              </a:rPr>
              <a:t>README.md</a:t>
            </a:r>
            <a:r>
              <a:rPr lang="en-IL" sz="1200" b="0" u="none" strike="noStrike">
                <a:solidFill>
                  <a:srgbClr val="000000"/>
                </a:solidFill>
                <a:effectLst/>
                <a:uFillTx/>
                <a:latin typeface="HelveticaNeue"/>
                <a:ea typeface="HelveticaNeue"/>
              </a:rPr>
              <a:t> התקנה, הפעלה ופקודות בדיקה.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חלק את העבודה למשימות קטנות ושמור אותן ב־</a:t>
            </a:r>
            <a:r>
              <a:rPr lang="en-IL" sz="1200" b="0" u="none" strike="noStrike">
                <a:solidFill>
                  <a:srgbClr val="000000"/>
                </a:solidFill>
                <a:effectLst/>
                <a:uFillTx/>
                <a:latin typeface="HelveticaNeue"/>
                <a:ea typeface="HelveticaNeue"/>
              </a:rPr>
              <a:t>docs/status.md</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הצג לי את האפיון ואת התוכנית לקבלת החלטה לפני המימוש.</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לאחר אישור, בנה תרחיש שימוש שלם אחד עם נתוני דוגמה.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כתוב בדיקות להתנהגות, הרץ אותן ובדוק את התוצאה בממשק.</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בסיום דווח מה עובד, מה נבדק בפועל ומה המשימה הבאה.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1371600" y="768240"/>
            <a:ext cx="5029200" cy="3767400"/>
          </a:xfrm>
          <a:prstGeom prst="rect">
            <a:avLst/>
          </a:prstGeom>
          <a:ln w="0">
            <a:noFill/>
          </a:ln>
        </p:spPr>
      </p:sp>
      <p:sp>
        <p:nvSpPr>
          <p:cNvPr id="48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אפשר להריץ את הפקודות גם בטרמינל רגיל מחוץ לעורך. צילום </a:t>
            </a:r>
            <a:r>
              <a:rPr lang="en-IL" sz="1200" b="0" u="none" strike="noStrike">
                <a:solidFill>
                  <a:srgbClr val="000000"/>
                </a:solidFill>
                <a:effectLst/>
                <a:uFillTx/>
                <a:latin typeface="HelveticaNeue"/>
                <a:ea typeface="HelveticaNeue"/>
              </a:rPr>
              <a:t>Microsoft</a:t>
            </a:r>
            <a:r>
              <a:rPr lang="en-IL" sz="1200" b="0" u="none" strike="noStrike">
                <a:solidFill>
                  <a:srgbClr val="000000"/>
                </a:solidFill>
                <a:effectLst/>
                <a:uFillTx/>
                <a:latin typeface="HelveticaNeue"/>
                <a:ea typeface="HelveticaNeue"/>
              </a:rPr>
              <a:t> מציג את הטרמינל המשולב. הפקודות המוצגות מתאימות לפרויקט </a:t>
            </a:r>
            <a:r>
              <a:rPr lang="en-IL" sz="1200" b="0" u="none" strike="noStrike">
                <a:solidFill>
                  <a:srgbClr val="000000"/>
                </a:solidFill>
                <a:effectLst/>
                <a:uFillTx/>
                <a:latin typeface="HelveticaNeue"/>
                <a:ea typeface="HelveticaNeue"/>
              </a:rPr>
              <a:t>Node/npm</a:t>
            </a:r>
            <a:r>
              <a:rPr lang="en-IL" sz="1200" b="0" u="none" strike="noStrike">
                <a:solidFill>
                  <a:srgbClr val="000000"/>
                </a:solidFill>
                <a:effectLst/>
                <a:uFillTx/>
                <a:latin typeface="HelveticaNeue"/>
                <a:ea typeface="HelveticaNeue"/>
              </a:rPr>
              <a:t> שהוגדר בהתאם. יש לבדוק </a:t>
            </a:r>
            <a:r>
              <a:rPr lang="en-IL" sz="1200" b="0" u="none" strike="noStrike">
                <a:solidFill>
                  <a:srgbClr val="000000"/>
                </a:solidFill>
                <a:effectLst/>
                <a:uFillTx/>
                <a:latin typeface="HelveticaNeue"/>
                <a:ea typeface="HelveticaNeue"/>
              </a:rPr>
              <a:t>package.json</a:t>
            </a:r>
            <a:r>
              <a:rPr lang="en-IL" sz="1200" b="0" u="none" strike="noStrike">
                <a:solidFill>
                  <a:srgbClr val="000000"/>
                </a:solidFill>
                <a:effectLst/>
                <a:uFillTx/>
                <a:latin typeface="HelveticaNeue"/>
                <a:ea typeface="HelveticaNeue"/>
              </a:rPr>
              <a:t> ו־</a:t>
            </a:r>
            <a:r>
              <a:rPr lang="en-IL" sz="1200" b="0" u="none" strike="noStrike">
                <a:solidFill>
                  <a:srgbClr val="000000"/>
                </a:solidFill>
                <a:effectLst/>
                <a:uFillTx/>
                <a:latin typeface="HelveticaNeue"/>
                <a:ea typeface="HelveticaNeue"/>
              </a:rPr>
              <a:t>README</a:t>
            </a:r>
            <a:r>
              <a:rPr lang="en-IL" sz="1200" b="0" u="none" strike="noStrike">
                <a:solidFill>
                  <a:srgbClr val="000000"/>
                </a:solidFill>
                <a:effectLst/>
                <a:uFillTx/>
                <a:latin typeface="HelveticaNeue"/>
                <a:ea typeface="HelveticaNeue"/>
              </a:rPr>
              <a:t>. אם יש </a:t>
            </a:r>
            <a:r>
              <a:rPr lang="en-IL" sz="1200" b="0" u="none" strike="noStrike">
                <a:solidFill>
                  <a:srgbClr val="000000"/>
                </a:solidFill>
                <a:effectLst/>
                <a:uFillTx/>
                <a:latin typeface="HelveticaNeue"/>
                <a:ea typeface="HelveticaNeue"/>
              </a:rPr>
              <a:t>lockfile</a:t>
            </a:r>
            <a:r>
              <a:rPr lang="en-IL" sz="1200" b="0" u="none" strike="noStrike">
                <a:solidFill>
                  <a:srgbClr val="000000"/>
                </a:solidFill>
                <a:effectLst/>
                <a:uFillTx/>
                <a:latin typeface="HelveticaNeue"/>
                <a:ea typeface="HelveticaNeue"/>
              </a:rPr>
              <a:t> מתאים בפרויקט קיים אפשר להשתמש ב־</a:t>
            </a:r>
            <a:r>
              <a:rPr lang="en-IL" sz="1200" b="0" u="none" strike="noStrike">
                <a:solidFill>
                  <a:srgbClr val="000000"/>
                </a:solidFill>
                <a:effectLst/>
                <a:uFillTx/>
                <a:latin typeface="HelveticaNeue"/>
                <a:ea typeface="HelveticaNeue"/>
              </a:rPr>
              <a:t>npm ci</a:t>
            </a:r>
            <a:r>
              <a:rPr lang="en-IL" sz="1200" b="0" u="none" strike="noStrike">
                <a:solidFill>
                  <a:srgbClr val="000000"/>
                </a:solidFill>
                <a:effectLst/>
                <a:uFillTx/>
                <a:latin typeface="HelveticaNeue"/>
                <a:ea typeface="HelveticaNeue"/>
              </a:rPr>
              <a:t>. שלב </a:t>
            </a:r>
            <a:r>
              <a:rPr lang="en-IL" sz="1200" b="0" u="none" strike="noStrike">
                <a:solidFill>
                  <a:srgbClr val="000000"/>
                </a:solidFill>
                <a:effectLst/>
                <a:uFillTx/>
                <a:latin typeface="HelveticaNeue"/>
                <a:ea typeface="HelveticaNeue"/>
              </a:rPr>
              <a:t>scaffolding</a:t>
            </a:r>
            <a:r>
              <a:rPr lang="en-IL" sz="1200" b="0" u="none" strike="noStrike">
                <a:solidFill>
                  <a:srgbClr val="000000"/>
                </a:solidFill>
                <a:effectLst/>
                <a:uFillTx/>
                <a:latin typeface="HelveticaNeue"/>
                <a:ea typeface="HelveticaNeue"/>
              </a:rPr>
              <a:t> נעשה עם הסוכן לפי התיעוד העדכני של </a:t>
            </a:r>
            <a:r>
              <a:rPr lang="en-IL" sz="1200" b="0" u="none" strike="noStrike">
                <a:solidFill>
                  <a:srgbClr val="000000"/>
                </a:solidFill>
                <a:effectLst/>
                <a:uFillTx/>
                <a:latin typeface="HelveticaNeue"/>
                <a:ea typeface="HelveticaNeue"/>
              </a:rPr>
              <a:t>Next.js</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https://nextjs.org/docs/app/getting-started/installation</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https://code.visualstudio.com/docs/editing/getting-started/editor-tutorial</a:t>
            </a:r>
            <a:endParaRPr lang="en-IL" sz="1200" b="0" u="none" strike="noStrik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1371600" y="768240"/>
            <a:ext cx="5029200" cy="3767400"/>
          </a:xfrm>
          <a:prstGeom prst="rect">
            <a:avLst/>
          </a:prstGeom>
          <a:ln w="0">
            <a:noFill/>
          </a:ln>
        </p:spPr>
      </p:sp>
      <p:sp>
        <p:nvSpPr>
          <p:cNvPr id="48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endParaRPr lang="en-IL" sz="20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1371600" y="768240"/>
            <a:ext cx="5029200" cy="3767400"/>
          </a:xfrm>
          <a:prstGeom prst="rect">
            <a:avLst/>
          </a:prstGeom>
          <a:ln w="0">
            <a:noFill/>
          </a:ln>
        </p:spPr>
      </p:sp>
      <p:sp>
        <p:nvSpPr>
          <p:cNvPr id="49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אין להניח שהסוכן יודע את החלטות היום הקודם. ההקשר נבנה מחדש מתוך קבצים, קוד ותוצאות בדיקה.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1371600" y="768240"/>
            <a:ext cx="5029200" cy="3767400"/>
          </a:xfrm>
          <a:prstGeom prst="rect">
            <a:avLst/>
          </a:prstGeom>
          <a:ln w="0">
            <a:noFill/>
          </a:ln>
        </p:spPr>
      </p:sp>
      <p:sp>
        <p:nvSpPr>
          <p:cNvPr id="49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קובצי </a:t>
            </a:r>
            <a:r>
              <a:rPr lang="en-IL" sz="1200" b="0" u="none" strike="noStrike">
                <a:solidFill>
                  <a:srgbClr val="000000"/>
                </a:solidFill>
                <a:effectLst/>
                <a:uFillTx/>
                <a:latin typeface="HelveticaNeue"/>
                <a:ea typeface="HelveticaNeue"/>
              </a:rPr>
              <a:t>Markdown</a:t>
            </a:r>
            <a:r>
              <a:rPr lang="en-IL" sz="1200" b="0" u="none" strike="noStrike">
                <a:solidFill>
                  <a:srgbClr val="000000"/>
                </a:solidFill>
                <a:effectLst/>
                <a:uFillTx/>
                <a:latin typeface="HelveticaNeue"/>
                <a:ea typeface="HelveticaNeue"/>
              </a:rPr>
              <a:t> הם טקסט פשוט. זו שיטת ארגון ידע ולא הרחבת חלון הקונטקסט. הסוכן צריך לטעון את החומר הרלוונטי, והוא עדיין צורך קונטקסט. שמרו את קובץ ההנחיות קצר והפנו ממנו למסמכי נושא. אין צורך לשמור כל הודעת צ׳אט.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https://code.claude.com/docs/en/memory</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https://learn.chatgpt.com/docs/agent-configuration/agents-md</a:t>
            </a:r>
            <a:endParaRPr lang="en-IL" sz="1200" b="0" u="none" strike="noStrik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1371600" y="768240"/>
            <a:ext cx="5029200" cy="3767400"/>
          </a:xfrm>
          <a:prstGeom prst="rect">
            <a:avLst/>
          </a:prstGeom>
          <a:ln w="0">
            <a:noFill/>
          </a:ln>
        </p:spPr>
      </p:sp>
      <p:sp>
        <p:nvSpPr>
          <p:cNvPr id="49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en-IL" sz="1200" b="0" u="none" strike="noStrike">
                <a:solidFill>
                  <a:srgbClr val="000000"/>
                </a:solidFill>
                <a:effectLst/>
                <a:uFillTx/>
                <a:latin typeface="HelveticaNeue"/>
                <a:ea typeface="HelveticaNeue"/>
              </a:rPr>
              <a:t>README</a:t>
            </a:r>
            <a:r>
              <a:rPr lang="en-IL" sz="1200" b="0" u="none" strike="noStrike">
                <a:solidFill>
                  <a:srgbClr val="000000"/>
                </a:solidFill>
                <a:effectLst/>
                <a:uFillTx/>
                <a:latin typeface="HelveticaNeue"/>
                <a:ea typeface="HelveticaNeue"/>
              </a:rPr>
              <a:t> מיועד להבנת הפרויקט והפעלתו. </a:t>
            </a:r>
            <a:r>
              <a:rPr lang="en-IL" sz="1200" b="0" u="none" strike="noStrike">
                <a:solidFill>
                  <a:srgbClr val="000000"/>
                </a:solidFill>
                <a:effectLst/>
                <a:uFillTx/>
                <a:latin typeface="HelveticaNeue"/>
                <a:ea typeface="HelveticaNeue"/>
              </a:rPr>
              <a:t>AGENTS</a:t>
            </a:r>
            <a:r>
              <a:rPr lang="en-IL" sz="1200" b="0" u="none" strike="noStrike">
                <a:solidFill>
                  <a:srgbClr val="000000"/>
                </a:solidFill>
                <a:effectLst/>
                <a:uFillTx/>
                <a:latin typeface="HelveticaNeue"/>
                <a:ea typeface="HelveticaNeue"/>
              </a:rPr>
              <a:t> הוא קובץ הוראות לסוכנים ונטען ב־</a:t>
            </a:r>
            <a:r>
              <a:rPr lang="en-IL" sz="1200" b="0" u="none" strike="noStrike">
                <a:solidFill>
                  <a:srgbClr val="000000"/>
                </a:solidFill>
                <a:effectLst/>
                <a:uFillTx/>
                <a:latin typeface="HelveticaNeue"/>
                <a:ea typeface="HelveticaNeue"/>
              </a:rPr>
              <a:t>Codex</a:t>
            </a:r>
            <a:r>
              <a:rPr lang="en-IL" sz="1200" b="0" u="none" strike="noStrike">
                <a:solidFill>
                  <a:srgbClr val="000000"/>
                </a:solidFill>
                <a:effectLst/>
                <a:uFillTx/>
                <a:latin typeface="HelveticaNeue"/>
                <a:ea typeface="HelveticaNeue"/>
              </a:rPr>
              <a:t> לפי כללי ההיררכיה. </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הוא קובץ ההוראות של </a:t>
            </a:r>
            <a:r>
              <a:rPr lang="en-IL" sz="1200" b="0" u="none" strike="noStrike">
                <a:solidFill>
                  <a:srgbClr val="000000"/>
                </a:solidFill>
                <a:effectLst/>
                <a:uFillTx/>
                <a:latin typeface="HelveticaNeue"/>
                <a:ea typeface="HelveticaNeue"/>
              </a:rPr>
              <a:t>Claude Code</a:t>
            </a:r>
            <a:r>
              <a:rPr lang="en-IL" sz="1200" b="0" u="none" strike="noStrike">
                <a:solidFill>
                  <a:srgbClr val="000000"/>
                </a:solidFill>
                <a:effectLst/>
                <a:uFillTx/>
                <a:latin typeface="HelveticaNeue"/>
                <a:ea typeface="HelveticaNeue"/>
              </a:rPr>
              <a:t>. בגרסאות העדכניות </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יכול לקרוא גם </a:t>
            </a:r>
            <a:r>
              <a:rPr lang="en-IL" sz="1200" b="0" u="none" strike="noStrike">
                <a:solidFill>
                  <a:srgbClr val="000000"/>
                </a:solidFill>
                <a:effectLst/>
                <a:uFillTx/>
                <a:latin typeface="HelveticaNeue"/>
                <a:ea typeface="HelveticaNeue"/>
              </a:rPr>
              <a:t>AGENTS</a:t>
            </a:r>
            <a:r>
              <a:rPr lang="en-IL" sz="1200" b="0" u="none" strike="noStrike">
                <a:solidFill>
                  <a:srgbClr val="000000"/>
                </a:solidFill>
                <a:effectLst/>
                <a:uFillTx/>
                <a:latin typeface="HelveticaNeue"/>
                <a:ea typeface="HelveticaNeue"/>
              </a:rPr>
              <a:t> לפי ההגדרות. </a:t>
            </a:r>
            <a:r>
              <a:rPr lang="en-IL" sz="1200" b="0" u="none" strike="noStrike">
                <a:solidFill>
                  <a:srgbClr val="000000"/>
                </a:solidFill>
                <a:effectLst/>
                <a:uFillTx/>
                <a:latin typeface="HelveticaNeue"/>
                <a:ea typeface="HelveticaNeue"/>
              </a:rPr>
              <a:t>AGENTS</a:t>
            </a:r>
            <a:r>
              <a:rPr lang="en-IL" sz="1200" b="0" u="none" strike="noStrike">
                <a:solidFill>
                  <a:srgbClr val="000000"/>
                </a:solidFill>
                <a:effectLst/>
                <a:uFillTx/>
                <a:latin typeface="HelveticaNeue"/>
                <a:ea typeface="HelveticaNeue"/>
              </a:rPr>
              <a:t> אינו קובץ הגדרת תת־סוכנים.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https://learn.chatgpt.com/docs/agent-configuration/agents-md</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https://code.claude.com/docs/en/memory</a:t>
            </a:r>
            <a:endParaRPr lang="en-IL" sz="1200" b="0" u="none" strike="noStrik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1371600" y="768240"/>
            <a:ext cx="5029200" cy="3767400"/>
          </a:xfrm>
          <a:prstGeom prst="rect">
            <a:avLst/>
          </a:prstGeom>
          <a:ln w="0">
            <a:noFill/>
          </a:ln>
        </p:spPr>
      </p:sp>
      <p:sp>
        <p:nvSpPr>
          <p:cNvPr id="49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החלוקה המוצעת היא מוסכמה לשיעור ולא פורמט רשמי של </a:t>
            </a:r>
            <a:r>
              <a:rPr lang="en-IL" sz="1200" b="0" u="none" strike="noStrike">
                <a:solidFill>
                  <a:srgbClr val="000000"/>
                </a:solidFill>
                <a:effectLst/>
                <a:uFillTx/>
                <a:latin typeface="HelveticaNeue"/>
                <a:ea typeface="HelveticaNeue"/>
              </a:rPr>
              <a:t>Spec-driven development</a:t>
            </a:r>
            <a:r>
              <a:rPr lang="en-IL" sz="1200" b="0" u="none" strike="noStrike">
                <a:solidFill>
                  <a:srgbClr val="000000"/>
                </a:solidFill>
                <a:effectLst/>
                <a:uFillTx/>
                <a:latin typeface="HelveticaNeue"/>
                <a:ea typeface="HelveticaNeue"/>
              </a:rPr>
              <a:t>. אפשר להרחיב אותה כאשר הפרויקט גדל. בתיקיות קוד ממשיות המבנה תלוי בבחירות הפרויקט.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1371600" y="768240"/>
            <a:ext cx="5029200" cy="3767400"/>
          </a:xfrm>
          <a:prstGeom prst="rect">
            <a:avLst/>
          </a:prstGeom>
          <a:ln w="0">
            <a:noFill/>
          </a:ln>
        </p:spPr>
      </p:sp>
      <p:sp>
        <p:nvSpPr>
          <p:cNvPr id="49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דוגמה קצרה ל־</a:t>
            </a:r>
            <a:r>
              <a:rPr lang="en-IL" sz="1200" b="0" u="none" strike="noStrike">
                <a:solidFill>
                  <a:srgbClr val="000000"/>
                </a:solidFill>
                <a:effectLst/>
                <a:uFillTx/>
                <a:latin typeface="HelveticaNeue"/>
                <a:ea typeface="HelveticaNeue"/>
              </a:rPr>
              <a:t>AGENTS</a:t>
            </a:r>
            <a:r>
              <a:rPr lang="en-IL" sz="1200" b="0" u="none" strike="noStrike">
                <a:solidFill>
                  <a:srgbClr val="000000"/>
                </a:solidFill>
                <a:effectLst/>
                <a:uFillTx/>
                <a:latin typeface="HelveticaNeue"/>
                <a:ea typeface="HelveticaNeue"/>
              </a:rPr>
              <a:t> ולייבוא רשמי ב־</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תמיכת </a:t>
            </a:r>
            <a:r>
              <a:rPr lang="en-IL" sz="1200" b="0" u="none" strike="noStrike">
                <a:solidFill>
                  <a:srgbClr val="000000"/>
                </a:solidFill>
                <a:effectLst/>
                <a:uFillTx/>
                <a:latin typeface="HelveticaNeue"/>
                <a:ea typeface="HelveticaNeue"/>
              </a:rPr>
              <a:t>AGENTS</a:t>
            </a:r>
            <a:r>
              <a:rPr lang="en-IL" sz="1200" b="0" u="none" strike="noStrike">
                <a:solidFill>
                  <a:srgbClr val="000000"/>
                </a:solidFill>
                <a:effectLst/>
                <a:uFillTx/>
                <a:latin typeface="HelveticaNeue"/>
                <a:ea typeface="HelveticaNeue"/>
              </a:rPr>
              <a:t> ב־</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תלויה בגרסה ובהגדרות. הייבוא @</a:t>
            </a:r>
            <a:r>
              <a:rPr lang="en-IL" sz="1200" b="0" u="none" strike="noStrike">
                <a:solidFill>
                  <a:srgbClr val="000000"/>
                </a:solidFill>
                <a:effectLst/>
                <a:uFillTx/>
                <a:latin typeface="HelveticaNeue"/>
                <a:ea typeface="HelveticaNeue"/>
              </a:rPr>
              <a:t>AGENTS.md</a:t>
            </a:r>
            <a:r>
              <a:rPr lang="en-IL" sz="1200" b="0" u="none" strike="noStrike">
                <a:solidFill>
                  <a:srgbClr val="000000"/>
                </a:solidFill>
                <a:effectLst/>
                <a:uFillTx/>
                <a:latin typeface="HelveticaNeue"/>
                <a:ea typeface="HelveticaNeue"/>
              </a:rPr>
              <a:t> נמנע משכפול התוכן ומתועד כרגע. חשוב לבדוק שההנחיות אכן נטענו. השמות של פקודות הבדיקה חייבים להתאים ל־</a:t>
            </a:r>
            <a:r>
              <a:rPr lang="en-IL" sz="1200" b="0" u="none" strike="noStrike">
                <a:solidFill>
                  <a:srgbClr val="000000"/>
                </a:solidFill>
                <a:effectLst/>
                <a:uFillTx/>
                <a:latin typeface="HelveticaNeue"/>
                <a:ea typeface="HelveticaNeue"/>
              </a:rPr>
              <a:t>package.json</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https://code.claude.com/docs/en/memory</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https://learn.chatgpt.com/docs/agent-configuration/agents-md</a:t>
            </a:r>
            <a:endParaRPr lang="en-IL" sz="1200" b="0" u="none" strike="noStrik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1371600" y="768240"/>
            <a:ext cx="5029200" cy="3767400"/>
          </a:xfrm>
          <a:prstGeom prst="rect">
            <a:avLst/>
          </a:prstGeom>
          <a:ln w="0">
            <a:noFill/>
          </a:ln>
        </p:spPr>
      </p:sp>
      <p:sp>
        <p:nvSpPr>
          <p:cNvPr id="50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השיטה בשיעור: מתעדים את ההתנהגות הרצויה לפני המימוש ומעדכנים את האפיון כאשר מתקבלת החלטה עסקית חדשה. הקוד והבדיקות הם הראיות למצב בפועל. אם יש סתירה מבררים אותה ולא משנים מסמך רק כדי להתאים לבאג.</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1371600" y="768240"/>
            <a:ext cx="5029200" cy="3767400"/>
          </a:xfrm>
          <a:prstGeom prst="rect">
            <a:avLst/>
          </a:prstGeom>
          <a:ln w="0">
            <a:noFill/>
          </a:ln>
        </p:spPr>
      </p:sp>
      <p:sp>
        <p:nvSpPr>
          <p:cNvPr id="50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זו דוגמה קצרה מהחנות להמחשת תנאי קבלה. העיקר הוא לתרגם בקשה כללית להתנהגות ניתנת לבדיקה, בכל תחום.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1371600" y="768240"/>
            <a:ext cx="5029200" cy="3767400"/>
          </a:xfrm>
          <a:prstGeom prst="rect">
            <a:avLst/>
          </a:prstGeom>
          <a:ln w="0">
            <a:noFill/>
          </a:ln>
        </p:spPr>
      </p:sp>
      <p:sp>
        <p:nvSpPr>
          <p:cNvPr id="50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en-IL" sz="1200" b="0" u="none" strike="noStrike">
                <a:solidFill>
                  <a:srgbClr val="000000"/>
                </a:solidFill>
                <a:effectLst/>
                <a:uFillTx/>
                <a:latin typeface="HelveticaNeue"/>
                <a:ea typeface="HelveticaNeue"/>
              </a:rPr>
              <a:t>TDD</a:t>
            </a:r>
            <a:r>
              <a:rPr lang="en-IL" sz="1200" b="0" u="none" strike="noStrike">
                <a:solidFill>
                  <a:srgbClr val="000000"/>
                </a:solidFill>
                <a:effectLst/>
                <a:uFillTx/>
                <a:latin typeface="HelveticaNeue"/>
                <a:ea typeface="HelveticaNeue"/>
              </a:rPr>
              <a:t> הוא </a:t>
            </a:r>
            <a:r>
              <a:rPr lang="en-IL" sz="1200" b="0" u="none" strike="noStrike">
                <a:solidFill>
                  <a:srgbClr val="000000"/>
                </a:solidFill>
                <a:effectLst/>
                <a:uFillTx/>
                <a:latin typeface="HelveticaNeue"/>
                <a:ea typeface="HelveticaNeue"/>
              </a:rPr>
              <a:t>Test-driven development</a:t>
            </a:r>
            <a:r>
              <a:rPr lang="en-IL" sz="1200" b="0" u="none" strike="noStrike">
                <a:solidFill>
                  <a:srgbClr val="000000"/>
                </a:solidFill>
                <a:effectLst/>
                <a:uFillTx/>
                <a:latin typeface="HelveticaNeue"/>
                <a:ea typeface="HelveticaNeue"/>
              </a:rPr>
              <a:t>. בוחרים התנהגות קטנה, כותבים בדיקה שמכשילה אותה, מוודאים שהכישלון נובע מההתנהגות החסרה, מממשים מינימום ומבצעים </a:t>
            </a:r>
            <a:r>
              <a:rPr lang="en-IL" sz="1200" b="0" u="none" strike="noStrike">
                <a:solidFill>
                  <a:srgbClr val="000000"/>
                </a:solidFill>
                <a:effectLst/>
                <a:uFillTx/>
                <a:latin typeface="HelveticaNeue"/>
                <a:ea typeface="HelveticaNeue"/>
              </a:rPr>
              <a:t>refactor</a:t>
            </a:r>
            <a:r>
              <a:rPr lang="en-IL" sz="1200" b="0" u="none" strike="noStrike">
                <a:solidFill>
                  <a:srgbClr val="000000"/>
                </a:solidFill>
                <a:effectLst/>
                <a:uFillTx/>
                <a:latin typeface="HelveticaNeue"/>
                <a:ea typeface="HelveticaNeue"/>
              </a:rPr>
              <a:t> כשהבדיקות עוברות. תקלה בייבוא, בהתקנה או בחיבור למסד אינה הוכחה שהבדיקה בדקה את הדרישה.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1371600" y="768240"/>
            <a:ext cx="5029200" cy="3767400"/>
          </a:xfrm>
          <a:prstGeom prst="rect">
            <a:avLst/>
          </a:prstGeom>
          <a:ln w="0">
            <a:noFill/>
          </a:ln>
        </p:spPr>
      </p:sp>
      <p:sp>
        <p:nvSpPr>
          <p:cNvPr id="50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בדיקה טובה נגזרת מתנאי הקבלה. היא אינה רק העתק של מבנה המימוש. דורשים תוצאות ממשיות, ומבדילים בין בדיקה שעברה לבין בדיקה שלא הורצה.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1371600" y="768240"/>
            <a:ext cx="5029200" cy="3767400"/>
          </a:xfrm>
          <a:prstGeom prst="rect">
            <a:avLst/>
          </a:prstGeom>
          <a:ln w="0">
            <a:noFill/>
          </a:ln>
        </p:spPr>
      </p:sp>
      <p:sp>
        <p:nvSpPr>
          <p:cNvPr id="50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פעל כסוכן פיתוח בפרויקט הנוכחי והשלם את המשימה הבאה: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השינוי המבוקש: [תיאור ההתנהגות הרצויה].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תנאי הקבלה: [תוצאה צפויה, גבולות ומקרי כישלון].</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קרא את הנחיות הסוכן, את </a:t>
            </a:r>
            <a:r>
              <a:rPr lang="en-IL" sz="1200" b="0" u="none" strike="noStrike">
                <a:solidFill>
                  <a:srgbClr val="000000"/>
                </a:solidFill>
                <a:effectLst/>
                <a:uFillTx/>
                <a:latin typeface="HelveticaNeue"/>
                <a:ea typeface="HelveticaNeue"/>
              </a:rPr>
              <a:t>README.md</a:t>
            </a:r>
            <a:r>
              <a:rPr lang="en-IL" sz="1200" b="0" u="none" strike="noStrike">
                <a:solidFill>
                  <a:srgbClr val="000000"/>
                </a:solidFill>
                <a:effectLst/>
                <a:uFillTx/>
                <a:latin typeface="HelveticaNeue"/>
                <a:ea typeface="HelveticaNeue"/>
              </a:rPr>
              <a:t> ואת </a:t>
            </a:r>
            <a:r>
              <a:rPr lang="en-IL" sz="1200" b="0" u="none" strike="noStrike">
                <a:solidFill>
                  <a:srgbClr val="000000"/>
                </a:solidFill>
                <a:effectLst/>
                <a:uFillTx/>
                <a:latin typeface="HelveticaNeue"/>
                <a:ea typeface="HelveticaNeue"/>
              </a:rPr>
              <a:t>docs/spec.md</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עיין גם ב־</a:t>
            </a:r>
            <a:r>
              <a:rPr lang="en-IL" sz="1200" b="0" u="none" strike="noStrike">
                <a:solidFill>
                  <a:srgbClr val="000000"/>
                </a:solidFill>
                <a:effectLst/>
                <a:uFillTx/>
                <a:latin typeface="HelveticaNeue"/>
                <a:ea typeface="HelveticaNeue"/>
              </a:rPr>
              <a:t>docs/decisions.md</a:t>
            </a:r>
            <a:r>
              <a:rPr lang="en-IL" sz="1200" b="0" u="none" strike="noStrike">
                <a:solidFill>
                  <a:srgbClr val="000000"/>
                </a:solidFill>
                <a:effectLst/>
                <a:uFillTx/>
                <a:latin typeface="HelveticaNeue"/>
                <a:ea typeface="HelveticaNeue"/>
              </a:rPr>
              <a:t> וב־</a:t>
            </a:r>
            <a:r>
              <a:rPr lang="en-IL" sz="1200" b="0" u="none" strike="noStrike">
                <a:solidFill>
                  <a:srgbClr val="000000"/>
                </a:solidFill>
                <a:effectLst/>
                <a:uFillTx/>
                <a:latin typeface="HelveticaNeue"/>
                <a:ea typeface="HelveticaNeue"/>
              </a:rPr>
              <a:t>docs/status.md</a:t>
            </a:r>
            <a:r>
              <a:rPr lang="en-IL" sz="1200" b="0" u="none" strike="noStrike">
                <a:solidFill>
                  <a:srgbClr val="000000"/>
                </a:solidFill>
                <a:effectLst/>
                <a:uFillTx/>
                <a:latin typeface="HelveticaNeue"/>
                <a:ea typeface="HelveticaNeue"/>
              </a:rPr>
              <a:t> ובקוד הרלוונטי.</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התיעוד הוא מקור האמת לדרישות, ולא היסטוריית הצ׳אט.</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אם הדרישה החדשה סותרת את האפיון, הצג את הסתירה וברר אותה.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תעד החלטה שאושרה ועדכן את האפיון לפני המימוש.</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סכם את ההתנהגות שיש להוסיף ואת הדרך שבה תבדוק אותה.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חלק את המשימה לשינויים קטנים שאפשר לבדוק בנפרד.</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שמור על מוסכמות הפרויקט ועל שינויים קיימים שאינם חלק מהמשימה.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1371600" y="768240"/>
            <a:ext cx="5029200" cy="3767400"/>
          </a:xfrm>
          <a:prstGeom prst="rect">
            <a:avLst/>
          </a:prstGeom>
          <a:ln w="0">
            <a:noFill/>
          </a:ln>
        </p:spPr>
      </p:sp>
      <p:sp>
        <p:nvSpPr>
          <p:cNvPr id="51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לכל שינוי התנהגותי, כתוב תחילה בדיקה שנגזרת מתנאי הקבלה.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הרץ אותה וודא שהיא נכשלת בגלל ההתנהגות החסרה.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ממש את השינוי הדרוש, הרץ שוב וודא שהבדיקה עוברת.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שפר את הקוד והריץ בדיקות נוספות שעלולות להיות מושפעות.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אל תמחק ואל תחליש בדיקה כדי להציג הצלחה.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הפעל תת־סוכן לסקירה עצמאית אם אפשר להגדיר לו משימה מועילה.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העבר לו את האפיון, הקבצים הרלוונטיים וגבולות הסקירה.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בדוק את הממצאים ואמת את התוצאה לאחר שילוב התיקונים.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עדכן את מסמכי הפרויקט כך שישקפו את המצב בסיום.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החזר סיכום: שינויים, פקודות ותוצאות בדיקה, פערים והצעד הבא.</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אם בדיקה לא הורצה, ציין זאת ואת הסיבה במפורש.</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1371600" y="768240"/>
            <a:ext cx="5029200" cy="3767400"/>
          </a:xfrm>
          <a:prstGeom prst="rect">
            <a:avLst/>
          </a:prstGeom>
          <a:ln w="0">
            <a:noFill/>
          </a:ln>
        </p:spPr>
      </p:sp>
      <p:sp>
        <p:nvSpPr>
          <p:cNvPr id="51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endParaRPr lang="en-IL" sz="20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1371600" y="768240"/>
            <a:ext cx="5029200" cy="3767400"/>
          </a:xfrm>
          <a:prstGeom prst="rect">
            <a:avLst/>
          </a:prstGeom>
          <a:ln w="0">
            <a:noFill/>
          </a:ln>
        </p:spPr>
      </p:sp>
      <p:sp>
        <p:nvSpPr>
          <p:cNvPr id="51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תת־סוכן עובד על משימה מואצלת בהקשר נפרד ומחזיר ממצאים. אין להניח שהוא יודע את כל השיחה. מעבירים אליו את המידע הנחוץ. פיצול מוסיף זמן, עלות ותיאום, ולכן במשימה קצרה עדיף לעיתים לעבוד עם סוכן אחד.</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https://code.claude.com/docs/en/sub-agents</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https://learn.chatgpt.com/docs/agent-configuration/subagents</a:t>
            </a:r>
            <a:endParaRPr lang="en-IL" sz="1200" b="0" u="none" strike="noStrik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1371600" y="768240"/>
            <a:ext cx="5029200" cy="3767400"/>
          </a:xfrm>
          <a:prstGeom prst="rect">
            <a:avLst/>
          </a:prstGeom>
          <a:ln w="0">
            <a:noFill/>
          </a:ln>
        </p:spPr>
      </p:sp>
      <p:sp>
        <p:nvSpPr>
          <p:cNvPr id="51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הקובץ נשמר בנתיב .</a:t>
            </a:r>
            <a:r>
              <a:rPr lang="en-IL" sz="1200" b="0" u="none" strike="noStrike">
                <a:solidFill>
                  <a:srgbClr val="000000"/>
                </a:solidFill>
                <a:effectLst/>
                <a:uFillTx/>
                <a:latin typeface="HelveticaNeue"/>
                <a:ea typeface="HelveticaNeue"/>
              </a:rPr>
              <a:t>claude/agents/spec-reviewer.md</a:t>
            </a:r>
            <a:r>
              <a:rPr lang="en-IL" sz="1200" b="0" u="none" strike="noStrike">
                <a:solidFill>
                  <a:srgbClr val="000000"/>
                </a:solidFill>
                <a:effectLst/>
                <a:uFillTx/>
                <a:latin typeface="HelveticaNeue"/>
                <a:ea typeface="HelveticaNeue"/>
              </a:rPr>
              <a:t>. שם ותיאור ב־</a:t>
            </a:r>
            <a:r>
              <a:rPr lang="en-IL" sz="1200" b="0" u="none" strike="noStrike">
                <a:solidFill>
                  <a:srgbClr val="000000"/>
                </a:solidFill>
                <a:effectLst/>
                <a:uFillTx/>
                <a:latin typeface="HelveticaNeue"/>
                <a:ea typeface="HelveticaNeue"/>
              </a:rPr>
              <a:t>YAML frontmatter</a:t>
            </a:r>
            <a:r>
              <a:rPr lang="en-IL" sz="1200" b="0" u="none" strike="noStrike">
                <a:solidFill>
                  <a:srgbClr val="000000"/>
                </a:solidFill>
                <a:effectLst/>
                <a:uFillTx/>
                <a:latin typeface="HelveticaNeue"/>
                <a:ea typeface="HelveticaNeue"/>
              </a:rPr>
              <a:t>, ולאחריהם הוראות </a:t>
            </a:r>
            <a:r>
              <a:rPr lang="en-IL" sz="1200" b="0" u="none" strike="noStrike">
                <a:solidFill>
                  <a:srgbClr val="000000"/>
                </a:solidFill>
                <a:effectLst/>
                <a:uFillTx/>
                <a:latin typeface="HelveticaNeue"/>
                <a:ea typeface="HelveticaNeue"/>
              </a:rPr>
              <a:t>Markdown</a:t>
            </a:r>
            <a:r>
              <a:rPr lang="en-IL" sz="1200" b="0" u="none" strike="noStrike">
                <a:solidFill>
                  <a:srgbClr val="000000"/>
                </a:solidFill>
                <a:effectLst/>
                <a:uFillTx/>
                <a:latin typeface="HelveticaNeue"/>
                <a:ea typeface="HelveticaNeue"/>
              </a:rPr>
              <a:t>. הכלים </a:t>
            </a:r>
            <a:r>
              <a:rPr lang="en-IL" sz="1200" b="0" u="none" strike="noStrike">
                <a:solidFill>
                  <a:srgbClr val="000000"/>
                </a:solidFill>
                <a:effectLst/>
                <a:uFillTx/>
                <a:latin typeface="HelveticaNeue"/>
                <a:ea typeface="HelveticaNeue"/>
              </a:rPr>
              <a:t>Read, Grep, Glob</a:t>
            </a:r>
            <a:r>
              <a:rPr lang="en-IL" sz="1200" b="0" u="none" strike="noStrike">
                <a:solidFill>
                  <a:srgbClr val="000000"/>
                </a:solidFill>
                <a:effectLst/>
                <a:uFillTx/>
                <a:latin typeface="HelveticaNeue"/>
                <a:ea typeface="HelveticaNeue"/>
              </a:rPr>
              <a:t> מאפשרים סקירה ללא כלי עריכה או הרצת </a:t>
            </a:r>
            <a:r>
              <a:rPr lang="en-IL" sz="1200" b="0" u="none" strike="noStrike">
                <a:solidFill>
                  <a:srgbClr val="000000"/>
                </a:solidFill>
                <a:effectLst/>
                <a:uFillTx/>
                <a:latin typeface="HelveticaNeue"/>
                <a:ea typeface="HelveticaNeue"/>
              </a:rPr>
              <a:t>shell</a:t>
            </a:r>
            <a:r>
              <a:rPr lang="en-IL" sz="1200" b="0" u="none" strike="noStrike">
                <a:solidFill>
                  <a:srgbClr val="000000"/>
                </a:solidFill>
                <a:effectLst/>
                <a:uFillTx/>
                <a:latin typeface="HelveticaNeue"/>
                <a:ea typeface="HelveticaNeue"/>
              </a:rPr>
              <a:t>. מבקשים מהסוכן הראשי להשתמש ב־</a:t>
            </a:r>
            <a:r>
              <a:rPr lang="en-IL" sz="1200" b="0" u="none" strike="noStrike">
                <a:solidFill>
                  <a:srgbClr val="000000"/>
                </a:solidFill>
                <a:effectLst/>
                <a:uFillTx/>
                <a:latin typeface="HelveticaNeue"/>
                <a:ea typeface="HelveticaNeue"/>
              </a:rPr>
              <a:t>spec-reviewer</a:t>
            </a:r>
            <a:r>
              <a:rPr lang="en-IL" sz="1200" b="0" u="none" strike="noStrike">
                <a:solidFill>
                  <a:srgbClr val="000000"/>
                </a:solidFill>
                <a:effectLst/>
                <a:uFillTx/>
                <a:latin typeface="HelveticaNeue"/>
                <a:ea typeface="HelveticaNeue"/>
              </a:rPr>
              <a:t>. בגרסאות שבהן נוצרה תיקיית </a:t>
            </a:r>
            <a:r>
              <a:rPr lang="en-IL" sz="1200" b="0" u="none" strike="noStrike">
                <a:solidFill>
                  <a:srgbClr val="000000"/>
                </a:solidFill>
                <a:effectLst/>
                <a:uFillTx/>
                <a:latin typeface="HelveticaNeue"/>
                <a:ea typeface="HelveticaNeue"/>
              </a:rPr>
              <a:t>agents</a:t>
            </a:r>
            <a:r>
              <a:rPr lang="en-IL" sz="1200" b="0" u="none" strike="noStrike">
                <a:solidFill>
                  <a:srgbClr val="000000"/>
                </a:solidFill>
                <a:effectLst/>
                <a:uFillTx/>
                <a:latin typeface="HelveticaNeue"/>
                <a:ea typeface="HelveticaNeue"/>
              </a:rPr>
              <a:t> חדשה, מתחילים שיחה חדשה כדי לוודא טעינה.</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https://code.claude.com/docs/en/sub-agents</a:t>
            </a:r>
            <a:endParaRPr lang="en-IL" sz="1200" b="0" u="none" strike="noStrik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1371600" y="768240"/>
            <a:ext cx="5029200" cy="3767400"/>
          </a:xfrm>
          <a:prstGeom prst="rect">
            <a:avLst/>
          </a:prstGeom>
          <a:ln w="0">
            <a:noFill/>
          </a:ln>
        </p:spPr>
      </p:sp>
      <p:sp>
        <p:nvSpPr>
          <p:cNvPr id="51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זהו הפורמט לפי התיעוד שנבדק ב־</a:t>
            </a:r>
            <a:r>
              <a:rPr lang="en-IL" sz="1200" b="0" u="none" strike="noStrike">
                <a:solidFill>
                  <a:srgbClr val="000000"/>
                </a:solidFill>
                <a:effectLst/>
                <a:uFillTx/>
                <a:latin typeface="HelveticaNeue"/>
                <a:ea typeface="HelveticaNeue"/>
              </a:rPr>
              <a:t>13.10.2026</a:t>
            </a:r>
            <a:r>
              <a:rPr lang="en-IL" sz="1200" b="0" u="none" strike="noStrike">
                <a:solidFill>
                  <a:srgbClr val="000000"/>
                </a:solidFill>
                <a:effectLst/>
                <a:uFillTx/>
                <a:latin typeface="HelveticaNeue"/>
                <a:ea typeface="HelveticaNeue"/>
              </a:rPr>
              <a:t>. בקובץ </a:t>
            </a:r>
            <a:r>
              <a:rPr lang="en-IL" sz="1200" b="0" u="none" strike="noStrike">
                <a:solidFill>
                  <a:srgbClr val="000000"/>
                </a:solidFill>
                <a:effectLst/>
                <a:uFillTx/>
                <a:latin typeface="HelveticaNeue"/>
                <a:ea typeface="HelveticaNeue"/>
              </a:rPr>
              <a:t>TOML</a:t>
            </a:r>
            <a:r>
              <a:rPr lang="en-IL" sz="1200" b="0" u="none" strike="noStrike">
                <a:solidFill>
                  <a:srgbClr val="000000"/>
                </a:solidFill>
                <a:effectLst/>
                <a:uFillTx/>
                <a:latin typeface="HelveticaNeue"/>
                <a:ea typeface="HelveticaNeue"/>
              </a:rPr>
              <a:t> של הסוכן </a:t>
            </a:r>
            <a:r>
              <a:rPr lang="en-IL" sz="1200" b="0" u="none" strike="noStrike">
                <a:solidFill>
                  <a:srgbClr val="000000"/>
                </a:solidFill>
                <a:effectLst/>
                <a:uFillTx/>
                <a:latin typeface="HelveticaNeue"/>
                <a:ea typeface="HelveticaNeue"/>
              </a:rPr>
              <a:t>name, description</a:t>
            </a:r>
            <a:r>
              <a:rPr lang="en-IL" sz="1200" b="0" u="none" strike="noStrike">
                <a:solidFill>
                  <a:srgbClr val="000000"/>
                </a:solidFill>
                <a:effectLst/>
                <a:uFillTx/>
                <a:latin typeface="HelveticaNeue"/>
                <a:ea typeface="HelveticaNeue"/>
              </a:rPr>
              <a:t> ו־</a:t>
            </a:r>
            <a:r>
              <a:rPr lang="en-IL" sz="1200" b="0" u="none" strike="noStrike">
                <a:solidFill>
                  <a:srgbClr val="000000"/>
                </a:solidFill>
                <a:effectLst/>
                <a:uFillTx/>
                <a:latin typeface="HelveticaNeue"/>
                <a:ea typeface="HelveticaNeue"/>
              </a:rPr>
              <a:t>developer_instructions</a:t>
            </a:r>
            <a:r>
              <a:rPr lang="en-IL" sz="1200" b="0" u="none" strike="noStrike">
                <a:solidFill>
                  <a:srgbClr val="000000"/>
                </a:solidFill>
                <a:effectLst/>
                <a:uFillTx/>
                <a:latin typeface="HelveticaNeue"/>
                <a:ea typeface="HelveticaNeue"/>
              </a:rPr>
              <a:t> הם שדות נדרשים. </a:t>
            </a:r>
            <a:r>
              <a:rPr lang="en-IL" sz="1200" b="0" u="none" strike="noStrike">
                <a:solidFill>
                  <a:srgbClr val="000000"/>
                </a:solidFill>
                <a:effectLst/>
                <a:uFillTx/>
                <a:latin typeface="HelveticaNeue"/>
                <a:ea typeface="HelveticaNeue"/>
              </a:rPr>
              <a:t>sandbox_mode</a:t>
            </a:r>
            <a:r>
              <a:rPr lang="en-IL" sz="1200" b="0" u="none" strike="noStrike">
                <a:solidFill>
                  <a:srgbClr val="000000"/>
                </a:solidFill>
                <a:effectLst/>
                <a:uFillTx/>
                <a:latin typeface="HelveticaNeue"/>
                <a:ea typeface="HelveticaNeue"/>
              </a:rPr>
              <a:t> הוא הגבלה נוספת. זמינות התכונה ומסלולי ההגדרה תלויים בגרסת הכלי. אין להעתיק קובץ </a:t>
            </a:r>
            <a:r>
              <a:rPr lang="en-IL" sz="1200" b="0" u="none" strike="noStrike">
                <a:solidFill>
                  <a:srgbClr val="000000"/>
                </a:solidFill>
                <a:effectLst/>
                <a:uFillTx/>
                <a:latin typeface="HelveticaNeue"/>
                <a:ea typeface="HelveticaNeue"/>
              </a:rPr>
              <a:t>YAML</a:t>
            </a:r>
            <a:r>
              <a:rPr lang="en-IL" sz="1200" b="0" u="none" strike="noStrike">
                <a:solidFill>
                  <a:srgbClr val="000000"/>
                </a:solidFill>
                <a:effectLst/>
                <a:uFillTx/>
                <a:latin typeface="HelveticaNeue"/>
                <a:ea typeface="HelveticaNeue"/>
              </a:rPr>
              <a:t> של </a:t>
            </a:r>
            <a:r>
              <a:rPr lang="en-IL" sz="1200" b="0" u="none" strike="noStrike">
                <a:solidFill>
                  <a:srgbClr val="000000"/>
                </a:solidFill>
                <a:effectLst/>
                <a:uFillTx/>
                <a:latin typeface="HelveticaNeue"/>
                <a:ea typeface="HelveticaNeue"/>
              </a:rPr>
              <a:t>Claude</a:t>
            </a:r>
            <a:r>
              <a:rPr lang="en-IL" sz="1200" b="0" u="none" strike="noStrike">
                <a:solidFill>
                  <a:srgbClr val="000000"/>
                </a:solidFill>
                <a:effectLst/>
                <a:uFillTx/>
                <a:latin typeface="HelveticaNeue"/>
                <a:ea typeface="HelveticaNeue"/>
              </a:rPr>
              <a:t> כקובץ הגדרה של </a:t>
            </a:r>
            <a:r>
              <a:rPr lang="en-IL" sz="1200" b="0" u="none" strike="noStrike">
                <a:solidFill>
                  <a:srgbClr val="000000"/>
                </a:solidFill>
                <a:effectLst/>
                <a:uFillTx/>
                <a:latin typeface="HelveticaNeue"/>
                <a:ea typeface="HelveticaNeue"/>
              </a:rPr>
              <a:t>Codex</a:t>
            </a:r>
            <a:r>
              <a:rPr lang="en-IL" sz="1200" b="0" u="none" strike="noStrike">
                <a:solidFill>
                  <a:srgbClr val="000000"/>
                </a:solidFill>
                <a:effectLst/>
                <a:uFillTx/>
                <a:latin typeface="HelveticaNeue"/>
                <a:ea typeface="HelveticaNeue"/>
              </a:rPr>
              <a:t>.</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https://learn.chatgpt.com/docs/agent-configuration/subagents</a:t>
            </a:r>
            <a:endParaRPr lang="en-IL" sz="1200" b="0" u="none" strike="noStrik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1371600" y="768240"/>
            <a:ext cx="5029200" cy="3767400"/>
          </a:xfrm>
          <a:prstGeom prst="rect">
            <a:avLst/>
          </a:prstGeom>
          <a:ln w="0">
            <a:noFill/>
          </a:ln>
        </p:spPr>
      </p:sp>
      <p:sp>
        <p:nvSpPr>
          <p:cNvPr id="52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דוגמה כללית לחלוקת עבודה: מימוש, סקירה ובדיקת התאמה לאפיון. בוחרים משימות עצמאיות ונמנעים מעריכה חופפת ללא תיאום.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https://code.claude.com/docs/en/sub-agents</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https://learn.chatgpt.com/docs/agent-configuration/subagents</a:t>
            </a:r>
            <a:endParaRPr lang="en-IL" sz="1200" b="0" u="none" strike="noStrik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1371600" y="768240"/>
            <a:ext cx="5029200" cy="3767400"/>
          </a:xfrm>
          <a:prstGeom prst="rect">
            <a:avLst/>
          </a:prstGeom>
          <a:ln w="0">
            <a:noFill/>
          </a:ln>
        </p:spPr>
      </p:sp>
      <p:sp>
        <p:nvSpPr>
          <p:cNvPr id="52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הפעל תת־סוכן לסקירת השינוי הנוכחי מול האפיון.</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מסור לו את ההנחיות הבאות ואת נתיבי הקבצים שהשתנו:</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תפקידך לבדוק התאמה לדרישות, בלי לערוך קבצים.</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קרא את </a:t>
            </a:r>
            <a:r>
              <a:rPr lang="en-IL" sz="1200" b="0" u="none" strike="noStrike">
                <a:solidFill>
                  <a:srgbClr val="000000"/>
                </a:solidFill>
                <a:effectLst/>
                <a:uFillTx/>
                <a:latin typeface="HelveticaNeue"/>
                <a:ea typeface="HelveticaNeue"/>
              </a:rPr>
              <a:t>docs/spec.md</a:t>
            </a:r>
            <a:r>
              <a:rPr lang="en-IL" sz="1200" b="0" u="none" strike="noStrike">
                <a:solidFill>
                  <a:srgbClr val="000000"/>
                </a:solidFill>
                <a:effectLst/>
                <a:uFillTx/>
                <a:latin typeface="HelveticaNeue"/>
                <a:ea typeface="HelveticaNeue"/>
              </a:rPr>
              <a:t> ואת החלטות הפרויקט הרלוונטיות.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בדוק את הקוד ואת הבדיקות עבור [המשימה ותנאי הקבלה].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חפש התנהגות חסרה, מקרי קצה ופערים בבדיקות או בהרשאות.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לכל ממצא, ציין קובץ, מיקום, דרישה והסבר להשפעה.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הבחן בין תקלה מוכחת, חשד ושאלה שמצריכה החלטה.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החזר ממצאים לפי חשיבות וציין גם מה לא יכולת לבדוק.</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לאחר קבלת הסקירה, בדוק את הממצאים כסוכן הראשי.</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תקן פערים מאומתים, הרץ בדיקות ודווח על התוצאה המשולבת.</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1371600" y="768240"/>
            <a:ext cx="5029200" cy="3767400"/>
          </a:xfrm>
          <a:prstGeom prst="rect">
            <a:avLst/>
          </a:prstGeom>
          <a:ln w="0">
            <a:noFill/>
          </a:ln>
        </p:spPr>
      </p:sp>
      <p:sp>
        <p:nvSpPr>
          <p:cNvPr id="52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סוכן יכול לבצע פעולות ממשיות באמצעות הכלים הזמינים לו. הרשאות לכלי אינן תחליף להגדרת גבולות המשימה. סביבת בדיקה, סקירת שינויים וניהול סודות נדרשים בהתאם לפרויקט.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1371600" y="768240"/>
            <a:ext cx="5029200" cy="3767400"/>
          </a:xfrm>
          <a:prstGeom prst="rect">
            <a:avLst/>
          </a:prstGeom>
          <a:ln w="0">
            <a:noFill/>
          </a:ln>
        </p:spPr>
      </p:sp>
      <p:sp>
        <p:nvSpPr>
          <p:cNvPr id="52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דוגמת תהליך </a:t>
            </a:r>
            <a:r>
              <a:rPr lang="en-IL" sz="1200" b="0" u="none" strike="noStrike">
                <a:solidFill>
                  <a:srgbClr val="000000"/>
                </a:solidFill>
                <a:effectLst/>
                <a:uFillTx/>
                <a:latin typeface="HelveticaNeue"/>
                <a:ea typeface="HelveticaNeue"/>
              </a:rPr>
              <a:t>Git</a:t>
            </a:r>
            <a:r>
              <a:rPr lang="en-IL" sz="1200" b="0" u="none" strike="noStrike">
                <a:solidFill>
                  <a:srgbClr val="000000"/>
                </a:solidFill>
                <a:effectLst/>
                <a:uFillTx/>
                <a:latin typeface="HelveticaNeue"/>
                <a:ea typeface="HelveticaNeue"/>
              </a:rPr>
              <a:t> פשוטה. </a:t>
            </a:r>
            <a:r>
              <a:rPr lang="en-IL" sz="1200" b="0" u="none" strike="noStrike">
                <a:solidFill>
                  <a:srgbClr val="000000"/>
                </a:solidFill>
                <a:effectLst/>
                <a:uFillTx/>
                <a:latin typeface="HelveticaNeue"/>
                <a:ea typeface="HelveticaNeue"/>
              </a:rPr>
              <a:t>Commit</a:t>
            </a:r>
            <a:r>
              <a:rPr lang="en-IL" sz="1200" b="0" u="none" strike="noStrike">
                <a:solidFill>
                  <a:srgbClr val="000000"/>
                </a:solidFill>
                <a:effectLst/>
                <a:uFillTx/>
                <a:latin typeface="HelveticaNeue"/>
                <a:ea typeface="HelveticaNeue"/>
              </a:rPr>
              <a:t> הוא נקודת ציון בגרסאות ואינו גיבוי מרוחק בפני עצמו. בפרויקט משותף עדיף לבטל באמצעות </a:t>
            </a:r>
            <a:r>
              <a:rPr lang="en-IL" sz="1200" b="0" u="none" strike="noStrike">
                <a:solidFill>
                  <a:srgbClr val="000000"/>
                </a:solidFill>
                <a:effectLst/>
                <a:uFillTx/>
                <a:latin typeface="HelveticaNeue"/>
                <a:ea typeface="HelveticaNeue"/>
              </a:rPr>
              <a:t>revert</a:t>
            </a:r>
            <a:r>
              <a:rPr lang="en-IL" sz="1200" b="0" u="none" strike="noStrike">
                <a:solidFill>
                  <a:srgbClr val="000000"/>
                </a:solidFill>
                <a:effectLst/>
                <a:uFillTx/>
                <a:latin typeface="HelveticaNeue"/>
                <a:ea typeface="HelveticaNeue"/>
              </a:rPr>
              <a:t> מתאים מאשר לשכתב היסטוריה. אין לבצע פקודות הרסניות בלי להבין מה יאבד.</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1371600" y="768240"/>
            <a:ext cx="5029200" cy="3767400"/>
          </a:xfrm>
          <a:prstGeom prst="rect">
            <a:avLst/>
          </a:prstGeom>
          <a:ln w="0">
            <a:noFill/>
          </a:ln>
        </p:spPr>
      </p:sp>
      <p:sp>
        <p:nvSpPr>
          <p:cNvPr id="529"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זו תמצית טכנית, ולא חזרה לשיעור השיווק והפרסום שנדחה. פריסה אינה מבטיחה שמיגרציות מסד ירוצו או שמדיניות ההרשאות נכונה. סביבת </a:t>
            </a:r>
            <a:r>
              <a:rPr lang="en-IL" sz="1200" b="0" u="none" strike="noStrike">
                <a:solidFill>
                  <a:srgbClr val="000000"/>
                </a:solidFill>
                <a:effectLst/>
                <a:uFillTx/>
                <a:latin typeface="HelveticaNeue"/>
                <a:ea typeface="HelveticaNeue"/>
              </a:rPr>
              <a:t>preview</a:t>
            </a:r>
            <a:r>
              <a:rPr lang="en-IL" sz="1200" b="0" u="none" strike="noStrike">
                <a:solidFill>
                  <a:srgbClr val="000000"/>
                </a:solidFill>
                <a:effectLst/>
                <a:uFillTx/>
                <a:latin typeface="HelveticaNeue"/>
                <a:ea typeface="HelveticaNeue"/>
              </a:rPr>
              <a:t> עלולה לגשת למסד </a:t>
            </a:r>
            <a:r>
              <a:rPr lang="en-IL" sz="1200" b="0" u="none" strike="noStrike">
                <a:solidFill>
                  <a:srgbClr val="000000"/>
                </a:solidFill>
                <a:effectLst/>
                <a:uFillTx/>
                <a:latin typeface="HelveticaNeue"/>
                <a:ea typeface="HelveticaNeue"/>
              </a:rPr>
              <a:t>production</a:t>
            </a:r>
            <a:r>
              <a:rPr lang="en-IL" sz="1200" b="0" u="none" strike="noStrike">
                <a:solidFill>
                  <a:srgbClr val="000000"/>
                </a:solidFill>
                <a:effectLst/>
                <a:uFillTx/>
                <a:latin typeface="HelveticaNeue"/>
                <a:ea typeface="HelveticaNeue"/>
              </a:rPr>
              <a:t> אם הוגדרה כך. מגדירים נתוני בדיקה וסביבה נפרדת בהתאם לצורך.</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https://vercel.com/docs/deployments</a:t>
            </a:r>
            <a:endParaRPr lang="en-IL" sz="1200" b="0" u="none" strike="noStrike">
              <a:solidFill>
                <a:srgbClr val="000000"/>
              </a:solidFill>
              <a:effectLst/>
              <a:uFillTx/>
              <a:latin typeface="Arial"/>
            </a:endParaRPr>
          </a:p>
          <a:p>
            <a:pPr indent="0" algn="l" rtl="1">
              <a:buNone/>
            </a:pPr>
            <a:r>
              <a:rPr lang="en-IL" sz="1200" b="0" u="none" strike="noStrike">
                <a:solidFill>
                  <a:srgbClr val="000000"/>
                </a:solidFill>
                <a:effectLst/>
                <a:uFillTx/>
                <a:latin typeface="HelveticaNeue"/>
                <a:ea typeface="HelveticaNeue"/>
              </a:rPr>
              <a:t>https://supabase.com/docs</a:t>
            </a:r>
            <a:endParaRPr lang="en-IL" sz="1200" b="0" u="none" strike="noStrik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1371600" y="768240"/>
            <a:ext cx="5029200" cy="3767400"/>
          </a:xfrm>
          <a:prstGeom prst="rect">
            <a:avLst/>
          </a:prstGeom>
          <a:ln w="0">
            <a:noFill/>
          </a:ln>
        </p:spPr>
      </p:sp>
      <p:sp>
        <p:nvSpPr>
          <p:cNvPr id="531"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דוגמה למבנה של </a:t>
            </a:r>
            <a:r>
              <a:rPr lang="en-IL" sz="1200" b="0" u="none" strike="noStrike">
                <a:solidFill>
                  <a:srgbClr val="000000"/>
                </a:solidFill>
                <a:effectLst/>
                <a:uFillTx/>
                <a:latin typeface="HelveticaNeue"/>
                <a:ea typeface="HelveticaNeue"/>
              </a:rPr>
              <a:t>status</a:t>
            </a:r>
            <a:r>
              <a:rPr lang="en-IL" sz="1200" b="0" u="none" strike="noStrike">
                <a:solidFill>
                  <a:srgbClr val="000000"/>
                </a:solidFill>
                <a:effectLst/>
                <a:uFillTx/>
                <a:latin typeface="HelveticaNeue"/>
                <a:ea typeface="HelveticaNeue"/>
              </a:rPr>
              <a:t>, ולא דיווח על משימה שבוצעה. מציינים רק בדיקות שבאמת הורצו ומפנים לקבצים הרלוונטיים.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sldImg"/>
          </p:nvPr>
        </p:nvSpPr>
        <p:spPr>
          <a:xfrm>
            <a:off x="1371600" y="768240"/>
            <a:ext cx="5029200" cy="3767400"/>
          </a:xfrm>
          <a:prstGeom prst="rect">
            <a:avLst/>
          </a:prstGeom>
          <a:ln w="0">
            <a:noFill/>
          </a:ln>
        </p:spPr>
      </p:sp>
      <p:sp>
        <p:nvSpPr>
          <p:cNvPr id="533"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פרומפט להעתקה. מחליפים את הטקסט בסוגריים מרובעים בפרטים של הפרויקט. בהדבקה מאחדים את כל חלקי אותו פרומפט.</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הפרומפט המלא בשקף:</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המשך את הפרויקט מתוך הקבצים, ללא הנחה שיש לך שיחה קודמת.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קרא את הנחיות הסוכן, </a:t>
            </a:r>
            <a:r>
              <a:rPr lang="en-IL" sz="1200" b="0" u="none" strike="noStrike">
                <a:solidFill>
                  <a:srgbClr val="000000"/>
                </a:solidFill>
                <a:effectLst/>
                <a:uFillTx/>
                <a:latin typeface="HelveticaNeue"/>
                <a:ea typeface="HelveticaNeue"/>
              </a:rPr>
              <a:t>README.md</a:t>
            </a:r>
            <a:r>
              <a:rPr lang="en-IL" sz="1200" b="0" u="none" strike="noStrike">
                <a:solidFill>
                  <a:srgbClr val="000000"/>
                </a:solidFill>
                <a:effectLst/>
                <a:uFillTx/>
                <a:latin typeface="HelveticaNeue"/>
                <a:ea typeface="HelveticaNeue"/>
              </a:rPr>
              <a:t> ואת מסמכי האפיון וההחלטות.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קרא את </a:t>
            </a:r>
            <a:r>
              <a:rPr lang="en-IL" sz="1200" b="0" u="none" strike="noStrike">
                <a:solidFill>
                  <a:srgbClr val="000000"/>
                </a:solidFill>
                <a:effectLst/>
                <a:uFillTx/>
                <a:latin typeface="HelveticaNeue"/>
                <a:ea typeface="HelveticaNeue"/>
              </a:rPr>
              <a:t>docs/status.md</a:t>
            </a:r>
            <a:r>
              <a:rPr lang="en-IL" sz="1200" b="0" u="none" strike="noStrike">
                <a:solidFill>
                  <a:srgbClr val="000000"/>
                </a:solidFill>
                <a:effectLst/>
                <a:uFillTx/>
                <a:latin typeface="HelveticaNeue"/>
                <a:ea typeface="HelveticaNeue"/>
              </a:rPr>
              <a:t> ובדוק את מצב הקוד והבדיקות הרלוונטיות.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סכם בקצרה את מטרת המוצר, מה הושלם ומה נשאר פתוח.</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הבחן בין מידע מתועד לבין הנחות ודברים שטרם אומתו.</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אם הקוד והתיעוד סותרים זה את זה, הצג את הפער לפני שינוי הדרישה.</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בחר את המשימה הבאה מתוך התוכנית והסבר למה היא הבאה בתור.</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אם חסרה החלטה שמשנה את המוצר, שאל שאלה ממוקדת.</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אחרת, בצע את המשימה בשיטת </a:t>
            </a:r>
            <a:r>
              <a:rPr lang="en-IL" sz="1200" b="0" u="none" strike="noStrike">
                <a:solidFill>
                  <a:srgbClr val="000000"/>
                </a:solidFill>
                <a:effectLst/>
                <a:uFillTx/>
                <a:latin typeface="HelveticaNeue"/>
                <a:ea typeface="HelveticaNeue"/>
              </a:rPr>
              <a:t>TDD</a:t>
            </a:r>
            <a:r>
              <a:rPr lang="en-IL" sz="1200" b="0" u="none" strike="noStrike">
                <a:solidFill>
                  <a:srgbClr val="000000"/>
                </a:solidFill>
                <a:effectLst/>
                <a:uFillTx/>
                <a:latin typeface="HelveticaNeue"/>
                <a:ea typeface="HelveticaNeue"/>
              </a:rPr>
              <a:t> לפי תנאי הקבלה באפיון.</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בסיום עדכן את המצב, ההחלטות והתיעוד הרלוונטי.</a:t>
            </a:r>
            <a:endParaRPr lang="en-IL" sz="12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דווח מה השתנה, מה נבדק בפועל והיכן הסוכן הבא צריך להמשיך.</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1371600" y="768240"/>
            <a:ext cx="5029200" cy="3767400"/>
          </a:xfrm>
          <a:prstGeom prst="rect">
            <a:avLst/>
          </a:prstGeom>
          <a:ln w="0">
            <a:noFill/>
          </a:ln>
        </p:spPr>
      </p:sp>
      <p:sp>
        <p:nvSpPr>
          <p:cNvPr id="535"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בוחרים שינוי קטן בפרויקט כלשהו. אפשר לתרגל עם תיקיית אפיון בלבד. החנות היא אפשרות לדוגמה בלבד. המבחן הוא יכולת להעביר את ההקשר באמצעות הקבצים.</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1371600" y="768240"/>
            <a:ext cx="5029200" cy="3767400"/>
          </a:xfrm>
          <a:prstGeom prst="rect">
            <a:avLst/>
          </a:prstGeom>
          <a:ln w="0">
            <a:noFill/>
          </a:ln>
        </p:spPr>
      </p:sp>
      <p:sp>
        <p:nvSpPr>
          <p:cNvPr id="537" name="PlaceHolder 2"/>
          <p:cNvSpPr>
            <a:spLocks noGrp="1"/>
          </p:cNvSpPr>
          <p:nvPr>
            <p:ph type="body"/>
          </p:nvPr>
        </p:nvSpPr>
        <p:spPr>
          <a:xfrm>
            <a:off x="777240" y="4773240"/>
            <a:ext cx="6217920" cy="4526280"/>
          </a:xfrm>
          <a:prstGeom prst="rect">
            <a:avLst/>
          </a:prstGeom>
          <a:noFill/>
          <a:ln w="0">
            <a:noFill/>
          </a:ln>
        </p:spPr>
        <p:txBody>
          <a:bodyPr lIns="0" tIns="0" rIns="0" bIns="0" anchor="t">
            <a:spAutoFit/>
          </a:bodyPr>
          <a:p>
            <a:pPr indent="0" algn="l" rtl="1">
              <a:buNone/>
            </a:pPr>
            <a:r>
              <a:rPr lang="hi-IN" sz="1200" b="0" u="none" strike="noStrike">
                <a:solidFill>
                  <a:srgbClr val="000000"/>
                </a:solidFill>
                <a:effectLst/>
                <a:uFillTx/>
                <a:latin typeface="HelveticaNeue"/>
                <a:cs typeface="HelveticaNeue"/>
              </a:rPr>
              <a:t>שאלת סיום לכיתה: אם נאבד את חלון הצ׳אט, האם נוכל להפעיל את הפרויקט, להבין את הדרישות ולהמשיך לפתח? הקבצים המתועדים חייבים לשקף את מצב הפרויקט בפועל.</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a:p>
            <a:pPr indent="0" algn="l" rtl="1">
              <a:buNone/>
            </a:pPr>
            <a:r>
              <a:rPr lang="hi-IN" sz="1200" b="0" u="none" strike="noStrike">
                <a:solidFill>
                  <a:srgbClr val="000000"/>
                </a:solidFill>
                <a:effectLst/>
                <a:uFillTx/>
                <a:latin typeface="HelveticaNeue"/>
                <a:cs typeface="HelveticaNeue"/>
              </a:rPr>
              <a:t>מקורות ותאריך בדיקה: </a:t>
            </a:r>
            <a:r>
              <a:rPr lang="en-IL" sz="1200" b="0" u="none" strike="noStrike">
                <a:solidFill>
                  <a:srgbClr val="000000"/>
                </a:solidFill>
                <a:effectLst/>
                <a:uFillTx/>
                <a:latin typeface="HelveticaNeue"/>
                <a:ea typeface="HelveticaNeue"/>
              </a:rPr>
              <a:t>13.10.2026</a:t>
            </a:r>
            <a:endParaRPr lang="en-IL" sz="1200" b="0" u="none" strike="noStrike">
              <a:solidFill>
                <a:srgbClr val="000000"/>
              </a:solidFill>
              <a:effectLst/>
              <a:uFillTx/>
              <a:latin typeface="Arial"/>
            </a:endParaRPr>
          </a:p>
          <a:p>
            <a:pPr indent="0" algn="l" rtl="1">
              <a:buNone/>
            </a:pPr>
            <a:endParaRPr lang="en-IL"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Slide0">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Slide0">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240"/>
          </a:xfrm>
          <a:prstGeom prst="rect">
            <a:avLst/>
          </a:prstGeom>
          <a:noFill/>
          <a:ln w="0">
            <a:noFill/>
          </a:ln>
        </p:spPr>
        <p:txBody>
          <a:bodyPr lIns="0" tIns="0" rIns="0" bIns="0" anchor="ctr">
            <a:spAutoFit/>
          </a:bodyPr>
          <a:p>
            <a:pPr indent="0" algn="ctr">
              <a:buNone/>
            </a:pPr>
            <a:endParaRPr lang="en-IL" sz="4400" b="0" u="none" strike="noStrike">
              <a:solidFill>
                <a:srgbClr val="000000"/>
              </a:solidFill>
              <a:effectLst/>
              <a:uFillTx/>
              <a:latin typeface="Arial"/>
            </a:endParaRPr>
          </a:p>
        </p:txBody>
      </p:sp>
      <p:sp>
        <p:nvSpPr>
          <p:cNvPr id="7" name="PlaceHolder 2"/>
          <p:cNvSpPr>
            <a:spLocks noGrp="1"/>
          </p:cNvSpPr>
          <p:nvPr>
            <p:ph type="subTitle"/>
          </p:nvPr>
        </p:nvSpPr>
        <p:spPr>
          <a:xfrm>
            <a:off x="457200" y="1203480"/>
            <a:ext cx="8229240" cy="2982600"/>
          </a:xfrm>
          <a:prstGeom prst="rect">
            <a:avLst/>
          </a:prstGeom>
          <a:noFill/>
          <a:ln w="0">
            <a:noFill/>
          </a:ln>
        </p:spPr>
        <p:txBody>
          <a:bodyPr lIns="0" tIns="0" rIns="0" bIns="0" anchor="ctr">
            <a:spAutoFit/>
          </a:bodyPr>
          <a:p>
            <a:pPr indent="0" algn="ctr">
              <a:buNone/>
            </a:pPr>
            <a:endParaRPr lang="en-IL"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
          <p:cNvSpPr/>
          <p:nvPr/>
        </p:nvSpPr>
        <p:spPr>
          <a:xfrm>
            <a:off x="0" y="0"/>
            <a:ext cx="9144360" cy="5143680"/>
          </a:xfrm>
          <a:custGeom>
            <a:avLst/>
            <a:gdLst/>
            <a:ahLst/>
            <a:rect l="0" t="0" r="r" b="b"/>
            <a:pathLst>
              <a:path w="25401" h="14288">
                <a:moveTo>
                  <a:pt x="0" y="0"/>
                </a:moveTo>
                <a:lnTo>
                  <a:pt x="25401" y="0"/>
                </a:lnTo>
                <a:lnTo>
                  <a:pt x="25401" y="14288"/>
                </a:lnTo>
                <a:lnTo>
                  <a:pt x="0" y="14288"/>
                </a:lnTo>
                <a:lnTo>
                  <a:pt x="0" y="0"/>
                </a:lnTo>
                <a:close/>
              </a:path>
            </a:pathLst>
          </a:custGeom>
          <a:solidFill>
            <a:srgbClr val="F6F4F4"/>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3" name=""/>
          <p:cNvSpPr/>
          <p:nvPr/>
        </p:nvSpPr>
        <p:spPr>
          <a:xfrm>
            <a:off x="0" y="0"/>
            <a:ext cx="9144360" cy="5143680"/>
          </a:xfrm>
          <a:custGeom>
            <a:avLst/>
            <a:gdLst/>
            <a:ahLst/>
            <a:rect l="0" t="0" r="r" b="b"/>
            <a:pathLst>
              <a:path w="25401" h="14288">
                <a:moveTo>
                  <a:pt x="0" y="0"/>
                </a:moveTo>
                <a:lnTo>
                  <a:pt x="25401" y="0"/>
                </a:lnTo>
                <a:lnTo>
                  <a:pt x="25401" y="14288"/>
                </a:lnTo>
                <a:lnTo>
                  <a:pt x="0" y="14288"/>
                </a:lnTo>
                <a:lnTo>
                  <a:pt x="0" y="0"/>
                </a:lnTo>
                <a:close/>
              </a:path>
            </a:pathLst>
          </a:custGeom>
          <a:solidFill>
            <a:srgbClr val="FFFFFF"/>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4" name="PlaceHolder 1"/>
          <p:cNvSpPr>
            <a:spLocks noGrp="1"/>
          </p:cNvSpPr>
          <p:nvPr>
            <p:ph type="title"/>
          </p:nvPr>
        </p:nvSpPr>
        <p:spPr>
          <a:xfrm>
            <a:off x="457200" y="205200"/>
            <a:ext cx="8229240" cy="858240"/>
          </a:xfrm>
          <a:prstGeom prst="rect">
            <a:avLst/>
          </a:prstGeom>
          <a:noFill/>
          <a:ln w="0">
            <a:noFill/>
          </a:ln>
        </p:spPr>
        <p:txBody>
          <a:bodyPr lIns="0" tIns="0" rIns="0" bIns="0" anchor="ctr">
            <a:noAutofit/>
          </a:bodyPr>
          <a:lstStyle>
            <a:lvl1pPr indent="0" algn="ctr">
              <a:buNone/>
              <a:defRPr lang="en-IL" sz="4400" b="0" u="none" strike="noStrike">
                <a:solidFill>
                  <a:srgbClr val="000000"/>
                </a:solidFill>
                <a:effectLst/>
                <a:uFillTx/>
                <a:latin typeface="Arial"/>
              </a:defRPr>
            </a:lvl1pPr>
          </a:lstStyle>
          <a:p>
            <a:pPr indent="0" algn="ctr">
              <a:buNone/>
            </a:pPr>
            <a:r>
              <a:rPr lang="en-IL" sz="4400" b="0" u="none" strike="noStrike">
                <a:solidFill>
                  <a:srgbClr val="000000"/>
                </a:solidFill>
                <a:effectLst/>
                <a:uFillTx/>
                <a:latin typeface="Arial"/>
              </a:rPr>
              <a:t>Click to edit the title text format</a:t>
            </a:r>
            <a:endParaRPr lang="en-IL" sz="4400" b="0" u="none" strike="noStrike">
              <a:solidFill>
                <a:srgbClr val="000000"/>
              </a:solidFill>
              <a:effectLst/>
              <a:uFillTx/>
              <a:latin typeface="Arial"/>
            </a:endParaRPr>
          </a:p>
        </p:txBody>
      </p:sp>
      <p:sp>
        <p:nvSpPr>
          <p:cNvPr id="5" name="PlaceHolder 2"/>
          <p:cNvSpPr>
            <a:spLocks noGrp="1"/>
          </p:cNvSpPr>
          <p:nvPr>
            <p:ph type="body"/>
          </p:nvPr>
        </p:nvSpPr>
        <p:spPr>
          <a:xfrm>
            <a:off x="457200" y="1203480"/>
            <a:ext cx="8229240" cy="298260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L"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L"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L"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L"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L"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L"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L"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IL" sz="3200" b="0" u="none" strike="noStrike">
                <a:solidFill>
                  <a:srgbClr val="000000"/>
                </a:solidFill>
                <a:effectLst/>
                <a:uFillTx/>
                <a:latin typeface="Arial"/>
              </a:rPr>
              <a:t>Click to edit the outline text format</a:t>
            </a:r>
            <a:endParaRPr lang="en-IL"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IL" sz="2800" b="0" u="none" strike="noStrike">
                <a:solidFill>
                  <a:srgbClr val="000000"/>
                </a:solidFill>
                <a:effectLst/>
                <a:uFillTx/>
                <a:latin typeface="Arial"/>
              </a:rPr>
              <a:t>Second Outline Level</a:t>
            </a:r>
            <a:endParaRPr lang="en-IL"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IL" sz="2400" b="0" u="none" strike="noStrike">
                <a:solidFill>
                  <a:srgbClr val="000000"/>
                </a:solidFill>
                <a:effectLst/>
                <a:uFillTx/>
                <a:latin typeface="Arial"/>
              </a:rPr>
              <a:t>Third Outline Level</a:t>
            </a:r>
            <a:endParaRPr lang="en-IL"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IL" sz="2000" b="0" u="none" strike="noStrike">
                <a:solidFill>
                  <a:srgbClr val="000000"/>
                </a:solidFill>
                <a:effectLst/>
                <a:uFillTx/>
                <a:latin typeface="Arial"/>
              </a:rPr>
              <a:t>Fourth Outline Level</a:t>
            </a:r>
            <a:endParaRPr lang="en-IL"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IL" sz="2000" b="0" u="none" strike="noStrike">
                <a:solidFill>
                  <a:srgbClr val="000000"/>
                </a:solidFill>
                <a:effectLst/>
                <a:uFillTx/>
                <a:latin typeface="Arial"/>
              </a:rPr>
              <a:t>Fifth Outline Level</a:t>
            </a:r>
            <a:endParaRPr lang="en-IL"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IL" sz="2000" b="0" u="none" strike="noStrike">
                <a:solidFill>
                  <a:srgbClr val="000000"/>
                </a:solidFill>
                <a:effectLst/>
                <a:uFillTx/>
                <a:latin typeface="Arial"/>
              </a:rPr>
              <a:t>Sixth Outline Level</a:t>
            </a:r>
            <a:endParaRPr lang="en-IL"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IL" sz="2000" b="0" u="none" strike="noStrike">
                <a:solidFill>
                  <a:srgbClr val="000000"/>
                </a:solidFill>
                <a:effectLst/>
                <a:uFillTx/>
                <a:latin typeface="Arial"/>
              </a:rPr>
              <a:t>Seventh Outline Level</a:t>
            </a:r>
            <a:endParaRPr lang="en-IL"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5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
          <p:cNvSpPr/>
          <p:nvPr/>
        </p:nvSpPr>
        <p:spPr>
          <a:xfrm>
            <a:off x="5715000" y="0"/>
            <a:ext cx="3429360" cy="5143680"/>
          </a:xfrm>
          <a:custGeom>
            <a:avLst/>
            <a:gdLst/>
            <a:ahLst/>
            <a:rect l="0" t="0" r="r" b="b"/>
            <a:pathLst>
              <a:path w="9526" h="14288">
                <a:moveTo>
                  <a:pt x="0" y="0"/>
                </a:moveTo>
                <a:lnTo>
                  <a:pt x="9526" y="0"/>
                </a:lnTo>
                <a:lnTo>
                  <a:pt x="9526" y="14288"/>
                </a:lnTo>
                <a:lnTo>
                  <a:pt x="0" y="14288"/>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pic>
        <p:nvPicPr>
          <p:cNvPr id="15" name=""/>
          <p:cNvPicPr/>
          <p:nvPr/>
        </p:nvPicPr>
        <p:blipFill>
          <a:blip r:embed="rId1"/>
          <a:stretch/>
        </p:blipFill>
        <p:spPr>
          <a:xfrm>
            <a:off x="6048360" y="1095480"/>
            <a:ext cx="2762280" cy="2762280"/>
          </a:xfrm>
          <a:prstGeom prst="rect">
            <a:avLst/>
          </a:prstGeom>
          <a:noFill/>
          <a:ln w="0">
            <a:noFill/>
          </a:ln>
        </p:spPr>
      </p:pic>
      <p:sp>
        <p:nvSpPr>
          <p:cNvPr id="16" name=""/>
          <p:cNvSpPr txBox="1"/>
          <p:nvPr/>
        </p:nvSpPr>
        <p:spPr>
          <a:xfrm>
            <a:off x="523800" y="1571760"/>
            <a:ext cx="4762440" cy="1000080"/>
          </a:xfrm>
          <a:prstGeom prst="rect">
            <a:avLst/>
          </a:prstGeom>
          <a:noFill/>
          <a:ln w="0">
            <a:noFill/>
          </a:ln>
        </p:spPr>
        <p:txBody>
          <a:bodyPr lIns="90000" tIns="45000" rIns="90000" bIns="45000" anchor="t">
            <a:spAutoFit/>
          </a:bodyPr>
          <a:p>
            <a:pPr algn="ctr" rtl="1"/>
            <a:r>
              <a:rPr lang="hi-IN" sz="3300" b="1" u="none" strike="noStrike">
                <a:solidFill>
                  <a:srgbClr val="D75AE2"/>
                </a:solidFill>
                <a:effectLst/>
                <a:uFillTx/>
                <a:latin typeface="Arial-BoldMT"/>
                <a:cs typeface="Arial-BoldMT"/>
              </a:rPr>
              <a:t>פיתוח עם סוכני</a:t>
            </a:r>
            <a:r>
              <a:rPr lang="en-IL" sz="3300" b="1" u="none" strike="noStrike">
                <a:solidFill>
                  <a:srgbClr val="D75AE2"/>
                </a:solidFill>
                <a:effectLst/>
                <a:uFillTx/>
                <a:latin typeface="Helvetica-Bold"/>
                <a:ea typeface="Helvetica-Bold"/>
              </a:rPr>
              <a:t>-</a:t>
            </a:r>
            <a:r>
              <a:rPr lang="hi-IN" sz="3300" b="1" u="none" strike="noStrike">
                <a:solidFill>
                  <a:srgbClr val="D75AE2"/>
                </a:solidFill>
                <a:effectLst/>
                <a:uFillTx/>
                <a:latin typeface="Arial-BoldMT"/>
                <a:cs typeface="Arial-BoldMT"/>
              </a:rPr>
              <a:t>קוד</a:t>
            </a:r>
            <a:endParaRPr lang="en-IL" sz="3300" b="0" u="none" strike="noStrike">
              <a:solidFill>
                <a:srgbClr val="000000"/>
              </a:solidFill>
              <a:effectLst/>
              <a:uFillTx/>
              <a:latin typeface="Arial"/>
            </a:endParaRPr>
          </a:p>
        </p:txBody>
      </p:sp>
      <p:sp>
        <p:nvSpPr>
          <p:cNvPr id="17" name=""/>
          <p:cNvSpPr txBox="1"/>
          <p:nvPr/>
        </p:nvSpPr>
        <p:spPr>
          <a:xfrm>
            <a:off x="523800" y="2809800"/>
            <a:ext cx="4762440" cy="628560"/>
          </a:xfrm>
          <a:prstGeom prst="rect">
            <a:avLst/>
          </a:prstGeom>
          <a:noFill/>
          <a:ln w="0">
            <a:noFill/>
          </a:ln>
        </p:spPr>
        <p:txBody>
          <a:bodyPr lIns="90000" tIns="45000" rIns="90000" bIns="45000" anchor="t">
            <a:spAutoFit/>
          </a:bodyPr>
          <a:p>
            <a:pPr algn="ctr" rtl="1"/>
            <a:r>
              <a:rPr lang="hi-IN" sz="1800" b="0" u="none" strike="noStrike">
                <a:solidFill>
                  <a:srgbClr val="262424"/>
                </a:solidFill>
                <a:effectLst/>
                <a:uFillTx/>
                <a:latin typeface="ArialMT"/>
                <a:cs typeface="ArialMT"/>
              </a:rPr>
              <a:t>פיתוח ב־</a:t>
            </a:r>
            <a:r>
              <a:rPr lang="en-IL" sz="1800" b="0" u="none" strike="noStrike">
                <a:solidFill>
                  <a:srgbClr val="262424"/>
                </a:solidFill>
                <a:effectLst/>
                <a:uFillTx/>
                <a:latin typeface="Arial"/>
                <a:ea typeface="Arial"/>
              </a:rPr>
              <a:t>Vibe Coding</a:t>
            </a:r>
            <a:r>
              <a:rPr lang="en-IL" sz="1800" b="0" u="none" strike="noStrike">
                <a:solidFill>
                  <a:srgbClr val="262424"/>
                </a:solidFill>
                <a:effectLst/>
                <a:uFillTx/>
                <a:latin typeface="Arial"/>
                <a:ea typeface="Arial"/>
              </a:rPr>
              <a:t> </a:t>
            </a:r>
            <a:r>
              <a:rPr lang="hi-IN" sz="1800" b="0" u="none" strike="noStrike">
                <a:solidFill>
                  <a:srgbClr val="262424"/>
                </a:solidFill>
                <a:effectLst/>
                <a:uFillTx/>
                <a:latin typeface="ArialMT"/>
                <a:cs typeface="ArialMT"/>
              </a:rPr>
              <a:t>עם </a:t>
            </a:r>
            <a:r>
              <a:rPr lang="en-IL" sz="1800" b="0" u="none" strike="noStrike">
                <a:solidFill>
                  <a:srgbClr val="262424"/>
                </a:solidFill>
                <a:effectLst/>
                <a:uFillTx/>
                <a:latin typeface="Arial"/>
                <a:ea typeface="Arial"/>
              </a:rPr>
              <a:t>Claude Code</a:t>
            </a:r>
            <a:endParaRPr lang="en-IL" sz="1800" b="0" u="none" strike="noStrike">
              <a:solidFill>
                <a:srgbClr val="000000"/>
              </a:solidFill>
              <a:effectLst/>
              <a:uFillTx/>
              <a:latin typeface="Arial"/>
            </a:endParaRPr>
          </a:p>
          <a:p>
            <a:pPr algn="ctr" rtl="1"/>
            <a:r>
              <a:rPr lang="hi-IN" sz="1800" b="0" u="none" strike="noStrike">
                <a:solidFill>
                  <a:srgbClr val="262424"/>
                </a:solidFill>
                <a:effectLst/>
                <a:uFillTx/>
                <a:latin typeface="ArialMT"/>
                <a:cs typeface="ArialMT"/>
              </a:rPr>
              <a:t>ועם </a:t>
            </a:r>
            <a:r>
              <a:rPr lang="en-IL" sz="1800" b="0" u="none" strike="noStrike">
                <a:solidFill>
                  <a:srgbClr val="262424"/>
                </a:solidFill>
                <a:effectLst/>
                <a:uFillTx/>
                <a:latin typeface="Arial"/>
                <a:ea typeface="Arial"/>
              </a:rPr>
              <a:t>ChatGPT / Codex</a:t>
            </a:r>
            <a:endParaRPr lang="en-IL" sz="1800" b="0" u="none" strike="noStrike">
              <a:solidFill>
                <a:srgbClr val="000000"/>
              </a:solidFill>
              <a:effectLst/>
              <a:uFillTx/>
              <a:latin typeface="Arial"/>
            </a:endParaRPr>
          </a:p>
        </p:txBody>
      </p:sp>
      <p:sp>
        <p:nvSpPr>
          <p:cNvPr id="18" name=""/>
          <p:cNvSpPr txBox="1"/>
          <p:nvPr/>
        </p:nvSpPr>
        <p:spPr>
          <a:xfrm>
            <a:off x="619200" y="3762360"/>
            <a:ext cx="4572000" cy="619200"/>
          </a:xfrm>
          <a:prstGeom prst="rect">
            <a:avLst/>
          </a:prstGeom>
          <a:noFill/>
          <a:ln w="0">
            <a:noFill/>
          </a:ln>
        </p:spPr>
        <p:txBody>
          <a:bodyPr lIns="90000" tIns="45000" rIns="90000" bIns="45000" anchor="t">
            <a:spAutoFit/>
          </a:bodyPr>
          <a:p>
            <a:pPr algn="ctr" rtl="1"/>
            <a:r>
              <a:rPr lang="hi-IN" sz="1600" b="0" u="none" strike="noStrike">
                <a:solidFill>
                  <a:srgbClr val="262424"/>
                </a:solidFill>
                <a:effectLst/>
                <a:uFillTx/>
                <a:latin typeface="ArialMT"/>
                <a:cs typeface="ArialMT"/>
              </a:rPr>
              <a:t>אפיון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תיעוד ובדיקות שמאפשרים להמשיך גם מחר</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חלון הקונטקסט של הסוכן</a:t>
            </a:r>
            <a:endParaRPr lang="en-IL" sz="2800" b="0" u="none" strike="noStrike">
              <a:solidFill>
                <a:srgbClr val="000000"/>
              </a:solidFill>
              <a:effectLst/>
              <a:uFillTx/>
              <a:latin typeface="Arial"/>
            </a:endParaRPr>
          </a:p>
        </p:txBody>
      </p:sp>
      <p:sp>
        <p:nvSpPr>
          <p:cNvPr id="20"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1"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a:t>
            </a:r>
            <a:endParaRPr lang="en-IL" sz="800" b="0" u="none" strike="noStrike">
              <a:solidFill>
                <a:srgbClr val="000000"/>
              </a:solidFill>
              <a:effectLst/>
              <a:uFillTx/>
              <a:latin typeface="Arial"/>
            </a:endParaRPr>
          </a:p>
        </p:txBody>
      </p:sp>
      <p:sp>
        <p:nvSpPr>
          <p:cNvPr id="22" name=""/>
          <p:cNvSpPr/>
          <p:nvPr/>
        </p:nvSpPr>
        <p:spPr>
          <a:xfrm>
            <a:off x="457200" y="430524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3" name=""/>
          <p:cNvSpPr txBox="1"/>
          <p:nvPr/>
        </p:nvSpPr>
        <p:spPr>
          <a:xfrm>
            <a:off x="3029040" y="837360"/>
            <a:ext cx="3085920" cy="60228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לדוגמא - לסוכן </a:t>
            </a:r>
            <a:r>
              <a:rPr lang="en-IL" sz="1800" b="0" u="none" strike="noStrike">
                <a:solidFill>
                  <a:srgbClr val="000000"/>
                </a:solidFill>
                <a:effectLst/>
                <a:uFillTx/>
                <a:latin typeface="ArialMT"/>
                <a:ea typeface="ArialMT"/>
              </a:rPr>
              <a:t>Claude Opus 5.5</a:t>
            </a:r>
            <a:endParaRPr lang="en-IL" sz="1800" b="0" u="none" strike="noStrike">
              <a:solidFill>
                <a:srgbClr val="000000"/>
              </a:solidFill>
              <a:effectLst/>
              <a:uFillTx/>
              <a:latin typeface="Arial"/>
            </a:endParaRPr>
          </a:p>
        </p:txBody>
      </p:sp>
      <p:sp>
        <p:nvSpPr>
          <p:cNvPr id="24" name=""/>
          <p:cNvSpPr txBox="1"/>
          <p:nvPr/>
        </p:nvSpPr>
        <p:spPr>
          <a:xfrm>
            <a:off x="5908320" y="1316160"/>
            <a:ext cx="2673000" cy="60228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יש קונטקסט בגודל </a:t>
            </a:r>
            <a:r>
              <a:rPr lang="en-IL" sz="1800" b="0" u="none" strike="noStrike">
                <a:solidFill>
                  <a:srgbClr val="000000"/>
                </a:solidFill>
                <a:effectLst/>
                <a:uFillTx/>
                <a:latin typeface="ArialMT"/>
                <a:ea typeface="ArialMT"/>
              </a:rPr>
              <a:t>1M</a:t>
            </a:r>
            <a:r>
              <a:rPr lang="en-IL" sz="1800" b="0" u="none" strike="noStrike">
                <a:solidFill>
                  <a:srgbClr val="000000"/>
                </a:solidFill>
                <a:effectLst/>
                <a:uFillTx/>
                <a:latin typeface="ArialMT"/>
                <a:ea typeface="ArialMT"/>
              </a:rPr>
              <a:t> טוקנים</a:t>
            </a:r>
            <a:endParaRPr lang="en-IL" sz="1800" b="0" u="none" strike="noStrike">
              <a:solidFill>
                <a:srgbClr val="000000"/>
              </a:solidFill>
              <a:effectLst/>
              <a:uFillTx/>
              <a:latin typeface="Arial"/>
            </a:endParaRPr>
          </a:p>
        </p:txBody>
      </p:sp>
      <p:sp>
        <p:nvSpPr>
          <p:cNvPr id="25" name=""/>
          <p:cNvSpPr txBox="1"/>
          <p:nvPr/>
        </p:nvSpPr>
        <p:spPr>
          <a:xfrm>
            <a:off x="5901840" y="1922760"/>
            <a:ext cx="432000" cy="1109664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אחרי ~</a:t>
            </a:r>
            <a:r>
              <a:rPr lang="en-IL" sz="1800" b="0" u="none" strike="noStrike">
                <a:solidFill>
                  <a:srgbClr val="000000"/>
                </a:solidFill>
                <a:effectLst/>
                <a:uFillTx/>
                <a:latin typeface="ArialMT"/>
                <a:ea typeface="ArialMT"/>
              </a:rPr>
              <a:t>1M</a:t>
            </a:r>
            <a:r>
              <a:rPr lang="en-IL" sz="1800" b="0" u="none" strike="noStrike">
                <a:solidFill>
                  <a:srgbClr val="000000"/>
                </a:solidFill>
                <a:effectLst/>
                <a:uFillTx/>
                <a:latin typeface="ArialMT"/>
                <a:ea typeface="ArialMT"/>
              </a:rPr>
              <a:t> טוקנים - הסוכן מבצע </a:t>
            </a:r>
            <a:r>
              <a:rPr lang="en-IL" sz="1800" b="0" u="none" strike="noStrike">
                <a:solidFill>
                  <a:srgbClr val="000000"/>
                </a:solidFill>
                <a:effectLst/>
                <a:uFillTx/>
                <a:latin typeface="ArialMT"/>
                <a:ea typeface="ArialMT"/>
              </a:rPr>
              <a:t>Compactization</a:t>
            </a:r>
            <a:r>
              <a:rPr lang="en-IL" sz="1800" b="0" u="none" strike="noStrike">
                <a:solidFill>
                  <a:srgbClr val="000000"/>
                </a:solidFill>
                <a:effectLst/>
                <a:uFillTx/>
                <a:latin typeface="ArialMT"/>
                <a:ea typeface="ArialMT"/>
              </a:rPr>
              <a:t>:</a:t>
            </a:r>
            <a:endParaRPr lang="en-IL" sz="1800" b="0" u="none" strike="noStrike">
              <a:solidFill>
                <a:srgbClr val="000000"/>
              </a:solidFill>
              <a:effectLst/>
              <a:uFillTx/>
              <a:latin typeface="Arial"/>
            </a:endParaRPr>
          </a:p>
          <a:p>
            <a:r>
              <a:rPr lang="hi-IN" sz="1800" b="0" u="none" strike="noStrike">
                <a:solidFill>
                  <a:srgbClr val="000000"/>
                </a:solidFill>
                <a:effectLst/>
                <a:uFillTx/>
                <a:latin typeface="ArialMT"/>
                <a:cs typeface="ArialMT"/>
              </a:rPr>
              <a:t>סיכום ומחיקה חלקית של הקונטקסט.</a:t>
            </a:r>
            <a:endParaRPr lang="en-IL" sz="1800" b="0" u="none" strike="noStrike">
              <a:solidFill>
                <a:srgbClr val="000000"/>
              </a:solidFill>
              <a:effectLst/>
              <a:uFillTx/>
              <a:latin typeface="Arial"/>
            </a:endParaRPr>
          </a:p>
        </p:txBody>
      </p:sp>
      <p:sp>
        <p:nvSpPr>
          <p:cNvPr id="26" name=""/>
          <p:cNvSpPr txBox="1"/>
          <p:nvPr/>
        </p:nvSpPr>
        <p:spPr>
          <a:xfrm>
            <a:off x="5901840" y="3063240"/>
            <a:ext cx="4567680" cy="79272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השיטה להתגבר על כך:</a:t>
            </a:r>
            <a:endParaRPr lang="en-IL" sz="1800" b="0" u="none" strike="noStrike">
              <a:solidFill>
                <a:srgbClr val="000000"/>
              </a:solidFill>
              <a:effectLst/>
              <a:uFillTx/>
              <a:latin typeface="Arial"/>
            </a:endParaRPr>
          </a:p>
          <a:p>
            <a:r>
              <a:rPr lang="hi-IN" sz="1800" b="0" u="none" strike="noStrike">
                <a:solidFill>
                  <a:srgbClr val="000000"/>
                </a:solidFill>
                <a:effectLst/>
                <a:uFillTx/>
                <a:latin typeface="ArialMT"/>
                <a:cs typeface="ArialMT"/>
              </a:rPr>
              <a:t>קבצים בתיקיה שישמשו כ</a:t>
            </a:r>
            <a:r>
              <a:rPr lang="en-IL" sz="1800" b="0" u="none" strike="noStrike">
                <a:solidFill>
                  <a:srgbClr val="000000"/>
                </a:solidFill>
                <a:effectLst/>
                <a:uFillTx/>
                <a:latin typeface="ArialMT"/>
                <a:ea typeface="ArialMT"/>
              </a:rPr>
              <a:t>Context</a:t>
            </a:r>
            <a:endParaRPr lang="en-IL"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סוכן ותיקייה</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מתחילים בקלוד</a:t>
            </a:r>
            <a:endParaRPr lang="en-IL" sz="2800" b="0" u="none" strike="noStrike">
              <a:solidFill>
                <a:srgbClr val="000000"/>
              </a:solidFill>
              <a:effectLst/>
              <a:uFillTx/>
              <a:latin typeface="Arial"/>
            </a:endParaRPr>
          </a:p>
        </p:txBody>
      </p:sp>
      <p:sp>
        <p:nvSpPr>
          <p:cNvPr id="28"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9"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a:t>
            </a:r>
            <a:endParaRPr lang="en-IL" sz="800" b="0" u="none" strike="noStrike">
              <a:solidFill>
                <a:srgbClr val="000000"/>
              </a:solidFill>
              <a:effectLst/>
              <a:uFillTx/>
              <a:latin typeface="Arial"/>
            </a:endParaRPr>
          </a:p>
        </p:txBody>
      </p:sp>
      <p:pic>
        <p:nvPicPr>
          <p:cNvPr id="30" name=""/>
          <p:cNvPicPr/>
          <p:nvPr/>
        </p:nvPicPr>
        <p:blipFill>
          <a:blip r:embed="rId1"/>
          <a:stretch/>
        </p:blipFill>
        <p:spPr>
          <a:xfrm>
            <a:off x="1268280" y="971640"/>
            <a:ext cx="6607440" cy="3143160"/>
          </a:xfrm>
          <a:prstGeom prst="rect">
            <a:avLst/>
          </a:prstGeom>
          <a:noFill/>
          <a:ln w="0">
            <a:noFill/>
          </a:ln>
        </p:spPr>
      </p:pic>
      <p:sp>
        <p:nvSpPr>
          <p:cNvPr id="31" name=""/>
          <p:cNvSpPr/>
          <p:nvPr/>
        </p:nvSpPr>
        <p:spPr>
          <a:xfrm>
            <a:off x="457200" y="430524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32" name=""/>
          <p:cNvSpPr txBox="1"/>
          <p:nvPr/>
        </p:nvSpPr>
        <p:spPr>
          <a:xfrm>
            <a:off x="619200" y="440064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בתפריט </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בוחרים </a:t>
            </a:r>
            <a:r>
              <a:rPr lang="en-IL" sz="1500" b="1" u="none" strike="noStrike">
                <a:solidFill>
                  <a:srgbClr val="262424"/>
                </a:solidFill>
                <a:effectLst/>
                <a:uFillTx/>
                <a:latin typeface="Helvetica-Bold"/>
                <a:ea typeface="Helvetica-Bold"/>
              </a:rPr>
              <a:t>Add folder</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ומחברים את תיקיית הפרויקט</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אפשר גם בלי </a:t>
            </a:r>
            <a:r>
              <a:rPr lang="en-IL" sz="1500" b="1" u="none" strike="noStrike">
                <a:solidFill>
                  <a:srgbClr val="262424"/>
                </a:solidFill>
                <a:effectLst/>
                <a:uFillTx/>
                <a:latin typeface="Helvetica-Bold"/>
                <a:ea typeface="Helvetica-Bold"/>
              </a:rPr>
              <a:t>VS Code</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אותה תיקייה, כמה סוכנים</a:t>
            </a:r>
            <a:endParaRPr lang="en-IL" sz="2800" b="0" u="none" strike="noStrike">
              <a:solidFill>
                <a:srgbClr val="000000"/>
              </a:solidFill>
              <a:effectLst/>
              <a:uFillTx/>
              <a:latin typeface="Arial"/>
            </a:endParaRPr>
          </a:p>
        </p:txBody>
      </p:sp>
      <p:sp>
        <p:nvSpPr>
          <p:cNvPr id="34"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5"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a:t>
            </a:r>
            <a:endParaRPr lang="en-IL" sz="800" b="0" u="none" strike="noStrike">
              <a:solidFill>
                <a:srgbClr val="000000"/>
              </a:solidFill>
              <a:effectLst/>
              <a:uFillTx/>
              <a:latin typeface="Arial"/>
            </a:endParaRPr>
          </a:p>
        </p:txBody>
      </p:sp>
      <p:sp>
        <p:nvSpPr>
          <p:cNvPr id="36" name=""/>
          <p:cNvSpPr txBox="1"/>
          <p:nvPr/>
        </p:nvSpPr>
        <p:spPr>
          <a:xfrm>
            <a:off x="457200" y="1968480"/>
            <a:ext cx="8229600" cy="8830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אפשר לעבוד על אותה תיקיית פרויקט</a:t>
            </a:r>
            <a:endParaRPr lang="en-IL" sz="2800" b="0" u="none" strike="noStrike">
              <a:solidFill>
                <a:srgbClr val="000000"/>
              </a:solidFill>
              <a:effectLst/>
              <a:uFillTx/>
              <a:latin typeface="Arial"/>
            </a:endParaRPr>
          </a:p>
          <a:p>
            <a:pPr algn="ctr" rtl="1"/>
            <a:r>
              <a:rPr lang="hi-IN" sz="2800" b="1" u="none" strike="noStrike">
                <a:solidFill>
                  <a:srgbClr val="D75AE2"/>
                </a:solidFill>
                <a:effectLst/>
                <a:uFillTx/>
                <a:latin typeface="Arial-BoldMT"/>
                <a:cs typeface="Arial-BoldMT"/>
              </a:rPr>
              <a:t>גם עם הסוכן </a:t>
            </a:r>
            <a:r>
              <a:rPr lang="en-IL" sz="2800" b="1" u="none" strike="noStrike">
                <a:solidFill>
                  <a:srgbClr val="D75AE2"/>
                </a:solidFill>
                <a:effectLst/>
                <a:uFillTx/>
                <a:latin typeface="Arial-BoldMT"/>
                <a:ea typeface="Arial-BoldMT"/>
              </a:rPr>
              <a:t>Codex</a:t>
            </a:r>
            <a:endParaRPr lang="en-IL"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מה ההבדל בין מודל שפה לסוכן</a:t>
            </a:r>
            <a:r>
              <a:rPr lang="en-IL" sz="2800" b="1" u="none" strike="noStrike">
                <a:solidFill>
                  <a:srgbClr val="D75AE2"/>
                </a:solidFill>
                <a:effectLst/>
                <a:uFillTx/>
                <a:latin typeface="Helvetica-Bold"/>
                <a:ea typeface="Helvetica-Bold"/>
              </a:rPr>
              <a:t>?</a:t>
            </a:r>
            <a:endParaRPr lang="en-IL" sz="2800" b="0" u="none" strike="noStrike">
              <a:solidFill>
                <a:srgbClr val="000000"/>
              </a:solidFill>
              <a:effectLst/>
              <a:uFillTx/>
              <a:latin typeface="Arial"/>
            </a:endParaRPr>
          </a:p>
        </p:txBody>
      </p:sp>
      <p:sp>
        <p:nvSpPr>
          <p:cNvPr id="38"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9"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5</a:t>
            </a:r>
            <a:endParaRPr lang="en-IL" sz="800" b="0" u="none" strike="noStrike">
              <a:solidFill>
                <a:srgbClr val="000000"/>
              </a:solidFill>
              <a:effectLst/>
              <a:uFillTx/>
              <a:latin typeface="Arial"/>
            </a:endParaRPr>
          </a:p>
        </p:txBody>
      </p:sp>
      <p:sp>
        <p:nvSpPr>
          <p:cNvPr id="40"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מודל שפה</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LLM</a:t>
            </a:r>
            <a:endParaRPr lang="en-IL" sz="1800" b="0" u="none" strike="noStrike">
              <a:solidFill>
                <a:srgbClr val="000000"/>
              </a:solidFill>
              <a:effectLst/>
              <a:uFillTx/>
              <a:latin typeface="Arial"/>
            </a:endParaRPr>
          </a:p>
        </p:txBody>
      </p:sp>
      <p:sp>
        <p:nvSpPr>
          <p:cNvPr id="41"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מבין הקשר ומייצר תשובה או קוד</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לבדו הוא אינו קורא או משנה את התיקייה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2"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סוכן</a:t>
            </a:r>
            <a:r>
              <a:rPr lang="en-IL" sz="1800" b="1" u="none" strike="noStrike">
                <a:solidFill>
                  <a:srgbClr val="262424"/>
                </a:solidFill>
                <a:effectLst/>
                <a:uFillTx/>
                <a:latin typeface="Helvetica-Bold"/>
                <a:ea typeface="Helvetica-Bold"/>
              </a:rPr>
              <a:t>: </a:t>
            </a:r>
            <a:r>
              <a:rPr lang="hi-IN" sz="1800" b="1" u="none" strike="noStrike">
                <a:solidFill>
                  <a:srgbClr val="262424"/>
                </a:solidFill>
                <a:effectLst/>
                <a:uFillTx/>
                <a:latin typeface="Arial-BoldMT"/>
                <a:cs typeface="Arial-BoldMT"/>
              </a:rPr>
              <a:t>מודל בתוך סביבת עבודה</a:t>
            </a:r>
            <a:endParaRPr lang="en-IL" sz="1800" b="0" u="none" strike="noStrike">
              <a:solidFill>
                <a:srgbClr val="000000"/>
              </a:solidFill>
              <a:effectLst/>
              <a:uFillTx/>
              <a:latin typeface="Arial"/>
            </a:endParaRPr>
          </a:p>
        </p:txBody>
      </p:sp>
      <p:sp>
        <p:nvSpPr>
          <p:cNvPr id="43"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בוחר כלי</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מפעיל אותו דרך הסביבה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קורא את התוצאה ומחליט איך להמשיך</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4"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הכלים שעומדים לרשותו</a:t>
            </a:r>
            <a:endParaRPr lang="en-IL" sz="1800" b="0" u="none" strike="noStrike">
              <a:solidFill>
                <a:srgbClr val="000000"/>
              </a:solidFill>
              <a:effectLst/>
              <a:uFillTx/>
              <a:latin typeface="Arial"/>
            </a:endParaRPr>
          </a:p>
        </p:txBody>
      </p:sp>
      <p:sp>
        <p:nvSpPr>
          <p:cNvPr id="45"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קבצים ותיקיות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טרמינל ובדיקות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וגם חיבורי </a:t>
            </a:r>
            <a:r>
              <a:rPr lang="en-IL" sz="1600" b="0" u="none" strike="noStrike">
                <a:solidFill>
                  <a:srgbClr val="262424"/>
                </a:solidFill>
                <a:effectLst/>
                <a:uFillTx/>
                <a:latin typeface="Arial"/>
                <a:ea typeface="Arial"/>
              </a:rPr>
              <a:t>MCP</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לקבצים ולשירותים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חיבור קבצים לסוכן דרך </a:t>
            </a:r>
            <a:r>
              <a:rPr lang="en-IL" sz="2800" b="1" u="none" strike="noStrike">
                <a:solidFill>
                  <a:srgbClr val="D75AE2"/>
                </a:solidFill>
                <a:effectLst/>
                <a:uFillTx/>
                <a:latin typeface="Arial-BoldMT"/>
                <a:ea typeface="Arial-BoldMT"/>
              </a:rPr>
              <a:t>Files</a:t>
            </a:r>
            <a:endParaRPr lang="en-IL" sz="2800" b="0" u="none" strike="noStrike">
              <a:solidFill>
                <a:srgbClr val="000000"/>
              </a:solidFill>
              <a:effectLst/>
              <a:uFillTx/>
              <a:latin typeface="Arial"/>
            </a:endParaRPr>
          </a:p>
        </p:txBody>
      </p:sp>
      <p:sp>
        <p:nvSpPr>
          <p:cNvPr id="47"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48"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6</a:t>
            </a:r>
            <a:endParaRPr lang="en-IL" sz="800" b="0" u="none" strike="noStrike">
              <a:solidFill>
                <a:srgbClr val="000000"/>
              </a:solidFill>
              <a:effectLst/>
              <a:uFillTx/>
              <a:latin typeface="Arial"/>
            </a:endParaRPr>
          </a:p>
        </p:txBody>
      </p:sp>
      <p:pic>
        <p:nvPicPr>
          <p:cNvPr id="49" name=""/>
          <p:cNvPicPr/>
          <p:nvPr/>
        </p:nvPicPr>
        <p:blipFill>
          <a:blip r:embed="rId1"/>
          <a:stretch/>
        </p:blipFill>
        <p:spPr>
          <a:xfrm>
            <a:off x="457200" y="1143000"/>
            <a:ext cx="4273200" cy="3552120"/>
          </a:xfrm>
          <a:prstGeom prst="rect">
            <a:avLst/>
          </a:prstGeom>
          <a:noFill/>
          <a:ln w="0">
            <a:noFill/>
          </a:ln>
        </p:spPr>
      </p:pic>
      <p:sp>
        <p:nvSpPr>
          <p:cNvPr id="50" name=""/>
          <p:cNvSpPr/>
          <p:nvPr/>
        </p:nvSpPr>
        <p:spPr>
          <a:xfrm flipV="1">
            <a:off x="1543320" y="3272040"/>
            <a:ext cx="1270440" cy="1270440"/>
          </a:xfrm>
          <a:prstGeom prst="line">
            <a:avLst/>
          </a:prstGeom>
          <a:ln w="25560">
            <a:solidFill>
              <a:srgbClr val="4371C4"/>
            </a:solidFill>
            <a:round/>
            <a:tailEnd len="med" type="triangle" w="med"/>
          </a:ln>
        </p:spPr>
        <p:style>
          <a:lnRef idx="0"/>
          <a:fillRef idx="0"/>
          <a:effectRef idx="0"/>
          <a:fontRef idx="minor"/>
        </p:style>
        <p:txBody>
          <a:bodyPr lIns="102600" tIns="57600" rIns="102600" bIns="57600" anchor="t">
            <a:noAutofit/>
          </a:bodyPr>
          <a:p>
            <a:endParaRPr lang="en-IL" sz="1800" b="0" u="none" strike="noStrike">
              <a:solidFill>
                <a:srgbClr val="000000"/>
              </a:solidFill>
              <a:effectLst/>
              <a:uFillTx/>
              <a:latin typeface="Arial"/>
            </a:endParaRPr>
          </a:p>
        </p:txBody>
      </p:sp>
      <p:sp>
        <p:nvSpPr>
          <p:cNvPr id="51" name=""/>
          <p:cNvSpPr txBox="1"/>
          <p:nvPr/>
        </p:nvSpPr>
        <p:spPr>
          <a:xfrm>
            <a:off x="1334880" y="3905640"/>
            <a:ext cx="432000" cy="2138040"/>
          </a:xfrm>
          <a:prstGeom prst="rect">
            <a:avLst/>
          </a:prstGeom>
          <a:noFill/>
          <a:ln w="0">
            <a:noFill/>
          </a:ln>
        </p:spPr>
        <p:txBody>
          <a:bodyPr lIns="90000" tIns="45000" rIns="90000" bIns="45000" anchor="t">
            <a:spAutoFit/>
          </a:bodyPr>
          <a:p>
            <a:r>
              <a:rPr lang="en-IL" sz="1800" b="0" u="none" strike="noStrike">
                <a:solidFill>
                  <a:srgbClr val="000000"/>
                </a:solidFill>
                <a:effectLst/>
                <a:uFillTx/>
                <a:latin typeface="ArialMT"/>
                <a:ea typeface="ArialMT"/>
              </a:rPr>
              <a:t>+ </a:t>
            </a:r>
            <a:r>
              <a:rPr lang="hi-IN" sz="1800" b="0" u="none" strike="noStrike">
                <a:solidFill>
                  <a:srgbClr val="000000"/>
                </a:solidFill>
                <a:effectLst/>
                <a:uFillTx/>
                <a:latin typeface="ArialMT"/>
                <a:cs typeface="ArialMT"/>
              </a:rPr>
              <a:t>נלחץ</a:t>
            </a:r>
            <a:endParaRPr lang="en-IL" sz="1800" b="0" u="none" strike="noStrike">
              <a:solidFill>
                <a:srgbClr val="000000"/>
              </a:solidFill>
              <a:effectLst/>
              <a:uFillTx/>
              <a:latin typeface="Arial"/>
            </a:endParaRPr>
          </a:p>
          <a:p>
            <a:r>
              <a:rPr lang="hi-IN" sz="1800" b="0" u="none" strike="noStrike">
                <a:solidFill>
                  <a:srgbClr val="000000"/>
                </a:solidFill>
                <a:effectLst/>
                <a:uFillTx/>
                <a:latin typeface="ArialMT"/>
                <a:cs typeface="ArialMT"/>
              </a:rPr>
              <a:t>ואז</a:t>
            </a:r>
            <a:r>
              <a:rPr lang="en-IL" sz="1800" b="0" u="none" strike="noStrike">
                <a:solidFill>
                  <a:srgbClr val="000000"/>
                </a:solidFill>
                <a:effectLst/>
                <a:uFillTx/>
                <a:latin typeface="ArialMT"/>
                <a:ea typeface="ArialMT"/>
              </a:rPr>
              <a:t> </a:t>
            </a:r>
            <a:r>
              <a:rPr lang="en-IL" sz="1800" b="0" u="none" strike="noStrike">
                <a:solidFill>
                  <a:srgbClr val="000000"/>
                </a:solidFill>
                <a:effectLst/>
                <a:uFillTx/>
                <a:latin typeface="ArialMT"/>
                <a:ea typeface="ArialMT"/>
              </a:rPr>
              <a:t>files  </a:t>
            </a:r>
            <a:endParaRPr lang="en-IL"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תיקיית העבודה בתוך הסוכן</a:t>
            </a:r>
            <a:endParaRPr lang="en-IL" sz="2800" b="0" u="none" strike="noStrike">
              <a:solidFill>
                <a:srgbClr val="000000"/>
              </a:solidFill>
              <a:effectLst/>
              <a:uFillTx/>
              <a:latin typeface="Arial"/>
            </a:endParaRPr>
          </a:p>
        </p:txBody>
      </p:sp>
      <p:sp>
        <p:nvSpPr>
          <p:cNvPr id="53"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54"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7</a:t>
            </a:r>
            <a:endParaRPr lang="en-IL" sz="800" b="0" u="none" strike="noStrike">
              <a:solidFill>
                <a:srgbClr val="000000"/>
              </a:solidFill>
              <a:effectLst/>
              <a:uFillTx/>
              <a:latin typeface="Arial"/>
            </a:endParaRPr>
          </a:p>
        </p:txBody>
      </p:sp>
      <p:pic>
        <p:nvPicPr>
          <p:cNvPr id="55" name=""/>
          <p:cNvPicPr/>
          <p:nvPr/>
        </p:nvPicPr>
        <p:blipFill>
          <a:blip r:embed="rId1"/>
          <a:stretch/>
        </p:blipFill>
        <p:spPr>
          <a:xfrm>
            <a:off x="457200" y="1015920"/>
            <a:ext cx="1841760" cy="36194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מה נוכל לבצע בסוף השיעור</a:t>
            </a:r>
            <a:endParaRPr lang="en-IL" sz="2800" b="0" u="none" strike="noStrike">
              <a:solidFill>
                <a:srgbClr val="000000"/>
              </a:solidFill>
              <a:effectLst/>
              <a:uFillTx/>
              <a:latin typeface="Arial"/>
            </a:endParaRPr>
          </a:p>
        </p:txBody>
      </p:sp>
      <p:sp>
        <p:nvSpPr>
          <p:cNvPr id="57"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58"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8</a:t>
            </a:r>
            <a:endParaRPr lang="en-IL" sz="800" b="0" u="none" strike="noStrike">
              <a:solidFill>
                <a:srgbClr val="000000"/>
              </a:solidFill>
              <a:effectLst/>
              <a:uFillTx/>
              <a:latin typeface="Arial"/>
            </a:endParaRPr>
          </a:p>
        </p:txBody>
      </p:sp>
      <p:pic>
        <p:nvPicPr>
          <p:cNvPr id="59" name=""/>
          <p:cNvPicPr/>
          <p:nvPr/>
        </p:nvPicPr>
        <p:blipFill>
          <a:blip r:embed="rId1"/>
          <a:stretch/>
        </p:blipFill>
        <p:spPr>
          <a:xfrm>
            <a:off x="718920" y="1333440"/>
            <a:ext cx="2000880" cy="3000240"/>
          </a:xfrm>
          <a:prstGeom prst="rect">
            <a:avLst/>
          </a:prstGeom>
          <a:noFill/>
          <a:ln w="0">
            <a:noFill/>
          </a:ln>
        </p:spPr>
      </p:pic>
      <p:sp>
        <p:nvSpPr>
          <p:cNvPr id="60" name=""/>
          <p:cNvSpPr txBox="1"/>
          <p:nvPr/>
        </p:nvSpPr>
        <p:spPr>
          <a:xfrm>
            <a:off x="3429000" y="1333440"/>
            <a:ext cx="523872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להתחיל פרויקט</a:t>
            </a:r>
            <a:endParaRPr lang="en-IL" sz="1800" b="0" u="none" strike="noStrike">
              <a:solidFill>
                <a:srgbClr val="000000"/>
              </a:solidFill>
              <a:effectLst/>
              <a:uFillTx/>
              <a:latin typeface="Arial"/>
            </a:endParaRPr>
          </a:p>
        </p:txBody>
      </p:sp>
      <p:sp>
        <p:nvSpPr>
          <p:cNvPr id="61" name=""/>
          <p:cNvSpPr txBox="1"/>
          <p:nvPr/>
        </p:nvSpPr>
        <p:spPr>
          <a:xfrm>
            <a:off x="3429000" y="1666800"/>
            <a:ext cx="523872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לפתוח תיקייה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לחבר סוכן ולהפעיל את הפרויקט מקומית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62" name=""/>
          <p:cNvSpPr txBox="1"/>
          <p:nvPr/>
        </p:nvSpPr>
        <p:spPr>
          <a:xfrm>
            <a:off x="3429000" y="2390760"/>
            <a:ext cx="523872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לפתח פיצ׳ר שאפשר לבדוק</a:t>
            </a:r>
            <a:endParaRPr lang="en-IL" sz="1800" b="0" u="none" strike="noStrike">
              <a:solidFill>
                <a:srgbClr val="000000"/>
              </a:solidFill>
              <a:effectLst/>
              <a:uFillTx/>
              <a:latin typeface="Arial"/>
            </a:endParaRPr>
          </a:p>
        </p:txBody>
      </p:sp>
      <p:sp>
        <p:nvSpPr>
          <p:cNvPr id="63" name=""/>
          <p:cNvSpPr txBox="1"/>
          <p:nvPr/>
        </p:nvSpPr>
        <p:spPr>
          <a:xfrm>
            <a:off x="3429000" y="2724120"/>
            <a:ext cx="523872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לנסח תנאי קבלה למשימה ולעבוד במחזור של בדיקה ומימוש</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64" name=""/>
          <p:cNvSpPr txBox="1"/>
          <p:nvPr/>
        </p:nvSpPr>
        <p:spPr>
          <a:xfrm>
            <a:off x="3429000" y="3448080"/>
            <a:ext cx="523872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להמשיך בשיחה חדשה</a:t>
            </a:r>
            <a:endParaRPr lang="en-IL" sz="1800" b="0" u="none" strike="noStrike">
              <a:solidFill>
                <a:srgbClr val="000000"/>
              </a:solidFill>
              <a:effectLst/>
              <a:uFillTx/>
              <a:latin typeface="Arial"/>
            </a:endParaRPr>
          </a:p>
        </p:txBody>
      </p:sp>
      <p:sp>
        <p:nvSpPr>
          <p:cNvPr id="65" name=""/>
          <p:cNvSpPr txBox="1"/>
          <p:nvPr/>
        </p:nvSpPr>
        <p:spPr>
          <a:xfrm>
            <a:off x="3429000" y="3781440"/>
            <a:ext cx="523872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להעביר לסוכן הבא אפיון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החלטות ומצב עבודה מעודכן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תשתיות לפיתוח עצמאי</a:t>
            </a:r>
            <a:endParaRPr lang="en-IL" sz="2800" b="0" u="none" strike="noStrike">
              <a:solidFill>
                <a:srgbClr val="000000"/>
              </a:solidFill>
              <a:effectLst/>
              <a:uFillTx/>
              <a:latin typeface="Arial"/>
            </a:endParaRPr>
          </a:p>
        </p:txBody>
      </p:sp>
      <p:sp>
        <p:nvSpPr>
          <p:cNvPr id="67"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68"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9</a:t>
            </a:r>
            <a:endParaRPr lang="en-IL" sz="800" b="0" u="none" strike="noStrike">
              <a:solidFill>
                <a:srgbClr val="000000"/>
              </a:solidFill>
              <a:effectLst/>
              <a:uFillTx/>
              <a:latin typeface="Arial"/>
            </a:endParaRPr>
          </a:p>
        </p:txBody>
      </p:sp>
      <p:sp>
        <p:nvSpPr>
          <p:cNvPr id="69" name=""/>
          <p:cNvSpPr txBox="1"/>
          <p:nvPr/>
        </p:nvSpPr>
        <p:spPr>
          <a:xfrm>
            <a:off x="457200" y="116208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שכבת היישום</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Next.js</a:t>
            </a:r>
            <a:endParaRPr lang="en-IL" sz="1800" b="0" u="none" strike="noStrike">
              <a:solidFill>
                <a:srgbClr val="000000"/>
              </a:solidFill>
              <a:effectLst/>
              <a:uFillTx/>
              <a:latin typeface="Arial"/>
            </a:endParaRPr>
          </a:p>
        </p:txBody>
      </p:sp>
      <p:sp>
        <p:nvSpPr>
          <p:cNvPr id="70" name=""/>
          <p:cNvSpPr txBox="1"/>
          <p:nvPr/>
        </p:nvSpPr>
        <p:spPr>
          <a:xfrm>
            <a:off x="457200" y="149544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ממשק המשתמש ולוגיקת השרת של היישום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71" name=""/>
          <p:cNvSpPr txBox="1"/>
          <p:nvPr/>
        </p:nvSpPr>
        <p:spPr>
          <a:xfrm>
            <a:off x="457200" y="209556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שכבת הנתונים</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Supabase</a:t>
            </a:r>
            <a:endParaRPr lang="en-IL" sz="1800" b="0" u="none" strike="noStrike">
              <a:solidFill>
                <a:srgbClr val="000000"/>
              </a:solidFill>
              <a:effectLst/>
              <a:uFillTx/>
              <a:latin typeface="Arial"/>
            </a:endParaRPr>
          </a:p>
        </p:txBody>
      </p:sp>
      <p:sp>
        <p:nvSpPr>
          <p:cNvPr id="72" name=""/>
          <p:cNvSpPr txBox="1"/>
          <p:nvPr/>
        </p:nvSpPr>
        <p:spPr>
          <a:xfrm>
            <a:off x="457200" y="242892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מסד </a:t>
            </a:r>
            <a:r>
              <a:rPr lang="en-IL" sz="1600" b="0" u="none" strike="noStrike">
                <a:solidFill>
                  <a:srgbClr val="262424"/>
                </a:solidFill>
                <a:effectLst/>
                <a:uFillTx/>
                <a:latin typeface="Arial"/>
                <a:ea typeface="Arial"/>
              </a:rPr>
              <a:t>PostgreSQL</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התחברות משתמשים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הרשאות ואחסון קבצים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73" name=""/>
          <p:cNvSpPr txBox="1"/>
          <p:nvPr/>
        </p:nvSpPr>
        <p:spPr>
          <a:xfrm>
            <a:off x="457200" y="30290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פריסה והרצה</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Vercel</a:t>
            </a:r>
            <a:endParaRPr lang="en-IL" sz="1800" b="0" u="none" strike="noStrike">
              <a:solidFill>
                <a:srgbClr val="000000"/>
              </a:solidFill>
              <a:effectLst/>
              <a:uFillTx/>
              <a:latin typeface="Arial"/>
            </a:endParaRPr>
          </a:p>
        </p:txBody>
      </p:sp>
      <p:sp>
        <p:nvSpPr>
          <p:cNvPr id="74" name=""/>
          <p:cNvSpPr txBox="1"/>
          <p:nvPr/>
        </p:nvSpPr>
        <p:spPr>
          <a:xfrm>
            <a:off x="457200" y="33624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אירוח היישום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גרסאות תצוגה מקדימה ופריסה מתוך מאגר הקוד</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75"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76"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כשאתם בוחרים את הכלים ומחברים אותם באמצעות סוכנים</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השמיים הם הגבול</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כלים מקומיים וחיבורי </a:t>
            </a:r>
            <a:r>
              <a:rPr lang="en-IL" sz="2800" b="1" u="none" strike="noStrike">
                <a:solidFill>
                  <a:srgbClr val="D75AE2"/>
                </a:solidFill>
                <a:effectLst/>
                <a:uFillTx/>
                <a:latin typeface="Helvetica-Bold"/>
                <a:ea typeface="Helvetica-Bold"/>
              </a:rPr>
              <a:t>MCP</a:t>
            </a:r>
            <a:endParaRPr lang="en-IL" sz="2800" b="0" u="none" strike="noStrike">
              <a:solidFill>
                <a:srgbClr val="000000"/>
              </a:solidFill>
              <a:effectLst/>
              <a:uFillTx/>
              <a:latin typeface="Arial"/>
            </a:endParaRPr>
          </a:p>
        </p:txBody>
      </p:sp>
      <p:sp>
        <p:nvSpPr>
          <p:cNvPr id="78"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79"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10</a:t>
            </a:r>
            <a:endParaRPr lang="en-IL" sz="800" b="0" u="none" strike="noStrike">
              <a:solidFill>
                <a:srgbClr val="000000"/>
              </a:solidFill>
              <a:effectLst/>
              <a:uFillTx/>
              <a:latin typeface="Arial"/>
            </a:endParaRPr>
          </a:p>
        </p:txBody>
      </p:sp>
      <p:sp>
        <p:nvSpPr>
          <p:cNvPr id="80"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עבודה בתיקייה</a:t>
            </a:r>
            <a:endParaRPr lang="en-IL" sz="1800" b="0" u="none" strike="noStrike">
              <a:solidFill>
                <a:srgbClr val="000000"/>
              </a:solidFill>
              <a:effectLst/>
              <a:uFillTx/>
              <a:latin typeface="Arial"/>
            </a:endParaRPr>
          </a:p>
        </p:txBody>
      </p:sp>
      <p:sp>
        <p:nvSpPr>
          <p:cNvPr id="81"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הסוכן מחפש</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קורא</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יוצר ועורך קבצים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הוא יכול להריץ פקודות ובדיקות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82"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חיבורי </a:t>
            </a:r>
            <a:r>
              <a:rPr lang="en-IL" sz="1800" b="1" u="none" strike="noStrike">
                <a:solidFill>
                  <a:srgbClr val="262424"/>
                </a:solidFill>
                <a:effectLst/>
                <a:uFillTx/>
                <a:latin typeface="Helvetica-Bold"/>
                <a:ea typeface="Helvetica-Bold"/>
              </a:rPr>
              <a:t>MCP</a:t>
            </a:r>
            <a:endParaRPr lang="en-IL" sz="1800" b="0" u="none" strike="noStrike">
              <a:solidFill>
                <a:srgbClr val="000000"/>
              </a:solidFill>
              <a:effectLst/>
              <a:uFillTx/>
              <a:latin typeface="Arial"/>
            </a:endParaRPr>
          </a:p>
        </p:txBody>
      </p:sp>
      <p:sp>
        <p:nvSpPr>
          <p:cNvPr id="83"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מחברים כלים נוספים לעבודה על מסמכים וקבצים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מסדי נתונים ושירותים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84"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בדיקת היכולת בפועל</a:t>
            </a:r>
            <a:endParaRPr lang="en-IL" sz="1800" b="0" u="none" strike="noStrike">
              <a:solidFill>
                <a:srgbClr val="000000"/>
              </a:solidFill>
              <a:effectLst/>
              <a:uFillTx/>
              <a:latin typeface="Arial"/>
            </a:endParaRPr>
          </a:p>
        </p:txBody>
      </p:sp>
      <p:sp>
        <p:nvSpPr>
          <p:cNvPr id="85"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מוודאים איזה כלי מחובר</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לאילו קבצים הוא ניגש ואיזו פעולה הוא מאפשר</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מה מוסיף לנו העורך </a:t>
            </a:r>
            <a:r>
              <a:rPr lang="en-IL" sz="2800" b="1" u="none" strike="noStrike">
                <a:solidFill>
                  <a:srgbClr val="D75AE2"/>
                </a:solidFill>
                <a:effectLst/>
                <a:uFillTx/>
                <a:latin typeface="Helvetica-Bold"/>
                <a:ea typeface="Helvetica-Bold"/>
              </a:rPr>
              <a:t>VS Code</a:t>
            </a:r>
            <a:r>
              <a:rPr lang="en-IL" sz="2800" b="1" u="none" strike="noStrike">
                <a:solidFill>
                  <a:srgbClr val="D75AE2"/>
                </a:solidFill>
                <a:effectLst/>
                <a:uFillTx/>
                <a:latin typeface="Helvetica-Bold"/>
                <a:ea typeface="Helvetica-Bold"/>
              </a:rPr>
              <a:t>?</a:t>
            </a:r>
            <a:endParaRPr lang="en-IL" sz="2800" b="0" u="none" strike="noStrike">
              <a:solidFill>
                <a:srgbClr val="000000"/>
              </a:solidFill>
              <a:effectLst/>
              <a:uFillTx/>
              <a:latin typeface="Arial"/>
            </a:endParaRPr>
          </a:p>
        </p:txBody>
      </p:sp>
      <p:sp>
        <p:nvSpPr>
          <p:cNvPr id="87"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88"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11</a:t>
            </a:r>
            <a:endParaRPr lang="en-IL" sz="800" b="0" u="none" strike="noStrike">
              <a:solidFill>
                <a:srgbClr val="000000"/>
              </a:solidFill>
              <a:effectLst/>
              <a:uFillTx/>
              <a:latin typeface="Arial"/>
            </a:endParaRPr>
          </a:p>
        </p:txBody>
      </p:sp>
      <p:sp>
        <p:nvSpPr>
          <p:cNvPr id="89" name=""/>
          <p:cNvSpPr txBox="1"/>
          <p:nvPr/>
        </p:nvSpPr>
        <p:spPr>
          <a:xfrm>
            <a:off x="457200" y="119052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מעבר נוח בין סוכנים</a:t>
            </a:r>
            <a:endParaRPr lang="en-IL" sz="1800" b="0" u="none" strike="noStrike">
              <a:solidFill>
                <a:srgbClr val="000000"/>
              </a:solidFill>
              <a:effectLst/>
              <a:uFillTx/>
              <a:latin typeface="Arial"/>
            </a:endParaRPr>
          </a:p>
        </p:txBody>
      </p:sp>
      <p:sp>
        <p:nvSpPr>
          <p:cNvPr id="90" name=""/>
          <p:cNvSpPr txBox="1"/>
          <p:nvPr/>
        </p:nvSpPr>
        <p:spPr>
          <a:xfrm>
            <a:off x="457200" y="152388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פותחים את אותה תיקייה עם תוספים כמו </a:t>
            </a:r>
            <a:r>
              <a:rPr lang="en-IL" sz="1600" b="0" u="none" strike="noStrike">
                <a:solidFill>
                  <a:srgbClr val="262424"/>
                </a:solidFill>
                <a:effectLst/>
                <a:uFillTx/>
                <a:latin typeface="Arial"/>
                <a:ea typeface="Arial"/>
              </a:rPr>
              <a:t>Claude Code</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a:t>
            </a:r>
            <a:r>
              <a:rPr lang="en-IL" sz="1600" b="0" u="none" strike="noStrike">
                <a:solidFill>
                  <a:srgbClr val="262424"/>
                </a:solidFill>
                <a:effectLst/>
                <a:uFillTx/>
                <a:latin typeface="Arial"/>
                <a:ea typeface="Arial"/>
              </a:rPr>
              <a:t>Codex</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91" name=""/>
          <p:cNvSpPr txBox="1"/>
          <p:nvPr/>
        </p:nvSpPr>
        <p:spPr>
          <a:xfrm>
            <a:off x="457200" y="21528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כלים לעבודה עם קבצים</a:t>
            </a:r>
            <a:endParaRPr lang="en-IL" sz="1800" b="0" u="none" strike="noStrike">
              <a:solidFill>
                <a:srgbClr val="000000"/>
              </a:solidFill>
              <a:effectLst/>
              <a:uFillTx/>
              <a:latin typeface="Arial"/>
            </a:endParaRPr>
          </a:p>
        </p:txBody>
      </p:sp>
      <p:sp>
        <p:nvSpPr>
          <p:cNvPr id="92" name=""/>
          <p:cNvSpPr txBox="1"/>
          <p:nvPr/>
        </p:nvSpPr>
        <p:spPr>
          <a:xfrm>
            <a:off x="457200" y="24861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תוספים לתצוגת </a:t>
            </a:r>
            <a:r>
              <a:rPr lang="en-IL" sz="1600" b="0" u="none" strike="noStrike">
                <a:solidFill>
                  <a:srgbClr val="262424"/>
                </a:solidFill>
                <a:effectLst/>
                <a:uFillTx/>
                <a:latin typeface="Arial"/>
                <a:ea typeface="Arial"/>
              </a:rPr>
              <a:t>Markdown</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לעבודה עם נתונים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לעיצוב קוד ולהשוואת שינויים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93" name=""/>
          <p:cNvSpPr txBox="1"/>
          <p:nvPr/>
        </p:nvSpPr>
        <p:spPr>
          <a:xfrm>
            <a:off x="457200" y="311472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סביבת עבודה מרוכזת</a:t>
            </a:r>
            <a:endParaRPr lang="en-IL" sz="1800" b="0" u="none" strike="noStrike">
              <a:solidFill>
                <a:srgbClr val="000000"/>
              </a:solidFill>
              <a:effectLst/>
              <a:uFillTx/>
              <a:latin typeface="Arial"/>
            </a:endParaRPr>
          </a:p>
        </p:txBody>
      </p:sp>
      <p:sp>
        <p:nvSpPr>
          <p:cNvPr id="94" name=""/>
          <p:cNvSpPr txBox="1"/>
          <p:nvPr/>
        </p:nvSpPr>
        <p:spPr>
          <a:xfrm>
            <a:off x="457200" y="344808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קבצים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חלונית הסוכן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טרמינל ובקרת גרסאות באותו חלון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95"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96"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בוחרים את הסביבה שנוחה לנו</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הידע והתוצרים נשארים בתיקייה</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התקנת העורך </a:t>
            </a:r>
            <a:r>
              <a:rPr lang="en-IL" sz="2800" b="1" u="none" strike="noStrike">
                <a:solidFill>
                  <a:srgbClr val="D75AE2"/>
                </a:solidFill>
                <a:effectLst/>
                <a:uFillTx/>
                <a:latin typeface="Helvetica-Bold"/>
                <a:ea typeface="Helvetica-Bold"/>
              </a:rPr>
              <a:t>VS Code</a:t>
            </a:r>
            <a:endParaRPr lang="en-IL" sz="2800" b="0" u="none" strike="noStrike">
              <a:solidFill>
                <a:srgbClr val="000000"/>
              </a:solidFill>
              <a:effectLst/>
              <a:uFillTx/>
              <a:latin typeface="Arial"/>
            </a:endParaRPr>
          </a:p>
        </p:txBody>
      </p:sp>
      <p:sp>
        <p:nvSpPr>
          <p:cNvPr id="98"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99"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12</a:t>
            </a:r>
            <a:endParaRPr lang="en-IL" sz="800" b="0" u="none" strike="noStrike">
              <a:solidFill>
                <a:srgbClr val="000000"/>
              </a:solidFill>
              <a:effectLst/>
              <a:uFillTx/>
              <a:latin typeface="Arial"/>
            </a:endParaRPr>
          </a:p>
        </p:txBody>
      </p:sp>
      <p:sp>
        <p:nvSpPr>
          <p:cNvPr id="100" name=""/>
          <p:cNvSpPr txBox="1"/>
          <p:nvPr/>
        </p:nvSpPr>
        <p:spPr>
          <a:xfrm>
            <a:off x="457200" y="1200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הורדה</a:t>
            </a:r>
            <a:endParaRPr lang="en-IL" sz="1800" b="0" u="none" strike="noStrike">
              <a:solidFill>
                <a:srgbClr val="000000"/>
              </a:solidFill>
              <a:effectLst/>
              <a:uFillTx/>
              <a:latin typeface="Arial"/>
            </a:endParaRPr>
          </a:p>
        </p:txBody>
      </p:sp>
      <p:sp>
        <p:nvSpPr>
          <p:cNvPr id="101" name=""/>
          <p:cNvSpPr txBox="1"/>
          <p:nvPr/>
        </p:nvSpPr>
        <p:spPr>
          <a:xfrm>
            <a:off x="457200" y="1533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נכנסים לאתר </a:t>
            </a:r>
            <a:r>
              <a:rPr lang="en-IL" sz="1600" b="0" u="none" strike="noStrike">
                <a:solidFill>
                  <a:srgbClr val="262424"/>
                </a:solidFill>
                <a:effectLst/>
                <a:uFillTx/>
                <a:latin typeface="Arial"/>
                <a:ea typeface="Arial"/>
              </a:rPr>
              <a:t>code.visualstudio.com/download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ובוחרים את מערכת ההפעלה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02" name=""/>
          <p:cNvSpPr txBox="1"/>
          <p:nvPr/>
        </p:nvSpPr>
        <p:spPr>
          <a:xfrm>
            <a:off x="457200" y="2181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התקנה</a:t>
            </a:r>
            <a:endParaRPr lang="en-IL" sz="1800" b="0" u="none" strike="noStrike">
              <a:solidFill>
                <a:srgbClr val="000000"/>
              </a:solidFill>
              <a:effectLst/>
              <a:uFillTx/>
              <a:latin typeface="Arial"/>
            </a:endParaRPr>
          </a:p>
        </p:txBody>
      </p:sp>
      <p:sp>
        <p:nvSpPr>
          <p:cNvPr id="103" name=""/>
          <p:cNvSpPr txBox="1"/>
          <p:nvPr/>
        </p:nvSpPr>
        <p:spPr>
          <a:xfrm>
            <a:off x="457200" y="2514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a:t>
            </a:r>
            <a:r>
              <a:rPr lang="en-IL" sz="1600" b="0" u="none" strike="noStrike">
                <a:solidFill>
                  <a:srgbClr val="262424"/>
                </a:solidFill>
                <a:effectLst/>
                <a:uFillTx/>
                <a:latin typeface="Arial"/>
                <a:ea typeface="Arial"/>
              </a:rPr>
              <a:t>Windows</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מפעילים את המתקין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a:t>
            </a:r>
            <a:r>
              <a:rPr lang="en-IL" sz="1600" b="0" u="none" strike="noStrike">
                <a:solidFill>
                  <a:srgbClr val="262424"/>
                </a:solidFill>
                <a:effectLst/>
                <a:uFillTx/>
                <a:latin typeface="Arial"/>
                <a:ea typeface="Arial"/>
              </a:rPr>
              <a:t>Mac</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מעבירים את היישום לתיקיית </a:t>
            </a:r>
            <a:r>
              <a:rPr lang="en-IL" sz="1600" b="0" u="none" strike="noStrike">
                <a:solidFill>
                  <a:srgbClr val="262424"/>
                </a:solidFill>
                <a:effectLst/>
                <a:uFillTx/>
                <a:latin typeface="Arial"/>
                <a:ea typeface="Arial"/>
              </a:rPr>
              <a:t>Applications</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04" name=""/>
          <p:cNvSpPr txBox="1"/>
          <p:nvPr/>
        </p:nvSpPr>
        <p:spPr>
          <a:xfrm>
            <a:off x="457200" y="3162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פתיחה ראשונה</a:t>
            </a:r>
            <a:endParaRPr lang="en-IL" sz="1800" b="0" u="none" strike="noStrike">
              <a:solidFill>
                <a:srgbClr val="000000"/>
              </a:solidFill>
              <a:effectLst/>
              <a:uFillTx/>
              <a:latin typeface="Arial"/>
            </a:endParaRPr>
          </a:p>
        </p:txBody>
      </p:sp>
      <p:sp>
        <p:nvSpPr>
          <p:cNvPr id="105" name=""/>
          <p:cNvSpPr txBox="1"/>
          <p:nvPr/>
        </p:nvSpPr>
        <p:spPr>
          <a:xfrm>
            <a:off x="457200" y="3495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מפעילים את העורך ופותחים את תיקיית הקורס דרך </a:t>
            </a:r>
            <a:r>
              <a:rPr lang="en-IL" sz="1600" b="0" u="none" strike="noStrike">
                <a:solidFill>
                  <a:srgbClr val="262424"/>
                </a:solidFill>
                <a:effectLst/>
                <a:uFillTx/>
                <a:latin typeface="Arial"/>
                <a:ea typeface="Arial"/>
              </a:rPr>
              <a:t>File</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ואז </a:t>
            </a:r>
            <a:r>
              <a:rPr lang="en-IL" sz="1600" b="0" u="none" strike="noStrike">
                <a:solidFill>
                  <a:srgbClr val="262424"/>
                </a:solidFill>
                <a:effectLst/>
                <a:uFillTx/>
                <a:latin typeface="Arial"/>
                <a:ea typeface="Arial"/>
              </a:rPr>
              <a:t>Open Folder</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06"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107"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במהלך הקורס נשתמש בעורך לעבודה עם סוכנים</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קבצים ותוספים</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התקנת סביבת </a:t>
            </a:r>
            <a:r>
              <a:rPr lang="en-IL" sz="2800" b="1" u="none" strike="noStrike">
                <a:solidFill>
                  <a:srgbClr val="D75AE2"/>
                </a:solidFill>
                <a:effectLst/>
                <a:uFillTx/>
                <a:latin typeface="Helvetica-Bold"/>
                <a:ea typeface="Helvetica-Bold"/>
              </a:rPr>
              <a:t>Antigravity</a:t>
            </a:r>
            <a:endParaRPr lang="en-IL" sz="2800" b="0" u="none" strike="noStrike">
              <a:solidFill>
                <a:srgbClr val="000000"/>
              </a:solidFill>
              <a:effectLst/>
              <a:uFillTx/>
              <a:latin typeface="Arial"/>
            </a:endParaRPr>
          </a:p>
        </p:txBody>
      </p:sp>
      <p:sp>
        <p:nvSpPr>
          <p:cNvPr id="109"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10"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13</a:t>
            </a:r>
            <a:endParaRPr lang="en-IL" sz="800" b="0" u="none" strike="noStrike">
              <a:solidFill>
                <a:srgbClr val="000000"/>
              </a:solidFill>
              <a:effectLst/>
              <a:uFillTx/>
              <a:latin typeface="Arial"/>
            </a:endParaRPr>
          </a:p>
        </p:txBody>
      </p:sp>
      <p:sp>
        <p:nvSpPr>
          <p:cNvPr id="111" name=""/>
          <p:cNvSpPr txBox="1"/>
          <p:nvPr/>
        </p:nvSpPr>
        <p:spPr>
          <a:xfrm>
            <a:off x="457200" y="1200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הורדה</a:t>
            </a:r>
            <a:endParaRPr lang="en-IL" sz="1800" b="0" u="none" strike="noStrike">
              <a:solidFill>
                <a:srgbClr val="000000"/>
              </a:solidFill>
              <a:effectLst/>
              <a:uFillTx/>
              <a:latin typeface="Arial"/>
            </a:endParaRPr>
          </a:p>
        </p:txBody>
      </p:sp>
      <p:sp>
        <p:nvSpPr>
          <p:cNvPr id="112" name=""/>
          <p:cNvSpPr txBox="1"/>
          <p:nvPr/>
        </p:nvSpPr>
        <p:spPr>
          <a:xfrm>
            <a:off x="457200" y="1533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נכנסים לאתר </a:t>
            </a:r>
            <a:r>
              <a:rPr lang="en-IL" sz="1600" b="0" u="none" strike="noStrike">
                <a:solidFill>
                  <a:srgbClr val="262424"/>
                </a:solidFill>
                <a:effectLst/>
                <a:uFillTx/>
                <a:latin typeface="Arial"/>
                <a:ea typeface="Arial"/>
              </a:rPr>
              <a:t>antigravity.google/download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ובוחרים </a:t>
            </a:r>
            <a:r>
              <a:rPr lang="en-IL" sz="1600" b="0" u="none" strike="noStrike">
                <a:solidFill>
                  <a:srgbClr val="262424"/>
                </a:solidFill>
                <a:effectLst/>
                <a:uFillTx/>
                <a:latin typeface="Arial"/>
                <a:ea typeface="Arial"/>
              </a:rPr>
              <a:t>Antigravity IDE</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13" name=""/>
          <p:cNvSpPr txBox="1"/>
          <p:nvPr/>
        </p:nvSpPr>
        <p:spPr>
          <a:xfrm>
            <a:off x="457200" y="2181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התקנה והתחברות</a:t>
            </a:r>
            <a:endParaRPr lang="en-IL" sz="1800" b="0" u="none" strike="noStrike">
              <a:solidFill>
                <a:srgbClr val="000000"/>
              </a:solidFill>
              <a:effectLst/>
              <a:uFillTx/>
              <a:latin typeface="Arial"/>
            </a:endParaRPr>
          </a:p>
        </p:txBody>
      </p:sp>
      <p:sp>
        <p:nvSpPr>
          <p:cNvPr id="114" name=""/>
          <p:cNvSpPr txBox="1"/>
          <p:nvPr/>
        </p:nvSpPr>
        <p:spPr>
          <a:xfrm>
            <a:off x="457200" y="2514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מורידים את הגרסה המתאימה למחשב</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מתקינים ומתחברים לפי ההנחיות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15" name=""/>
          <p:cNvSpPr txBox="1"/>
          <p:nvPr/>
        </p:nvSpPr>
        <p:spPr>
          <a:xfrm>
            <a:off x="457200" y="3162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תיקיית העבודה</a:t>
            </a:r>
            <a:endParaRPr lang="en-IL" sz="1800" b="0" u="none" strike="noStrike">
              <a:solidFill>
                <a:srgbClr val="000000"/>
              </a:solidFill>
              <a:effectLst/>
              <a:uFillTx/>
              <a:latin typeface="Arial"/>
            </a:endParaRPr>
          </a:p>
        </p:txBody>
      </p:sp>
      <p:sp>
        <p:nvSpPr>
          <p:cNvPr id="116" name=""/>
          <p:cNvSpPr txBox="1"/>
          <p:nvPr/>
        </p:nvSpPr>
        <p:spPr>
          <a:xfrm>
            <a:off x="457200" y="3495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פותחים את אותה תיקיית פרויקט ומתחילים לעבוד עם הסוכן מתוך העורך</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17"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118"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נתנסה בשתי הסביבות במהלך הקורס</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עם אותם קבצים ותיעוד</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פתיחת התיקייה ב־</a:t>
            </a:r>
            <a:r>
              <a:rPr lang="en-IL" sz="2800" b="1" u="none" strike="noStrike">
                <a:solidFill>
                  <a:srgbClr val="D75AE2"/>
                </a:solidFill>
                <a:effectLst/>
                <a:uFillTx/>
                <a:latin typeface="Helvetica-Bold"/>
                <a:ea typeface="Helvetica-Bold"/>
              </a:rPr>
              <a:t>VS Code</a:t>
            </a:r>
            <a:endParaRPr lang="en-IL" sz="2800" b="0" u="none" strike="noStrike">
              <a:solidFill>
                <a:srgbClr val="000000"/>
              </a:solidFill>
              <a:effectLst/>
              <a:uFillTx/>
              <a:latin typeface="Arial"/>
            </a:endParaRPr>
          </a:p>
        </p:txBody>
      </p:sp>
      <p:sp>
        <p:nvSpPr>
          <p:cNvPr id="120"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21"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14</a:t>
            </a:r>
            <a:endParaRPr lang="en-IL" sz="800" b="0" u="none" strike="noStrike">
              <a:solidFill>
                <a:srgbClr val="000000"/>
              </a:solidFill>
              <a:effectLst/>
              <a:uFillTx/>
              <a:latin typeface="Arial"/>
            </a:endParaRPr>
          </a:p>
        </p:txBody>
      </p:sp>
      <p:sp>
        <p:nvSpPr>
          <p:cNvPr id="122" name=""/>
          <p:cNvSpPr txBox="1"/>
          <p:nvPr/>
        </p:nvSpPr>
        <p:spPr>
          <a:xfrm>
            <a:off x="457200" y="10476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בתפריט </a:t>
            </a:r>
            <a:r>
              <a:rPr lang="en-IL" sz="1800" b="1" u="none" strike="noStrike">
                <a:solidFill>
                  <a:srgbClr val="262424"/>
                </a:solidFill>
                <a:effectLst/>
                <a:uFillTx/>
                <a:latin typeface="Helvetica-Bold"/>
                <a:ea typeface="Helvetica-Bold"/>
              </a:rPr>
              <a:t>File</a:t>
            </a:r>
            <a:r>
              <a:rPr lang="en-IL" sz="1800" b="1" u="none" strike="noStrike">
                <a:solidFill>
                  <a:srgbClr val="262424"/>
                </a:solidFill>
                <a:effectLst/>
                <a:uFillTx/>
                <a:latin typeface="Helvetica-Bold"/>
                <a:ea typeface="Helvetica-Bold"/>
              </a:rPr>
              <a:t> </a:t>
            </a:r>
            <a:r>
              <a:rPr lang="hi-IN" sz="1800" b="1" u="none" strike="noStrike">
                <a:solidFill>
                  <a:srgbClr val="262424"/>
                </a:solidFill>
                <a:effectLst/>
                <a:uFillTx/>
                <a:latin typeface="Arial-BoldMT"/>
                <a:cs typeface="Arial-BoldMT"/>
              </a:rPr>
              <a:t>בוחרים </a:t>
            </a:r>
            <a:r>
              <a:rPr lang="en-IL" sz="1800" b="1" u="none" strike="noStrike">
                <a:solidFill>
                  <a:srgbClr val="262424"/>
                </a:solidFill>
                <a:effectLst/>
                <a:uFillTx/>
                <a:latin typeface="Helvetica-Bold"/>
                <a:ea typeface="Helvetica-Bold"/>
              </a:rPr>
              <a:t>Open Folder</a:t>
            </a:r>
            <a:r>
              <a:rPr lang="en-IL" sz="1800" b="1" u="none" strike="noStrike">
                <a:solidFill>
                  <a:srgbClr val="262424"/>
                </a:solidFill>
                <a:effectLst/>
                <a:uFillTx/>
                <a:latin typeface="Helvetica-Bold"/>
                <a:ea typeface="Helvetica-Bold"/>
              </a:rPr>
              <a:t>…</a:t>
            </a:r>
            <a:endParaRPr lang="en-IL" sz="1800" b="0" u="none" strike="noStrike">
              <a:solidFill>
                <a:srgbClr val="000000"/>
              </a:solidFill>
              <a:effectLst/>
              <a:uFillTx/>
              <a:latin typeface="Arial"/>
            </a:endParaRPr>
          </a:p>
        </p:txBody>
      </p:sp>
      <p:pic>
        <p:nvPicPr>
          <p:cNvPr id="123" name=""/>
          <p:cNvPicPr/>
          <p:nvPr/>
        </p:nvPicPr>
        <p:blipFill>
          <a:blip r:embed="rId1"/>
          <a:stretch/>
        </p:blipFill>
        <p:spPr>
          <a:xfrm>
            <a:off x="457200" y="1582920"/>
            <a:ext cx="5191200" cy="2806560"/>
          </a:xfrm>
          <a:prstGeom prst="rect">
            <a:avLst/>
          </a:prstGeom>
          <a:noFill/>
          <a:ln w="0">
            <a:noFill/>
          </a:ln>
        </p:spPr>
      </p:pic>
      <p:sp>
        <p:nvSpPr>
          <p:cNvPr id="124" name=""/>
          <p:cNvSpPr txBox="1"/>
          <p:nvPr/>
        </p:nvSpPr>
        <p:spPr>
          <a:xfrm>
            <a:off x="6048360" y="1628640"/>
            <a:ext cx="261936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בוחרים את התיקייה</a:t>
            </a:r>
            <a:endParaRPr lang="en-IL" sz="1800" b="0" u="none" strike="noStrike">
              <a:solidFill>
                <a:srgbClr val="000000"/>
              </a:solidFill>
              <a:effectLst/>
              <a:uFillTx/>
              <a:latin typeface="Arial"/>
            </a:endParaRPr>
          </a:p>
        </p:txBody>
      </p:sp>
      <p:sp>
        <p:nvSpPr>
          <p:cNvPr id="125" name=""/>
          <p:cNvSpPr txBox="1"/>
          <p:nvPr/>
        </p:nvSpPr>
        <p:spPr>
          <a:xfrm>
            <a:off x="6048360" y="1962000"/>
            <a:ext cx="261936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פותחים את </a:t>
            </a:r>
            <a:r>
              <a:rPr lang="en-IL" sz="1500" b="0" u="none" strike="noStrike">
                <a:solidFill>
                  <a:srgbClr val="262424"/>
                </a:solidFill>
                <a:effectLst/>
                <a:uFillTx/>
                <a:latin typeface="Arial"/>
                <a:ea typeface="Arial"/>
              </a:rPr>
              <a:t>my-project</a:t>
            </a:r>
            <a:r>
              <a:rPr lang="en-IL" sz="1500" b="0" u="none" strike="noStrike">
                <a:solidFill>
                  <a:srgbClr val="262424"/>
                </a:solidFill>
                <a:effectLst/>
                <a:uFillTx/>
                <a:latin typeface="Arial"/>
                <a:ea typeface="Arial"/>
              </a:rPr>
              <a:t> </a:t>
            </a:r>
            <a:r>
              <a:rPr lang="hi-IN" sz="1500" b="0" u="none" strike="noStrike">
                <a:solidFill>
                  <a:srgbClr val="262424"/>
                </a:solidFill>
                <a:effectLst/>
                <a:uFillTx/>
                <a:latin typeface="ArialMT"/>
                <a:cs typeface="ArialMT"/>
              </a:rPr>
              <a:t>כולה</a:t>
            </a:r>
            <a:r>
              <a:rPr lang="en-IL" sz="1500" b="0" u="none" strike="noStrike">
                <a:solidFill>
                  <a:srgbClr val="262424"/>
                </a:solidFill>
                <a:effectLst/>
                <a:uFillTx/>
                <a:latin typeface="Arial"/>
                <a:ea typeface="Arial"/>
              </a:rPr>
              <a:t>, </a:t>
            </a:r>
            <a:r>
              <a:rPr lang="hi-IN" sz="1500" b="0" u="none" strike="noStrike">
                <a:solidFill>
                  <a:srgbClr val="262424"/>
                </a:solidFill>
                <a:effectLst/>
                <a:uFillTx/>
                <a:latin typeface="ArialMT"/>
                <a:cs typeface="ArialMT"/>
              </a:rPr>
              <a:t>כדי שהסוכן יראה את הפרויקט</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sp>
        <p:nvSpPr>
          <p:cNvPr id="126" name=""/>
          <p:cNvSpPr txBox="1"/>
          <p:nvPr/>
        </p:nvSpPr>
        <p:spPr>
          <a:xfrm>
            <a:off x="6048360" y="2990880"/>
            <a:ext cx="261936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בודקים אמון בתיקייה</a:t>
            </a:r>
            <a:endParaRPr lang="en-IL" sz="1800" b="0" u="none" strike="noStrike">
              <a:solidFill>
                <a:srgbClr val="000000"/>
              </a:solidFill>
              <a:effectLst/>
              <a:uFillTx/>
              <a:latin typeface="Arial"/>
            </a:endParaRPr>
          </a:p>
        </p:txBody>
      </p:sp>
      <p:sp>
        <p:nvSpPr>
          <p:cNvPr id="127" name=""/>
          <p:cNvSpPr txBox="1"/>
          <p:nvPr/>
        </p:nvSpPr>
        <p:spPr>
          <a:xfrm>
            <a:off x="6048360" y="3324240"/>
            <a:ext cx="261936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מאשרים אמון רק בתיקייה שיצרנו או שמקורה מוכר לנו</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sp>
        <p:nvSpPr>
          <p:cNvPr id="128" name=""/>
          <p:cNvSpPr txBox="1"/>
          <p:nvPr/>
        </p:nvSpPr>
        <p:spPr>
          <a:xfrm>
            <a:off x="457200" y="4514760"/>
            <a:ext cx="8229600" cy="257040"/>
          </a:xfrm>
          <a:prstGeom prst="rect">
            <a:avLst/>
          </a:prstGeom>
          <a:noFill/>
          <a:ln w="0">
            <a:noFill/>
          </a:ln>
        </p:spPr>
        <p:txBody>
          <a:bodyPr lIns="90000" tIns="45000" rIns="90000" bIns="45000" anchor="t">
            <a:spAutoFit/>
          </a:bodyPr>
          <a:p>
            <a:pPr algn="r" rtl="1"/>
            <a:r>
              <a:rPr lang="hi-IN" sz="1100" b="0" u="none" strike="noStrike">
                <a:solidFill>
                  <a:srgbClr val="6F5A72"/>
                </a:solidFill>
                <a:effectLst/>
                <a:uFillTx/>
                <a:latin typeface="ArialMT"/>
                <a:cs typeface="ArialMT"/>
              </a:rPr>
              <a:t>צילום הדרכה ב־</a:t>
            </a:r>
            <a:r>
              <a:rPr lang="en-IL" sz="1100" b="0" u="none" strike="noStrike">
                <a:solidFill>
                  <a:srgbClr val="6F5A72"/>
                </a:solidFill>
                <a:effectLst/>
                <a:uFillTx/>
                <a:latin typeface="Arial"/>
                <a:ea typeface="Arial"/>
              </a:rPr>
              <a:t>Windows</a:t>
            </a:r>
            <a:r>
              <a:rPr lang="en-IL" sz="1100" b="0" u="none" strike="noStrike">
                <a:solidFill>
                  <a:srgbClr val="6F5A72"/>
                </a:solidFill>
                <a:effectLst/>
                <a:uFillTx/>
                <a:latin typeface="Arial"/>
                <a:ea typeface="Arial"/>
              </a:rPr>
              <a:t> </a:t>
            </a:r>
            <a:r>
              <a:rPr lang="hi-IN" sz="1100" b="0" u="none" strike="noStrike">
                <a:solidFill>
                  <a:srgbClr val="6F5A72"/>
                </a:solidFill>
                <a:effectLst/>
                <a:uFillTx/>
                <a:latin typeface="ArialMT"/>
                <a:cs typeface="ArialMT"/>
              </a:rPr>
              <a:t>מגרסה קודמת</a:t>
            </a:r>
            <a:r>
              <a:rPr lang="en-IL" sz="1100" b="0" u="none" strike="noStrike">
                <a:solidFill>
                  <a:srgbClr val="6F5A72"/>
                </a:solidFill>
                <a:effectLst/>
                <a:uFillTx/>
                <a:latin typeface="Arial"/>
                <a:ea typeface="Arial"/>
              </a:rPr>
              <a:t>. </a:t>
            </a:r>
            <a:r>
              <a:rPr lang="hi-IN" sz="1100" b="0" u="none" strike="noStrike">
                <a:solidFill>
                  <a:srgbClr val="6F5A72"/>
                </a:solidFill>
                <a:effectLst/>
                <a:uFillTx/>
                <a:latin typeface="ArialMT"/>
                <a:cs typeface="ArialMT"/>
              </a:rPr>
              <a:t>ב־</a:t>
            </a:r>
            <a:r>
              <a:rPr lang="en-IL" sz="1100" b="0" u="none" strike="noStrike">
                <a:solidFill>
                  <a:srgbClr val="6F5A72"/>
                </a:solidFill>
                <a:effectLst/>
                <a:uFillTx/>
                <a:latin typeface="Arial"/>
                <a:ea typeface="Arial"/>
              </a:rPr>
              <a:t>Mac</a:t>
            </a:r>
            <a:r>
              <a:rPr lang="en-IL" sz="1100" b="0" u="none" strike="noStrike">
                <a:solidFill>
                  <a:srgbClr val="6F5A72"/>
                </a:solidFill>
                <a:effectLst/>
                <a:uFillTx/>
                <a:latin typeface="Arial"/>
                <a:ea typeface="Arial"/>
              </a:rPr>
              <a:t> </a:t>
            </a:r>
            <a:r>
              <a:rPr lang="hi-IN" sz="1100" b="0" u="none" strike="noStrike">
                <a:solidFill>
                  <a:srgbClr val="6F5A72"/>
                </a:solidFill>
                <a:effectLst/>
                <a:uFillTx/>
                <a:latin typeface="ArialMT"/>
                <a:cs typeface="ArialMT"/>
              </a:rPr>
              <a:t>התפריט נמצא בראש המסך</a:t>
            </a:r>
            <a:r>
              <a:rPr lang="en-IL" sz="1100" b="0" u="none" strike="noStrike">
                <a:solidFill>
                  <a:srgbClr val="6F5A72"/>
                </a:solidFill>
                <a:effectLst/>
                <a:uFillTx/>
                <a:latin typeface="Arial"/>
                <a:ea typeface="Arial"/>
              </a:rPr>
              <a:t>.</a:t>
            </a:r>
            <a:endParaRPr lang="en-IL"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היכרות עם חלון הקבצים</a:t>
            </a:r>
            <a:endParaRPr lang="en-IL" sz="2800" b="0" u="none" strike="noStrike">
              <a:solidFill>
                <a:srgbClr val="000000"/>
              </a:solidFill>
              <a:effectLst/>
              <a:uFillTx/>
              <a:latin typeface="Arial"/>
            </a:endParaRPr>
          </a:p>
        </p:txBody>
      </p:sp>
      <p:sp>
        <p:nvSpPr>
          <p:cNvPr id="130"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31"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15</a:t>
            </a:r>
            <a:endParaRPr lang="en-IL" sz="800" b="0" u="none" strike="noStrike">
              <a:solidFill>
                <a:srgbClr val="000000"/>
              </a:solidFill>
              <a:effectLst/>
              <a:uFillTx/>
              <a:latin typeface="Arial"/>
            </a:endParaRPr>
          </a:p>
        </p:txBody>
      </p:sp>
      <p:pic>
        <p:nvPicPr>
          <p:cNvPr id="132" name=""/>
          <p:cNvPicPr/>
          <p:nvPr/>
        </p:nvPicPr>
        <p:blipFill>
          <a:blip r:embed="rId1"/>
          <a:stretch/>
        </p:blipFill>
        <p:spPr>
          <a:xfrm>
            <a:off x="987840" y="1333440"/>
            <a:ext cx="3939120" cy="2952720"/>
          </a:xfrm>
          <a:prstGeom prst="rect">
            <a:avLst/>
          </a:prstGeom>
          <a:noFill/>
          <a:ln w="0">
            <a:noFill/>
          </a:ln>
        </p:spPr>
      </p:pic>
      <p:sp>
        <p:nvSpPr>
          <p:cNvPr id="133" name=""/>
          <p:cNvSpPr txBox="1"/>
          <p:nvPr/>
        </p:nvSpPr>
        <p:spPr>
          <a:xfrm>
            <a:off x="5952960" y="1285920"/>
            <a:ext cx="273384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חלון הקבצים</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Explorer</a:t>
            </a:r>
            <a:endParaRPr lang="en-IL" sz="1800" b="0" u="none" strike="noStrike">
              <a:solidFill>
                <a:srgbClr val="000000"/>
              </a:solidFill>
              <a:effectLst/>
              <a:uFillTx/>
              <a:latin typeface="Arial"/>
            </a:endParaRPr>
          </a:p>
        </p:txBody>
      </p:sp>
      <p:sp>
        <p:nvSpPr>
          <p:cNvPr id="134" name=""/>
          <p:cNvSpPr txBox="1"/>
          <p:nvPr/>
        </p:nvSpPr>
        <p:spPr>
          <a:xfrm>
            <a:off x="5952960" y="1619280"/>
            <a:ext cx="273384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כאן רואים את תיקיית הפרויקט ואת הקבצים שבתוכה</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sp>
        <p:nvSpPr>
          <p:cNvPr id="135" name=""/>
          <p:cNvSpPr txBox="1"/>
          <p:nvPr/>
        </p:nvSpPr>
        <p:spPr>
          <a:xfrm>
            <a:off x="5952960" y="2362320"/>
            <a:ext cx="273384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הקובץ </a:t>
            </a:r>
            <a:r>
              <a:rPr lang="en-IL" sz="1800" b="1" u="none" strike="noStrike">
                <a:solidFill>
                  <a:srgbClr val="262424"/>
                </a:solidFill>
                <a:effectLst/>
                <a:uFillTx/>
                <a:latin typeface="Helvetica-Bold"/>
                <a:ea typeface="Helvetica-Bold"/>
              </a:rPr>
              <a:t>README.md</a:t>
            </a:r>
            <a:endParaRPr lang="en-IL" sz="1800" b="0" u="none" strike="noStrike">
              <a:solidFill>
                <a:srgbClr val="000000"/>
              </a:solidFill>
              <a:effectLst/>
              <a:uFillTx/>
              <a:latin typeface="Arial"/>
            </a:endParaRPr>
          </a:p>
        </p:txBody>
      </p:sp>
      <p:sp>
        <p:nvSpPr>
          <p:cNvPr id="136" name=""/>
          <p:cNvSpPr txBox="1"/>
          <p:nvPr/>
        </p:nvSpPr>
        <p:spPr>
          <a:xfrm>
            <a:off x="5952960" y="2695680"/>
            <a:ext cx="273384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נכתוב מה הפרויקט עושה ואיך מפעילים אותו</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sp>
        <p:nvSpPr>
          <p:cNvPr id="137" name=""/>
          <p:cNvSpPr txBox="1"/>
          <p:nvPr/>
        </p:nvSpPr>
        <p:spPr>
          <a:xfrm>
            <a:off x="5952960" y="3438360"/>
            <a:ext cx="273384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תיקייה שלמה</a:t>
            </a:r>
            <a:endParaRPr lang="en-IL" sz="1800" b="0" u="none" strike="noStrike">
              <a:solidFill>
                <a:srgbClr val="000000"/>
              </a:solidFill>
              <a:effectLst/>
              <a:uFillTx/>
              <a:latin typeface="Arial"/>
            </a:endParaRPr>
          </a:p>
        </p:txBody>
      </p:sp>
      <p:sp>
        <p:nvSpPr>
          <p:cNvPr id="138" name=""/>
          <p:cNvSpPr txBox="1"/>
          <p:nvPr/>
        </p:nvSpPr>
        <p:spPr>
          <a:xfrm>
            <a:off x="5952960" y="3771720"/>
            <a:ext cx="273384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קבצים נלווים מאפשרים לסוכן להבין את מבנה הפרויקט</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9"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התקנת תוסף הסוכן</a:t>
            </a:r>
            <a:endParaRPr lang="en-IL" sz="2800" b="0" u="none" strike="noStrike">
              <a:solidFill>
                <a:srgbClr val="000000"/>
              </a:solidFill>
              <a:effectLst/>
              <a:uFillTx/>
              <a:latin typeface="Arial"/>
            </a:endParaRPr>
          </a:p>
        </p:txBody>
      </p:sp>
      <p:sp>
        <p:nvSpPr>
          <p:cNvPr id="140"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41"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12</a:t>
            </a:r>
            <a:endParaRPr lang="en-IL" sz="800" b="0" u="none" strike="noStrike">
              <a:solidFill>
                <a:srgbClr val="000000"/>
              </a:solidFill>
              <a:effectLst/>
              <a:uFillTx/>
              <a:latin typeface="Arial"/>
            </a:endParaRPr>
          </a:p>
        </p:txBody>
      </p:sp>
      <p:pic>
        <p:nvPicPr>
          <p:cNvPr id="142" name=""/>
          <p:cNvPicPr/>
          <p:nvPr/>
        </p:nvPicPr>
        <p:blipFill>
          <a:blip r:embed="rId1"/>
          <a:stretch/>
        </p:blipFill>
        <p:spPr>
          <a:xfrm>
            <a:off x="457200" y="1917720"/>
            <a:ext cx="4762440" cy="1727280"/>
          </a:xfrm>
          <a:prstGeom prst="rect">
            <a:avLst/>
          </a:prstGeom>
          <a:noFill/>
          <a:ln w="0">
            <a:noFill/>
          </a:ln>
        </p:spPr>
      </p:pic>
      <p:sp>
        <p:nvSpPr>
          <p:cNvPr id="143" name=""/>
          <p:cNvSpPr txBox="1"/>
          <p:nvPr/>
        </p:nvSpPr>
        <p:spPr>
          <a:xfrm>
            <a:off x="5667480" y="1238400"/>
            <a:ext cx="301932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פותחים את </a:t>
            </a:r>
            <a:r>
              <a:rPr lang="en-IL" sz="1800" b="1" u="none" strike="noStrike">
                <a:solidFill>
                  <a:srgbClr val="262424"/>
                </a:solidFill>
                <a:effectLst/>
                <a:uFillTx/>
                <a:latin typeface="Helvetica-Bold"/>
                <a:ea typeface="Helvetica-Bold"/>
              </a:rPr>
              <a:t>Extensions</a:t>
            </a:r>
            <a:endParaRPr lang="en-IL" sz="1800" b="0" u="none" strike="noStrike">
              <a:solidFill>
                <a:srgbClr val="000000"/>
              </a:solidFill>
              <a:effectLst/>
              <a:uFillTx/>
              <a:latin typeface="Arial"/>
            </a:endParaRPr>
          </a:p>
        </p:txBody>
      </p:sp>
      <p:sp>
        <p:nvSpPr>
          <p:cNvPr id="144" name=""/>
          <p:cNvSpPr txBox="1"/>
          <p:nvPr/>
        </p:nvSpPr>
        <p:spPr>
          <a:xfrm>
            <a:off x="5667480" y="1571760"/>
            <a:ext cx="301932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ב־</a:t>
            </a:r>
            <a:r>
              <a:rPr lang="en-IL" sz="1500" b="0" u="none" strike="noStrike">
                <a:solidFill>
                  <a:srgbClr val="262424"/>
                </a:solidFill>
                <a:effectLst/>
                <a:uFillTx/>
                <a:latin typeface="Arial"/>
                <a:ea typeface="Arial"/>
              </a:rPr>
              <a:t>Windows: Ctrl+Shift+X</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ב־</a:t>
            </a:r>
            <a:r>
              <a:rPr lang="en-IL" sz="1500" b="0" u="none" strike="noStrike">
                <a:solidFill>
                  <a:srgbClr val="262424"/>
                </a:solidFill>
                <a:effectLst/>
                <a:uFillTx/>
                <a:latin typeface="Arial"/>
                <a:ea typeface="Arial"/>
              </a:rPr>
              <a:t>Mac: Cmd+Shift+X</a:t>
            </a:r>
            <a:endParaRPr lang="en-IL" sz="1500" b="0" u="none" strike="noStrike">
              <a:solidFill>
                <a:srgbClr val="000000"/>
              </a:solidFill>
              <a:effectLst/>
              <a:uFillTx/>
              <a:latin typeface="Arial"/>
            </a:endParaRPr>
          </a:p>
        </p:txBody>
      </p:sp>
      <p:sp>
        <p:nvSpPr>
          <p:cNvPr id="145" name=""/>
          <p:cNvSpPr txBox="1"/>
          <p:nvPr/>
        </p:nvSpPr>
        <p:spPr>
          <a:xfrm>
            <a:off x="5667480" y="2314440"/>
            <a:ext cx="301932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בוחרים תוסף רשמי</a:t>
            </a:r>
            <a:endParaRPr lang="en-IL" sz="1800" b="0" u="none" strike="noStrike">
              <a:solidFill>
                <a:srgbClr val="000000"/>
              </a:solidFill>
              <a:effectLst/>
              <a:uFillTx/>
              <a:latin typeface="Arial"/>
            </a:endParaRPr>
          </a:p>
        </p:txBody>
      </p:sp>
      <p:sp>
        <p:nvSpPr>
          <p:cNvPr id="146" name=""/>
          <p:cNvSpPr txBox="1"/>
          <p:nvPr/>
        </p:nvSpPr>
        <p:spPr>
          <a:xfrm>
            <a:off x="5667480" y="2647800"/>
            <a:ext cx="301932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הכלי </a:t>
            </a:r>
            <a:r>
              <a:rPr lang="en-IL" sz="1500" b="0" u="none" strike="noStrike">
                <a:solidFill>
                  <a:srgbClr val="262424"/>
                </a:solidFill>
                <a:effectLst/>
                <a:uFillTx/>
                <a:latin typeface="Arial"/>
                <a:ea typeface="Arial"/>
              </a:rPr>
              <a:t>Claude Code</a:t>
            </a:r>
            <a:r>
              <a:rPr lang="en-IL" sz="1500" b="0" u="none" strike="noStrike">
                <a:solidFill>
                  <a:srgbClr val="262424"/>
                </a:solidFill>
                <a:effectLst/>
                <a:uFillTx/>
                <a:latin typeface="Arial"/>
                <a:ea typeface="Arial"/>
              </a:rPr>
              <a:t> </a:t>
            </a:r>
            <a:r>
              <a:rPr lang="hi-IN" sz="1500" b="0" u="none" strike="noStrike">
                <a:solidFill>
                  <a:srgbClr val="262424"/>
                </a:solidFill>
                <a:effectLst/>
                <a:uFillTx/>
                <a:latin typeface="ArialMT"/>
                <a:cs typeface="ArialMT"/>
              </a:rPr>
              <a:t>מאת </a:t>
            </a:r>
            <a:r>
              <a:rPr lang="en-IL" sz="1500" b="0" u="none" strike="noStrike">
                <a:solidFill>
                  <a:srgbClr val="262424"/>
                </a:solidFill>
                <a:effectLst/>
                <a:uFillTx/>
                <a:latin typeface="Arial"/>
                <a:ea typeface="Arial"/>
              </a:rPr>
              <a:t>Anthropic</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הכלי </a:t>
            </a:r>
            <a:r>
              <a:rPr lang="en-IL" sz="1500" b="0" u="none" strike="noStrike">
                <a:solidFill>
                  <a:srgbClr val="262424"/>
                </a:solidFill>
                <a:effectLst/>
                <a:uFillTx/>
                <a:latin typeface="Arial"/>
                <a:ea typeface="Arial"/>
              </a:rPr>
              <a:t>Codex</a:t>
            </a:r>
            <a:r>
              <a:rPr lang="en-IL" sz="1500" b="0" u="none" strike="noStrike">
                <a:solidFill>
                  <a:srgbClr val="262424"/>
                </a:solidFill>
                <a:effectLst/>
                <a:uFillTx/>
                <a:latin typeface="Arial"/>
                <a:ea typeface="Arial"/>
              </a:rPr>
              <a:t> </a:t>
            </a:r>
            <a:r>
              <a:rPr lang="hi-IN" sz="1500" b="0" u="none" strike="noStrike">
                <a:solidFill>
                  <a:srgbClr val="262424"/>
                </a:solidFill>
                <a:effectLst/>
                <a:uFillTx/>
                <a:latin typeface="ArialMT"/>
                <a:cs typeface="ArialMT"/>
              </a:rPr>
              <a:t>מאת </a:t>
            </a:r>
            <a:r>
              <a:rPr lang="en-IL" sz="1500" b="0" u="none" strike="noStrike">
                <a:solidFill>
                  <a:srgbClr val="262424"/>
                </a:solidFill>
                <a:effectLst/>
                <a:uFillTx/>
                <a:latin typeface="Arial"/>
                <a:ea typeface="Arial"/>
              </a:rPr>
              <a:t>OpenAI</a:t>
            </a:r>
            <a:endParaRPr lang="en-IL" sz="1500" b="0" u="none" strike="noStrike">
              <a:solidFill>
                <a:srgbClr val="000000"/>
              </a:solidFill>
              <a:effectLst/>
              <a:uFillTx/>
              <a:latin typeface="Arial"/>
            </a:endParaRPr>
          </a:p>
        </p:txBody>
      </p:sp>
      <p:sp>
        <p:nvSpPr>
          <p:cNvPr id="147" name=""/>
          <p:cNvSpPr txBox="1"/>
          <p:nvPr/>
        </p:nvSpPr>
        <p:spPr>
          <a:xfrm>
            <a:off x="5667480" y="3390840"/>
            <a:ext cx="301932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מתחברים לחשבון</a:t>
            </a:r>
            <a:endParaRPr lang="en-IL" sz="1800" b="0" u="none" strike="noStrike">
              <a:solidFill>
                <a:srgbClr val="000000"/>
              </a:solidFill>
              <a:effectLst/>
              <a:uFillTx/>
              <a:latin typeface="Arial"/>
            </a:endParaRPr>
          </a:p>
        </p:txBody>
      </p:sp>
      <p:sp>
        <p:nvSpPr>
          <p:cNvPr id="148" name=""/>
          <p:cNvSpPr txBox="1"/>
          <p:nvPr/>
        </p:nvSpPr>
        <p:spPr>
          <a:xfrm>
            <a:off x="5667480" y="3724200"/>
            <a:ext cx="301932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לוחצים </a:t>
            </a:r>
            <a:r>
              <a:rPr lang="en-IL" sz="1500" b="0" u="none" strike="noStrike">
                <a:solidFill>
                  <a:srgbClr val="262424"/>
                </a:solidFill>
                <a:effectLst/>
                <a:uFillTx/>
                <a:latin typeface="Arial"/>
                <a:ea typeface="Arial"/>
              </a:rPr>
              <a:t>Install</a:t>
            </a:r>
            <a:r>
              <a:rPr lang="en-IL" sz="1500" b="0" u="none" strike="noStrike">
                <a:solidFill>
                  <a:srgbClr val="262424"/>
                </a:solidFill>
                <a:effectLst/>
                <a:uFillTx/>
                <a:latin typeface="Arial"/>
                <a:ea typeface="Arial"/>
              </a:rPr>
              <a:t>, </a:t>
            </a:r>
            <a:r>
              <a:rPr lang="hi-IN" sz="1500" b="0" u="none" strike="noStrike">
                <a:solidFill>
                  <a:srgbClr val="262424"/>
                </a:solidFill>
                <a:effectLst/>
                <a:uFillTx/>
                <a:latin typeface="ArialMT"/>
                <a:cs typeface="ArialMT"/>
              </a:rPr>
              <a:t>פותחים את הסוכן ומשלימים </a:t>
            </a:r>
            <a:r>
              <a:rPr lang="en-IL" sz="1500" b="0" u="none" strike="noStrike">
                <a:solidFill>
                  <a:srgbClr val="262424"/>
                </a:solidFill>
                <a:effectLst/>
                <a:uFillTx/>
                <a:latin typeface="Arial"/>
                <a:ea typeface="Arial"/>
              </a:rPr>
              <a:t>Sign in</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pic>
        <p:nvPicPr>
          <p:cNvPr id="149" name=""/>
          <p:cNvPicPr/>
          <p:nvPr/>
        </p:nvPicPr>
        <p:blipFill>
          <a:blip r:embed="rId2"/>
          <a:stretch/>
        </p:blipFill>
        <p:spPr>
          <a:xfrm>
            <a:off x="446400" y="3796560"/>
            <a:ext cx="6576480" cy="696240"/>
          </a:xfrm>
          <a:prstGeom prst="rect">
            <a:avLst/>
          </a:prstGeom>
          <a:noFill/>
          <a:ln w="0">
            <a:noFill/>
          </a:ln>
        </p:spPr>
      </p:pic>
      <p:pic>
        <p:nvPicPr>
          <p:cNvPr id="150" name=""/>
          <p:cNvPicPr/>
          <p:nvPr/>
        </p:nvPicPr>
        <p:blipFill>
          <a:blip r:embed="rId3"/>
          <a:stretch/>
        </p:blipFill>
        <p:spPr>
          <a:xfrm>
            <a:off x="439200" y="4497120"/>
            <a:ext cx="5160960" cy="65592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
          <p:cNvSpPr txBox="1"/>
          <p:nvPr/>
        </p:nvSpPr>
        <p:spPr>
          <a:xfrm>
            <a:off x="457200" y="324000"/>
            <a:ext cx="8229600" cy="571680"/>
          </a:xfrm>
          <a:prstGeom prst="rect">
            <a:avLst/>
          </a:prstGeom>
          <a:noFill/>
          <a:ln w="0">
            <a:noFill/>
          </a:ln>
        </p:spPr>
        <p:txBody>
          <a:bodyPr lIns="90000" tIns="45000" rIns="90000" bIns="45000" anchor="t">
            <a:spAutoFit/>
          </a:bodyPr>
          <a:p>
            <a:r>
              <a:rPr lang="hi-IN" sz="2800" b="1" u="none" strike="noStrike">
                <a:solidFill>
                  <a:srgbClr val="D75AE2"/>
                </a:solidFill>
                <a:effectLst/>
                <a:uFillTx/>
                <a:latin typeface="Arial-BoldMT"/>
                <a:cs typeface="Arial-BoldMT"/>
              </a:rPr>
              <a:t>תוספים מומלצים:</a:t>
            </a:r>
            <a:endParaRPr lang="en-IL" sz="2800" b="0" u="none" strike="noStrike">
              <a:solidFill>
                <a:srgbClr val="000000"/>
              </a:solidFill>
              <a:effectLst/>
              <a:uFillTx/>
              <a:latin typeface="Arial"/>
            </a:endParaRPr>
          </a:p>
        </p:txBody>
      </p:sp>
      <p:sp>
        <p:nvSpPr>
          <p:cNvPr id="152"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53"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17</a:t>
            </a:r>
            <a:endParaRPr lang="en-IL" sz="800" b="0" u="none" strike="noStrike">
              <a:solidFill>
                <a:srgbClr val="000000"/>
              </a:solidFill>
              <a:effectLst/>
              <a:uFillTx/>
              <a:latin typeface="Arial"/>
            </a:endParaRPr>
          </a:p>
        </p:txBody>
      </p:sp>
      <p:sp>
        <p:nvSpPr>
          <p:cNvPr id="154" name=""/>
          <p:cNvSpPr txBox="1"/>
          <p:nvPr/>
        </p:nvSpPr>
        <p:spPr>
          <a:xfrm>
            <a:off x="5667480" y="3390840"/>
            <a:ext cx="301932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מתחברים לחשבון</a:t>
            </a:r>
            <a:endParaRPr lang="en-IL" sz="1800" b="0" u="none" strike="noStrike">
              <a:solidFill>
                <a:srgbClr val="000000"/>
              </a:solidFill>
              <a:effectLst/>
              <a:uFillTx/>
              <a:latin typeface="Arial"/>
            </a:endParaRPr>
          </a:p>
        </p:txBody>
      </p:sp>
      <p:sp>
        <p:nvSpPr>
          <p:cNvPr id="155" name=""/>
          <p:cNvSpPr txBox="1"/>
          <p:nvPr/>
        </p:nvSpPr>
        <p:spPr>
          <a:xfrm>
            <a:off x="5667480" y="3724200"/>
            <a:ext cx="3019320" cy="5526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לוחצים </a:t>
            </a:r>
            <a:r>
              <a:rPr lang="en-IL" sz="1500" b="0" u="none" strike="noStrike">
                <a:solidFill>
                  <a:srgbClr val="262424"/>
                </a:solidFill>
                <a:effectLst/>
                <a:uFillTx/>
                <a:latin typeface="Arial"/>
                <a:ea typeface="Arial"/>
              </a:rPr>
              <a:t>Install</a:t>
            </a:r>
            <a:r>
              <a:rPr lang="en-IL" sz="1500" b="0" u="none" strike="noStrike">
                <a:solidFill>
                  <a:srgbClr val="262424"/>
                </a:solidFill>
                <a:effectLst/>
                <a:uFillTx/>
                <a:latin typeface="Arial"/>
                <a:ea typeface="Arial"/>
              </a:rPr>
              <a:t>, </a:t>
            </a:r>
            <a:r>
              <a:rPr lang="hi-IN" sz="1500" b="0" u="none" strike="noStrike">
                <a:solidFill>
                  <a:srgbClr val="262424"/>
                </a:solidFill>
                <a:effectLst/>
                <a:uFillTx/>
                <a:latin typeface="ArialMT"/>
                <a:cs typeface="ArialMT"/>
              </a:rPr>
              <a:t>פותחים את הסוכן ומשלימים </a:t>
            </a:r>
            <a:r>
              <a:rPr lang="en-IL" sz="1500" b="0" u="none" strike="noStrike">
                <a:solidFill>
                  <a:srgbClr val="262424"/>
                </a:solidFill>
                <a:effectLst/>
                <a:uFillTx/>
                <a:latin typeface="Arial"/>
                <a:ea typeface="Arial"/>
              </a:rPr>
              <a:t>Sign in</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pic>
        <p:nvPicPr>
          <p:cNvPr id="156" name=""/>
          <p:cNvPicPr/>
          <p:nvPr/>
        </p:nvPicPr>
        <p:blipFill>
          <a:blip r:embed="rId1"/>
          <a:stretch/>
        </p:blipFill>
        <p:spPr>
          <a:xfrm>
            <a:off x="406440" y="1902240"/>
            <a:ext cx="6461280" cy="696240"/>
          </a:xfrm>
          <a:prstGeom prst="rect">
            <a:avLst/>
          </a:prstGeom>
          <a:noFill/>
          <a:ln w="0">
            <a:noFill/>
          </a:ln>
        </p:spPr>
      </p:pic>
      <p:pic>
        <p:nvPicPr>
          <p:cNvPr id="157" name=""/>
          <p:cNvPicPr/>
          <p:nvPr/>
        </p:nvPicPr>
        <p:blipFill>
          <a:blip r:embed="rId2"/>
          <a:stretch/>
        </p:blipFill>
        <p:spPr>
          <a:xfrm>
            <a:off x="405360" y="2672640"/>
            <a:ext cx="5160960" cy="655920"/>
          </a:xfrm>
          <a:prstGeom prst="rect">
            <a:avLst/>
          </a:prstGeom>
          <a:noFill/>
          <a:ln w="0">
            <a:noFill/>
          </a:ln>
        </p:spPr>
      </p:pic>
      <p:pic>
        <p:nvPicPr>
          <p:cNvPr id="158" name=""/>
          <p:cNvPicPr/>
          <p:nvPr/>
        </p:nvPicPr>
        <p:blipFill>
          <a:blip r:embed="rId3"/>
          <a:stretch/>
        </p:blipFill>
        <p:spPr>
          <a:xfrm>
            <a:off x="374760" y="780840"/>
            <a:ext cx="8394840" cy="1041480"/>
          </a:xfrm>
          <a:prstGeom prst="rect">
            <a:avLst/>
          </a:prstGeom>
          <a:noFill/>
          <a:ln w="0">
            <a:noFill/>
          </a:ln>
        </p:spPr>
      </p:pic>
      <p:pic>
        <p:nvPicPr>
          <p:cNvPr id="159" name=""/>
          <p:cNvPicPr/>
          <p:nvPr/>
        </p:nvPicPr>
        <p:blipFill>
          <a:blip r:embed="rId4"/>
          <a:stretch/>
        </p:blipFill>
        <p:spPr>
          <a:xfrm>
            <a:off x="399960" y="3402720"/>
            <a:ext cx="8344080" cy="93996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צפייה חיה ב־</a:t>
            </a:r>
            <a:r>
              <a:rPr lang="en-IL" sz="2800" b="1" u="none" strike="noStrike">
                <a:solidFill>
                  <a:srgbClr val="D75AE2"/>
                </a:solidFill>
                <a:effectLst/>
                <a:uFillTx/>
                <a:latin typeface="Helvetica-Bold"/>
                <a:ea typeface="Helvetica-Bold"/>
              </a:rPr>
              <a:t>HTML</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עם </a:t>
            </a:r>
            <a:r>
              <a:rPr lang="en-IL" sz="2800" b="1" u="none" strike="noStrike">
                <a:solidFill>
                  <a:srgbClr val="D75AE2"/>
                </a:solidFill>
                <a:effectLst/>
                <a:uFillTx/>
                <a:latin typeface="Helvetica-Bold"/>
                <a:ea typeface="Helvetica-Bold"/>
              </a:rPr>
              <a:t>Live Server</a:t>
            </a:r>
            <a:endParaRPr lang="en-IL" sz="2800" b="0" u="none" strike="noStrike">
              <a:solidFill>
                <a:srgbClr val="000000"/>
              </a:solidFill>
              <a:effectLst/>
              <a:uFillTx/>
              <a:latin typeface="Arial"/>
            </a:endParaRPr>
          </a:p>
        </p:txBody>
      </p:sp>
      <p:sp>
        <p:nvSpPr>
          <p:cNvPr id="161"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62"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18</a:t>
            </a:r>
            <a:endParaRPr lang="en-IL" sz="800" b="0" u="none" strike="noStrike">
              <a:solidFill>
                <a:srgbClr val="000000"/>
              </a:solidFill>
              <a:effectLst/>
              <a:uFillTx/>
              <a:latin typeface="Arial"/>
            </a:endParaRPr>
          </a:p>
        </p:txBody>
      </p:sp>
      <p:sp>
        <p:nvSpPr>
          <p:cNvPr id="163" name=""/>
          <p:cNvSpPr txBox="1"/>
          <p:nvPr/>
        </p:nvSpPr>
        <p:spPr>
          <a:xfrm>
            <a:off x="457200" y="1200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התקנת התוסף</a:t>
            </a:r>
            <a:endParaRPr lang="en-IL" sz="1800" b="0" u="none" strike="noStrike">
              <a:solidFill>
                <a:srgbClr val="000000"/>
              </a:solidFill>
              <a:effectLst/>
              <a:uFillTx/>
              <a:latin typeface="Arial"/>
            </a:endParaRPr>
          </a:p>
        </p:txBody>
      </p:sp>
      <p:sp>
        <p:nvSpPr>
          <p:cNvPr id="164" name=""/>
          <p:cNvSpPr txBox="1"/>
          <p:nvPr/>
        </p:nvSpPr>
        <p:spPr>
          <a:xfrm>
            <a:off x="457200" y="1533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בחלון </a:t>
            </a:r>
            <a:r>
              <a:rPr lang="en-IL" sz="1600" b="0" u="none" strike="noStrike">
                <a:solidFill>
                  <a:srgbClr val="262424"/>
                </a:solidFill>
                <a:effectLst/>
                <a:uFillTx/>
                <a:latin typeface="Arial"/>
                <a:ea typeface="Arial"/>
              </a:rPr>
              <a:t>Extensions</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מחפשים </a:t>
            </a:r>
            <a:r>
              <a:rPr lang="en-IL" sz="1600" b="0" u="none" strike="noStrike">
                <a:solidFill>
                  <a:srgbClr val="262424"/>
                </a:solidFill>
                <a:effectLst/>
                <a:uFillTx/>
                <a:latin typeface="Arial"/>
                <a:ea typeface="Arial"/>
              </a:rPr>
              <a:t>Live Server</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מאת </a:t>
            </a:r>
            <a:r>
              <a:rPr lang="en-IL" sz="1600" b="0" u="none" strike="noStrike">
                <a:solidFill>
                  <a:srgbClr val="262424"/>
                </a:solidFill>
                <a:effectLst/>
                <a:uFillTx/>
                <a:latin typeface="Arial"/>
                <a:ea typeface="Arial"/>
              </a:rPr>
              <a:t>Ritwick Dey</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ולוחצים </a:t>
            </a:r>
            <a:r>
              <a:rPr lang="en-IL" sz="1600" b="0" u="none" strike="noStrike">
                <a:solidFill>
                  <a:srgbClr val="262424"/>
                </a:solidFill>
                <a:effectLst/>
                <a:uFillTx/>
                <a:latin typeface="Arial"/>
                <a:ea typeface="Arial"/>
              </a:rPr>
              <a:t>Install</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65" name=""/>
          <p:cNvSpPr txBox="1"/>
          <p:nvPr/>
        </p:nvSpPr>
        <p:spPr>
          <a:xfrm>
            <a:off x="457200" y="2181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צפייה בדף</a:t>
            </a:r>
            <a:endParaRPr lang="en-IL" sz="1800" b="0" u="none" strike="noStrike">
              <a:solidFill>
                <a:srgbClr val="000000"/>
              </a:solidFill>
              <a:effectLst/>
              <a:uFillTx/>
              <a:latin typeface="Arial"/>
            </a:endParaRPr>
          </a:p>
        </p:txBody>
      </p:sp>
      <p:sp>
        <p:nvSpPr>
          <p:cNvPr id="166" name=""/>
          <p:cNvSpPr txBox="1"/>
          <p:nvPr/>
        </p:nvSpPr>
        <p:spPr>
          <a:xfrm>
            <a:off x="457200" y="2514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פותחים </a:t>
            </a:r>
            <a:r>
              <a:rPr lang="en-IL" sz="1600" b="0" u="none" strike="noStrike">
                <a:solidFill>
                  <a:srgbClr val="262424"/>
                </a:solidFill>
                <a:effectLst/>
                <a:uFillTx/>
                <a:latin typeface="Arial"/>
                <a:ea typeface="Arial"/>
              </a:rPr>
              <a:t>index.html</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בתיקיית הפרויקט ובוחרים </a:t>
            </a:r>
            <a:r>
              <a:rPr lang="en-IL" sz="1600" b="0" u="none" strike="noStrike">
                <a:solidFill>
                  <a:srgbClr val="262424"/>
                </a:solidFill>
                <a:effectLst/>
                <a:uFillTx/>
                <a:latin typeface="Arial"/>
                <a:ea typeface="Arial"/>
              </a:rPr>
              <a:t>Open with Live Server</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67" name=""/>
          <p:cNvSpPr txBox="1"/>
          <p:nvPr/>
        </p:nvSpPr>
        <p:spPr>
          <a:xfrm>
            <a:off x="457200" y="3162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בדיקה קצרה</a:t>
            </a:r>
            <a:endParaRPr lang="en-IL" sz="1800" b="0" u="none" strike="noStrike">
              <a:solidFill>
                <a:srgbClr val="000000"/>
              </a:solidFill>
              <a:effectLst/>
              <a:uFillTx/>
              <a:latin typeface="Arial"/>
            </a:endParaRPr>
          </a:p>
        </p:txBody>
      </p:sp>
      <p:sp>
        <p:nvSpPr>
          <p:cNvPr id="168" name=""/>
          <p:cNvSpPr txBox="1"/>
          <p:nvPr/>
        </p:nvSpPr>
        <p:spPr>
          <a:xfrm>
            <a:off x="457200" y="3495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משנים כותרת ושומרים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רואים את העדכון בדפדפן דרך השרת המקומי</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69"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170"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לתצוגת </a:t>
            </a:r>
            <a:r>
              <a:rPr lang="en-IL" sz="1500" b="1" u="none" strike="noStrike">
                <a:solidFill>
                  <a:srgbClr val="262424"/>
                </a:solidFill>
                <a:effectLst/>
                <a:uFillTx/>
                <a:latin typeface="Helvetica-Bold"/>
                <a:ea typeface="Helvetica-Bold"/>
              </a:rPr>
              <a:t>HTML</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משתמשים ב־</a:t>
            </a:r>
            <a:r>
              <a:rPr lang="en-IL" sz="1500" b="1" u="none" strike="noStrike">
                <a:solidFill>
                  <a:srgbClr val="262424"/>
                </a:solidFill>
                <a:effectLst/>
                <a:uFillTx/>
                <a:latin typeface="Helvetica-Bold"/>
                <a:ea typeface="Helvetica-Bold"/>
              </a:rPr>
              <a:t>Live Server</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לפרויקט </a:t>
            </a:r>
            <a:r>
              <a:rPr lang="en-IL" sz="1500" b="1" u="none" strike="noStrike">
                <a:solidFill>
                  <a:srgbClr val="262424"/>
                </a:solidFill>
                <a:effectLst/>
                <a:uFillTx/>
                <a:latin typeface="Helvetica-Bold"/>
                <a:ea typeface="Helvetica-Bold"/>
              </a:rPr>
              <a:t>Next.js</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מפעילים </a:t>
            </a:r>
            <a:r>
              <a:rPr lang="en-IL" sz="1500" b="1" u="none" strike="noStrike">
                <a:solidFill>
                  <a:srgbClr val="262424"/>
                </a:solidFill>
                <a:effectLst/>
                <a:uFillTx/>
                <a:latin typeface="Helvetica-Bold"/>
                <a:ea typeface="Helvetica-Bold"/>
              </a:rPr>
              <a:t>npm run dev</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צפייה במסמכים עם </a:t>
            </a:r>
            <a:r>
              <a:rPr lang="en-IL" sz="2800" b="1" u="none" strike="noStrike">
                <a:solidFill>
                  <a:srgbClr val="D75AE2"/>
                </a:solidFill>
                <a:effectLst/>
                <a:uFillTx/>
                <a:latin typeface="Helvetica-Bold"/>
                <a:ea typeface="Helvetica-Bold"/>
              </a:rPr>
              <a:t>Office Viewer</a:t>
            </a:r>
            <a:endParaRPr lang="en-IL" sz="2800" b="0" u="none" strike="noStrike">
              <a:solidFill>
                <a:srgbClr val="000000"/>
              </a:solidFill>
              <a:effectLst/>
              <a:uFillTx/>
              <a:latin typeface="Arial"/>
            </a:endParaRPr>
          </a:p>
        </p:txBody>
      </p:sp>
      <p:sp>
        <p:nvSpPr>
          <p:cNvPr id="172"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73"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19</a:t>
            </a:r>
            <a:endParaRPr lang="en-IL" sz="800" b="0" u="none" strike="noStrike">
              <a:solidFill>
                <a:srgbClr val="000000"/>
              </a:solidFill>
              <a:effectLst/>
              <a:uFillTx/>
              <a:latin typeface="Arial"/>
            </a:endParaRPr>
          </a:p>
        </p:txBody>
      </p:sp>
      <p:sp>
        <p:nvSpPr>
          <p:cNvPr id="174" name=""/>
          <p:cNvSpPr txBox="1"/>
          <p:nvPr/>
        </p:nvSpPr>
        <p:spPr>
          <a:xfrm>
            <a:off x="457200" y="1200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התקנת התוסף</a:t>
            </a:r>
            <a:endParaRPr lang="en-IL" sz="1800" b="0" u="none" strike="noStrike">
              <a:solidFill>
                <a:srgbClr val="000000"/>
              </a:solidFill>
              <a:effectLst/>
              <a:uFillTx/>
              <a:latin typeface="Arial"/>
            </a:endParaRPr>
          </a:p>
        </p:txBody>
      </p:sp>
      <p:sp>
        <p:nvSpPr>
          <p:cNvPr id="175" name=""/>
          <p:cNvSpPr txBox="1"/>
          <p:nvPr/>
        </p:nvSpPr>
        <p:spPr>
          <a:xfrm>
            <a:off x="457200" y="1533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בחלון </a:t>
            </a:r>
            <a:r>
              <a:rPr lang="en-IL" sz="1600" b="0" u="none" strike="noStrike">
                <a:solidFill>
                  <a:srgbClr val="262424"/>
                </a:solidFill>
                <a:effectLst/>
                <a:uFillTx/>
                <a:latin typeface="Arial"/>
                <a:ea typeface="Arial"/>
              </a:rPr>
              <a:t>Extensions</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מחפשים </a:t>
            </a:r>
            <a:r>
              <a:rPr lang="en-IL" sz="1600" b="0" u="none" strike="noStrike">
                <a:solidFill>
                  <a:srgbClr val="262424"/>
                </a:solidFill>
                <a:effectLst/>
                <a:uFillTx/>
                <a:latin typeface="Arial"/>
                <a:ea typeface="Arial"/>
              </a:rPr>
              <a:t>Office Viewer</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מאת </a:t>
            </a:r>
            <a:r>
              <a:rPr lang="en-IL" sz="1600" b="0" u="none" strike="noStrike">
                <a:solidFill>
                  <a:srgbClr val="262424"/>
                </a:solidFill>
                <a:effectLst/>
                <a:uFillTx/>
                <a:latin typeface="Arial"/>
                <a:ea typeface="Arial"/>
              </a:rPr>
              <a:t>cweijan</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ולוחצים </a:t>
            </a:r>
            <a:r>
              <a:rPr lang="en-IL" sz="1600" b="0" u="none" strike="noStrike">
                <a:solidFill>
                  <a:srgbClr val="262424"/>
                </a:solidFill>
                <a:effectLst/>
                <a:uFillTx/>
                <a:latin typeface="Arial"/>
                <a:ea typeface="Arial"/>
              </a:rPr>
              <a:t>Install</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76" name=""/>
          <p:cNvSpPr txBox="1"/>
          <p:nvPr/>
        </p:nvSpPr>
        <p:spPr>
          <a:xfrm>
            <a:off x="457200" y="2181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פתיחת תוצרי הסוכן</a:t>
            </a:r>
            <a:endParaRPr lang="en-IL" sz="1800" b="0" u="none" strike="noStrike">
              <a:solidFill>
                <a:srgbClr val="000000"/>
              </a:solidFill>
              <a:effectLst/>
              <a:uFillTx/>
              <a:latin typeface="Arial"/>
            </a:endParaRPr>
          </a:p>
        </p:txBody>
      </p:sp>
      <p:sp>
        <p:nvSpPr>
          <p:cNvPr id="177" name=""/>
          <p:cNvSpPr txBox="1"/>
          <p:nvPr/>
        </p:nvSpPr>
        <p:spPr>
          <a:xfrm>
            <a:off x="457200" y="2514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פותחים קובץ </a:t>
            </a:r>
            <a:r>
              <a:rPr lang="en-IL" sz="1600" b="0" u="none" strike="noStrike">
                <a:solidFill>
                  <a:srgbClr val="262424"/>
                </a:solidFill>
                <a:effectLst/>
                <a:uFillTx/>
                <a:latin typeface="Arial"/>
                <a:ea typeface="Arial"/>
              </a:rPr>
              <a:t>DOCX, XLSX, PPTX</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או </a:t>
            </a:r>
            <a:r>
              <a:rPr lang="en-IL" sz="1600" b="0" u="none" strike="noStrike">
                <a:solidFill>
                  <a:srgbClr val="262424"/>
                </a:solidFill>
                <a:effectLst/>
                <a:uFillTx/>
                <a:latin typeface="Arial"/>
                <a:ea typeface="Arial"/>
              </a:rPr>
              <a:t>PDF</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מתוך תיקיית הפרויקט</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78" name=""/>
          <p:cNvSpPr txBox="1"/>
          <p:nvPr/>
        </p:nvSpPr>
        <p:spPr>
          <a:xfrm>
            <a:off x="457200" y="31622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בחירת התצוגה</a:t>
            </a:r>
            <a:endParaRPr lang="en-IL" sz="1800" b="0" u="none" strike="noStrike">
              <a:solidFill>
                <a:srgbClr val="000000"/>
              </a:solidFill>
              <a:effectLst/>
              <a:uFillTx/>
              <a:latin typeface="Arial"/>
            </a:endParaRPr>
          </a:p>
        </p:txBody>
      </p:sp>
      <p:sp>
        <p:nvSpPr>
          <p:cNvPr id="179" name=""/>
          <p:cNvSpPr txBox="1"/>
          <p:nvPr/>
        </p:nvSpPr>
        <p:spPr>
          <a:xfrm>
            <a:off x="457200" y="34956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אם צריך</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בוחרים </a:t>
            </a:r>
            <a:r>
              <a:rPr lang="en-IL" sz="1600" b="0" u="none" strike="noStrike">
                <a:solidFill>
                  <a:srgbClr val="262424"/>
                </a:solidFill>
                <a:effectLst/>
                <a:uFillTx/>
                <a:latin typeface="Arial"/>
                <a:ea typeface="Arial"/>
              </a:rPr>
              <a:t>Reopen Editor With</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ואת הצופה המתאים לסוג הקובץ</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80"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181"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בדיקת ההתקנה</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פותחים מסמך מהתיקייה ורואים את התוכן בתוך העורך</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פרומפט להקמת פרויקט</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חלק א׳</a:t>
            </a:r>
            <a:endParaRPr lang="en-IL" sz="2800" b="0" u="none" strike="noStrike">
              <a:solidFill>
                <a:srgbClr val="000000"/>
              </a:solidFill>
              <a:effectLst/>
              <a:uFillTx/>
              <a:latin typeface="Arial"/>
            </a:endParaRPr>
          </a:p>
        </p:txBody>
      </p:sp>
      <p:sp>
        <p:nvSpPr>
          <p:cNvPr id="183"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84"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20</a:t>
            </a:r>
            <a:endParaRPr lang="en-IL" sz="800" b="0" u="none" strike="noStrike">
              <a:solidFill>
                <a:srgbClr val="000000"/>
              </a:solidFill>
              <a:effectLst/>
              <a:uFillTx/>
              <a:latin typeface="Arial"/>
            </a:endParaRPr>
          </a:p>
        </p:txBody>
      </p:sp>
      <p:sp>
        <p:nvSpPr>
          <p:cNvPr id="185" name=""/>
          <p:cNvSpPr txBox="1"/>
          <p:nvPr/>
        </p:nvSpPr>
        <p:spPr>
          <a:xfrm>
            <a:off x="523800" y="1133640"/>
            <a:ext cx="8096400" cy="355284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פעל כסוכן פיתוח שמלווה אותי מהרעיון לגרסה ראשונה עובדת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המוצר שאני רוצה לבנות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תיאור הרעיון וקהל היעד</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הפעולה המרכזית שהמשתמש צריך לבצע</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תיאור הפעולה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התחל בהבנת הדרישה ובסקירת החומרים שסיפקתי בתיקייה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קרא הנחיות קיימות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קוד ומסמכים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שמור עבודה קיימת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הצג מה הבנת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מה כבר קיים ואילו פרטים דרושים להחלטה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שאל שאלות ממוקדות רק כשחסר מידע שמשנה את המוצר</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הצע גרסה ראשונה ממוקדת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כולל מה יישאר לשלב הבא</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הצע שימוש ב־</a:t>
            </a:r>
            <a:r>
              <a:rPr lang="en-IL" sz="1600" b="0" u="none" strike="noStrike">
                <a:solidFill>
                  <a:srgbClr val="262424"/>
                </a:solidFill>
                <a:effectLst/>
                <a:uFillTx/>
                <a:latin typeface="Arial"/>
                <a:ea typeface="Arial"/>
              </a:rPr>
              <a:t>Next.js</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a:t>
            </a:r>
            <a:r>
              <a:rPr lang="en-IL" sz="1600" b="0" u="none" strike="noStrike">
                <a:solidFill>
                  <a:srgbClr val="262424"/>
                </a:solidFill>
                <a:effectLst/>
                <a:uFillTx/>
                <a:latin typeface="Arial"/>
                <a:ea typeface="Arial"/>
              </a:rPr>
              <a:t>Supabase</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וב־</a:t>
            </a:r>
            <a:r>
              <a:rPr lang="en-IL" sz="1600" b="0" u="none" strike="noStrike">
                <a:solidFill>
                  <a:srgbClr val="262424"/>
                </a:solidFill>
                <a:effectLst/>
                <a:uFillTx/>
                <a:latin typeface="Arial"/>
                <a:ea typeface="Arial"/>
              </a:rPr>
              <a:t>Vercel</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לפי הצורך</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הסבר מה כל כלי ייתן למוצר ואילו חיבורים נוספים יקדמו אותו</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בדוק אילו כלים וחיבורי </a:t>
            </a:r>
            <a:r>
              <a:rPr lang="en-IL" sz="1600" b="0" u="none" strike="noStrike">
                <a:solidFill>
                  <a:srgbClr val="262424"/>
                </a:solidFill>
                <a:effectLst/>
                <a:uFillTx/>
                <a:latin typeface="Arial"/>
                <a:ea typeface="Arial"/>
              </a:rPr>
              <a:t>MCP</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זמינים לך לעבודה על החומרים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186" name=""/>
          <p:cNvSpPr txBox="1"/>
          <p:nvPr/>
        </p:nvSpPr>
        <p:spPr>
          <a:xfrm>
            <a:off x="457200" y="4191120"/>
            <a:ext cx="8229600" cy="5418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צור לי משחק סוליטייר עם צד שרת ב</a:t>
            </a:r>
            <a:r>
              <a:rPr lang="en-IL" sz="1600" b="0" u="none" strike="noStrike">
                <a:solidFill>
                  <a:srgbClr val="262424"/>
                </a:solidFill>
                <a:effectLst/>
                <a:uFillTx/>
                <a:latin typeface="ArialMT"/>
                <a:ea typeface="ArialMT"/>
              </a:rPr>
              <a:t>next</a:t>
            </a:r>
            <a:r>
              <a:rPr lang="en-IL" sz="1600" b="0" u="none" strike="noStrike">
                <a:solidFill>
                  <a:srgbClr val="262424"/>
                </a:solidFill>
                <a:effectLst/>
                <a:uFillTx/>
                <a:latin typeface="ArialMT"/>
                <a:ea typeface="ArialMT"/>
              </a:rPr>
              <a:t> על גבי </a:t>
            </a:r>
            <a:r>
              <a:rPr lang="en-IL" sz="1600" b="0" u="none" strike="noStrike">
                <a:solidFill>
                  <a:srgbClr val="262424"/>
                </a:solidFill>
                <a:effectLst/>
                <a:uFillTx/>
                <a:latin typeface="ArialMT"/>
                <a:ea typeface="ArialMT"/>
              </a:rPr>
              <a:t>vercel (cloud)</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לגבי דטהבייס - נשתמש בסופהבייס</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88"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21</a:t>
            </a:r>
            <a:endParaRPr lang="en-IL" sz="800" b="0" u="none" strike="noStrike">
              <a:solidFill>
                <a:srgbClr val="000000"/>
              </a:solidFill>
              <a:effectLst/>
              <a:uFillTx/>
              <a:latin typeface="Arial"/>
            </a:endParaRPr>
          </a:p>
        </p:txBody>
      </p:sp>
      <p:sp>
        <p:nvSpPr>
          <p:cNvPr id="189" name=""/>
          <p:cNvSpPr/>
          <p:nvPr/>
        </p:nvSpPr>
        <p:spPr>
          <a:xfrm>
            <a:off x="698400" y="1714680"/>
            <a:ext cx="2794320" cy="1841760"/>
          </a:xfrm>
          <a:custGeom>
            <a:avLst/>
            <a:gdLst/>
            <a:ahLst/>
            <a:rect l="0" t="0" r="r" b="b"/>
            <a:pathLst>
              <a:path w="7762" h="5116">
                <a:moveTo>
                  <a:pt x="7021" y="0"/>
                </a:moveTo>
                <a:cubicBezTo>
                  <a:pt x="7515" y="0"/>
                  <a:pt x="7762" y="247"/>
                  <a:pt x="7762" y="740"/>
                </a:cubicBezTo>
                <a:lnTo>
                  <a:pt x="7762" y="4376"/>
                </a:lnTo>
                <a:cubicBezTo>
                  <a:pt x="7762" y="4869"/>
                  <a:pt x="7515" y="5116"/>
                  <a:pt x="7021" y="5116"/>
                </a:cubicBezTo>
                <a:lnTo>
                  <a:pt x="740" y="5116"/>
                </a:lnTo>
                <a:cubicBezTo>
                  <a:pt x="247" y="5116"/>
                  <a:pt x="0" y="4869"/>
                  <a:pt x="0" y="4376"/>
                </a:cubicBezTo>
                <a:lnTo>
                  <a:pt x="0" y="740"/>
                </a:lnTo>
                <a:cubicBezTo>
                  <a:pt x="0" y="247"/>
                  <a:pt x="247" y="0"/>
                  <a:pt x="740" y="0"/>
                </a:cubicBezTo>
                <a:lnTo>
                  <a:pt x="7021" y="0"/>
                </a:lnTo>
                <a:close/>
              </a:path>
            </a:pathLst>
          </a:custGeom>
          <a:solidFill>
            <a:srgbClr val="FFFFFF"/>
          </a:solidFill>
          <a:ln w="25560">
            <a:solidFill>
              <a:srgbClr val="4371C4"/>
            </a:solidFill>
            <a:round/>
          </a:ln>
        </p:spPr>
        <p:txBody>
          <a:bodyPr lIns="102600" tIns="57600" rIns="102600" bIns="57600" anchor="t">
            <a:noAutofit/>
          </a:bodyPr>
          <a:p>
            <a:endParaRPr lang="en-IL" sz="1800" b="0" u="none" strike="noStrike">
              <a:solidFill>
                <a:srgbClr val="000000"/>
              </a:solidFill>
              <a:effectLst/>
              <a:uFillTx/>
              <a:latin typeface="Arial"/>
            </a:endParaRPr>
          </a:p>
        </p:txBody>
      </p:sp>
      <p:sp>
        <p:nvSpPr>
          <p:cNvPr id="190" name=""/>
          <p:cNvSpPr txBox="1"/>
          <p:nvPr/>
        </p:nvSpPr>
        <p:spPr>
          <a:xfrm>
            <a:off x="698400" y="1714680"/>
            <a:ext cx="2793960" cy="1841400"/>
          </a:xfrm>
          <a:prstGeom prst="rect">
            <a:avLst/>
          </a:prstGeom>
          <a:noFill/>
          <a:ln w="0">
            <a:noFill/>
          </a:ln>
        </p:spPr>
        <p:txBody>
          <a:bodyPr lIns="90000" tIns="45000" rIns="90000" bIns="45000" anchor="t">
            <a:normAutofit/>
          </a:bodyPr>
          <a:p>
            <a:r>
              <a:rPr lang="hi-IN" sz="1800" b="0" u="none" strike="noStrike">
                <a:solidFill>
                  <a:srgbClr val="000000"/>
                </a:solidFill>
                <a:effectLst/>
                <a:uFillTx/>
                <a:latin typeface="ArialMT"/>
                <a:cs typeface="ArialMT"/>
              </a:rPr>
              <a:t>מסד הנתונים</a:t>
            </a:r>
            <a:endParaRPr lang="en-IL" sz="1800" b="0" u="none" strike="noStrike">
              <a:solidFill>
                <a:srgbClr val="000000"/>
              </a:solidFill>
              <a:effectLst/>
              <a:uFillTx/>
              <a:latin typeface="Arial"/>
            </a:endParaRPr>
          </a:p>
          <a:p>
            <a:r>
              <a:rPr lang="hi-IN" sz="1800" b="0" u="none" strike="noStrike">
                <a:solidFill>
                  <a:srgbClr val="000000"/>
                </a:solidFill>
                <a:effectLst/>
                <a:uFillTx/>
                <a:latin typeface="ArialMT"/>
                <a:cs typeface="ArialMT"/>
              </a:rPr>
              <a:t>מחשב שעליו</a:t>
            </a:r>
            <a:endParaRPr lang="en-IL" sz="1800" b="0" u="none" strike="noStrike">
              <a:solidFill>
                <a:srgbClr val="000000"/>
              </a:solidFill>
              <a:effectLst/>
              <a:uFillTx/>
              <a:latin typeface="Arial"/>
            </a:endParaRPr>
          </a:p>
          <a:p>
            <a:r>
              <a:rPr lang="hi-IN" sz="1800" b="0" u="none" strike="noStrike">
                <a:solidFill>
                  <a:srgbClr val="000000"/>
                </a:solidFill>
                <a:effectLst/>
                <a:uFillTx/>
                <a:latin typeface="ArialMT"/>
                <a:cs typeface="ArialMT"/>
              </a:rPr>
              <a:t>מותקן הדטהבייס</a:t>
            </a:r>
            <a:endParaRPr lang="en-IL" sz="1800" b="0" u="none" strike="noStrike">
              <a:solidFill>
                <a:srgbClr val="000000"/>
              </a:solidFill>
              <a:effectLst/>
              <a:uFillTx/>
              <a:latin typeface="Arial"/>
            </a:endParaRPr>
          </a:p>
        </p:txBody>
      </p:sp>
      <p:sp>
        <p:nvSpPr>
          <p:cNvPr id="191" name=""/>
          <p:cNvSpPr txBox="1"/>
          <p:nvPr/>
        </p:nvSpPr>
        <p:spPr>
          <a:xfrm>
            <a:off x="457200" y="317520"/>
            <a:ext cx="8229600" cy="48672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תשתיות הפרויקט</a:t>
            </a:r>
            <a:endParaRPr lang="en-IL" sz="2800" b="0" u="none" strike="noStrike">
              <a:solidFill>
                <a:srgbClr val="000000"/>
              </a:solidFill>
              <a:effectLst/>
              <a:uFillTx/>
              <a:latin typeface="Arial"/>
            </a:endParaRPr>
          </a:p>
        </p:txBody>
      </p:sp>
      <p:sp>
        <p:nvSpPr>
          <p:cNvPr id="192" name=""/>
          <p:cNvSpPr txBox="1"/>
          <p:nvPr/>
        </p:nvSpPr>
        <p:spPr>
          <a:xfrm>
            <a:off x="4241880" y="1714680"/>
            <a:ext cx="4444920" cy="60228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צד השרת נכתב ב־</a:t>
            </a:r>
            <a:r>
              <a:rPr lang="en-IL" sz="1800" b="0" u="none" strike="noStrike">
                <a:solidFill>
                  <a:srgbClr val="000000"/>
                </a:solidFill>
                <a:effectLst/>
                <a:uFillTx/>
                <a:latin typeface="ArialMT"/>
                <a:ea typeface="ArialMT"/>
              </a:rPr>
              <a:t>Next.js</a:t>
            </a:r>
            <a:endParaRPr lang="en-IL" sz="1800" b="0" u="none" strike="noStrike">
              <a:solidFill>
                <a:srgbClr val="000000"/>
              </a:solidFill>
              <a:effectLst/>
              <a:uFillTx/>
              <a:latin typeface="Arial"/>
            </a:endParaRPr>
          </a:p>
          <a:p>
            <a:r>
              <a:rPr lang="hi-IN" sz="1800" b="0" u="none" strike="noStrike">
                <a:solidFill>
                  <a:srgbClr val="000000"/>
                </a:solidFill>
                <a:effectLst/>
                <a:uFillTx/>
                <a:latin typeface="ArialMT"/>
                <a:cs typeface="ArialMT"/>
              </a:rPr>
              <a:t>ומאוחסן בענן</a:t>
            </a:r>
            <a:endParaRPr lang="en-IL" sz="1800" b="0" u="none" strike="noStrike">
              <a:solidFill>
                <a:srgbClr val="000000"/>
              </a:solidFill>
              <a:effectLst/>
              <a:uFillTx/>
              <a:latin typeface="Arial"/>
            </a:endParaRPr>
          </a:p>
        </p:txBody>
      </p:sp>
      <p:sp>
        <p:nvSpPr>
          <p:cNvPr id="193" name=""/>
          <p:cNvSpPr txBox="1"/>
          <p:nvPr/>
        </p:nvSpPr>
        <p:spPr>
          <a:xfrm>
            <a:off x="4241880" y="2921040"/>
            <a:ext cx="4444920" cy="60228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הענן</a:t>
            </a:r>
            <a:r>
              <a:rPr lang="en-IL" sz="1800" b="0" u="none" strike="noStrike">
                <a:solidFill>
                  <a:srgbClr val="000000"/>
                </a:solidFill>
                <a:effectLst/>
                <a:uFillTx/>
                <a:latin typeface="ArialMT"/>
                <a:ea typeface="ArialMT"/>
              </a:rPr>
              <a:t> </a:t>
            </a:r>
            <a:r>
              <a:rPr lang="en-IL" sz="1800" b="0" u="none" strike="noStrike">
                <a:solidFill>
                  <a:srgbClr val="000000"/>
                </a:solidFill>
                <a:effectLst/>
                <a:uFillTx/>
                <a:latin typeface="ArialMT"/>
                <a:ea typeface="ArialMT"/>
              </a:rPr>
              <a:t>Vercel </a:t>
            </a:r>
            <a:r>
              <a:rPr lang="hi-IN" sz="1800" b="0" u="none" strike="noStrike">
                <a:solidFill>
                  <a:srgbClr val="000000"/>
                </a:solidFill>
                <a:effectLst/>
                <a:uFillTx/>
                <a:latin typeface="ArialMT"/>
                <a:cs typeface="ArialMT"/>
              </a:rPr>
              <a:t>מארח את צד השרת</a:t>
            </a:r>
            <a:endParaRPr lang="en-IL" sz="1800" b="0" u="none" strike="noStrike">
              <a:solidFill>
                <a:srgbClr val="000000"/>
              </a:solidFill>
              <a:effectLst/>
              <a:uFillTx/>
              <a:latin typeface="Arial"/>
            </a:endParaRPr>
          </a:p>
          <a:p>
            <a:pPr algn="r"/>
            <a:r>
              <a:rPr lang="hi-IN" sz="1800" b="0" u="none" strike="noStrike">
                <a:solidFill>
                  <a:srgbClr val="000000"/>
                </a:solidFill>
                <a:effectLst/>
                <a:uFillTx/>
                <a:latin typeface="ArialMT"/>
                <a:cs typeface="ArialMT"/>
              </a:rPr>
              <a:t>ואת צד הלקוח</a:t>
            </a:r>
            <a:endParaRPr lang="en-IL"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4"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פרומפט לתיעוד עבודה עם כמה סוכנים</a:t>
            </a:r>
            <a:endParaRPr lang="en-IL" sz="2800" b="0" u="none" strike="noStrike">
              <a:solidFill>
                <a:srgbClr val="000000"/>
              </a:solidFill>
              <a:effectLst/>
              <a:uFillTx/>
              <a:latin typeface="Arial"/>
            </a:endParaRPr>
          </a:p>
        </p:txBody>
      </p:sp>
      <p:sp>
        <p:nvSpPr>
          <p:cNvPr id="195"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196"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22</a:t>
            </a:r>
            <a:endParaRPr lang="en-IL" sz="800" b="0" u="none" strike="noStrike">
              <a:solidFill>
                <a:srgbClr val="000000"/>
              </a:solidFill>
              <a:effectLst/>
              <a:uFillTx/>
              <a:latin typeface="Arial"/>
            </a:endParaRPr>
          </a:p>
        </p:txBody>
      </p:sp>
      <p:sp>
        <p:nvSpPr>
          <p:cNvPr id="197" name=""/>
          <p:cNvSpPr txBox="1"/>
          <p:nvPr/>
        </p:nvSpPr>
        <p:spPr>
          <a:xfrm>
            <a:off x="523800" y="1133640"/>
            <a:ext cx="8096400" cy="3552840"/>
          </a:xfrm>
          <a:prstGeom prst="rect">
            <a:avLst/>
          </a:prstGeom>
          <a:noFill/>
          <a:ln w="0">
            <a:noFill/>
          </a:ln>
        </p:spPr>
        <p:txBody>
          <a:bodyPr lIns="90000" tIns="45000" rIns="90000" bIns="45000" anchor="t">
            <a:spAutoFit/>
          </a:bodyPr>
          <a:p>
            <a:r>
              <a:rPr lang="hi-IN" sz="1600" b="0" u="none" strike="noStrike">
                <a:solidFill>
                  <a:srgbClr val="000000"/>
                </a:solidFill>
                <a:effectLst/>
                <a:uFillTx/>
                <a:latin typeface="ArialMT"/>
                <a:cs typeface="ArialMT"/>
              </a:rPr>
              <a:t>ערוך את קובץ ההנחיות לפרויקט שעובדים בו כמה סוכנים.</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מקור האמת הוא הקבצים בלבד.</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כל בקשה, החלטה ומשימה מתועדות בקובץ.</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לפני משימה: צור קובץ ב־</a:t>
            </a:r>
            <a:r>
              <a:rPr lang="en-IL" sz="1600" b="0" u="none" strike="noStrike">
                <a:solidFill>
                  <a:srgbClr val="000000"/>
                </a:solidFill>
                <a:effectLst/>
                <a:uFillTx/>
                <a:latin typeface="ArialMT"/>
                <a:ea typeface="ArialMT"/>
              </a:rPr>
              <a:t>progress</a:t>
            </a:r>
            <a:r>
              <a:rPr lang="en-IL" sz="1600" b="0" u="none" strike="noStrike">
                <a:solidFill>
                  <a:srgbClr val="000000"/>
                </a:solidFill>
                <a:effectLst/>
                <a:uFillTx/>
                <a:latin typeface="ArialMT"/>
                <a:ea typeface="ArialMT"/>
              </a:rPr>
              <a:t> עם תאריך ושעה.</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כתוב בו את הבקשה, הפירוש וההנחות שלך.</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אחרי משימה: תעד מסכים, תוצרים וקבצים שנוצרו או השתנו.</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כתוב מה נשאר ומה הצעד הבא.</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תיקיות: </a:t>
            </a:r>
            <a:r>
              <a:rPr lang="en-IL" sz="1600" b="0" u="none" strike="noStrike">
                <a:solidFill>
                  <a:srgbClr val="000000"/>
                </a:solidFill>
                <a:effectLst/>
                <a:uFillTx/>
                <a:latin typeface="ArialMT"/>
                <a:ea typeface="ArialMT"/>
              </a:rPr>
              <a:t>docs, progress, issues, src</a:t>
            </a:r>
            <a:r>
              <a:rPr lang="en-IL" sz="1600" b="0" u="none" strike="noStrike">
                <a:solidFill>
                  <a:srgbClr val="000000"/>
                </a:solidFill>
                <a:effectLst/>
                <a:uFillTx/>
                <a:latin typeface="ArialMT"/>
                <a:ea typeface="ArialMT"/>
              </a:rPr>
              <a:t>.</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קבצים: </a:t>
            </a:r>
            <a:r>
              <a:rPr lang="en-IL" sz="1600" b="0" u="none" strike="noStrike">
                <a:solidFill>
                  <a:srgbClr val="000000"/>
                </a:solidFill>
                <a:effectLst/>
                <a:uFillTx/>
                <a:latin typeface="ArialMT"/>
                <a:ea typeface="ArialMT"/>
              </a:rPr>
              <a:t>README.md, AGENTS.md, CLAUDE.md</a:t>
            </a:r>
            <a:r>
              <a:rPr lang="en-IL" sz="1600" b="0" u="none" strike="noStrike">
                <a:solidFill>
                  <a:srgbClr val="000000"/>
                </a:solidFill>
                <a:effectLst/>
                <a:uFillTx/>
                <a:latin typeface="ArialMT"/>
                <a:ea typeface="ArialMT"/>
              </a:rPr>
              <a:t>.</a:t>
            </a:r>
            <a:endParaRPr lang="en-IL" sz="1600" b="0" u="none" strike="noStrike">
              <a:solidFill>
                <a:srgbClr val="000000"/>
              </a:solidFill>
              <a:effectLst/>
              <a:uFillTx/>
              <a:latin typeface="Arial"/>
            </a:endParaRPr>
          </a:p>
          <a:p>
            <a:r>
              <a:rPr lang="hi-IN" sz="1600" b="0" u="none" strike="noStrike">
                <a:solidFill>
                  <a:srgbClr val="000000"/>
                </a:solidFill>
                <a:effectLst/>
                <a:uFillTx/>
                <a:latin typeface="ArialMT"/>
                <a:cs typeface="ArialMT"/>
              </a:rPr>
              <a:t>כל סוכן שמצטרף קורא את התיעוד לפני תחילת העבודה.</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8"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קובצי הפרויקט ותפקידיהם</a:t>
            </a:r>
            <a:endParaRPr lang="en-IL" sz="2800" b="0" u="none" strike="noStrike">
              <a:solidFill>
                <a:srgbClr val="000000"/>
              </a:solidFill>
              <a:effectLst/>
              <a:uFillTx/>
              <a:latin typeface="Arial"/>
            </a:endParaRPr>
          </a:p>
        </p:txBody>
      </p:sp>
      <p:sp>
        <p:nvSpPr>
          <p:cNvPr id="199"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00"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23</a:t>
            </a:r>
            <a:endParaRPr lang="en-IL" sz="800" b="0" u="none" strike="noStrike">
              <a:solidFill>
                <a:srgbClr val="000000"/>
              </a:solidFill>
              <a:effectLst/>
              <a:uFillTx/>
              <a:latin typeface="Arial"/>
            </a:endParaRPr>
          </a:p>
        </p:txBody>
      </p:sp>
      <p:sp>
        <p:nvSpPr>
          <p:cNvPr id="201" name=""/>
          <p:cNvSpPr txBox="1"/>
          <p:nvPr/>
        </p:nvSpPr>
        <p:spPr>
          <a:xfrm>
            <a:off x="457200" y="1397160"/>
            <a:ext cx="2286000" cy="346320"/>
          </a:xfrm>
          <a:prstGeom prst="rect">
            <a:avLst/>
          </a:prstGeom>
          <a:noFill/>
          <a:ln w="0">
            <a:noFill/>
          </a:ln>
        </p:spPr>
        <p:txBody>
          <a:bodyPr lIns="90000" tIns="45000" rIns="90000" bIns="45000" anchor="t">
            <a:spAutoFit/>
          </a:bodyPr>
          <a:p>
            <a:r>
              <a:rPr lang="en-IL" sz="1800" b="0" u="none" strike="noStrike">
                <a:solidFill>
                  <a:srgbClr val="000000"/>
                </a:solidFill>
                <a:effectLst/>
                <a:uFillTx/>
                <a:latin typeface="ArialMT"/>
                <a:ea typeface="ArialMT"/>
              </a:rPr>
              <a:t>CLAUDE.md</a:t>
            </a:r>
            <a:endParaRPr lang="en-IL" sz="1800" b="0" u="none" strike="noStrike">
              <a:solidFill>
                <a:srgbClr val="000000"/>
              </a:solidFill>
              <a:effectLst/>
              <a:uFillTx/>
              <a:latin typeface="Arial"/>
            </a:endParaRPr>
          </a:p>
        </p:txBody>
      </p:sp>
      <p:sp>
        <p:nvSpPr>
          <p:cNvPr id="202" name=""/>
          <p:cNvSpPr txBox="1"/>
          <p:nvPr/>
        </p:nvSpPr>
        <p:spPr>
          <a:xfrm>
            <a:off x="3606840" y="1397160"/>
            <a:ext cx="5079960" cy="34632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זה הקובץ שקלוד קורא בתחילת עבודה על פרוייקט</a:t>
            </a:r>
            <a:endParaRPr lang="en-IL" sz="1800" b="0" u="none" strike="noStrike">
              <a:solidFill>
                <a:srgbClr val="000000"/>
              </a:solidFill>
              <a:effectLst/>
              <a:uFillTx/>
              <a:latin typeface="Arial"/>
            </a:endParaRPr>
          </a:p>
        </p:txBody>
      </p:sp>
      <p:sp>
        <p:nvSpPr>
          <p:cNvPr id="203" name=""/>
          <p:cNvSpPr txBox="1"/>
          <p:nvPr/>
        </p:nvSpPr>
        <p:spPr>
          <a:xfrm>
            <a:off x="3606840" y="2413080"/>
            <a:ext cx="5079960" cy="34632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זה קובץ שמיועד לכל הסוכנים בפרוייקט </a:t>
            </a:r>
            <a:endParaRPr lang="en-IL" sz="1800" b="0" u="none" strike="noStrike">
              <a:solidFill>
                <a:srgbClr val="000000"/>
              </a:solidFill>
              <a:effectLst/>
              <a:uFillTx/>
              <a:latin typeface="Arial"/>
            </a:endParaRPr>
          </a:p>
        </p:txBody>
      </p:sp>
      <p:sp>
        <p:nvSpPr>
          <p:cNvPr id="204" name=""/>
          <p:cNvSpPr txBox="1"/>
          <p:nvPr/>
        </p:nvSpPr>
        <p:spPr>
          <a:xfrm>
            <a:off x="457200" y="2413080"/>
            <a:ext cx="2286000" cy="346320"/>
          </a:xfrm>
          <a:prstGeom prst="rect">
            <a:avLst/>
          </a:prstGeom>
          <a:noFill/>
          <a:ln w="0">
            <a:noFill/>
          </a:ln>
        </p:spPr>
        <p:txBody>
          <a:bodyPr lIns="90000" tIns="45000" rIns="90000" bIns="45000" anchor="t">
            <a:spAutoFit/>
          </a:bodyPr>
          <a:p>
            <a:r>
              <a:rPr lang="en-IL" sz="1800" b="0" u="none" strike="noStrike">
                <a:solidFill>
                  <a:srgbClr val="000000"/>
                </a:solidFill>
                <a:effectLst/>
                <a:uFillTx/>
                <a:latin typeface="ArialMT"/>
                <a:ea typeface="ArialMT"/>
              </a:rPr>
              <a:t>AGENTS.md</a:t>
            </a:r>
            <a:endParaRPr lang="en-IL" sz="1800" b="0" u="none" strike="noStrike">
              <a:solidFill>
                <a:srgbClr val="000000"/>
              </a:solidFill>
              <a:effectLst/>
              <a:uFillTx/>
              <a:latin typeface="Arial"/>
            </a:endParaRPr>
          </a:p>
        </p:txBody>
      </p:sp>
      <p:sp>
        <p:nvSpPr>
          <p:cNvPr id="205" name=""/>
          <p:cNvSpPr txBox="1"/>
          <p:nvPr/>
        </p:nvSpPr>
        <p:spPr>
          <a:xfrm>
            <a:off x="457200" y="3429000"/>
            <a:ext cx="2286000" cy="346320"/>
          </a:xfrm>
          <a:prstGeom prst="rect">
            <a:avLst/>
          </a:prstGeom>
          <a:noFill/>
          <a:ln w="0">
            <a:noFill/>
          </a:ln>
        </p:spPr>
        <p:txBody>
          <a:bodyPr lIns="90000" tIns="45000" rIns="90000" bIns="45000" anchor="t">
            <a:spAutoFit/>
          </a:bodyPr>
          <a:p>
            <a:r>
              <a:rPr lang="en-IL" sz="1800" b="0" u="none" strike="noStrike">
                <a:solidFill>
                  <a:srgbClr val="000000"/>
                </a:solidFill>
                <a:effectLst/>
                <a:uFillTx/>
                <a:latin typeface="ArialMT"/>
                <a:ea typeface="ArialMT"/>
              </a:rPr>
              <a:t>README.md</a:t>
            </a:r>
            <a:endParaRPr lang="en-IL" sz="1800" b="0" u="none" strike="noStrike">
              <a:solidFill>
                <a:srgbClr val="000000"/>
              </a:solidFill>
              <a:effectLst/>
              <a:uFillTx/>
              <a:latin typeface="Arial"/>
            </a:endParaRPr>
          </a:p>
        </p:txBody>
      </p:sp>
      <p:sp>
        <p:nvSpPr>
          <p:cNvPr id="206" name=""/>
          <p:cNvSpPr txBox="1"/>
          <p:nvPr/>
        </p:nvSpPr>
        <p:spPr>
          <a:xfrm>
            <a:off x="3606840" y="3429000"/>
            <a:ext cx="5079960" cy="346320"/>
          </a:xfrm>
          <a:prstGeom prst="rect">
            <a:avLst/>
          </a:prstGeom>
          <a:noFill/>
          <a:ln w="0">
            <a:noFill/>
          </a:ln>
        </p:spPr>
        <p:txBody>
          <a:bodyPr lIns="90000" tIns="45000" rIns="90000" bIns="45000" anchor="t">
            <a:spAutoFit/>
          </a:bodyPr>
          <a:p>
            <a:r>
              <a:rPr lang="hi-IN" sz="1800" b="0" u="none" strike="noStrike">
                <a:solidFill>
                  <a:srgbClr val="000000"/>
                </a:solidFill>
                <a:effectLst/>
                <a:uFillTx/>
                <a:latin typeface="ArialMT"/>
                <a:cs typeface="ArialMT"/>
              </a:rPr>
              <a:t>זה קובץ שמיועד לכל בני האדם בפרוייקט </a:t>
            </a:r>
            <a:endParaRPr lang="en-IL" sz="1800" b="0" u="none" strike="noStrike">
              <a:solidFill>
                <a:srgbClr val="000000"/>
              </a:solidFill>
              <a:effectLst/>
              <a:uFillTx/>
              <a:latin typeface="Arial"/>
            </a:endParaRPr>
          </a:p>
        </p:txBody>
      </p:sp>
      <p:sp>
        <p:nvSpPr>
          <p:cNvPr id="207" name=""/>
          <p:cNvSpPr/>
          <p:nvPr/>
        </p:nvSpPr>
        <p:spPr>
          <a:xfrm>
            <a:off x="727920" y="1778040"/>
            <a:ext cx="0" cy="507960"/>
          </a:xfrm>
          <a:prstGeom prst="line">
            <a:avLst/>
          </a:prstGeom>
          <a:ln w="25560">
            <a:solidFill>
              <a:srgbClr val="4371C4"/>
            </a:solidFill>
            <a:round/>
            <a:tailEnd len="med" type="triangle" w="med"/>
          </a:ln>
        </p:spPr>
        <p:style>
          <a:lnRef idx="0"/>
          <a:fillRef idx="0"/>
          <a:effectRef idx="0"/>
          <a:fontRef idx="minor"/>
        </p:style>
        <p:txBody>
          <a:bodyPr lIns="102600" tIns="57600" rIns="102600" bIns="57600" anchor="t">
            <a:noAutofit/>
          </a:bodyPr>
          <a:p>
            <a:endParaRPr lang="en-IL"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8"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פרומפט להקמת פרויקט</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חלק ב׳</a:t>
            </a:r>
            <a:endParaRPr lang="en-IL" sz="2800" b="0" u="none" strike="noStrike">
              <a:solidFill>
                <a:srgbClr val="000000"/>
              </a:solidFill>
              <a:effectLst/>
              <a:uFillTx/>
              <a:latin typeface="Arial"/>
            </a:endParaRPr>
          </a:p>
        </p:txBody>
      </p:sp>
      <p:sp>
        <p:nvSpPr>
          <p:cNvPr id="209"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10"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24</a:t>
            </a:r>
            <a:endParaRPr lang="en-IL" sz="800" b="0" u="none" strike="noStrike">
              <a:solidFill>
                <a:srgbClr val="000000"/>
              </a:solidFill>
              <a:effectLst/>
              <a:uFillTx/>
              <a:latin typeface="Arial"/>
            </a:endParaRPr>
          </a:p>
        </p:txBody>
      </p:sp>
      <p:sp>
        <p:nvSpPr>
          <p:cNvPr id="211" name=""/>
          <p:cNvSpPr txBox="1"/>
          <p:nvPr/>
        </p:nvSpPr>
        <p:spPr>
          <a:xfrm>
            <a:off x="523800" y="1133640"/>
            <a:ext cx="8096400" cy="355284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כתוב בקובץ </a:t>
            </a:r>
            <a:r>
              <a:rPr lang="en-IL" sz="1600" b="0" u="none" strike="noStrike">
                <a:solidFill>
                  <a:srgbClr val="262424"/>
                </a:solidFill>
                <a:effectLst/>
                <a:uFillTx/>
                <a:latin typeface="Arial"/>
                <a:ea typeface="Arial"/>
              </a:rPr>
              <a:t>docs/spec.md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את המטרה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קהל היעד וגבולות הגרסה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הוסף תרחישי שימוש</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נתונים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הרשאות ותנאי קבלה מדידים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שמור החלטות והנמקות בקובץ </a:t>
            </a:r>
            <a:r>
              <a:rPr lang="en-IL" sz="1600" b="0" u="none" strike="noStrike">
                <a:solidFill>
                  <a:srgbClr val="262424"/>
                </a:solidFill>
                <a:effectLst/>
                <a:uFillTx/>
                <a:latin typeface="Arial"/>
                <a:ea typeface="Arial"/>
              </a:rPr>
              <a:t>docs/decisions.md</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צור הוראות עבודה ב־</a:t>
            </a:r>
            <a:r>
              <a:rPr lang="en-IL" sz="1600" b="0" u="none" strike="noStrike">
                <a:solidFill>
                  <a:srgbClr val="262424"/>
                </a:solidFill>
                <a:effectLst/>
                <a:uFillTx/>
                <a:latin typeface="Arial"/>
                <a:ea typeface="Arial"/>
              </a:rPr>
              <a:t>AGENTS.md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והתאם אותן לכלי שבו אנו עובדים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בשימוש ב־</a:t>
            </a:r>
            <a:r>
              <a:rPr lang="en-IL" sz="1600" b="0" u="none" strike="noStrike">
                <a:solidFill>
                  <a:srgbClr val="262424"/>
                </a:solidFill>
                <a:effectLst/>
                <a:uFillTx/>
                <a:latin typeface="Arial"/>
                <a:ea typeface="Arial"/>
              </a:rPr>
              <a:t>Claude Code</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הוסף </a:t>
            </a:r>
            <a:r>
              <a:rPr lang="en-IL" sz="1600" b="0" u="none" strike="noStrike">
                <a:solidFill>
                  <a:srgbClr val="262424"/>
                </a:solidFill>
                <a:effectLst/>
                <a:uFillTx/>
                <a:latin typeface="Arial"/>
                <a:ea typeface="Arial"/>
              </a:rPr>
              <a:t>CLAUDE.md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שמפנה להנחיות המשותפות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תעד בקובץ </a:t>
            </a:r>
            <a:r>
              <a:rPr lang="en-IL" sz="1600" b="0" u="none" strike="noStrike">
                <a:solidFill>
                  <a:srgbClr val="262424"/>
                </a:solidFill>
                <a:effectLst/>
                <a:uFillTx/>
                <a:latin typeface="Arial"/>
                <a:ea typeface="Arial"/>
              </a:rPr>
              <a:t>README.md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התקנה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הפעלה ופקודות בדיקה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חלק את העבודה למשימות קטנות ושמור אותן ב־</a:t>
            </a:r>
            <a:r>
              <a:rPr lang="en-IL" sz="1600" b="0" u="none" strike="noStrike">
                <a:solidFill>
                  <a:srgbClr val="262424"/>
                </a:solidFill>
                <a:effectLst/>
                <a:uFillTx/>
                <a:latin typeface="Arial"/>
                <a:ea typeface="Arial"/>
              </a:rPr>
              <a:t>docs/status.md</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הצג לי את האפיון ואת התוכנית לקבלת החלטה לפני המימוש</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לאחר אישור</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בנה תרחיש שימוש שלם אחד עם נתוני דוגמה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כתוב בדיקות להתנהגות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הרץ אותן ובדוק את התוצאה בממשק</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בסיום דווח מה עובד</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מה נבדק בפועל ומה המשימה הבאה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2"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הפעלת הפרויקט במחשב</a:t>
            </a:r>
            <a:endParaRPr lang="en-IL" sz="2800" b="0" u="none" strike="noStrike">
              <a:solidFill>
                <a:srgbClr val="000000"/>
              </a:solidFill>
              <a:effectLst/>
              <a:uFillTx/>
              <a:latin typeface="Arial"/>
            </a:endParaRPr>
          </a:p>
        </p:txBody>
      </p:sp>
      <p:sp>
        <p:nvSpPr>
          <p:cNvPr id="213"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14"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25</a:t>
            </a:r>
            <a:endParaRPr lang="en-IL" sz="800" b="0" u="none" strike="noStrike">
              <a:solidFill>
                <a:srgbClr val="000000"/>
              </a:solidFill>
              <a:effectLst/>
              <a:uFillTx/>
              <a:latin typeface="Arial"/>
            </a:endParaRPr>
          </a:p>
        </p:txBody>
      </p:sp>
      <p:pic>
        <p:nvPicPr>
          <p:cNvPr id="215" name=""/>
          <p:cNvPicPr/>
          <p:nvPr/>
        </p:nvPicPr>
        <p:blipFill>
          <a:blip r:embed="rId1"/>
          <a:stretch/>
        </p:blipFill>
        <p:spPr>
          <a:xfrm>
            <a:off x="457200" y="2228040"/>
            <a:ext cx="4857840" cy="1068120"/>
          </a:xfrm>
          <a:prstGeom prst="rect">
            <a:avLst/>
          </a:prstGeom>
          <a:noFill/>
          <a:ln w="0">
            <a:noFill/>
          </a:ln>
        </p:spPr>
      </p:pic>
      <p:sp>
        <p:nvSpPr>
          <p:cNvPr id="216" name=""/>
          <p:cNvSpPr txBox="1"/>
          <p:nvPr/>
        </p:nvSpPr>
        <p:spPr>
          <a:xfrm>
            <a:off x="5619600" y="1238400"/>
            <a:ext cx="3048120" cy="62856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בתפריט </a:t>
            </a:r>
            <a:r>
              <a:rPr lang="en-IL" sz="1800" b="1" u="none" strike="noStrike">
                <a:solidFill>
                  <a:srgbClr val="262424"/>
                </a:solidFill>
                <a:effectLst/>
                <a:uFillTx/>
                <a:latin typeface="Helvetica-Bold"/>
                <a:ea typeface="Helvetica-Bold"/>
              </a:rPr>
              <a:t>Terminal</a:t>
            </a:r>
            <a:r>
              <a:rPr lang="en-IL" sz="1800" b="1" u="none" strike="noStrike">
                <a:solidFill>
                  <a:srgbClr val="262424"/>
                </a:solidFill>
                <a:effectLst/>
                <a:uFillTx/>
                <a:latin typeface="Helvetica-Bold"/>
                <a:ea typeface="Helvetica-Bold"/>
              </a:rPr>
              <a:t> </a:t>
            </a:r>
            <a:r>
              <a:rPr lang="hi-IN" sz="1800" b="1" u="none" strike="noStrike">
                <a:solidFill>
                  <a:srgbClr val="262424"/>
                </a:solidFill>
                <a:effectLst/>
                <a:uFillTx/>
                <a:latin typeface="Arial-BoldMT"/>
                <a:cs typeface="Arial-BoldMT"/>
              </a:rPr>
              <a:t>בוחרים </a:t>
            </a:r>
            <a:r>
              <a:rPr lang="en-IL" sz="1800" b="1" u="none" strike="noStrike">
                <a:solidFill>
                  <a:srgbClr val="262424"/>
                </a:solidFill>
                <a:effectLst/>
                <a:uFillTx/>
                <a:latin typeface="Helvetica-Bold"/>
                <a:ea typeface="Helvetica-Bold"/>
              </a:rPr>
              <a:t>New Terminal</a:t>
            </a:r>
            <a:endParaRPr lang="en-IL" sz="1800" b="0" u="none" strike="noStrike">
              <a:solidFill>
                <a:srgbClr val="000000"/>
              </a:solidFill>
              <a:effectLst/>
              <a:uFillTx/>
              <a:latin typeface="Arial"/>
            </a:endParaRPr>
          </a:p>
        </p:txBody>
      </p:sp>
      <p:sp>
        <p:nvSpPr>
          <p:cNvPr id="217" name=""/>
          <p:cNvSpPr/>
          <p:nvPr/>
        </p:nvSpPr>
        <p:spPr>
          <a:xfrm>
            <a:off x="5638680" y="2009880"/>
            <a:ext cx="2934000" cy="991080"/>
          </a:xfrm>
          <a:custGeom>
            <a:avLst/>
            <a:gdLst/>
            <a:ahLst/>
            <a:rect l="0" t="0" r="r" b="b"/>
            <a:pathLst>
              <a:path w="8150" h="2753">
                <a:moveTo>
                  <a:pt x="0" y="0"/>
                </a:moveTo>
                <a:lnTo>
                  <a:pt x="8150" y="0"/>
                </a:lnTo>
                <a:lnTo>
                  <a:pt x="8150" y="2753"/>
                </a:lnTo>
                <a:lnTo>
                  <a:pt x="0" y="2753"/>
                </a:lnTo>
                <a:lnTo>
                  <a:pt x="0" y="0"/>
                </a:lnTo>
                <a:close/>
              </a:path>
            </a:pathLst>
          </a:custGeom>
          <a:solidFill>
            <a:srgbClr val="F7F5F8"/>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18" name=""/>
          <p:cNvSpPr txBox="1"/>
          <p:nvPr/>
        </p:nvSpPr>
        <p:spPr>
          <a:xfrm>
            <a:off x="5772240" y="2124000"/>
            <a:ext cx="2666880" cy="762120"/>
          </a:xfrm>
          <a:prstGeom prst="rect">
            <a:avLst/>
          </a:prstGeom>
          <a:noFill/>
          <a:ln w="0">
            <a:noFill/>
          </a:ln>
        </p:spPr>
        <p:txBody>
          <a:bodyPr lIns="90000" tIns="45000" rIns="90000" bIns="45000" anchor="t">
            <a:spAutoFit/>
          </a:bodyPr>
          <a:p>
            <a:r>
              <a:rPr lang="en-IL" sz="1700" b="0" u="none" strike="noStrike">
                <a:solidFill>
                  <a:srgbClr val="262424"/>
                </a:solidFill>
                <a:effectLst/>
                <a:uFillTx/>
                <a:latin typeface="ArialMT"/>
                <a:ea typeface="ArialMT"/>
              </a:rPr>
              <a:t>npm install</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npm run dev</a:t>
            </a:r>
            <a:endParaRPr lang="en-IL" sz="1700" b="0" u="none" strike="noStrike">
              <a:solidFill>
                <a:srgbClr val="000000"/>
              </a:solidFill>
              <a:effectLst/>
              <a:uFillTx/>
              <a:latin typeface="Arial"/>
            </a:endParaRPr>
          </a:p>
        </p:txBody>
      </p:sp>
      <p:sp>
        <p:nvSpPr>
          <p:cNvPr id="219" name=""/>
          <p:cNvSpPr txBox="1"/>
          <p:nvPr/>
        </p:nvSpPr>
        <p:spPr>
          <a:xfrm>
            <a:off x="5638680" y="3381480"/>
            <a:ext cx="3048120" cy="100980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אחרי שהסוכן יצר את הפרויקט</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מתקינים תלויות</a:t>
            </a:r>
            <a:r>
              <a:rPr lang="en-IL" sz="1500" b="0" u="none" strike="noStrike">
                <a:solidFill>
                  <a:srgbClr val="262424"/>
                </a:solidFill>
                <a:effectLst/>
                <a:uFillTx/>
                <a:latin typeface="Arial"/>
                <a:ea typeface="Arial"/>
              </a:rPr>
              <a:t>, </a:t>
            </a:r>
            <a:r>
              <a:rPr lang="hi-IN" sz="1500" b="0" u="none" strike="noStrike">
                <a:solidFill>
                  <a:srgbClr val="262424"/>
                </a:solidFill>
                <a:effectLst/>
                <a:uFillTx/>
                <a:latin typeface="ArialMT"/>
                <a:cs typeface="ArialMT"/>
              </a:rPr>
              <a:t>מפעילים ופותחים</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את הכתובת שמופיעה בטרמינל</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בדרך כלל</a:t>
            </a:r>
            <a:r>
              <a:rPr lang="en-IL" sz="1500" b="0" u="none" strike="noStrike">
                <a:solidFill>
                  <a:srgbClr val="262424"/>
                </a:solidFill>
                <a:effectLst/>
                <a:uFillTx/>
                <a:latin typeface="Arial"/>
                <a:ea typeface="Arial"/>
              </a:rPr>
              <a:t>: </a:t>
            </a:r>
            <a:r>
              <a:rPr lang="en-IL" sz="1500" b="0" u="none" strike="noStrike">
                <a:solidFill>
                  <a:srgbClr val="262424"/>
                </a:solidFill>
                <a:effectLst/>
                <a:uFillTx/>
                <a:latin typeface="Arial"/>
                <a:ea typeface="Arial"/>
              </a:rPr>
              <a:t>http://localhost:3000</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0" name=""/>
          <p:cNvPicPr/>
          <p:nvPr/>
        </p:nvPicPr>
        <p:blipFill>
          <a:blip r:embed="rId1"/>
          <a:stretch/>
        </p:blipFill>
        <p:spPr>
          <a:xfrm>
            <a:off x="5715000" y="0"/>
            <a:ext cx="3429000" cy="5143320"/>
          </a:xfrm>
          <a:prstGeom prst="rect">
            <a:avLst/>
          </a:prstGeom>
          <a:noFill/>
          <a:ln w="0">
            <a:noFill/>
          </a:ln>
        </p:spPr>
      </p:pic>
      <p:sp>
        <p:nvSpPr>
          <p:cNvPr id="221" name=""/>
          <p:cNvSpPr txBox="1"/>
          <p:nvPr/>
        </p:nvSpPr>
        <p:spPr>
          <a:xfrm>
            <a:off x="571680" y="1666800"/>
            <a:ext cx="4572000" cy="387720"/>
          </a:xfrm>
          <a:prstGeom prst="rect">
            <a:avLst/>
          </a:prstGeom>
          <a:noFill/>
          <a:ln w="0">
            <a:noFill/>
          </a:ln>
        </p:spPr>
        <p:txBody>
          <a:bodyPr lIns="90000" tIns="45000" rIns="90000" bIns="45000" anchor="t">
            <a:spAutoFit/>
          </a:bodyPr>
          <a:p>
            <a:pPr algn="ctr" rtl="1"/>
            <a:r>
              <a:rPr lang="hi-IN" sz="2100" b="1" u="none" strike="noStrike">
                <a:solidFill>
                  <a:srgbClr val="D75AE2"/>
                </a:solidFill>
                <a:effectLst/>
                <a:uFillTx/>
                <a:latin typeface="Arial-BoldMT"/>
                <a:cs typeface="Arial-BoldMT"/>
              </a:rPr>
              <a:t>פרק ב׳</a:t>
            </a:r>
            <a:endParaRPr lang="en-IL" sz="2100" b="0" u="none" strike="noStrike">
              <a:solidFill>
                <a:srgbClr val="000000"/>
              </a:solidFill>
              <a:effectLst/>
              <a:uFillTx/>
              <a:latin typeface="Arial"/>
            </a:endParaRPr>
          </a:p>
        </p:txBody>
      </p:sp>
      <p:sp>
        <p:nvSpPr>
          <p:cNvPr id="222" name=""/>
          <p:cNvSpPr txBox="1"/>
          <p:nvPr/>
        </p:nvSpPr>
        <p:spPr>
          <a:xfrm>
            <a:off x="476280" y="2143080"/>
            <a:ext cx="4762440" cy="952560"/>
          </a:xfrm>
          <a:prstGeom prst="rect">
            <a:avLst/>
          </a:prstGeom>
          <a:noFill/>
          <a:ln w="0">
            <a:noFill/>
          </a:ln>
        </p:spPr>
        <p:txBody>
          <a:bodyPr lIns="90000" tIns="45000" rIns="90000" bIns="45000" anchor="t">
            <a:spAutoFit/>
          </a:bodyPr>
          <a:p>
            <a:pPr algn="ctr" rtl="1"/>
            <a:r>
              <a:rPr lang="hi-IN" sz="3300" b="1" u="none" strike="noStrike">
                <a:solidFill>
                  <a:srgbClr val="D75AE2"/>
                </a:solidFill>
                <a:effectLst/>
                <a:uFillTx/>
                <a:latin typeface="Arial-BoldMT"/>
                <a:cs typeface="Arial-BoldMT"/>
              </a:rPr>
              <a:t>הזיכרון של הפרויקט</a:t>
            </a:r>
            <a:endParaRPr lang="en-IL" sz="3300" b="0" u="none" strike="noStrike">
              <a:solidFill>
                <a:srgbClr val="000000"/>
              </a:solidFill>
              <a:effectLst/>
              <a:uFillTx/>
              <a:latin typeface="Arial"/>
            </a:endParaRPr>
          </a:p>
        </p:txBody>
      </p:sp>
      <p:sp>
        <p:nvSpPr>
          <p:cNvPr id="223" name=""/>
          <p:cNvSpPr txBox="1"/>
          <p:nvPr/>
        </p:nvSpPr>
        <p:spPr>
          <a:xfrm>
            <a:off x="619200" y="3286080"/>
            <a:ext cx="4476600" cy="905040"/>
          </a:xfrm>
          <a:prstGeom prst="rect">
            <a:avLst/>
          </a:prstGeom>
          <a:noFill/>
          <a:ln w="0">
            <a:noFill/>
          </a:ln>
        </p:spPr>
        <p:txBody>
          <a:bodyPr lIns="90000" tIns="45000" rIns="90000" bIns="45000" anchor="t">
            <a:spAutoFit/>
          </a:bodyPr>
          <a:p>
            <a:pPr algn="ctr" rtl="1"/>
            <a:r>
              <a:rPr lang="hi-IN" sz="1800" b="0" u="none" strike="noStrike">
                <a:solidFill>
                  <a:srgbClr val="262424"/>
                </a:solidFill>
                <a:effectLst/>
                <a:uFillTx/>
                <a:latin typeface="ArialMT"/>
                <a:cs typeface="ArialMT"/>
              </a:rPr>
              <a:t>איך הסוכן של מחר ממשיך את העבודה של היום</a:t>
            </a:r>
            <a:r>
              <a:rPr lang="en-IL" sz="1800" b="0" u="none" strike="noStrike">
                <a:solidFill>
                  <a:srgbClr val="262424"/>
                </a:solidFill>
                <a:effectLst/>
                <a:uFillTx/>
                <a:latin typeface="Arial"/>
                <a:ea typeface="Arial"/>
              </a:rPr>
              <a:t>?</a:t>
            </a:r>
            <a:endParaRPr lang="en-IL"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4"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כשפותחים שיחה חדשה</a:t>
            </a:r>
            <a:endParaRPr lang="en-IL" sz="2800" b="0" u="none" strike="noStrike">
              <a:solidFill>
                <a:srgbClr val="000000"/>
              </a:solidFill>
              <a:effectLst/>
              <a:uFillTx/>
              <a:latin typeface="Arial"/>
            </a:endParaRPr>
          </a:p>
        </p:txBody>
      </p:sp>
      <p:sp>
        <p:nvSpPr>
          <p:cNvPr id="225"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26"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27</a:t>
            </a:r>
            <a:endParaRPr lang="en-IL" sz="800" b="0" u="none" strike="noStrike">
              <a:solidFill>
                <a:srgbClr val="000000"/>
              </a:solidFill>
              <a:effectLst/>
              <a:uFillTx/>
              <a:latin typeface="Arial"/>
            </a:endParaRPr>
          </a:p>
        </p:txBody>
      </p:sp>
      <p:sp>
        <p:nvSpPr>
          <p:cNvPr id="227"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ההחלטה של אתמול</a:t>
            </a:r>
            <a:endParaRPr lang="en-IL" sz="1800" b="0" u="none" strike="noStrike">
              <a:solidFill>
                <a:srgbClr val="000000"/>
              </a:solidFill>
              <a:effectLst/>
              <a:uFillTx/>
              <a:latin typeface="Arial"/>
            </a:endParaRPr>
          </a:p>
        </p:txBody>
      </p:sp>
      <p:sp>
        <p:nvSpPr>
          <p:cNvPr id="228"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בחרנו התנהגות רצויה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הגדרנו גבולות וסיימנו חלק מהמשימה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29"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הבקשה של היום</a:t>
            </a:r>
            <a:endParaRPr lang="en-IL" sz="1800" b="0" u="none" strike="noStrike">
              <a:solidFill>
                <a:srgbClr val="000000"/>
              </a:solidFill>
              <a:effectLst/>
              <a:uFillTx/>
              <a:latin typeface="Arial"/>
            </a:endParaRPr>
          </a:p>
        </p:txBody>
      </p:sp>
      <p:sp>
        <p:nvSpPr>
          <p:cNvPr id="230"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״תמשיך מאיפה שעצרנו״</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הסוכן החדש צריך לדעת איפה עצרנו ולמה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31"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המידע שצריך להישאר</a:t>
            </a:r>
            <a:endParaRPr lang="en-IL" sz="1800" b="0" u="none" strike="noStrike">
              <a:solidFill>
                <a:srgbClr val="000000"/>
              </a:solidFill>
              <a:effectLst/>
              <a:uFillTx/>
              <a:latin typeface="Arial"/>
            </a:endParaRPr>
          </a:p>
        </p:txBody>
      </p:sp>
      <p:sp>
        <p:nvSpPr>
          <p:cNvPr id="232"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אפיון מעודכן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החלטות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מה נבדק ומה עדיין פתוח</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33"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34"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התיקייה צריכה לאפשר המשך עבודה גם ללא היסטוריית השיחה</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5"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קובצי </a:t>
            </a:r>
            <a:r>
              <a:rPr lang="en-IL" sz="2800" b="1" u="none" strike="noStrike">
                <a:solidFill>
                  <a:srgbClr val="D75AE2"/>
                </a:solidFill>
                <a:effectLst/>
                <a:uFillTx/>
                <a:latin typeface="Helvetica-Bold"/>
                <a:ea typeface="Helvetica-Bold"/>
              </a:rPr>
              <a:t>Markdown</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והקונטקסט</a:t>
            </a:r>
            <a:endParaRPr lang="en-IL" sz="2800" b="0" u="none" strike="noStrike">
              <a:solidFill>
                <a:srgbClr val="000000"/>
              </a:solidFill>
              <a:effectLst/>
              <a:uFillTx/>
              <a:latin typeface="Arial"/>
            </a:endParaRPr>
          </a:p>
        </p:txBody>
      </p:sp>
      <p:sp>
        <p:nvSpPr>
          <p:cNvPr id="236"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37"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28</a:t>
            </a:r>
            <a:endParaRPr lang="en-IL" sz="800" b="0" u="none" strike="noStrike">
              <a:solidFill>
                <a:srgbClr val="000000"/>
              </a:solidFill>
              <a:effectLst/>
              <a:uFillTx/>
              <a:latin typeface="Arial"/>
            </a:endParaRPr>
          </a:p>
        </p:txBody>
      </p:sp>
      <p:pic>
        <p:nvPicPr>
          <p:cNvPr id="238" name=""/>
          <p:cNvPicPr/>
          <p:nvPr/>
        </p:nvPicPr>
        <p:blipFill>
          <a:blip r:embed="rId1"/>
          <a:stretch/>
        </p:blipFill>
        <p:spPr>
          <a:xfrm>
            <a:off x="457200" y="1452600"/>
            <a:ext cx="2523960" cy="2523960"/>
          </a:xfrm>
          <a:prstGeom prst="rect">
            <a:avLst/>
          </a:prstGeom>
          <a:noFill/>
          <a:ln w="0">
            <a:noFill/>
          </a:ln>
        </p:spPr>
      </p:pic>
      <p:sp>
        <p:nvSpPr>
          <p:cNvPr id="239" name=""/>
          <p:cNvSpPr txBox="1"/>
          <p:nvPr/>
        </p:nvSpPr>
        <p:spPr>
          <a:xfrm>
            <a:off x="3476520" y="1238400"/>
            <a:ext cx="5210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ידע מחוץ לשיחה</a:t>
            </a:r>
            <a:endParaRPr lang="en-IL" sz="1800" b="0" u="none" strike="noStrike">
              <a:solidFill>
                <a:srgbClr val="000000"/>
              </a:solidFill>
              <a:effectLst/>
              <a:uFillTx/>
              <a:latin typeface="Arial"/>
            </a:endParaRPr>
          </a:p>
        </p:txBody>
      </p:sp>
      <p:sp>
        <p:nvSpPr>
          <p:cNvPr id="240" name=""/>
          <p:cNvSpPr txBox="1"/>
          <p:nvPr/>
        </p:nvSpPr>
        <p:spPr>
          <a:xfrm>
            <a:off x="3476520" y="1571760"/>
            <a:ext cx="5210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קובצי טקסט בסיומת </a:t>
            </a:r>
            <a:r>
              <a:rPr lang="en-IL" sz="1600" b="0" u="none" strike="noStrike">
                <a:solidFill>
                  <a:srgbClr val="262424"/>
                </a:solidFill>
                <a:effectLst/>
                <a:uFillTx/>
                <a:latin typeface="Arial"/>
                <a:ea typeface="Arial"/>
              </a:rPr>
              <a:t>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נשארים בתיקייה אחרי סיום השיחה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41" name=""/>
          <p:cNvSpPr txBox="1"/>
          <p:nvPr/>
        </p:nvSpPr>
        <p:spPr>
          <a:xfrm>
            <a:off x="3476520" y="2266920"/>
            <a:ext cx="5210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טעינה לפי המשימה</a:t>
            </a:r>
            <a:endParaRPr lang="en-IL" sz="1800" b="0" u="none" strike="noStrike">
              <a:solidFill>
                <a:srgbClr val="000000"/>
              </a:solidFill>
              <a:effectLst/>
              <a:uFillTx/>
              <a:latin typeface="Arial"/>
            </a:endParaRPr>
          </a:p>
        </p:txBody>
      </p:sp>
      <p:sp>
        <p:nvSpPr>
          <p:cNvPr id="242" name=""/>
          <p:cNvSpPr txBox="1"/>
          <p:nvPr/>
        </p:nvSpPr>
        <p:spPr>
          <a:xfrm>
            <a:off x="3476520" y="2600280"/>
            <a:ext cx="5210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הסוכן קורא את ההנחיות ואת חלקי האפיון הרלוונטיים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43" name=""/>
          <p:cNvSpPr txBox="1"/>
          <p:nvPr/>
        </p:nvSpPr>
        <p:spPr>
          <a:xfrm>
            <a:off x="3476520" y="3295800"/>
            <a:ext cx="5210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תחזוקה במקום הצטברות</a:t>
            </a:r>
            <a:endParaRPr lang="en-IL" sz="1800" b="0" u="none" strike="noStrike">
              <a:solidFill>
                <a:srgbClr val="000000"/>
              </a:solidFill>
              <a:effectLst/>
              <a:uFillTx/>
              <a:latin typeface="Arial"/>
            </a:endParaRPr>
          </a:p>
        </p:txBody>
      </p:sp>
      <p:sp>
        <p:nvSpPr>
          <p:cNvPr id="244" name=""/>
          <p:cNvSpPr txBox="1"/>
          <p:nvPr/>
        </p:nvSpPr>
        <p:spPr>
          <a:xfrm>
            <a:off x="3476520" y="3629160"/>
            <a:ext cx="5210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מעדכנים החלטות ומצב</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מסירים מידע שהתיישן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45"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46"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קבצים מאפשרים לשחזר הקשר</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מגבלת הקונטקסט עדיין קיימת</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7"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שלושה קבצים עם תפקידים שונים</a:t>
            </a:r>
            <a:endParaRPr lang="en-IL" sz="2800" b="0" u="none" strike="noStrike">
              <a:solidFill>
                <a:srgbClr val="000000"/>
              </a:solidFill>
              <a:effectLst/>
              <a:uFillTx/>
              <a:latin typeface="Arial"/>
            </a:endParaRPr>
          </a:p>
        </p:txBody>
      </p:sp>
      <p:sp>
        <p:nvSpPr>
          <p:cNvPr id="248"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49"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29</a:t>
            </a:r>
            <a:endParaRPr lang="en-IL" sz="800" b="0" u="none" strike="noStrike">
              <a:solidFill>
                <a:srgbClr val="000000"/>
              </a:solidFill>
              <a:effectLst/>
              <a:uFillTx/>
              <a:latin typeface="Arial"/>
            </a:endParaRPr>
          </a:p>
        </p:txBody>
      </p:sp>
      <p:sp>
        <p:nvSpPr>
          <p:cNvPr id="250" name=""/>
          <p:cNvSpPr txBox="1"/>
          <p:nvPr/>
        </p:nvSpPr>
        <p:spPr>
          <a:xfrm>
            <a:off x="457200" y="121932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הקובץ </a:t>
            </a:r>
            <a:r>
              <a:rPr lang="en-IL" sz="1800" b="1" u="none" strike="noStrike">
                <a:solidFill>
                  <a:srgbClr val="262424"/>
                </a:solidFill>
                <a:effectLst/>
                <a:uFillTx/>
                <a:latin typeface="Helvetica-Bold"/>
                <a:ea typeface="Helvetica-Bold"/>
              </a:rPr>
              <a:t>README.md</a:t>
            </a:r>
            <a:endParaRPr lang="en-IL" sz="1800" b="0" u="none" strike="noStrike">
              <a:solidFill>
                <a:srgbClr val="000000"/>
              </a:solidFill>
              <a:effectLst/>
              <a:uFillTx/>
              <a:latin typeface="Arial"/>
            </a:endParaRPr>
          </a:p>
        </p:txBody>
      </p:sp>
      <p:sp>
        <p:nvSpPr>
          <p:cNvPr id="251" name=""/>
          <p:cNvSpPr txBox="1"/>
          <p:nvPr/>
        </p:nvSpPr>
        <p:spPr>
          <a:xfrm>
            <a:off x="457200" y="155268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מה הפרויקט עושה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איך מתקינים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איך מפעילים ואיך מריצים בדיקות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52" name=""/>
          <p:cNvSpPr txBox="1"/>
          <p:nvPr/>
        </p:nvSpPr>
        <p:spPr>
          <a:xfrm>
            <a:off x="457200" y="220968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הקובץ </a:t>
            </a:r>
            <a:r>
              <a:rPr lang="en-IL" sz="1800" b="1" u="none" strike="noStrike">
                <a:solidFill>
                  <a:srgbClr val="262424"/>
                </a:solidFill>
                <a:effectLst/>
                <a:uFillTx/>
                <a:latin typeface="Helvetica-Bold"/>
                <a:ea typeface="Helvetica-Bold"/>
              </a:rPr>
              <a:t>AGENTS.md</a:t>
            </a:r>
            <a:endParaRPr lang="en-IL" sz="1800" b="0" u="none" strike="noStrike">
              <a:solidFill>
                <a:srgbClr val="000000"/>
              </a:solidFill>
              <a:effectLst/>
              <a:uFillTx/>
              <a:latin typeface="Arial"/>
            </a:endParaRPr>
          </a:p>
        </p:txBody>
      </p:sp>
      <p:sp>
        <p:nvSpPr>
          <p:cNvPr id="253" name=""/>
          <p:cNvSpPr txBox="1"/>
          <p:nvPr/>
        </p:nvSpPr>
        <p:spPr>
          <a:xfrm>
            <a:off x="457200" y="254304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כללי עבודה לסוכן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מקורות מידע</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גבולות השינוי ופקודות אימות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54"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הקובץ </a:t>
            </a:r>
            <a:r>
              <a:rPr lang="en-IL" sz="1800" b="1" u="none" strike="noStrike">
                <a:solidFill>
                  <a:srgbClr val="262424"/>
                </a:solidFill>
                <a:effectLst/>
                <a:uFillTx/>
                <a:latin typeface="Helvetica-Bold"/>
                <a:ea typeface="Helvetica-Bold"/>
              </a:rPr>
              <a:t>CLAUDE.md</a:t>
            </a:r>
            <a:endParaRPr lang="en-IL" sz="1800" b="0" u="none" strike="noStrike">
              <a:solidFill>
                <a:srgbClr val="000000"/>
              </a:solidFill>
              <a:effectLst/>
              <a:uFillTx/>
              <a:latin typeface="Arial"/>
            </a:endParaRPr>
          </a:p>
        </p:txBody>
      </p:sp>
      <p:sp>
        <p:nvSpPr>
          <p:cNvPr id="255"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הנחיות ל־</a:t>
            </a:r>
            <a:r>
              <a:rPr lang="en-IL" sz="1600" b="0" u="none" strike="noStrike">
                <a:solidFill>
                  <a:srgbClr val="262424"/>
                </a:solidFill>
                <a:effectLst/>
                <a:uFillTx/>
                <a:latin typeface="Arial"/>
                <a:ea typeface="Arial"/>
              </a:rPr>
              <a:t>Claude Code</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אפשר לייבא ממנו את ההנחיות המשותפות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56"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57"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השם </a:t>
            </a:r>
            <a:r>
              <a:rPr lang="en-IL" sz="1500" b="1" u="none" strike="noStrike">
                <a:solidFill>
                  <a:srgbClr val="262424"/>
                </a:solidFill>
                <a:effectLst/>
                <a:uFillTx/>
                <a:latin typeface="Helvetica-Bold"/>
                <a:ea typeface="Helvetica-Bold"/>
              </a:rPr>
              <a:t>AGENTS.md</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מתייחס להוראות לסוכנים</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לא להגדרת תת־סוכן</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8"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מבנה תיקיית הפרויקט</a:t>
            </a:r>
            <a:endParaRPr lang="en-IL" sz="2800" b="0" u="none" strike="noStrike">
              <a:solidFill>
                <a:srgbClr val="000000"/>
              </a:solidFill>
              <a:effectLst/>
              <a:uFillTx/>
              <a:latin typeface="Arial"/>
            </a:endParaRPr>
          </a:p>
        </p:txBody>
      </p:sp>
      <p:sp>
        <p:nvSpPr>
          <p:cNvPr id="259"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60"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30</a:t>
            </a:r>
            <a:endParaRPr lang="en-IL" sz="800" b="0" u="none" strike="noStrike">
              <a:solidFill>
                <a:srgbClr val="000000"/>
              </a:solidFill>
              <a:effectLst/>
              <a:uFillTx/>
              <a:latin typeface="Arial"/>
            </a:endParaRPr>
          </a:p>
        </p:txBody>
      </p:sp>
      <p:sp>
        <p:nvSpPr>
          <p:cNvPr id="261" name=""/>
          <p:cNvSpPr/>
          <p:nvPr/>
        </p:nvSpPr>
        <p:spPr>
          <a:xfrm>
            <a:off x="533520" y="1219320"/>
            <a:ext cx="3410280" cy="3324600"/>
          </a:xfrm>
          <a:custGeom>
            <a:avLst/>
            <a:gdLst/>
            <a:ahLst/>
            <a:rect l="0" t="0" r="r" b="b"/>
            <a:pathLst>
              <a:path w="9473" h="9235">
                <a:moveTo>
                  <a:pt x="0" y="0"/>
                </a:moveTo>
                <a:lnTo>
                  <a:pt x="9473" y="0"/>
                </a:lnTo>
                <a:lnTo>
                  <a:pt x="9473" y="9235"/>
                </a:lnTo>
                <a:lnTo>
                  <a:pt x="0" y="9235"/>
                </a:lnTo>
                <a:lnTo>
                  <a:pt x="0" y="0"/>
                </a:lnTo>
                <a:close/>
              </a:path>
            </a:pathLst>
          </a:custGeom>
          <a:solidFill>
            <a:srgbClr val="F7F5F8"/>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62" name=""/>
          <p:cNvSpPr txBox="1"/>
          <p:nvPr/>
        </p:nvSpPr>
        <p:spPr>
          <a:xfrm>
            <a:off x="666720" y="1333440"/>
            <a:ext cx="3143160" cy="3095640"/>
          </a:xfrm>
          <a:prstGeom prst="rect">
            <a:avLst/>
          </a:prstGeom>
          <a:noFill/>
          <a:ln w="0">
            <a:noFill/>
          </a:ln>
        </p:spPr>
        <p:txBody>
          <a:bodyPr lIns="90000" tIns="45000" rIns="90000" bIns="45000" anchor="t">
            <a:spAutoFit/>
          </a:bodyPr>
          <a:p>
            <a:r>
              <a:rPr lang="en-IL" sz="1700" b="0" u="none" strike="noStrike">
                <a:solidFill>
                  <a:srgbClr val="262424"/>
                </a:solidFill>
                <a:effectLst/>
                <a:uFillTx/>
                <a:latin typeface="ArialMT"/>
                <a:ea typeface="ArialMT"/>
              </a:rPr>
              <a:t>my-project</a:t>
            </a:r>
            <a:r>
              <a:rPr lang="en-IL" sz="1700" b="0" u="none" strike="noStrike">
                <a:solidFill>
                  <a:srgbClr val="262424"/>
                </a:solidFill>
                <a:effectLst/>
                <a:uFillTx/>
                <a:latin typeface="ArialMT"/>
                <a:ea typeface="ArialMT"/>
              </a:rPr>
              <a:t>/</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README.md</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AGENTS.md</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CLAUDE.md</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docs</a:t>
            </a:r>
            <a:r>
              <a:rPr lang="en-IL" sz="1700" b="0" u="none" strike="noStrike">
                <a:solidFill>
                  <a:srgbClr val="262424"/>
                </a:solidFill>
                <a:effectLst/>
                <a:uFillTx/>
                <a:latin typeface="ArialMT"/>
                <a:ea typeface="ArialMT"/>
              </a:rPr>
              <a:t>/</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spec.md</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decisions.md</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status.md</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src</a:t>
            </a:r>
            <a:r>
              <a:rPr lang="en-IL" sz="1700" b="0" u="none" strike="noStrike">
                <a:solidFill>
                  <a:srgbClr val="262424"/>
                </a:solidFill>
                <a:effectLst/>
                <a:uFillTx/>
                <a:latin typeface="ArialMT"/>
                <a:ea typeface="ArialMT"/>
              </a:rPr>
              <a:t>/</a:t>
            </a:r>
            <a:endParaRPr lang="en-IL" sz="1700" b="0" u="none" strike="noStrike">
              <a:solidFill>
                <a:srgbClr val="000000"/>
              </a:solidFill>
              <a:effectLst/>
              <a:uFillTx/>
              <a:latin typeface="Arial"/>
            </a:endParaRPr>
          </a:p>
          <a:p>
            <a:r>
              <a:rPr lang="en-IL" sz="1700" b="0" u="none" strike="noStrike">
                <a:solidFill>
                  <a:srgbClr val="262424"/>
                </a:solidFill>
                <a:effectLst/>
                <a:uFillTx/>
                <a:latin typeface="ArialMT"/>
                <a:ea typeface="ArialMT"/>
              </a:rPr>
              <a:t> </a:t>
            </a:r>
            <a:r>
              <a:rPr lang="en-IL" sz="1700" b="0" u="none" strike="noStrike">
                <a:solidFill>
                  <a:srgbClr val="262424"/>
                </a:solidFill>
                <a:effectLst/>
                <a:uFillTx/>
                <a:latin typeface="ArialMT"/>
                <a:ea typeface="ArialMT"/>
              </a:rPr>
              <a:t>tests</a:t>
            </a:r>
            <a:r>
              <a:rPr lang="en-IL" sz="1700" b="0" u="none" strike="noStrike">
                <a:solidFill>
                  <a:srgbClr val="262424"/>
                </a:solidFill>
                <a:effectLst/>
                <a:uFillTx/>
                <a:latin typeface="ArialMT"/>
                <a:ea typeface="ArialMT"/>
              </a:rPr>
              <a:t>/</a:t>
            </a:r>
            <a:endParaRPr lang="en-IL" sz="1700" b="0" u="none" strike="noStrike">
              <a:solidFill>
                <a:srgbClr val="000000"/>
              </a:solidFill>
              <a:effectLst/>
              <a:uFillTx/>
              <a:latin typeface="Arial"/>
            </a:endParaRPr>
          </a:p>
        </p:txBody>
      </p:sp>
      <p:sp>
        <p:nvSpPr>
          <p:cNvPr id="263" name=""/>
          <p:cNvSpPr txBox="1"/>
          <p:nvPr/>
        </p:nvSpPr>
        <p:spPr>
          <a:xfrm>
            <a:off x="4667400" y="1333440"/>
            <a:ext cx="40194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האפיון</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docs/spec.md</a:t>
            </a:r>
            <a:endParaRPr lang="en-IL" sz="1800" b="0" u="none" strike="noStrike">
              <a:solidFill>
                <a:srgbClr val="000000"/>
              </a:solidFill>
              <a:effectLst/>
              <a:uFillTx/>
              <a:latin typeface="Arial"/>
            </a:endParaRPr>
          </a:p>
        </p:txBody>
      </p:sp>
      <p:sp>
        <p:nvSpPr>
          <p:cNvPr id="264" name=""/>
          <p:cNvSpPr txBox="1"/>
          <p:nvPr/>
        </p:nvSpPr>
        <p:spPr>
          <a:xfrm>
            <a:off x="4667400" y="1666800"/>
            <a:ext cx="40194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מטרות הפרויקט</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דרישות ותנאי קבלה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65" name=""/>
          <p:cNvSpPr txBox="1"/>
          <p:nvPr/>
        </p:nvSpPr>
        <p:spPr>
          <a:xfrm>
            <a:off x="4667400" y="2390760"/>
            <a:ext cx="40194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ההחלטות</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docs/decisions.md</a:t>
            </a:r>
            <a:endParaRPr lang="en-IL" sz="1800" b="0" u="none" strike="noStrike">
              <a:solidFill>
                <a:srgbClr val="000000"/>
              </a:solidFill>
              <a:effectLst/>
              <a:uFillTx/>
              <a:latin typeface="Arial"/>
            </a:endParaRPr>
          </a:p>
        </p:txBody>
      </p:sp>
      <p:sp>
        <p:nvSpPr>
          <p:cNvPr id="266" name=""/>
          <p:cNvSpPr txBox="1"/>
          <p:nvPr/>
        </p:nvSpPr>
        <p:spPr>
          <a:xfrm>
            <a:off x="4667400" y="2724120"/>
            <a:ext cx="40194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מה בחרנו</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למה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ומה ההשלכות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67" name=""/>
          <p:cNvSpPr txBox="1"/>
          <p:nvPr/>
        </p:nvSpPr>
        <p:spPr>
          <a:xfrm>
            <a:off x="4667400" y="3448080"/>
            <a:ext cx="40194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המצב</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docs/status.md</a:t>
            </a:r>
            <a:endParaRPr lang="en-IL" sz="1800" b="0" u="none" strike="noStrike">
              <a:solidFill>
                <a:srgbClr val="000000"/>
              </a:solidFill>
              <a:effectLst/>
              <a:uFillTx/>
              <a:latin typeface="Arial"/>
            </a:endParaRPr>
          </a:p>
        </p:txBody>
      </p:sp>
      <p:sp>
        <p:nvSpPr>
          <p:cNvPr id="268" name=""/>
          <p:cNvSpPr txBox="1"/>
          <p:nvPr/>
        </p:nvSpPr>
        <p:spPr>
          <a:xfrm>
            <a:off x="4667400" y="3781440"/>
            <a:ext cx="40194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מה אומת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מה פתוח ומה הצעד הבא</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9"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הנחיות משותפות לשני הכלים</a:t>
            </a:r>
            <a:endParaRPr lang="en-IL" sz="2800" b="0" u="none" strike="noStrike">
              <a:solidFill>
                <a:srgbClr val="000000"/>
              </a:solidFill>
              <a:effectLst/>
              <a:uFillTx/>
              <a:latin typeface="Arial"/>
            </a:endParaRPr>
          </a:p>
        </p:txBody>
      </p:sp>
      <p:sp>
        <p:nvSpPr>
          <p:cNvPr id="270"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71"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31</a:t>
            </a:r>
            <a:endParaRPr lang="en-IL" sz="800" b="0" u="none" strike="noStrike">
              <a:solidFill>
                <a:srgbClr val="000000"/>
              </a:solidFill>
              <a:effectLst/>
              <a:uFillTx/>
              <a:latin typeface="Arial"/>
            </a:endParaRPr>
          </a:p>
        </p:txBody>
      </p:sp>
      <p:sp>
        <p:nvSpPr>
          <p:cNvPr id="272" name=""/>
          <p:cNvSpPr txBox="1"/>
          <p:nvPr/>
        </p:nvSpPr>
        <p:spPr>
          <a:xfrm>
            <a:off x="4714920" y="1190520"/>
            <a:ext cx="3952800" cy="36180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בקובץ </a:t>
            </a:r>
            <a:r>
              <a:rPr lang="en-IL" sz="1800" b="1" u="none" strike="noStrike">
                <a:solidFill>
                  <a:srgbClr val="262424"/>
                </a:solidFill>
                <a:effectLst/>
                <a:uFillTx/>
                <a:latin typeface="Helvetica-Bold"/>
                <a:ea typeface="Helvetica-Bold"/>
              </a:rPr>
              <a:t>AGENTS.md</a:t>
            </a:r>
            <a:endParaRPr lang="en-IL" sz="1800" b="0" u="none" strike="noStrike">
              <a:solidFill>
                <a:srgbClr val="000000"/>
              </a:solidFill>
              <a:effectLst/>
              <a:uFillTx/>
              <a:latin typeface="Arial"/>
            </a:endParaRPr>
          </a:p>
        </p:txBody>
      </p:sp>
      <p:sp>
        <p:nvSpPr>
          <p:cNvPr id="273" name=""/>
          <p:cNvSpPr txBox="1"/>
          <p:nvPr/>
        </p:nvSpPr>
        <p:spPr>
          <a:xfrm>
            <a:off x="4714920" y="1724040"/>
            <a:ext cx="3952800" cy="2343240"/>
          </a:xfrm>
          <a:prstGeom prst="rect">
            <a:avLst/>
          </a:prstGeom>
          <a:noFill/>
          <a:ln w="0">
            <a:noFill/>
          </a:ln>
        </p:spPr>
        <p:txBody>
          <a:bodyPr lIns="90000" tIns="45000" rIns="90000" bIns="45000" anchor="t">
            <a:spAutoFit/>
          </a:bodyPr>
          <a:p>
            <a:pPr algn="r" rtl="1"/>
            <a:r>
              <a:rPr lang="hi-IN" sz="1500" b="0" u="none" strike="noStrike">
                <a:solidFill>
                  <a:srgbClr val="262424"/>
                </a:solidFill>
                <a:effectLst/>
                <a:uFillTx/>
                <a:latin typeface="ArialMT"/>
                <a:cs typeface="ArialMT"/>
              </a:rPr>
              <a:t>קרא תחילה את האפיון ואת מצב הפרויקט</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בצע שינוי התנהגותי אחד בכל פעם</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הגדר תנאי קבלה וכתוב בדיקה לפני המימוש</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הפעל את פקודות הבדיקה שב־</a:t>
            </a:r>
            <a:r>
              <a:rPr lang="en-IL" sz="1500" b="0" u="none" strike="noStrike">
                <a:solidFill>
                  <a:srgbClr val="262424"/>
                </a:solidFill>
                <a:effectLst/>
                <a:uFillTx/>
                <a:latin typeface="Arial"/>
                <a:ea typeface="Arial"/>
              </a:rPr>
              <a:t>README</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בסיום עדכן את האפיון ואת מצב הפרויקט</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a:p>
            <a:pPr algn="r" rtl="1"/>
            <a:r>
              <a:rPr lang="hi-IN" sz="1500" b="0" u="none" strike="noStrike">
                <a:solidFill>
                  <a:srgbClr val="262424"/>
                </a:solidFill>
                <a:effectLst/>
                <a:uFillTx/>
                <a:latin typeface="ArialMT"/>
                <a:cs typeface="ArialMT"/>
              </a:rPr>
              <a:t>דווח רק על בדיקות שהורצו בפועל</a:t>
            </a:r>
            <a:r>
              <a:rPr lang="en-IL" sz="1500" b="0" u="none" strike="noStrike">
                <a:solidFill>
                  <a:srgbClr val="262424"/>
                </a:solidFill>
                <a:effectLst/>
                <a:uFillTx/>
                <a:latin typeface="Arial"/>
                <a:ea typeface="Arial"/>
              </a:rPr>
              <a:t>.</a:t>
            </a:r>
            <a:endParaRPr lang="en-IL" sz="1500" b="0" u="none" strike="noStrike">
              <a:solidFill>
                <a:srgbClr val="000000"/>
              </a:solidFill>
              <a:effectLst/>
              <a:uFillTx/>
              <a:latin typeface="Arial"/>
            </a:endParaRPr>
          </a:p>
        </p:txBody>
      </p:sp>
      <p:sp>
        <p:nvSpPr>
          <p:cNvPr id="274" name=""/>
          <p:cNvSpPr txBox="1"/>
          <p:nvPr/>
        </p:nvSpPr>
        <p:spPr>
          <a:xfrm>
            <a:off x="476280" y="1190520"/>
            <a:ext cx="3429000" cy="36180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בקובץ </a:t>
            </a:r>
            <a:r>
              <a:rPr lang="en-IL" sz="1800" b="1" u="none" strike="noStrike">
                <a:solidFill>
                  <a:srgbClr val="262424"/>
                </a:solidFill>
                <a:effectLst/>
                <a:uFillTx/>
                <a:latin typeface="Helvetica-Bold"/>
                <a:ea typeface="Helvetica-Bold"/>
              </a:rPr>
              <a:t>CLAUDE.md</a:t>
            </a:r>
            <a:endParaRPr lang="en-IL" sz="1800" b="0" u="none" strike="noStrike">
              <a:solidFill>
                <a:srgbClr val="000000"/>
              </a:solidFill>
              <a:effectLst/>
              <a:uFillTx/>
              <a:latin typeface="Arial"/>
            </a:endParaRPr>
          </a:p>
        </p:txBody>
      </p:sp>
      <p:sp>
        <p:nvSpPr>
          <p:cNvPr id="275" name=""/>
          <p:cNvSpPr/>
          <p:nvPr/>
        </p:nvSpPr>
        <p:spPr>
          <a:xfrm>
            <a:off x="533520" y="1724040"/>
            <a:ext cx="3219840" cy="848160"/>
          </a:xfrm>
          <a:custGeom>
            <a:avLst/>
            <a:gdLst/>
            <a:ahLst/>
            <a:rect l="0" t="0" r="r" b="b"/>
            <a:pathLst>
              <a:path w="8944" h="2356">
                <a:moveTo>
                  <a:pt x="0" y="0"/>
                </a:moveTo>
                <a:lnTo>
                  <a:pt x="8944" y="0"/>
                </a:lnTo>
                <a:lnTo>
                  <a:pt x="8944" y="2356"/>
                </a:lnTo>
                <a:lnTo>
                  <a:pt x="0" y="2356"/>
                </a:lnTo>
                <a:lnTo>
                  <a:pt x="0" y="0"/>
                </a:lnTo>
                <a:close/>
              </a:path>
            </a:pathLst>
          </a:custGeom>
          <a:solidFill>
            <a:srgbClr val="F7F5F8"/>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76" name=""/>
          <p:cNvSpPr txBox="1"/>
          <p:nvPr/>
        </p:nvSpPr>
        <p:spPr>
          <a:xfrm>
            <a:off x="666720" y="1838160"/>
            <a:ext cx="2952720" cy="619200"/>
          </a:xfrm>
          <a:prstGeom prst="rect">
            <a:avLst/>
          </a:prstGeom>
          <a:noFill/>
          <a:ln w="0">
            <a:noFill/>
          </a:ln>
        </p:spPr>
        <p:txBody>
          <a:bodyPr lIns="90000" tIns="45000" rIns="90000" bIns="45000" anchor="t">
            <a:spAutoFit/>
          </a:bodyPr>
          <a:p>
            <a:r>
              <a:rPr lang="en-IL" sz="2100" b="0" u="none" strike="noStrike">
                <a:solidFill>
                  <a:srgbClr val="262424"/>
                </a:solidFill>
                <a:effectLst/>
                <a:uFillTx/>
                <a:latin typeface="ArialMT"/>
                <a:ea typeface="ArialMT"/>
              </a:rPr>
              <a:t>@</a:t>
            </a:r>
            <a:r>
              <a:rPr lang="en-IL" sz="2100" b="0" u="none" strike="noStrike">
                <a:solidFill>
                  <a:srgbClr val="262424"/>
                </a:solidFill>
                <a:effectLst/>
                <a:uFillTx/>
                <a:latin typeface="ArialMT"/>
                <a:ea typeface="ArialMT"/>
              </a:rPr>
              <a:t>AGENTS.md</a:t>
            </a:r>
            <a:endParaRPr lang="en-IL" sz="2100" b="0" u="none" strike="noStrike">
              <a:solidFill>
                <a:srgbClr val="000000"/>
              </a:solidFill>
              <a:effectLst/>
              <a:uFillTx/>
              <a:latin typeface="Arial"/>
            </a:endParaRPr>
          </a:p>
        </p:txBody>
      </p:sp>
      <p:sp>
        <p:nvSpPr>
          <p:cNvPr id="277" name=""/>
          <p:cNvSpPr txBox="1"/>
          <p:nvPr/>
        </p:nvSpPr>
        <p:spPr>
          <a:xfrm>
            <a:off x="476280" y="2924280"/>
            <a:ext cx="3429000" cy="100008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שומרים את הכללים במקום אחד</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a:t>
            </a:r>
            <a:r>
              <a:rPr lang="en-IL" sz="1600" b="0" u="none" strike="noStrike">
                <a:solidFill>
                  <a:srgbClr val="262424"/>
                </a:solidFill>
                <a:effectLst/>
                <a:uFillTx/>
                <a:latin typeface="Arial"/>
                <a:ea typeface="Arial"/>
              </a:rPr>
              <a:t>Claude Code</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אפשר להשתמש</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בייבוא המפורש הזה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78"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79"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כבר בשיחה הראשונה מבקשים מהסוכן לציין אילו קובצי הנחיות קרא</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0"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פיתוח לפי אפיון</a:t>
            </a:r>
            <a:r>
              <a:rPr lang="en-IL" sz="2800" b="1" u="none" strike="noStrike">
                <a:solidFill>
                  <a:srgbClr val="D75AE2"/>
                </a:solidFill>
                <a:effectLst/>
                <a:uFillTx/>
                <a:latin typeface="Helvetica-Bold"/>
                <a:ea typeface="Helvetica-Bold"/>
              </a:rPr>
              <a:t>: </a:t>
            </a:r>
            <a:r>
              <a:rPr lang="en-IL" sz="2800" b="1" u="none" strike="noStrike">
                <a:solidFill>
                  <a:srgbClr val="D75AE2"/>
                </a:solidFill>
                <a:effectLst/>
                <a:uFillTx/>
                <a:latin typeface="Helvetica-Bold"/>
                <a:ea typeface="Helvetica-Bold"/>
              </a:rPr>
              <a:t>Spec-driven development</a:t>
            </a:r>
            <a:endParaRPr lang="en-IL" sz="2800" b="0" u="none" strike="noStrike">
              <a:solidFill>
                <a:srgbClr val="000000"/>
              </a:solidFill>
              <a:effectLst/>
              <a:uFillTx/>
              <a:latin typeface="Arial"/>
            </a:endParaRPr>
          </a:p>
        </p:txBody>
      </p:sp>
      <p:sp>
        <p:nvSpPr>
          <p:cNvPr id="281"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82"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32</a:t>
            </a:r>
            <a:endParaRPr lang="en-IL" sz="800" b="0" u="none" strike="noStrike">
              <a:solidFill>
                <a:srgbClr val="000000"/>
              </a:solidFill>
              <a:effectLst/>
              <a:uFillTx/>
              <a:latin typeface="Arial"/>
            </a:endParaRPr>
          </a:p>
        </p:txBody>
      </p:sp>
      <p:sp>
        <p:nvSpPr>
          <p:cNvPr id="283" name=""/>
          <p:cNvSpPr txBox="1"/>
          <p:nvPr/>
        </p:nvSpPr>
        <p:spPr>
          <a:xfrm>
            <a:off x="457200" y="125748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לפני המימוש</a:t>
            </a:r>
            <a:endParaRPr lang="en-IL" sz="1800" b="0" u="none" strike="noStrike">
              <a:solidFill>
                <a:srgbClr val="000000"/>
              </a:solidFill>
              <a:effectLst/>
              <a:uFillTx/>
              <a:latin typeface="Arial"/>
            </a:endParaRPr>
          </a:p>
        </p:txBody>
      </p:sp>
      <p:sp>
        <p:nvSpPr>
          <p:cNvPr id="284" name=""/>
          <p:cNvSpPr txBox="1"/>
          <p:nvPr/>
        </p:nvSpPr>
        <p:spPr>
          <a:xfrm>
            <a:off x="457200" y="159084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מנסחים דרישה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גבולות ותנאי קבלה שאפשר לבדוק</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85"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בזמן הפיתוח</a:t>
            </a:r>
            <a:endParaRPr lang="en-IL" sz="1800" b="0" u="none" strike="noStrike">
              <a:solidFill>
                <a:srgbClr val="000000"/>
              </a:solidFill>
              <a:effectLst/>
              <a:uFillTx/>
              <a:latin typeface="Arial"/>
            </a:endParaRPr>
          </a:p>
        </p:txBody>
      </p:sp>
      <p:sp>
        <p:nvSpPr>
          <p:cNvPr id="286"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הסוכן מקשר בין הדרישה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הבדיקה והשינוי בקוד</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87" name=""/>
          <p:cNvSpPr txBox="1"/>
          <p:nvPr/>
        </p:nvSpPr>
        <p:spPr>
          <a:xfrm>
            <a:off x="457200" y="318132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אחרי הפיתוח</a:t>
            </a:r>
            <a:endParaRPr lang="en-IL" sz="1800" b="0" u="none" strike="noStrike">
              <a:solidFill>
                <a:srgbClr val="000000"/>
              </a:solidFill>
              <a:effectLst/>
              <a:uFillTx/>
              <a:latin typeface="Arial"/>
            </a:endParaRPr>
          </a:p>
        </p:txBody>
      </p:sp>
      <p:sp>
        <p:nvSpPr>
          <p:cNvPr id="288" name=""/>
          <p:cNvSpPr txBox="1"/>
          <p:nvPr/>
        </p:nvSpPr>
        <p:spPr>
          <a:xfrm>
            <a:off x="457200" y="351468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בודקים תוצאות ומעדכנים את התיעוד ואת מצב המשימה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89"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290"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האפיון הוא מקור האמת לדרישות</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הקוד והבדיקות מראים מה קיים בפועל</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1"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דרישה שאפשר לבדוק</a:t>
            </a:r>
            <a:endParaRPr lang="en-IL" sz="2800" b="0" u="none" strike="noStrike">
              <a:solidFill>
                <a:srgbClr val="000000"/>
              </a:solidFill>
              <a:effectLst/>
              <a:uFillTx/>
              <a:latin typeface="Arial"/>
            </a:endParaRPr>
          </a:p>
        </p:txBody>
      </p:sp>
      <p:sp>
        <p:nvSpPr>
          <p:cNvPr id="292"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293"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33</a:t>
            </a:r>
            <a:endParaRPr lang="en-IL" sz="800" b="0" u="none" strike="noStrike">
              <a:solidFill>
                <a:srgbClr val="000000"/>
              </a:solidFill>
              <a:effectLst/>
              <a:uFillTx/>
              <a:latin typeface="Arial"/>
            </a:endParaRPr>
          </a:p>
        </p:txBody>
      </p:sp>
      <p:sp>
        <p:nvSpPr>
          <p:cNvPr id="294"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הבקשה הכללית</a:t>
            </a:r>
            <a:endParaRPr lang="en-IL" sz="1800" b="0" u="none" strike="noStrike">
              <a:solidFill>
                <a:srgbClr val="000000"/>
              </a:solidFill>
              <a:effectLst/>
              <a:uFillTx/>
              <a:latin typeface="Arial"/>
            </a:endParaRPr>
          </a:p>
        </p:txBody>
      </p:sp>
      <p:sp>
        <p:nvSpPr>
          <p:cNvPr id="295"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״הוסף הנחה״ אינה מגדירה למי מגיעה הנחה או כיצד מחשבים אותה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296"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תנאי קבלה</a:t>
            </a:r>
            <a:endParaRPr lang="en-IL" sz="1800" b="0" u="none" strike="noStrike">
              <a:solidFill>
                <a:srgbClr val="000000"/>
              </a:solidFill>
              <a:effectLst/>
              <a:uFillTx/>
              <a:latin typeface="Arial"/>
            </a:endParaRPr>
          </a:p>
        </p:txBody>
      </p:sp>
      <p:sp>
        <p:nvSpPr>
          <p:cNvPr id="297"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לדוגמה בחנות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הנחה של </a:t>
            </a:r>
            <a:r>
              <a:rPr lang="en-IL" sz="1600" b="0" u="none" strike="noStrike">
                <a:solidFill>
                  <a:srgbClr val="262424"/>
                </a:solidFill>
                <a:effectLst/>
                <a:uFillTx/>
                <a:latin typeface="Arial"/>
                <a:ea typeface="Arial"/>
              </a:rPr>
              <a:t>10%</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מסכום של </a:t>
            </a:r>
            <a:r>
              <a:rPr lang="en-IL" sz="1600" b="0" u="none" strike="noStrike">
                <a:solidFill>
                  <a:srgbClr val="262424"/>
                </a:solidFill>
                <a:effectLst/>
                <a:uFillTx/>
                <a:latin typeface="Arial"/>
                <a:ea typeface="Arial"/>
              </a:rPr>
              <a:t>200</a:t>
            </a:r>
            <a:r>
              <a:rPr lang="en-IL" sz="1600" b="0" u="none" strike="noStrike">
                <a:solidFill>
                  <a:srgbClr val="262424"/>
                </a:solidFill>
                <a:effectLst/>
                <a:uFillTx/>
                <a:latin typeface="Arial"/>
                <a:ea typeface="Arial"/>
              </a:rPr>
              <a:t> ₪, </a:t>
            </a:r>
            <a:r>
              <a:rPr lang="hi-IN" sz="1600" b="0" u="none" strike="noStrike">
                <a:solidFill>
                  <a:srgbClr val="262424"/>
                </a:solidFill>
                <a:effectLst/>
                <a:uFillTx/>
                <a:latin typeface="ArialMT"/>
                <a:cs typeface="ArialMT"/>
              </a:rPr>
              <a:t>עד תקרה של </a:t>
            </a:r>
            <a:r>
              <a:rPr lang="en-IL" sz="1600" b="0" u="none" strike="noStrike">
                <a:solidFill>
                  <a:srgbClr val="262424"/>
                </a:solidFill>
                <a:effectLst/>
                <a:uFillTx/>
                <a:latin typeface="Arial"/>
                <a:ea typeface="Arial"/>
              </a:rPr>
              <a:t>50</a:t>
            </a:r>
            <a:r>
              <a:rPr lang="en-IL" sz="1600" b="0" u="none" strike="noStrike">
                <a:solidFill>
                  <a:srgbClr val="262424"/>
                </a:solidFill>
                <a:effectLst/>
                <a:uFillTx/>
                <a:latin typeface="Arial"/>
                <a:ea typeface="Arial"/>
              </a:rPr>
              <a:t> ₪.</a:t>
            </a:r>
            <a:endParaRPr lang="en-IL" sz="1600" b="0" u="none" strike="noStrike">
              <a:solidFill>
                <a:srgbClr val="000000"/>
              </a:solidFill>
              <a:effectLst/>
              <a:uFillTx/>
              <a:latin typeface="Arial"/>
            </a:endParaRPr>
          </a:p>
        </p:txBody>
      </p:sp>
      <p:sp>
        <p:nvSpPr>
          <p:cNvPr id="298"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לפני המימוש</a:t>
            </a:r>
            <a:endParaRPr lang="en-IL" sz="1800" b="0" u="none" strike="noStrike">
              <a:solidFill>
                <a:srgbClr val="000000"/>
              </a:solidFill>
              <a:effectLst/>
              <a:uFillTx/>
              <a:latin typeface="Arial"/>
            </a:endParaRPr>
          </a:p>
        </p:txBody>
      </p:sp>
      <p:sp>
        <p:nvSpPr>
          <p:cNvPr id="299"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מבהירים חריגים ושומרים את הכללים באפיון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אחר כך כותבים בדיקות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0"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פיתוח עם בדיקות</a:t>
            </a:r>
            <a:r>
              <a:rPr lang="en-IL" sz="2800" b="1" u="none" strike="noStrike">
                <a:solidFill>
                  <a:srgbClr val="D75AE2"/>
                </a:solidFill>
                <a:effectLst/>
                <a:uFillTx/>
                <a:latin typeface="Helvetica-Bold"/>
                <a:ea typeface="Helvetica-Bold"/>
              </a:rPr>
              <a:t>: </a:t>
            </a:r>
            <a:r>
              <a:rPr lang="en-IL" sz="2800" b="1" u="none" strike="noStrike">
                <a:solidFill>
                  <a:srgbClr val="D75AE2"/>
                </a:solidFill>
                <a:effectLst/>
                <a:uFillTx/>
                <a:latin typeface="Helvetica-Bold"/>
                <a:ea typeface="Helvetica-Bold"/>
              </a:rPr>
              <a:t>TDD</a:t>
            </a:r>
            <a:endParaRPr lang="en-IL" sz="2800" b="0" u="none" strike="noStrike">
              <a:solidFill>
                <a:srgbClr val="000000"/>
              </a:solidFill>
              <a:effectLst/>
              <a:uFillTx/>
              <a:latin typeface="Arial"/>
            </a:endParaRPr>
          </a:p>
        </p:txBody>
      </p:sp>
      <p:sp>
        <p:nvSpPr>
          <p:cNvPr id="301"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02"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34</a:t>
            </a:r>
            <a:endParaRPr lang="en-IL" sz="800" b="0" u="none" strike="noStrike">
              <a:solidFill>
                <a:srgbClr val="000000"/>
              </a:solidFill>
              <a:effectLst/>
              <a:uFillTx/>
              <a:latin typeface="Arial"/>
            </a:endParaRPr>
          </a:p>
        </p:txBody>
      </p:sp>
      <p:sp>
        <p:nvSpPr>
          <p:cNvPr id="303" name=""/>
          <p:cNvSpPr txBox="1"/>
          <p:nvPr/>
        </p:nvSpPr>
        <p:spPr>
          <a:xfrm>
            <a:off x="457200" y="128592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בדיקה נכשלת</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Red</a:t>
            </a:r>
            <a:endParaRPr lang="en-IL" sz="1800" b="0" u="none" strike="noStrike">
              <a:solidFill>
                <a:srgbClr val="000000"/>
              </a:solidFill>
              <a:effectLst/>
              <a:uFillTx/>
              <a:latin typeface="Arial"/>
            </a:endParaRPr>
          </a:p>
        </p:txBody>
      </p:sp>
      <p:sp>
        <p:nvSpPr>
          <p:cNvPr id="304" name=""/>
          <p:cNvSpPr txBox="1"/>
          <p:nvPr/>
        </p:nvSpPr>
        <p:spPr>
          <a:xfrm>
            <a:off x="457200" y="161928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כותבים בדיקה להתנהגות הרצויה ומריצים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מוודאים שהיא נכשלת מהסיבה הצפויה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05" name=""/>
          <p:cNvSpPr txBox="1"/>
          <p:nvPr/>
        </p:nvSpPr>
        <p:spPr>
          <a:xfrm>
            <a:off x="457200" y="22860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מימוש עובד</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Green</a:t>
            </a:r>
            <a:endParaRPr lang="en-IL" sz="1800" b="0" u="none" strike="noStrike">
              <a:solidFill>
                <a:srgbClr val="000000"/>
              </a:solidFill>
              <a:effectLst/>
              <a:uFillTx/>
              <a:latin typeface="Arial"/>
            </a:endParaRPr>
          </a:p>
        </p:txBody>
      </p:sp>
      <p:sp>
        <p:nvSpPr>
          <p:cNvPr id="306" name=""/>
          <p:cNvSpPr txBox="1"/>
          <p:nvPr/>
        </p:nvSpPr>
        <p:spPr>
          <a:xfrm>
            <a:off x="457200" y="26193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מממשים את הכלל הדרוש ומריצים שוב עד שהבדיקה עוברת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07" name=""/>
          <p:cNvSpPr txBox="1"/>
          <p:nvPr/>
        </p:nvSpPr>
        <p:spPr>
          <a:xfrm>
            <a:off x="457200" y="328608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שיפור הקוד</a:t>
            </a:r>
            <a:r>
              <a:rPr lang="en-IL" sz="1800" b="1" u="none" strike="noStrike">
                <a:solidFill>
                  <a:srgbClr val="262424"/>
                </a:solidFill>
                <a:effectLst/>
                <a:uFillTx/>
                <a:latin typeface="Helvetica-Bold"/>
                <a:ea typeface="Helvetica-Bold"/>
              </a:rPr>
              <a:t>: </a:t>
            </a:r>
            <a:r>
              <a:rPr lang="en-IL" sz="1800" b="1" u="none" strike="noStrike">
                <a:solidFill>
                  <a:srgbClr val="262424"/>
                </a:solidFill>
                <a:effectLst/>
                <a:uFillTx/>
                <a:latin typeface="Helvetica-Bold"/>
                <a:ea typeface="Helvetica-Bold"/>
              </a:rPr>
              <a:t>Refactor</a:t>
            </a:r>
            <a:endParaRPr lang="en-IL" sz="1800" b="0" u="none" strike="noStrike">
              <a:solidFill>
                <a:srgbClr val="000000"/>
              </a:solidFill>
              <a:effectLst/>
              <a:uFillTx/>
              <a:latin typeface="Arial"/>
            </a:endParaRPr>
          </a:p>
        </p:txBody>
      </p:sp>
      <p:sp>
        <p:nvSpPr>
          <p:cNvPr id="308" name=""/>
          <p:cNvSpPr txBox="1"/>
          <p:nvPr/>
        </p:nvSpPr>
        <p:spPr>
          <a:xfrm>
            <a:off x="457200" y="361944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מסדרים את הקוד בלי לשנות את ההתנהגות ושוב מריצים את הבדיקות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9"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איך יודעים שהסוכן הצליח</a:t>
            </a:r>
            <a:r>
              <a:rPr lang="en-IL" sz="2800" b="1" u="none" strike="noStrike">
                <a:solidFill>
                  <a:srgbClr val="D75AE2"/>
                </a:solidFill>
                <a:effectLst/>
                <a:uFillTx/>
                <a:latin typeface="Helvetica-Bold"/>
                <a:ea typeface="Helvetica-Bold"/>
              </a:rPr>
              <a:t>?</a:t>
            </a:r>
            <a:endParaRPr lang="en-IL" sz="2800" b="0" u="none" strike="noStrike">
              <a:solidFill>
                <a:srgbClr val="000000"/>
              </a:solidFill>
              <a:effectLst/>
              <a:uFillTx/>
              <a:latin typeface="Arial"/>
            </a:endParaRPr>
          </a:p>
        </p:txBody>
      </p:sp>
      <p:sp>
        <p:nvSpPr>
          <p:cNvPr id="310"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11"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35</a:t>
            </a:r>
            <a:endParaRPr lang="en-IL" sz="800" b="0" u="none" strike="noStrike">
              <a:solidFill>
                <a:srgbClr val="000000"/>
              </a:solidFill>
              <a:effectLst/>
              <a:uFillTx/>
              <a:latin typeface="Arial"/>
            </a:endParaRPr>
          </a:p>
        </p:txBody>
      </p:sp>
      <p:sp>
        <p:nvSpPr>
          <p:cNvPr id="312"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התנהגות צפויה</a:t>
            </a:r>
            <a:endParaRPr lang="en-IL" sz="1800" b="0" u="none" strike="noStrike">
              <a:solidFill>
                <a:srgbClr val="000000"/>
              </a:solidFill>
              <a:effectLst/>
              <a:uFillTx/>
              <a:latin typeface="Arial"/>
            </a:endParaRPr>
          </a:p>
        </p:txBody>
      </p:sp>
      <p:sp>
        <p:nvSpPr>
          <p:cNvPr id="313"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בודקים מקרה רגיל מול התוצאה שהאפיון דורש</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14"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גבולות וכישלונות</a:t>
            </a:r>
            <a:endParaRPr lang="en-IL" sz="1800" b="0" u="none" strike="noStrike">
              <a:solidFill>
                <a:srgbClr val="000000"/>
              </a:solidFill>
              <a:effectLst/>
              <a:uFillTx/>
              <a:latin typeface="Arial"/>
            </a:endParaRPr>
          </a:p>
        </p:txBody>
      </p:sp>
      <p:sp>
        <p:nvSpPr>
          <p:cNvPr id="315"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בודקים ערך גבולי</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קלט שגוי ופעולה שאינה מורשית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16"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ראיות לביצוע</a:t>
            </a:r>
            <a:endParaRPr lang="en-IL" sz="1800" b="0" u="none" strike="noStrike">
              <a:solidFill>
                <a:srgbClr val="000000"/>
              </a:solidFill>
              <a:effectLst/>
              <a:uFillTx/>
              <a:latin typeface="Arial"/>
            </a:endParaRPr>
          </a:p>
        </p:txBody>
      </p:sp>
      <p:sp>
        <p:nvSpPr>
          <p:cNvPr id="317"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מבקשים את הפקודה שהורצה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תוצאתה והחלקים שעדיין לא אומתו</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18"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319"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הודעת ״סיימתי״ של הסוכן צריכה להישען על בדיקה בפועל</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0"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פרומפט לפיתוח בשיטת </a:t>
            </a:r>
            <a:r>
              <a:rPr lang="en-IL" sz="2800" b="1" u="none" strike="noStrike">
                <a:solidFill>
                  <a:srgbClr val="D75AE2"/>
                </a:solidFill>
                <a:effectLst/>
                <a:uFillTx/>
                <a:latin typeface="Helvetica-Bold"/>
                <a:ea typeface="Helvetica-Bold"/>
              </a:rPr>
              <a:t>TDD</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חלק א׳</a:t>
            </a:r>
            <a:endParaRPr lang="en-IL" sz="2800" b="0" u="none" strike="noStrike">
              <a:solidFill>
                <a:srgbClr val="000000"/>
              </a:solidFill>
              <a:effectLst/>
              <a:uFillTx/>
              <a:latin typeface="Arial"/>
            </a:endParaRPr>
          </a:p>
        </p:txBody>
      </p:sp>
      <p:sp>
        <p:nvSpPr>
          <p:cNvPr id="321"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22"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36</a:t>
            </a:r>
            <a:endParaRPr lang="en-IL" sz="800" b="0" u="none" strike="noStrike">
              <a:solidFill>
                <a:srgbClr val="000000"/>
              </a:solidFill>
              <a:effectLst/>
              <a:uFillTx/>
              <a:latin typeface="Arial"/>
            </a:endParaRPr>
          </a:p>
        </p:txBody>
      </p:sp>
      <p:sp>
        <p:nvSpPr>
          <p:cNvPr id="323" name=""/>
          <p:cNvSpPr txBox="1"/>
          <p:nvPr/>
        </p:nvSpPr>
        <p:spPr>
          <a:xfrm>
            <a:off x="523800" y="1133640"/>
            <a:ext cx="8096400" cy="355284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פעל כסוכן פיתוח בפרויקט הנוכחי והשלם את המשימה הבאה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השינוי המבוקש</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תיאור ההתנהגות הרצויה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תנאי הקבלה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תוצאה צפויה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גבולות ומקרי כישלון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קרא את הנחיות הסוכן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את </a:t>
            </a:r>
            <a:r>
              <a:rPr lang="en-IL" sz="1600" b="0" u="none" strike="noStrike">
                <a:solidFill>
                  <a:srgbClr val="262424"/>
                </a:solidFill>
                <a:effectLst/>
                <a:uFillTx/>
                <a:latin typeface="Arial"/>
                <a:ea typeface="Arial"/>
              </a:rPr>
              <a:t>README.md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ואת </a:t>
            </a:r>
            <a:r>
              <a:rPr lang="en-IL" sz="1600" b="0" u="none" strike="noStrike">
                <a:solidFill>
                  <a:srgbClr val="262424"/>
                </a:solidFill>
                <a:effectLst/>
                <a:uFillTx/>
                <a:latin typeface="Arial"/>
                <a:ea typeface="Arial"/>
              </a:rPr>
              <a:t>docs/spec.md</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עיין גם ב־</a:t>
            </a:r>
            <a:r>
              <a:rPr lang="en-IL" sz="1600" b="0" u="none" strike="noStrike">
                <a:solidFill>
                  <a:srgbClr val="262424"/>
                </a:solidFill>
                <a:effectLst/>
                <a:uFillTx/>
                <a:latin typeface="Arial"/>
                <a:ea typeface="Arial"/>
              </a:rPr>
              <a:t>docs/decisions.md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וב־</a:t>
            </a:r>
            <a:r>
              <a:rPr lang="en-IL" sz="1600" b="0" u="none" strike="noStrike">
                <a:solidFill>
                  <a:srgbClr val="262424"/>
                </a:solidFill>
                <a:effectLst/>
                <a:uFillTx/>
                <a:latin typeface="Arial"/>
                <a:ea typeface="Arial"/>
              </a:rPr>
              <a:t>docs/status.md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ובקוד הרלוונטי</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התיעוד הוא מקור האמת לדרישות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ולא היסטוריית הצ׳אט</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אם הדרישה החדשה סותרת את האפיון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הצג את הסתירה וברר אותה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תעד החלטה שאושרה ועדכן את האפיון לפני המימוש</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סכם את ההתנהגות שיש להוסיף ואת הדרך שבה תבדוק אותה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חלק את המשימה לשינויים קטנים שאפשר לבדוק בנפרד</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שמור על מוסכמות הפרויקט ועל שינויים קיימים שאינם חלק מהמשימה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4"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פרומפט לפיתוח בשיטת </a:t>
            </a:r>
            <a:r>
              <a:rPr lang="en-IL" sz="2800" b="1" u="none" strike="noStrike">
                <a:solidFill>
                  <a:srgbClr val="D75AE2"/>
                </a:solidFill>
                <a:effectLst/>
                <a:uFillTx/>
                <a:latin typeface="Helvetica-Bold"/>
                <a:ea typeface="Helvetica-Bold"/>
              </a:rPr>
              <a:t>TDD</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חלק ב׳</a:t>
            </a:r>
            <a:endParaRPr lang="en-IL" sz="2800" b="0" u="none" strike="noStrike">
              <a:solidFill>
                <a:srgbClr val="000000"/>
              </a:solidFill>
              <a:effectLst/>
              <a:uFillTx/>
              <a:latin typeface="Arial"/>
            </a:endParaRPr>
          </a:p>
        </p:txBody>
      </p:sp>
      <p:sp>
        <p:nvSpPr>
          <p:cNvPr id="325"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26"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37</a:t>
            </a:r>
            <a:endParaRPr lang="en-IL" sz="800" b="0" u="none" strike="noStrike">
              <a:solidFill>
                <a:srgbClr val="000000"/>
              </a:solidFill>
              <a:effectLst/>
              <a:uFillTx/>
              <a:latin typeface="Arial"/>
            </a:endParaRPr>
          </a:p>
        </p:txBody>
      </p:sp>
      <p:sp>
        <p:nvSpPr>
          <p:cNvPr id="327" name=""/>
          <p:cNvSpPr txBox="1"/>
          <p:nvPr/>
        </p:nvSpPr>
        <p:spPr>
          <a:xfrm>
            <a:off x="523800" y="1133640"/>
            <a:ext cx="8096400" cy="355284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לכל שינוי התנהגותי</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כתוב תחילה בדיקה שנגזרת מתנאי הקבלה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הרץ אותה וודא שהיא נכשלת בגלל ההתנהגות החסרה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ממש את השינוי הדרוש</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הרץ שוב וודא שהבדיקה עוברת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שפר את הקוד והריץ בדיקות נוספות שעלולות להיות מושפעות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אל תמחק ואל תחליש בדיקה כדי להציג הצלחה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הפעל תת־סוכן לסקירה עצמאית אם אפשר להגדיר לו משימה מועילה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העבר לו את האפיון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הקבצים הרלוונטיים וגבולות הסקירה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בדוק את הממצאים ואמת את התוצאה לאחר שילוב התיקונים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עדכן את מסמכי הפרויקט כך שישקפו את המצב בסיום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החזר סיכום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שינויים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פקודות ותוצאות בדיקה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פערים והצעד הבא</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אם בדיקה לא הורצה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ציין זאת ואת הסיבה במפורש</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28" name=""/>
          <p:cNvPicPr/>
          <p:nvPr/>
        </p:nvPicPr>
        <p:blipFill>
          <a:blip r:embed="rId1"/>
          <a:stretch/>
        </p:blipFill>
        <p:spPr>
          <a:xfrm>
            <a:off x="5715000" y="0"/>
            <a:ext cx="3429000" cy="5143320"/>
          </a:xfrm>
          <a:prstGeom prst="rect">
            <a:avLst/>
          </a:prstGeom>
          <a:noFill/>
          <a:ln w="0">
            <a:noFill/>
          </a:ln>
        </p:spPr>
      </p:pic>
      <p:sp>
        <p:nvSpPr>
          <p:cNvPr id="329" name=""/>
          <p:cNvSpPr txBox="1"/>
          <p:nvPr/>
        </p:nvSpPr>
        <p:spPr>
          <a:xfrm>
            <a:off x="571680" y="1666800"/>
            <a:ext cx="4572000" cy="387720"/>
          </a:xfrm>
          <a:prstGeom prst="rect">
            <a:avLst/>
          </a:prstGeom>
          <a:noFill/>
          <a:ln w="0">
            <a:noFill/>
          </a:ln>
        </p:spPr>
        <p:txBody>
          <a:bodyPr lIns="90000" tIns="45000" rIns="90000" bIns="45000" anchor="t">
            <a:spAutoFit/>
          </a:bodyPr>
          <a:p>
            <a:pPr algn="ctr" rtl="1"/>
            <a:r>
              <a:rPr lang="hi-IN" sz="2100" b="1" u="none" strike="noStrike">
                <a:solidFill>
                  <a:srgbClr val="D75AE2"/>
                </a:solidFill>
                <a:effectLst/>
                <a:uFillTx/>
                <a:latin typeface="Arial-BoldMT"/>
                <a:cs typeface="Arial-BoldMT"/>
              </a:rPr>
              <a:t>פרק ג׳</a:t>
            </a:r>
            <a:endParaRPr lang="en-IL" sz="2100" b="0" u="none" strike="noStrike">
              <a:solidFill>
                <a:srgbClr val="000000"/>
              </a:solidFill>
              <a:effectLst/>
              <a:uFillTx/>
              <a:latin typeface="Arial"/>
            </a:endParaRPr>
          </a:p>
        </p:txBody>
      </p:sp>
      <p:sp>
        <p:nvSpPr>
          <p:cNvPr id="330" name=""/>
          <p:cNvSpPr txBox="1"/>
          <p:nvPr/>
        </p:nvSpPr>
        <p:spPr>
          <a:xfrm>
            <a:off x="476280" y="2143080"/>
            <a:ext cx="4762440" cy="952560"/>
          </a:xfrm>
          <a:prstGeom prst="rect">
            <a:avLst/>
          </a:prstGeom>
          <a:noFill/>
          <a:ln w="0">
            <a:noFill/>
          </a:ln>
        </p:spPr>
        <p:txBody>
          <a:bodyPr lIns="90000" tIns="45000" rIns="90000" bIns="45000" anchor="t">
            <a:spAutoFit/>
          </a:bodyPr>
          <a:p>
            <a:pPr algn="ctr" rtl="1"/>
            <a:r>
              <a:rPr lang="hi-IN" sz="3300" b="1" u="none" strike="noStrike">
                <a:solidFill>
                  <a:srgbClr val="D75AE2"/>
                </a:solidFill>
                <a:effectLst/>
                <a:uFillTx/>
                <a:latin typeface="Arial-BoldMT"/>
                <a:cs typeface="Arial-BoldMT"/>
              </a:rPr>
              <a:t>עבודה עם תת־סוכנים</a:t>
            </a:r>
            <a:endParaRPr lang="en-IL" sz="3300" b="0" u="none" strike="noStrike">
              <a:solidFill>
                <a:srgbClr val="000000"/>
              </a:solidFill>
              <a:effectLst/>
              <a:uFillTx/>
              <a:latin typeface="Arial"/>
            </a:endParaRPr>
          </a:p>
        </p:txBody>
      </p:sp>
      <p:sp>
        <p:nvSpPr>
          <p:cNvPr id="331" name=""/>
          <p:cNvSpPr txBox="1"/>
          <p:nvPr/>
        </p:nvSpPr>
        <p:spPr>
          <a:xfrm>
            <a:off x="619200" y="3286080"/>
            <a:ext cx="4476600" cy="905040"/>
          </a:xfrm>
          <a:prstGeom prst="rect">
            <a:avLst/>
          </a:prstGeom>
          <a:noFill/>
          <a:ln w="0">
            <a:noFill/>
          </a:ln>
        </p:spPr>
        <p:txBody>
          <a:bodyPr lIns="90000" tIns="45000" rIns="90000" bIns="45000" anchor="t">
            <a:spAutoFit/>
          </a:bodyPr>
          <a:p>
            <a:pPr algn="ctr" rtl="1"/>
            <a:r>
              <a:rPr lang="hi-IN" sz="1800" b="0" u="none" strike="noStrike">
                <a:solidFill>
                  <a:srgbClr val="262424"/>
                </a:solidFill>
                <a:effectLst/>
                <a:uFillTx/>
                <a:latin typeface="ArialMT"/>
                <a:cs typeface="ArialMT"/>
              </a:rPr>
              <a:t>הגדרת משימות</a:t>
            </a:r>
            <a:r>
              <a:rPr lang="en-IL" sz="1800" b="0" u="none" strike="noStrike">
                <a:solidFill>
                  <a:srgbClr val="262424"/>
                </a:solidFill>
                <a:effectLst/>
                <a:uFillTx/>
                <a:latin typeface="Arial"/>
                <a:ea typeface="Arial"/>
              </a:rPr>
              <a:t>, </a:t>
            </a:r>
            <a:r>
              <a:rPr lang="hi-IN" sz="1800" b="0" u="none" strike="noStrike">
                <a:solidFill>
                  <a:srgbClr val="262424"/>
                </a:solidFill>
                <a:effectLst/>
                <a:uFillTx/>
                <a:latin typeface="ArialMT"/>
                <a:cs typeface="ArialMT"/>
              </a:rPr>
              <a:t>כלים ובדיקת התוצרים</a:t>
            </a:r>
            <a:endParaRPr lang="en-IL"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2"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מהו תת־סוכן</a:t>
            </a:r>
            <a:r>
              <a:rPr lang="en-IL" sz="2800" b="1" u="none" strike="noStrike">
                <a:solidFill>
                  <a:srgbClr val="D75AE2"/>
                </a:solidFill>
                <a:effectLst/>
                <a:uFillTx/>
                <a:latin typeface="Helvetica-Bold"/>
                <a:ea typeface="Helvetica-Bold"/>
              </a:rPr>
              <a:t>?</a:t>
            </a:r>
            <a:endParaRPr lang="en-IL" sz="2800" b="0" u="none" strike="noStrike">
              <a:solidFill>
                <a:srgbClr val="000000"/>
              </a:solidFill>
              <a:effectLst/>
              <a:uFillTx/>
              <a:latin typeface="Arial"/>
            </a:endParaRPr>
          </a:p>
        </p:txBody>
      </p:sp>
      <p:sp>
        <p:nvSpPr>
          <p:cNvPr id="333"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34"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39</a:t>
            </a:r>
            <a:endParaRPr lang="en-IL" sz="800" b="0" u="none" strike="noStrike">
              <a:solidFill>
                <a:srgbClr val="000000"/>
              </a:solidFill>
              <a:effectLst/>
              <a:uFillTx/>
              <a:latin typeface="Arial"/>
            </a:endParaRPr>
          </a:p>
        </p:txBody>
      </p:sp>
      <p:pic>
        <p:nvPicPr>
          <p:cNvPr id="335" name=""/>
          <p:cNvPicPr/>
          <p:nvPr/>
        </p:nvPicPr>
        <p:blipFill>
          <a:blip r:embed="rId1"/>
          <a:stretch/>
        </p:blipFill>
        <p:spPr>
          <a:xfrm>
            <a:off x="466560" y="1467000"/>
            <a:ext cx="2600280" cy="2600280"/>
          </a:xfrm>
          <a:prstGeom prst="rect">
            <a:avLst/>
          </a:prstGeom>
          <a:noFill/>
          <a:ln w="0">
            <a:noFill/>
          </a:ln>
        </p:spPr>
      </p:pic>
      <p:sp>
        <p:nvSpPr>
          <p:cNvPr id="336" name=""/>
          <p:cNvSpPr txBox="1"/>
          <p:nvPr/>
        </p:nvSpPr>
        <p:spPr>
          <a:xfrm>
            <a:off x="3666960" y="1276200"/>
            <a:ext cx="500076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הסוכן הראשי</a:t>
            </a:r>
            <a:endParaRPr lang="en-IL" sz="1800" b="0" u="none" strike="noStrike">
              <a:solidFill>
                <a:srgbClr val="000000"/>
              </a:solidFill>
              <a:effectLst/>
              <a:uFillTx/>
              <a:latin typeface="Arial"/>
            </a:endParaRPr>
          </a:p>
        </p:txBody>
      </p:sp>
      <p:sp>
        <p:nvSpPr>
          <p:cNvPr id="337" name=""/>
          <p:cNvSpPr txBox="1"/>
          <p:nvPr/>
        </p:nvSpPr>
        <p:spPr>
          <a:xfrm>
            <a:off x="3666960" y="1609560"/>
            <a:ext cx="500076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מבין את היעד</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מחלק עבודה ובודק את התוצרים לפני שילובם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38" name=""/>
          <p:cNvSpPr txBox="1"/>
          <p:nvPr/>
        </p:nvSpPr>
        <p:spPr>
          <a:xfrm>
            <a:off x="3666960" y="2324160"/>
            <a:ext cx="500076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משימה מצומצמת</a:t>
            </a:r>
            <a:endParaRPr lang="en-IL" sz="1800" b="0" u="none" strike="noStrike">
              <a:solidFill>
                <a:srgbClr val="000000"/>
              </a:solidFill>
              <a:effectLst/>
              <a:uFillTx/>
              <a:latin typeface="Arial"/>
            </a:endParaRPr>
          </a:p>
        </p:txBody>
      </p:sp>
      <p:sp>
        <p:nvSpPr>
          <p:cNvPr id="339" name=""/>
          <p:cNvSpPr txBox="1"/>
          <p:nvPr/>
        </p:nvSpPr>
        <p:spPr>
          <a:xfrm>
            <a:off x="3666960" y="2657520"/>
            <a:ext cx="500076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למשל</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סקירת השינוי מול האפיון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בלי לשנות קוד</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40" name=""/>
          <p:cNvSpPr txBox="1"/>
          <p:nvPr/>
        </p:nvSpPr>
        <p:spPr>
          <a:xfrm>
            <a:off x="3666960" y="3371760"/>
            <a:ext cx="500076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הגדרה מפורשת</a:t>
            </a:r>
            <a:endParaRPr lang="en-IL" sz="1800" b="0" u="none" strike="noStrike">
              <a:solidFill>
                <a:srgbClr val="000000"/>
              </a:solidFill>
              <a:effectLst/>
              <a:uFillTx/>
              <a:latin typeface="Arial"/>
            </a:endParaRPr>
          </a:p>
        </p:txBody>
      </p:sp>
      <p:sp>
        <p:nvSpPr>
          <p:cNvPr id="341" name=""/>
          <p:cNvSpPr txBox="1"/>
          <p:nvPr/>
        </p:nvSpPr>
        <p:spPr>
          <a:xfrm>
            <a:off x="3666960" y="3705120"/>
            <a:ext cx="500076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תפקיד</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מקורות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כלים מותרים ופורמט התשובה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2"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הגדרת תת־סוכן ב־</a:t>
            </a:r>
            <a:r>
              <a:rPr lang="en-IL" sz="2800" b="1" u="none" strike="noStrike">
                <a:solidFill>
                  <a:srgbClr val="D75AE2"/>
                </a:solidFill>
                <a:effectLst/>
                <a:uFillTx/>
                <a:latin typeface="Helvetica-Bold"/>
                <a:ea typeface="Helvetica-Bold"/>
              </a:rPr>
              <a:t>Claude Code</a:t>
            </a:r>
            <a:endParaRPr lang="en-IL" sz="2800" b="0" u="none" strike="noStrike">
              <a:solidFill>
                <a:srgbClr val="000000"/>
              </a:solidFill>
              <a:effectLst/>
              <a:uFillTx/>
              <a:latin typeface="Arial"/>
            </a:endParaRPr>
          </a:p>
        </p:txBody>
      </p:sp>
      <p:sp>
        <p:nvSpPr>
          <p:cNvPr id="343"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44"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40</a:t>
            </a:r>
            <a:endParaRPr lang="en-IL" sz="800" b="0" u="none" strike="noStrike">
              <a:solidFill>
                <a:srgbClr val="000000"/>
              </a:solidFill>
              <a:effectLst/>
              <a:uFillTx/>
              <a:latin typeface="Arial"/>
            </a:endParaRPr>
          </a:p>
        </p:txBody>
      </p:sp>
      <p:sp>
        <p:nvSpPr>
          <p:cNvPr id="345" name=""/>
          <p:cNvSpPr txBox="1"/>
          <p:nvPr/>
        </p:nvSpPr>
        <p:spPr>
          <a:xfrm>
            <a:off x="457200" y="1076400"/>
            <a:ext cx="8229600" cy="332640"/>
          </a:xfrm>
          <a:prstGeom prst="rect">
            <a:avLst/>
          </a:prstGeom>
          <a:noFill/>
          <a:ln w="0">
            <a:noFill/>
          </a:ln>
        </p:spPr>
        <p:txBody>
          <a:bodyPr lIns="90000" tIns="45000" rIns="90000" bIns="45000" anchor="t">
            <a:spAutoFit/>
          </a:bodyPr>
          <a:p>
            <a:pPr algn="r" rtl="1"/>
            <a:r>
              <a:rPr lang="hi-IN" sz="1700" b="1" u="none" strike="noStrike">
                <a:solidFill>
                  <a:srgbClr val="262424"/>
                </a:solidFill>
                <a:effectLst/>
                <a:uFillTx/>
                <a:latin typeface="Arial-BoldMT"/>
                <a:cs typeface="Arial-BoldMT"/>
              </a:rPr>
              <a:t>בקובץ </a:t>
            </a:r>
            <a:r>
              <a:rPr lang="en-IL" sz="1700" b="1" u="none" strike="noStrike">
                <a:solidFill>
                  <a:srgbClr val="262424"/>
                </a:solidFill>
                <a:effectLst/>
                <a:uFillTx/>
                <a:latin typeface="Arial-BoldMT"/>
                <a:ea typeface="Arial-BoldMT"/>
              </a:rPr>
              <a:t>‎</a:t>
            </a:r>
            <a:r>
              <a:rPr lang="en-IL" sz="1700" b="1" u="none" strike="noStrike">
                <a:solidFill>
                  <a:srgbClr val="262424"/>
                </a:solidFill>
                <a:effectLst/>
                <a:uFillTx/>
                <a:latin typeface="Helvetica-Bold"/>
                <a:ea typeface="Helvetica-Bold"/>
              </a:rPr>
              <a:t>.claude/agents/spec-reviewer.md</a:t>
            </a:r>
            <a:endParaRPr lang="en-IL" sz="1700" b="0" u="none" strike="noStrike">
              <a:solidFill>
                <a:srgbClr val="000000"/>
              </a:solidFill>
              <a:effectLst/>
              <a:uFillTx/>
              <a:latin typeface="Arial"/>
            </a:endParaRPr>
          </a:p>
        </p:txBody>
      </p:sp>
      <p:sp>
        <p:nvSpPr>
          <p:cNvPr id="346" name=""/>
          <p:cNvSpPr/>
          <p:nvPr/>
        </p:nvSpPr>
        <p:spPr>
          <a:xfrm>
            <a:off x="495360" y="1542960"/>
            <a:ext cx="5458320" cy="2819880"/>
          </a:xfrm>
          <a:custGeom>
            <a:avLst/>
            <a:gdLst/>
            <a:ahLst/>
            <a:rect l="0" t="0" r="r" b="b"/>
            <a:pathLst>
              <a:path w="15162" h="7833">
                <a:moveTo>
                  <a:pt x="0" y="0"/>
                </a:moveTo>
                <a:lnTo>
                  <a:pt x="15162" y="0"/>
                </a:lnTo>
                <a:lnTo>
                  <a:pt x="15162" y="7833"/>
                </a:lnTo>
                <a:lnTo>
                  <a:pt x="0" y="7833"/>
                </a:lnTo>
                <a:lnTo>
                  <a:pt x="0" y="0"/>
                </a:lnTo>
                <a:close/>
              </a:path>
            </a:pathLst>
          </a:custGeom>
          <a:solidFill>
            <a:srgbClr val="F7F5F8"/>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347" name=""/>
          <p:cNvSpPr txBox="1"/>
          <p:nvPr/>
        </p:nvSpPr>
        <p:spPr>
          <a:xfrm>
            <a:off x="628560" y="1657440"/>
            <a:ext cx="5191200" cy="2590920"/>
          </a:xfrm>
          <a:prstGeom prst="rect">
            <a:avLst/>
          </a:prstGeom>
          <a:noFill/>
          <a:ln w="0">
            <a:noFill/>
          </a:ln>
        </p:spPr>
        <p:txBody>
          <a:bodyPr lIns="90000" tIns="45000" rIns="90000" bIns="45000" anchor="t">
            <a:spAutoFit/>
          </a:bodyPr>
          <a:p>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name: spec-reviewer</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description: Review changes against the spec</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tools: Read, Grep, Glob</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Read docs/spec.md and relevant code</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Check requirements and missing tests</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Do not edit files</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Return findings with file references</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p:txBody>
      </p:sp>
      <p:sp>
        <p:nvSpPr>
          <p:cNvPr id="348" name=""/>
          <p:cNvSpPr txBox="1"/>
          <p:nvPr/>
        </p:nvSpPr>
        <p:spPr>
          <a:xfrm>
            <a:off x="6267600" y="1714680"/>
            <a:ext cx="2381400" cy="190512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השם מזהה את הסוכן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התיאור מסביר מתי להפעיל אותו</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הכלים מגבילים את היכולות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ההוראות מגדירות את התוצר</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49" name=""/>
          <p:cNvSpPr txBox="1"/>
          <p:nvPr/>
        </p:nvSpPr>
        <p:spPr>
          <a:xfrm>
            <a:off x="6172200" y="3819600"/>
            <a:ext cx="2505240" cy="72540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בקשה</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הפעל את הסוכן</a:t>
            </a:r>
            <a:endParaRPr lang="en-IL" sz="1500" b="0" u="none" strike="noStrike">
              <a:solidFill>
                <a:srgbClr val="000000"/>
              </a:solidFill>
              <a:effectLst/>
              <a:uFillTx/>
              <a:latin typeface="Arial"/>
            </a:endParaRPr>
          </a:p>
          <a:p>
            <a:pPr algn="r" rtl="1"/>
            <a:r>
              <a:rPr lang="en-IL" sz="1500" b="1" u="none" strike="noStrike">
                <a:solidFill>
                  <a:srgbClr val="262424"/>
                </a:solidFill>
                <a:effectLst/>
                <a:uFillTx/>
                <a:latin typeface="Helvetica-Bold"/>
                <a:ea typeface="Helvetica-Bold"/>
              </a:rPr>
              <a:t>spec-reviewer</a:t>
            </a:r>
            <a:endParaRPr lang="en-IL" sz="1500" b="0" u="none" strike="noStrike">
              <a:solidFill>
                <a:srgbClr val="000000"/>
              </a:solidFill>
              <a:effectLst/>
              <a:uFillTx/>
              <a:latin typeface="Arial"/>
            </a:endParaRPr>
          </a:p>
          <a:p>
            <a:pPr algn="r" rtl="1"/>
            <a:r>
              <a:rPr lang="hi-IN" sz="1500" b="1" u="none" strike="noStrike">
                <a:solidFill>
                  <a:srgbClr val="262424"/>
                </a:solidFill>
                <a:effectLst/>
                <a:uFillTx/>
                <a:latin typeface="Arial-BoldMT"/>
                <a:cs typeface="Arial-BoldMT"/>
              </a:rPr>
              <a:t>לסקירת השינוי מול האפיון</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0"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הגדרת תת־סוכן ב־</a:t>
            </a:r>
            <a:r>
              <a:rPr lang="en-IL" sz="2800" b="1" u="none" strike="noStrike">
                <a:solidFill>
                  <a:srgbClr val="D75AE2"/>
                </a:solidFill>
                <a:effectLst/>
                <a:uFillTx/>
                <a:latin typeface="Helvetica-Bold"/>
                <a:ea typeface="Helvetica-Bold"/>
              </a:rPr>
              <a:t>Codex</a:t>
            </a:r>
            <a:endParaRPr lang="en-IL" sz="2800" b="0" u="none" strike="noStrike">
              <a:solidFill>
                <a:srgbClr val="000000"/>
              </a:solidFill>
              <a:effectLst/>
              <a:uFillTx/>
              <a:latin typeface="Arial"/>
            </a:endParaRPr>
          </a:p>
        </p:txBody>
      </p:sp>
      <p:sp>
        <p:nvSpPr>
          <p:cNvPr id="351"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52"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41</a:t>
            </a:r>
            <a:endParaRPr lang="en-IL" sz="800" b="0" u="none" strike="noStrike">
              <a:solidFill>
                <a:srgbClr val="000000"/>
              </a:solidFill>
              <a:effectLst/>
              <a:uFillTx/>
              <a:latin typeface="Arial"/>
            </a:endParaRPr>
          </a:p>
        </p:txBody>
      </p:sp>
      <p:sp>
        <p:nvSpPr>
          <p:cNvPr id="353" name=""/>
          <p:cNvSpPr txBox="1"/>
          <p:nvPr/>
        </p:nvSpPr>
        <p:spPr>
          <a:xfrm>
            <a:off x="457200" y="1076400"/>
            <a:ext cx="8229600" cy="332640"/>
          </a:xfrm>
          <a:prstGeom prst="rect">
            <a:avLst/>
          </a:prstGeom>
          <a:noFill/>
          <a:ln w="0">
            <a:noFill/>
          </a:ln>
        </p:spPr>
        <p:txBody>
          <a:bodyPr lIns="90000" tIns="45000" rIns="90000" bIns="45000" anchor="t">
            <a:spAutoFit/>
          </a:bodyPr>
          <a:p>
            <a:pPr algn="r" rtl="1"/>
            <a:r>
              <a:rPr lang="hi-IN" sz="1700" b="1" u="none" strike="noStrike">
                <a:solidFill>
                  <a:srgbClr val="262424"/>
                </a:solidFill>
                <a:effectLst/>
                <a:uFillTx/>
                <a:latin typeface="Arial-BoldMT"/>
                <a:cs typeface="Arial-BoldMT"/>
              </a:rPr>
              <a:t>בקובץ </a:t>
            </a:r>
            <a:r>
              <a:rPr lang="en-IL" sz="1700" b="1" u="none" strike="noStrike">
                <a:solidFill>
                  <a:srgbClr val="262424"/>
                </a:solidFill>
                <a:effectLst/>
                <a:uFillTx/>
                <a:latin typeface="Arial-BoldMT"/>
                <a:ea typeface="Arial-BoldMT"/>
              </a:rPr>
              <a:t>‎</a:t>
            </a:r>
            <a:r>
              <a:rPr lang="en-IL" sz="1700" b="1" u="none" strike="noStrike">
                <a:solidFill>
                  <a:srgbClr val="262424"/>
                </a:solidFill>
                <a:effectLst/>
                <a:uFillTx/>
                <a:latin typeface="Helvetica-Bold"/>
                <a:ea typeface="Helvetica-Bold"/>
              </a:rPr>
              <a:t>.codex/agents/spec-reviewer.toml</a:t>
            </a:r>
            <a:endParaRPr lang="en-IL" sz="1700" b="0" u="none" strike="noStrike">
              <a:solidFill>
                <a:srgbClr val="000000"/>
              </a:solidFill>
              <a:effectLst/>
              <a:uFillTx/>
              <a:latin typeface="Arial"/>
            </a:endParaRPr>
          </a:p>
        </p:txBody>
      </p:sp>
      <p:sp>
        <p:nvSpPr>
          <p:cNvPr id="354" name=""/>
          <p:cNvSpPr/>
          <p:nvPr/>
        </p:nvSpPr>
        <p:spPr>
          <a:xfrm>
            <a:off x="495360" y="1542960"/>
            <a:ext cx="5458320" cy="2819880"/>
          </a:xfrm>
          <a:custGeom>
            <a:avLst/>
            <a:gdLst/>
            <a:ahLst/>
            <a:rect l="0" t="0" r="r" b="b"/>
            <a:pathLst>
              <a:path w="15162" h="7833">
                <a:moveTo>
                  <a:pt x="0" y="0"/>
                </a:moveTo>
                <a:lnTo>
                  <a:pt x="15162" y="0"/>
                </a:lnTo>
                <a:lnTo>
                  <a:pt x="15162" y="7833"/>
                </a:lnTo>
                <a:lnTo>
                  <a:pt x="0" y="7833"/>
                </a:lnTo>
                <a:lnTo>
                  <a:pt x="0" y="0"/>
                </a:lnTo>
                <a:close/>
              </a:path>
            </a:pathLst>
          </a:custGeom>
          <a:solidFill>
            <a:srgbClr val="F7F5F8"/>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355" name=""/>
          <p:cNvSpPr txBox="1"/>
          <p:nvPr/>
        </p:nvSpPr>
        <p:spPr>
          <a:xfrm>
            <a:off x="628560" y="1657440"/>
            <a:ext cx="5191200" cy="2590920"/>
          </a:xfrm>
          <a:prstGeom prst="rect">
            <a:avLst/>
          </a:prstGeom>
          <a:noFill/>
          <a:ln w="0">
            <a:noFill/>
          </a:ln>
        </p:spPr>
        <p:txBody>
          <a:bodyPr lIns="90000" tIns="45000" rIns="90000" bIns="45000" anchor="t">
            <a:spAutoFit/>
          </a:bodyPr>
          <a:p>
            <a:r>
              <a:rPr lang="en-IL" sz="1400" b="0" u="none" strike="noStrike">
                <a:solidFill>
                  <a:srgbClr val="262424"/>
                </a:solidFill>
                <a:effectLst/>
                <a:uFillTx/>
                <a:latin typeface="ArialMT"/>
                <a:ea typeface="ArialMT"/>
              </a:rPr>
              <a:t>name = "spec_reviewer</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description = "Review changes against the spec</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sandbox_mode = "read-only</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developer_instructions</a:t>
            </a:r>
            <a:r>
              <a:rPr lang="en-IL" sz="1400" b="0" u="none" strike="noStrike">
                <a:solidFill>
                  <a:srgbClr val="262424"/>
                </a:solidFill>
                <a:effectLst/>
                <a:uFillTx/>
                <a:latin typeface="ArialMT"/>
                <a:ea typeface="ArialMT"/>
              </a:rPr>
              <a:t> = """</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Read docs/spec.md and relevant code</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Check requirements and missing tests</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Do not edit files</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Return findings with file references</a:t>
            </a:r>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a:p>
            <a:r>
              <a:rPr lang="en-IL" sz="1400" b="0" u="none" strike="noStrike">
                <a:solidFill>
                  <a:srgbClr val="262424"/>
                </a:solidFill>
                <a:effectLst/>
                <a:uFillTx/>
                <a:latin typeface="ArialMT"/>
                <a:ea typeface="ArialMT"/>
              </a:rPr>
              <a:t>"""</a:t>
            </a:r>
            <a:endParaRPr lang="en-IL" sz="1400" b="0" u="none" strike="noStrike">
              <a:solidFill>
                <a:srgbClr val="000000"/>
              </a:solidFill>
              <a:effectLst/>
              <a:uFillTx/>
              <a:latin typeface="Arial"/>
            </a:endParaRPr>
          </a:p>
        </p:txBody>
      </p:sp>
      <p:sp>
        <p:nvSpPr>
          <p:cNvPr id="356" name=""/>
          <p:cNvSpPr txBox="1"/>
          <p:nvPr/>
        </p:nvSpPr>
        <p:spPr>
          <a:xfrm>
            <a:off x="6191280" y="1809720"/>
            <a:ext cx="2495520" cy="217152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אותו תפקיד עסקי</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בפורמט ההגדרות של הכלי</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בקשה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השתמש בסוכן</a:t>
            </a:r>
            <a:endParaRPr lang="en-IL" sz="1600" b="0" u="none" strike="noStrike">
              <a:solidFill>
                <a:srgbClr val="000000"/>
              </a:solidFill>
              <a:effectLst/>
              <a:uFillTx/>
              <a:latin typeface="Arial"/>
            </a:endParaRPr>
          </a:p>
          <a:p>
            <a:pPr algn="r" rtl="1"/>
            <a:r>
              <a:rPr lang="en-IL" sz="1600" b="0" u="none" strike="noStrike">
                <a:solidFill>
                  <a:srgbClr val="262424"/>
                </a:solidFill>
                <a:effectLst/>
                <a:uFillTx/>
                <a:latin typeface="Arial"/>
                <a:ea typeface="Arial"/>
              </a:rPr>
              <a:t>spec_reviewer</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כדי לבדוק</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את השינוי מול האפיון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7"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חלוקת עבודה בין סוכנים</a:t>
            </a:r>
            <a:endParaRPr lang="en-IL" sz="2800" b="0" u="none" strike="noStrike">
              <a:solidFill>
                <a:srgbClr val="000000"/>
              </a:solidFill>
              <a:effectLst/>
              <a:uFillTx/>
              <a:latin typeface="Arial"/>
            </a:endParaRPr>
          </a:p>
        </p:txBody>
      </p:sp>
      <p:sp>
        <p:nvSpPr>
          <p:cNvPr id="358"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59"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42</a:t>
            </a:r>
            <a:endParaRPr lang="en-IL" sz="800" b="0" u="none" strike="noStrike">
              <a:solidFill>
                <a:srgbClr val="000000"/>
              </a:solidFill>
              <a:effectLst/>
              <a:uFillTx/>
              <a:latin typeface="Arial"/>
            </a:endParaRPr>
          </a:p>
        </p:txBody>
      </p:sp>
      <p:sp>
        <p:nvSpPr>
          <p:cNvPr id="360"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המימוש</a:t>
            </a:r>
            <a:endParaRPr lang="en-IL" sz="1800" b="0" u="none" strike="noStrike">
              <a:solidFill>
                <a:srgbClr val="000000"/>
              </a:solidFill>
              <a:effectLst/>
              <a:uFillTx/>
              <a:latin typeface="Arial"/>
            </a:endParaRPr>
          </a:p>
        </p:txBody>
      </p:sp>
      <p:sp>
        <p:nvSpPr>
          <p:cNvPr id="361"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הסוכן הראשי מטפל בשינוי ובבדיקות ההתנהגות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62"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הסקירה</a:t>
            </a:r>
            <a:endParaRPr lang="en-IL" sz="1800" b="0" u="none" strike="noStrike">
              <a:solidFill>
                <a:srgbClr val="000000"/>
              </a:solidFill>
              <a:effectLst/>
              <a:uFillTx/>
              <a:latin typeface="Arial"/>
            </a:endParaRPr>
          </a:p>
        </p:txBody>
      </p:sp>
      <p:sp>
        <p:nvSpPr>
          <p:cNvPr id="363"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תת־סוכן קורא את האפיון ומחפש פערים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מקרי קצה והרשאות חסרות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64"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השילוב</a:t>
            </a:r>
            <a:endParaRPr lang="en-IL" sz="1800" b="0" u="none" strike="noStrike">
              <a:solidFill>
                <a:srgbClr val="000000"/>
              </a:solidFill>
              <a:effectLst/>
              <a:uFillTx/>
              <a:latin typeface="Arial"/>
            </a:endParaRPr>
          </a:p>
        </p:txBody>
      </p:sp>
      <p:sp>
        <p:nvSpPr>
          <p:cNvPr id="365"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הסוכן הראשי בודק את הממצאים ומאמת את התוצאה לאחר השילוב</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66"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367"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לכל תת־סוכן מגדירים משימה</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גבולות ותוצר שאפשר לבדוק</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8"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פרומפט להפעלת תת־סוכן לסקירה</a:t>
            </a:r>
            <a:endParaRPr lang="en-IL" sz="2800" b="0" u="none" strike="noStrike">
              <a:solidFill>
                <a:srgbClr val="000000"/>
              </a:solidFill>
              <a:effectLst/>
              <a:uFillTx/>
              <a:latin typeface="Arial"/>
            </a:endParaRPr>
          </a:p>
        </p:txBody>
      </p:sp>
      <p:sp>
        <p:nvSpPr>
          <p:cNvPr id="369"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70"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43</a:t>
            </a:r>
            <a:endParaRPr lang="en-IL" sz="800" b="0" u="none" strike="noStrike">
              <a:solidFill>
                <a:srgbClr val="000000"/>
              </a:solidFill>
              <a:effectLst/>
              <a:uFillTx/>
              <a:latin typeface="Arial"/>
            </a:endParaRPr>
          </a:p>
        </p:txBody>
      </p:sp>
      <p:sp>
        <p:nvSpPr>
          <p:cNvPr id="371" name=""/>
          <p:cNvSpPr txBox="1"/>
          <p:nvPr/>
        </p:nvSpPr>
        <p:spPr>
          <a:xfrm>
            <a:off x="523800" y="1133640"/>
            <a:ext cx="8096400" cy="355284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הפעל תת־סוכן לסקירת השינוי הנוכחי מול האפיון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מסור לו את ההנחיות הבאות ואת נתיבי הקבצים שהשתנו</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תפקידך לבדוק התאמה לדרישות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בלי לערוך קבצים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קרא את </a:t>
            </a:r>
            <a:r>
              <a:rPr lang="en-IL" sz="1600" b="0" u="none" strike="noStrike">
                <a:solidFill>
                  <a:srgbClr val="262424"/>
                </a:solidFill>
                <a:effectLst/>
                <a:uFillTx/>
                <a:latin typeface="Arial"/>
                <a:ea typeface="Arial"/>
              </a:rPr>
              <a:t>docs/spec.md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ואת החלטות הפרויקט הרלוונטיות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בדוק את הקוד ואת הבדיקות עבור </a:t>
            </a:r>
            <a:r>
              <a:rPr lang="en-IL" sz="1600" b="0" u="none" strike="noStrike">
                <a:solidFill>
                  <a:srgbClr val="262424"/>
                </a:solidFill>
                <a:effectLst/>
                <a:uFillTx/>
                <a:latin typeface="Arial"/>
                <a:ea typeface="Arial"/>
              </a:rPr>
              <a:t>[</a:t>
            </a:r>
            <a:r>
              <a:rPr lang="hi-IN" sz="1600" b="0" u="none" strike="noStrike">
                <a:solidFill>
                  <a:srgbClr val="262424"/>
                </a:solidFill>
                <a:effectLst/>
                <a:uFillTx/>
                <a:latin typeface="ArialMT"/>
                <a:cs typeface="ArialMT"/>
              </a:rPr>
              <a:t>המשימה ותנאי הקבלה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חפש התנהגות חסרה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מקרי קצה ופערים בבדיקות או בהרשאות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לכל ממצא</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ציין קובץ</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מיקום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דרישה והסבר להשפעה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הבחן בין תקלה מוכחת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חשד ושאלה שמצריכה החלטה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החזר ממצאים לפי חשיבות וציין גם מה לא יכולת לבדוק</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לאחר קבלת הסקירה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בדוק את הממצאים כסוכן הראשי</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תקן פערים מאומתים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הרץ בדיקות ודווח על התוצאה המשולבת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2"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הרשאות ובקרה בעבודה עם סוכן</a:t>
            </a:r>
            <a:endParaRPr lang="en-IL" sz="2800" b="0" u="none" strike="noStrike">
              <a:solidFill>
                <a:srgbClr val="000000"/>
              </a:solidFill>
              <a:effectLst/>
              <a:uFillTx/>
              <a:latin typeface="Arial"/>
            </a:endParaRPr>
          </a:p>
        </p:txBody>
      </p:sp>
      <p:sp>
        <p:nvSpPr>
          <p:cNvPr id="373"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74"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44</a:t>
            </a:r>
            <a:endParaRPr lang="en-IL" sz="800" b="0" u="none" strike="noStrike">
              <a:solidFill>
                <a:srgbClr val="000000"/>
              </a:solidFill>
              <a:effectLst/>
              <a:uFillTx/>
              <a:latin typeface="Arial"/>
            </a:endParaRPr>
          </a:p>
        </p:txBody>
      </p:sp>
      <p:sp>
        <p:nvSpPr>
          <p:cNvPr id="375"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גישה לפי המשימה</a:t>
            </a:r>
            <a:endParaRPr lang="en-IL" sz="1800" b="0" u="none" strike="noStrike">
              <a:solidFill>
                <a:srgbClr val="000000"/>
              </a:solidFill>
              <a:effectLst/>
              <a:uFillTx/>
              <a:latin typeface="Arial"/>
            </a:endParaRPr>
          </a:p>
        </p:txBody>
      </p:sp>
      <p:sp>
        <p:nvSpPr>
          <p:cNvPr id="376"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מגדירים אילו תיקיות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שירותים ופעולות דרושים לסוכן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77"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בדיקת השינויים</a:t>
            </a:r>
            <a:endParaRPr lang="en-IL" sz="1800" b="0" u="none" strike="noStrike">
              <a:solidFill>
                <a:srgbClr val="000000"/>
              </a:solidFill>
              <a:effectLst/>
              <a:uFillTx/>
              <a:latin typeface="Arial"/>
            </a:endParaRPr>
          </a:p>
        </p:txBody>
      </p:sp>
      <p:sp>
        <p:nvSpPr>
          <p:cNvPr id="378"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קוראים את ההבדלים ובודקים שהסוכן טיפל במשימה שהוגדרה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79"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נתונים וסודות</a:t>
            </a:r>
            <a:endParaRPr lang="en-IL" sz="1800" b="0" u="none" strike="noStrike">
              <a:solidFill>
                <a:srgbClr val="000000"/>
              </a:solidFill>
              <a:effectLst/>
              <a:uFillTx/>
              <a:latin typeface="Arial"/>
            </a:endParaRPr>
          </a:p>
        </p:txBody>
      </p:sp>
      <p:sp>
        <p:nvSpPr>
          <p:cNvPr id="380"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משתמשים בנתוני דוגמה ושומרים מפתחות מחוץ לקוד ולתיעוד משותף</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1"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נקודת חזרה לפני שינוי</a:t>
            </a:r>
            <a:endParaRPr lang="en-IL" sz="2800" b="0" u="none" strike="noStrike">
              <a:solidFill>
                <a:srgbClr val="000000"/>
              </a:solidFill>
              <a:effectLst/>
              <a:uFillTx/>
              <a:latin typeface="Arial"/>
            </a:endParaRPr>
          </a:p>
        </p:txBody>
      </p:sp>
      <p:sp>
        <p:nvSpPr>
          <p:cNvPr id="382"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83"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45</a:t>
            </a:r>
            <a:endParaRPr lang="en-IL" sz="800" b="0" u="none" strike="noStrike">
              <a:solidFill>
                <a:srgbClr val="000000"/>
              </a:solidFill>
              <a:effectLst/>
              <a:uFillTx/>
              <a:latin typeface="Arial"/>
            </a:endParaRPr>
          </a:p>
        </p:txBody>
      </p:sp>
      <p:pic>
        <p:nvPicPr>
          <p:cNvPr id="384" name=""/>
          <p:cNvPicPr/>
          <p:nvPr/>
        </p:nvPicPr>
        <p:blipFill>
          <a:blip r:embed="rId1"/>
          <a:stretch/>
        </p:blipFill>
        <p:spPr>
          <a:xfrm>
            <a:off x="784080" y="1314360"/>
            <a:ext cx="1918080" cy="2876400"/>
          </a:xfrm>
          <a:prstGeom prst="rect">
            <a:avLst/>
          </a:prstGeom>
          <a:noFill/>
          <a:ln w="0">
            <a:noFill/>
          </a:ln>
        </p:spPr>
      </p:pic>
      <p:sp>
        <p:nvSpPr>
          <p:cNvPr id="385" name=""/>
          <p:cNvSpPr txBox="1"/>
          <p:nvPr/>
        </p:nvSpPr>
        <p:spPr>
          <a:xfrm>
            <a:off x="3619440" y="1276200"/>
            <a:ext cx="5048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לפני המשימה</a:t>
            </a:r>
            <a:endParaRPr lang="en-IL" sz="1800" b="0" u="none" strike="noStrike">
              <a:solidFill>
                <a:srgbClr val="000000"/>
              </a:solidFill>
              <a:effectLst/>
              <a:uFillTx/>
              <a:latin typeface="Arial"/>
            </a:endParaRPr>
          </a:p>
        </p:txBody>
      </p:sp>
      <p:sp>
        <p:nvSpPr>
          <p:cNvPr id="386" name=""/>
          <p:cNvSpPr txBox="1"/>
          <p:nvPr/>
        </p:nvSpPr>
        <p:spPr>
          <a:xfrm>
            <a:off x="3619440" y="1609560"/>
            <a:ext cx="5048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בודקים את מצב הקבצים ושומרים גרסה עובדת ב־</a:t>
            </a:r>
            <a:r>
              <a:rPr lang="en-IL" sz="1600" b="0" u="none" strike="noStrike">
                <a:solidFill>
                  <a:srgbClr val="262424"/>
                </a:solidFill>
                <a:effectLst/>
                <a:uFillTx/>
                <a:latin typeface="Arial"/>
                <a:ea typeface="Arial"/>
              </a:rPr>
              <a:t>Git</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87" name=""/>
          <p:cNvSpPr txBox="1"/>
          <p:nvPr/>
        </p:nvSpPr>
        <p:spPr>
          <a:xfrm>
            <a:off x="3619440" y="2343240"/>
            <a:ext cx="5048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אחרי השינוי</a:t>
            </a:r>
            <a:endParaRPr lang="en-IL" sz="1800" b="0" u="none" strike="noStrike">
              <a:solidFill>
                <a:srgbClr val="000000"/>
              </a:solidFill>
              <a:effectLst/>
              <a:uFillTx/>
              <a:latin typeface="Arial"/>
            </a:endParaRPr>
          </a:p>
        </p:txBody>
      </p:sp>
      <p:sp>
        <p:nvSpPr>
          <p:cNvPr id="388" name=""/>
          <p:cNvSpPr txBox="1"/>
          <p:nvPr/>
        </p:nvSpPr>
        <p:spPr>
          <a:xfrm>
            <a:off x="3619440" y="2676600"/>
            <a:ext cx="5048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קוראים את ההבדלים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אילו קבצים השתנו והאם השינוי שייך למשימה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89" name=""/>
          <p:cNvSpPr txBox="1"/>
          <p:nvPr/>
        </p:nvSpPr>
        <p:spPr>
          <a:xfrm>
            <a:off x="3619440" y="3409920"/>
            <a:ext cx="5048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לאחר האימות</a:t>
            </a:r>
            <a:endParaRPr lang="en-IL" sz="1800" b="0" u="none" strike="noStrike">
              <a:solidFill>
                <a:srgbClr val="000000"/>
              </a:solidFill>
              <a:effectLst/>
              <a:uFillTx/>
              <a:latin typeface="Arial"/>
            </a:endParaRPr>
          </a:p>
        </p:txBody>
      </p:sp>
      <p:sp>
        <p:nvSpPr>
          <p:cNvPr id="390" name=""/>
          <p:cNvSpPr txBox="1"/>
          <p:nvPr/>
        </p:nvSpPr>
        <p:spPr>
          <a:xfrm>
            <a:off x="3619440" y="3743280"/>
            <a:ext cx="5048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שומרים </a:t>
            </a:r>
            <a:r>
              <a:rPr lang="en-IL" sz="1600" b="0" u="none" strike="noStrike">
                <a:solidFill>
                  <a:srgbClr val="262424"/>
                </a:solidFill>
                <a:effectLst/>
                <a:uFillTx/>
                <a:latin typeface="Arial"/>
                <a:ea typeface="Arial"/>
              </a:rPr>
              <a:t>Commit</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שמתאר את הפיצ׳ר ואת התיעוד המעודכן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1"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הפעלת היישום ברשת</a:t>
            </a:r>
            <a:endParaRPr lang="en-IL" sz="2800" b="0" u="none" strike="noStrike">
              <a:solidFill>
                <a:srgbClr val="000000"/>
              </a:solidFill>
              <a:effectLst/>
              <a:uFillTx/>
              <a:latin typeface="Arial"/>
            </a:endParaRPr>
          </a:p>
        </p:txBody>
      </p:sp>
      <p:sp>
        <p:nvSpPr>
          <p:cNvPr id="392"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393"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46</a:t>
            </a:r>
            <a:endParaRPr lang="en-IL" sz="800" b="0" u="none" strike="noStrike">
              <a:solidFill>
                <a:srgbClr val="000000"/>
              </a:solidFill>
              <a:effectLst/>
              <a:uFillTx/>
              <a:latin typeface="Arial"/>
            </a:endParaRPr>
          </a:p>
        </p:txBody>
      </p:sp>
      <p:sp>
        <p:nvSpPr>
          <p:cNvPr id="394" name=""/>
          <p:cNvSpPr txBox="1"/>
          <p:nvPr/>
        </p:nvSpPr>
        <p:spPr>
          <a:xfrm>
            <a:off x="457200" y="128592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חיבור הפרויקט ל־</a:t>
            </a:r>
            <a:r>
              <a:rPr lang="en-IL" sz="1800" b="1" u="none" strike="noStrike">
                <a:solidFill>
                  <a:srgbClr val="262424"/>
                </a:solidFill>
                <a:effectLst/>
                <a:uFillTx/>
                <a:latin typeface="Helvetica-Bold"/>
                <a:ea typeface="Helvetica-Bold"/>
              </a:rPr>
              <a:t>Vercel</a:t>
            </a:r>
            <a:endParaRPr lang="en-IL" sz="1800" b="0" u="none" strike="noStrike">
              <a:solidFill>
                <a:srgbClr val="000000"/>
              </a:solidFill>
              <a:effectLst/>
              <a:uFillTx/>
              <a:latin typeface="Arial"/>
            </a:endParaRPr>
          </a:p>
        </p:txBody>
      </p:sp>
      <p:sp>
        <p:nvSpPr>
          <p:cNvPr id="395" name=""/>
          <p:cNvSpPr txBox="1"/>
          <p:nvPr/>
        </p:nvSpPr>
        <p:spPr>
          <a:xfrm>
            <a:off x="457200" y="161928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מייבאים את מאגר הקוד ומוודאים שפקודת הבנייה מצליחה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96" name=""/>
          <p:cNvSpPr txBox="1"/>
          <p:nvPr/>
        </p:nvSpPr>
        <p:spPr>
          <a:xfrm>
            <a:off x="457200" y="225756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חיבור ל־</a:t>
            </a:r>
            <a:r>
              <a:rPr lang="en-IL" sz="1800" b="1" u="none" strike="noStrike">
                <a:solidFill>
                  <a:srgbClr val="262424"/>
                </a:solidFill>
                <a:effectLst/>
                <a:uFillTx/>
                <a:latin typeface="Helvetica-Bold"/>
                <a:ea typeface="Helvetica-Bold"/>
              </a:rPr>
              <a:t>Supabase</a:t>
            </a:r>
            <a:endParaRPr lang="en-IL" sz="1800" b="0" u="none" strike="noStrike">
              <a:solidFill>
                <a:srgbClr val="000000"/>
              </a:solidFill>
              <a:effectLst/>
              <a:uFillTx/>
              <a:latin typeface="Arial"/>
            </a:endParaRPr>
          </a:p>
        </p:txBody>
      </p:sp>
      <p:sp>
        <p:nvSpPr>
          <p:cNvPr id="397" name=""/>
          <p:cNvSpPr txBox="1"/>
          <p:nvPr/>
        </p:nvSpPr>
        <p:spPr>
          <a:xfrm>
            <a:off x="457200" y="259092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מגדירים משתני סביבה מתאימים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כתובות התחברות וסכמת נתונים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398" name=""/>
          <p:cNvSpPr txBox="1"/>
          <p:nvPr/>
        </p:nvSpPr>
        <p:spPr>
          <a:xfrm>
            <a:off x="457200" y="322884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בדיקה בכתובת </a:t>
            </a:r>
            <a:r>
              <a:rPr lang="en-IL" sz="1800" b="1" u="none" strike="noStrike">
                <a:solidFill>
                  <a:srgbClr val="262424"/>
                </a:solidFill>
                <a:effectLst/>
                <a:uFillTx/>
                <a:latin typeface="Helvetica-Bold"/>
                <a:ea typeface="Helvetica-Bold"/>
              </a:rPr>
              <a:t>Preview</a:t>
            </a:r>
            <a:endParaRPr lang="en-IL" sz="1800" b="0" u="none" strike="noStrike">
              <a:solidFill>
                <a:srgbClr val="000000"/>
              </a:solidFill>
              <a:effectLst/>
              <a:uFillTx/>
              <a:latin typeface="Arial"/>
            </a:endParaRPr>
          </a:p>
        </p:txBody>
      </p:sp>
      <p:sp>
        <p:nvSpPr>
          <p:cNvPr id="399" name=""/>
          <p:cNvSpPr txBox="1"/>
          <p:nvPr/>
        </p:nvSpPr>
        <p:spPr>
          <a:xfrm>
            <a:off x="457200" y="356220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בודקים את תרחישי השימוש מהאפיון עם נתוני דוגמה לפני פרסום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00"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401"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הסוכן מבצע את הפריסה</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אנחנו בודקים את התוצאה בכתובת שהתקבלה</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2"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סיום יום העבודה</a:t>
            </a:r>
            <a:endParaRPr lang="en-IL" sz="2800" b="0" u="none" strike="noStrike">
              <a:solidFill>
                <a:srgbClr val="000000"/>
              </a:solidFill>
              <a:effectLst/>
              <a:uFillTx/>
              <a:latin typeface="Arial"/>
            </a:endParaRPr>
          </a:p>
        </p:txBody>
      </p:sp>
      <p:sp>
        <p:nvSpPr>
          <p:cNvPr id="403"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404"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47</a:t>
            </a:r>
            <a:endParaRPr lang="en-IL" sz="800" b="0" u="none" strike="noStrike">
              <a:solidFill>
                <a:srgbClr val="000000"/>
              </a:solidFill>
              <a:effectLst/>
              <a:uFillTx/>
              <a:latin typeface="Arial"/>
            </a:endParaRPr>
          </a:p>
        </p:txBody>
      </p:sp>
      <p:sp>
        <p:nvSpPr>
          <p:cNvPr id="405"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הושלם ואומת</a:t>
            </a:r>
            <a:endParaRPr lang="en-IL" sz="1800" b="0" u="none" strike="noStrike">
              <a:solidFill>
                <a:srgbClr val="000000"/>
              </a:solidFill>
              <a:effectLst/>
              <a:uFillTx/>
              <a:latin typeface="Arial"/>
            </a:endParaRPr>
          </a:p>
        </p:txBody>
      </p:sp>
      <p:sp>
        <p:nvSpPr>
          <p:cNvPr id="406"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מה השתנה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לאיזו דרישה הוא קשור ואיזו בדיקה עברה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07"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עדיין פתוח</a:t>
            </a:r>
            <a:endParaRPr lang="en-IL" sz="1800" b="0" u="none" strike="noStrike">
              <a:solidFill>
                <a:srgbClr val="000000"/>
              </a:solidFill>
              <a:effectLst/>
              <a:uFillTx/>
              <a:latin typeface="Arial"/>
            </a:endParaRPr>
          </a:p>
        </p:txBody>
      </p:sp>
      <p:sp>
        <p:nvSpPr>
          <p:cNvPr id="408"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מה חסר</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מה לא נבדק והאם קיימת החלטה שצריך לקבל</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09"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המשימה הבאה</a:t>
            </a:r>
            <a:endParaRPr lang="en-IL" sz="1800" b="0" u="none" strike="noStrike">
              <a:solidFill>
                <a:srgbClr val="000000"/>
              </a:solidFill>
              <a:effectLst/>
              <a:uFillTx/>
              <a:latin typeface="Arial"/>
            </a:endParaRPr>
          </a:p>
        </p:txBody>
      </p:sp>
      <p:sp>
        <p:nvSpPr>
          <p:cNvPr id="410"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מה הפעולה הבאה ואילו קבצים צריך לקרוא כדי לבצע אותה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11"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412"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הקובץ </a:t>
            </a:r>
            <a:r>
              <a:rPr lang="en-IL" sz="1500" b="1" u="none" strike="noStrike">
                <a:solidFill>
                  <a:srgbClr val="262424"/>
                </a:solidFill>
                <a:effectLst/>
                <a:uFillTx/>
                <a:latin typeface="Helvetica-Bold"/>
                <a:ea typeface="Helvetica-Bold"/>
              </a:rPr>
              <a:t>docs/status.md</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נותן לסוכן הבא נקודת התחלה ברורה</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3"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פרומפט להמשך עבודה בשיחה חדשה</a:t>
            </a:r>
            <a:endParaRPr lang="en-IL" sz="2800" b="0" u="none" strike="noStrike">
              <a:solidFill>
                <a:srgbClr val="000000"/>
              </a:solidFill>
              <a:effectLst/>
              <a:uFillTx/>
              <a:latin typeface="Arial"/>
            </a:endParaRPr>
          </a:p>
        </p:txBody>
      </p:sp>
      <p:sp>
        <p:nvSpPr>
          <p:cNvPr id="414"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415"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48</a:t>
            </a:r>
            <a:endParaRPr lang="en-IL" sz="800" b="0" u="none" strike="noStrike">
              <a:solidFill>
                <a:srgbClr val="000000"/>
              </a:solidFill>
              <a:effectLst/>
              <a:uFillTx/>
              <a:latin typeface="Arial"/>
            </a:endParaRPr>
          </a:p>
        </p:txBody>
      </p:sp>
      <p:sp>
        <p:nvSpPr>
          <p:cNvPr id="416" name=""/>
          <p:cNvSpPr txBox="1"/>
          <p:nvPr/>
        </p:nvSpPr>
        <p:spPr>
          <a:xfrm>
            <a:off x="523800" y="1133640"/>
            <a:ext cx="8096400" cy="355284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המשך את הפרויקט מתוך הקבצים</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ללא הנחה שיש לך שיחה קודמת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קרא את הנחיות הסוכן</a:t>
            </a:r>
            <a:r>
              <a:rPr lang="en-IL" sz="1600" b="0" u="none" strike="noStrike">
                <a:solidFill>
                  <a:srgbClr val="262424"/>
                </a:solidFill>
                <a:effectLst/>
                <a:uFillTx/>
                <a:latin typeface="Arial"/>
                <a:ea typeface="Arial"/>
              </a:rPr>
              <a:t>, </a:t>
            </a:r>
            <a:r>
              <a:rPr lang="en-IL" sz="1600" b="0" u="none" strike="noStrike">
                <a:solidFill>
                  <a:srgbClr val="262424"/>
                </a:solidFill>
                <a:effectLst/>
                <a:uFillTx/>
                <a:latin typeface="Arial"/>
                <a:ea typeface="Arial"/>
              </a:rPr>
              <a:t>README.md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ואת מסמכי האפיון וההחלטות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קרא את </a:t>
            </a:r>
            <a:r>
              <a:rPr lang="en-IL" sz="1600" b="0" u="none" strike="noStrike">
                <a:solidFill>
                  <a:srgbClr val="262424"/>
                </a:solidFill>
                <a:effectLst/>
                <a:uFillTx/>
                <a:latin typeface="Arial"/>
                <a:ea typeface="Arial"/>
              </a:rPr>
              <a:t>docs/status.md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ובדוק את מצב הקוד והבדיקות הרלוונטיות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סכם בקצרה את מטרת המוצר</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מה הושלם ומה נשאר פתוח</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הבחן בין מידע מתועד לבין הנחות ודברים שטרם אומתו</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אם הקוד והתיעוד סותרים זה את זה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הצג את הפער לפני שינוי הדרישה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בחר את המשימה הבאה מתוך התוכנית והסבר למה היא הבאה בתור</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אם חסרה החלטה שמשנה את המוצר</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שאל שאלה ממוקדת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אחרת</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בצע את המשימה בשיטת </a:t>
            </a:r>
            <a:r>
              <a:rPr lang="en-IL" sz="1600" b="0" u="none" strike="noStrike">
                <a:solidFill>
                  <a:srgbClr val="262424"/>
                </a:solidFill>
                <a:effectLst/>
                <a:uFillTx/>
                <a:latin typeface="Arial"/>
                <a:ea typeface="Arial"/>
              </a:rPr>
              <a:t>TDD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לפי תנאי הקבלה באפיון</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בסיום עדכן את המצב</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ההחלטות והתיעוד הרלוונטי</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a:p>
            <a:pPr algn="r" rtl="1"/>
            <a:r>
              <a:rPr lang="hi-IN" sz="1600" b="0" u="none" strike="noStrike">
                <a:solidFill>
                  <a:srgbClr val="262424"/>
                </a:solidFill>
                <a:effectLst/>
                <a:uFillTx/>
                <a:latin typeface="ArialMT"/>
                <a:cs typeface="ArialMT"/>
              </a:rPr>
              <a:t>דווח מה השתנה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מה נבדק בפועל והיכן הסוכן הבא צריך להמשיך</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7"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תרגול</a:t>
            </a:r>
            <a:r>
              <a:rPr lang="en-IL" sz="2800" b="1" u="none" strike="noStrike">
                <a:solidFill>
                  <a:srgbClr val="D75AE2"/>
                </a:solidFill>
                <a:effectLst/>
                <a:uFillTx/>
                <a:latin typeface="Helvetica-Bold"/>
                <a:ea typeface="Helvetica-Bold"/>
              </a:rPr>
              <a:t>: </a:t>
            </a:r>
            <a:r>
              <a:rPr lang="hi-IN" sz="2800" b="1" u="none" strike="noStrike">
                <a:solidFill>
                  <a:srgbClr val="D75AE2"/>
                </a:solidFill>
                <a:effectLst/>
                <a:uFillTx/>
                <a:latin typeface="Arial-BoldMT"/>
                <a:cs typeface="Arial-BoldMT"/>
              </a:rPr>
              <a:t>הסוכן של מחר</a:t>
            </a:r>
            <a:endParaRPr lang="en-IL" sz="2800" b="0" u="none" strike="noStrike">
              <a:solidFill>
                <a:srgbClr val="000000"/>
              </a:solidFill>
              <a:effectLst/>
              <a:uFillTx/>
              <a:latin typeface="Arial"/>
            </a:endParaRPr>
          </a:p>
        </p:txBody>
      </p:sp>
      <p:sp>
        <p:nvSpPr>
          <p:cNvPr id="418"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419"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49</a:t>
            </a:r>
            <a:endParaRPr lang="en-IL" sz="800" b="0" u="none" strike="noStrike">
              <a:solidFill>
                <a:srgbClr val="000000"/>
              </a:solidFill>
              <a:effectLst/>
              <a:uFillTx/>
              <a:latin typeface="Arial"/>
            </a:endParaRPr>
          </a:p>
        </p:txBody>
      </p:sp>
      <p:sp>
        <p:nvSpPr>
          <p:cNvPr id="420" name=""/>
          <p:cNvSpPr txBox="1"/>
          <p:nvPr/>
        </p:nvSpPr>
        <p:spPr>
          <a:xfrm>
            <a:off x="457200" y="1238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שלב ראשון</a:t>
            </a:r>
            <a:r>
              <a:rPr lang="en-IL" sz="1800" b="1" u="none" strike="noStrike">
                <a:solidFill>
                  <a:srgbClr val="262424"/>
                </a:solidFill>
                <a:effectLst/>
                <a:uFillTx/>
                <a:latin typeface="Helvetica-Bold"/>
                <a:ea typeface="Helvetica-Bold"/>
              </a:rPr>
              <a:t>: </a:t>
            </a:r>
            <a:r>
              <a:rPr lang="hi-IN" sz="1800" b="1" u="none" strike="noStrike">
                <a:solidFill>
                  <a:srgbClr val="262424"/>
                </a:solidFill>
                <a:effectLst/>
                <a:uFillTx/>
                <a:latin typeface="Arial-BoldMT"/>
                <a:cs typeface="Arial-BoldMT"/>
              </a:rPr>
              <a:t>הגדרת המשימה</a:t>
            </a:r>
            <a:endParaRPr lang="en-IL" sz="1800" b="0" u="none" strike="noStrike">
              <a:solidFill>
                <a:srgbClr val="000000"/>
              </a:solidFill>
              <a:effectLst/>
              <a:uFillTx/>
              <a:latin typeface="Arial"/>
            </a:endParaRPr>
          </a:p>
        </p:txBody>
      </p:sp>
      <p:sp>
        <p:nvSpPr>
          <p:cNvPr id="421" name=""/>
          <p:cNvSpPr txBox="1"/>
          <p:nvPr/>
        </p:nvSpPr>
        <p:spPr>
          <a:xfrm>
            <a:off x="457200" y="1571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בוחרים שינוי קטן ושומרים אפיון</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הנחיות ומצב עבודה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22" name=""/>
          <p:cNvSpPr txBox="1"/>
          <p:nvPr/>
        </p:nvSpPr>
        <p:spPr>
          <a:xfrm>
            <a:off x="457200" y="2219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שלב שני</a:t>
            </a:r>
            <a:r>
              <a:rPr lang="en-IL" sz="1800" b="1" u="none" strike="noStrike">
                <a:solidFill>
                  <a:srgbClr val="262424"/>
                </a:solidFill>
                <a:effectLst/>
                <a:uFillTx/>
                <a:latin typeface="Helvetica-Bold"/>
                <a:ea typeface="Helvetica-Bold"/>
              </a:rPr>
              <a:t>: </a:t>
            </a:r>
            <a:r>
              <a:rPr lang="hi-IN" sz="1800" b="1" u="none" strike="noStrike">
                <a:solidFill>
                  <a:srgbClr val="262424"/>
                </a:solidFill>
                <a:effectLst/>
                <a:uFillTx/>
                <a:latin typeface="Arial-BoldMT"/>
                <a:cs typeface="Arial-BoldMT"/>
              </a:rPr>
              <a:t>פיתוח ובקרה</a:t>
            </a:r>
            <a:endParaRPr lang="en-IL" sz="1800" b="0" u="none" strike="noStrike">
              <a:solidFill>
                <a:srgbClr val="000000"/>
              </a:solidFill>
              <a:effectLst/>
              <a:uFillTx/>
              <a:latin typeface="Arial"/>
            </a:endParaRPr>
          </a:p>
        </p:txBody>
      </p:sp>
      <p:sp>
        <p:nvSpPr>
          <p:cNvPr id="423" name=""/>
          <p:cNvSpPr txBox="1"/>
          <p:nvPr/>
        </p:nvSpPr>
        <p:spPr>
          <a:xfrm>
            <a:off x="457200" y="2552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מממשים התנהגות אחת בשיטת </a:t>
            </a:r>
            <a:r>
              <a:rPr lang="en-IL" sz="1600" b="0" u="none" strike="noStrike">
                <a:solidFill>
                  <a:srgbClr val="262424"/>
                </a:solidFill>
                <a:effectLst/>
                <a:uFillTx/>
                <a:latin typeface="Arial"/>
                <a:ea typeface="Arial"/>
              </a:rPr>
              <a:t>TDD</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ומבקשים סקירה ממוקדת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24" name=""/>
          <p:cNvSpPr txBox="1"/>
          <p:nvPr/>
        </p:nvSpPr>
        <p:spPr>
          <a:xfrm>
            <a:off x="457200" y="3200400"/>
            <a:ext cx="822960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שלב שלישי</a:t>
            </a:r>
            <a:r>
              <a:rPr lang="en-IL" sz="1800" b="1" u="none" strike="noStrike">
                <a:solidFill>
                  <a:srgbClr val="262424"/>
                </a:solidFill>
                <a:effectLst/>
                <a:uFillTx/>
                <a:latin typeface="Helvetica-Bold"/>
                <a:ea typeface="Helvetica-Bold"/>
              </a:rPr>
              <a:t>: </a:t>
            </a:r>
            <a:r>
              <a:rPr lang="hi-IN" sz="1800" b="1" u="none" strike="noStrike">
                <a:solidFill>
                  <a:srgbClr val="262424"/>
                </a:solidFill>
                <a:effectLst/>
                <a:uFillTx/>
                <a:latin typeface="Arial-BoldMT"/>
                <a:cs typeface="Arial-BoldMT"/>
              </a:rPr>
              <a:t>שיחה חדשה</a:t>
            </a:r>
            <a:endParaRPr lang="en-IL" sz="1800" b="0" u="none" strike="noStrike">
              <a:solidFill>
                <a:srgbClr val="000000"/>
              </a:solidFill>
              <a:effectLst/>
              <a:uFillTx/>
              <a:latin typeface="Arial"/>
            </a:endParaRPr>
          </a:p>
        </p:txBody>
      </p:sp>
      <p:sp>
        <p:nvSpPr>
          <p:cNvPr id="425" name=""/>
          <p:cNvSpPr txBox="1"/>
          <p:nvPr/>
        </p:nvSpPr>
        <p:spPr>
          <a:xfrm>
            <a:off x="457200" y="3533760"/>
            <a:ext cx="822960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מבקשים מסוכן חדש להסביר את המצב ולהציע את הצעד הבא מתוך הקבצים</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26" name=""/>
          <p:cNvSpPr/>
          <p:nvPr/>
        </p:nvSpPr>
        <p:spPr>
          <a:xfrm>
            <a:off x="457200" y="4248000"/>
            <a:ext cx="8229960" cy="466920"/>
          </a:xfrm>
          <a:custGeom>
            <a:avLst/>
            <a:gdLst/>
            <a:ahLst/>
            <a:rect l="0" t="0" r="r" b="b"/>
            <a:pathLst>
              <a:path w="22861" h="1297">
                <a:moveTo>
                  <a:pt x="0" y="0"/>
                </a:moveTo>
                <a:lnTo>
                  <a:pt x="22861" y="0"/>
                </a:lnTo>
                <a:lnTo>
                  <a:pt x="22861" y="1297"/>
                </a:lnTo>
                <a:lnTo>
                  <a:pt x="0" y="1297"/>
                </a:lnTo>
                <a:lnTo>
                  <a:pt x="0" y="0"/>
                </a:lnTo>
                <a:close/>
              </a:path>
            </a:pathLst>
          </a:custGeom>
          <a:solidFill>
            <a:srgbClr val="F4D4F7"/>
          </a:solidFill>
          <a:ln w="0">
            <a:noFill/>
          </a:ln>
        </p:spPr>
        <p:txBody>
          <a:bodyPr lIns="90000" tIns="45000" rIns="90000" bIns="45000" anchor="t">
            <a:noAutofit/>
          </a:bodyPr>
          <a:p>
            <a:endParaRPr lang="en-IL" sz="1800" b="0" u="none" strike="noStrike">
              <a:solidFill>
                <a:srgbClr val="000000"/>
              </a:solidFill>
              <a:effectLst/>
              <a:uFillTx/>
              <a:latin typeface="Arial"/>
            </a:endParaRPr>
          </a:p>
        </p:txBody>
      </p:sp>
      <p:sp>
        <p:nvSpPr>
          <p:cNvPr id="427" name=""/>
          <p:cNvSpPr txBox="1"/>
          <p:nvPr/>
        </p:nvSpPr>
        <p:spPr>
          <a:xfrm>
            <a:off x="619200" y="4343400"/>
            <a:ext cx="7905600" cy="333360"/>
          </a:xfrm>
          <a:prstGeom prst="rect">
            <a:avLst/>
          </a:prstGeom>
          <a:noFill/>
          <a:ln w="0">
            <a:noFill/>
          </a:ln>
        </p:spPr>
        <p:txBody>
          <a:bodyPr lIns="90000" tIns="45000" rIns="90000" bIns="45000" anchor="t">
            <a:spAutoFit/>
          </a:bodyPr>
          <a:p>
            <a:pPr algn="r" rtl="1"/>
            <a:r>
              <a:rPr lang="hi-IN" sz="1500" b="1" u="none" strike="noStrike">
                <a:solidFill>
                  <a:srgbClr val="262424"/>
                </a:solidFill>
                <a:effectLst/>
                <a:uFillTx/>
                <a:latin typeface="Arial-BoldMT"/>
                <a:cs typeface="Arial-BoldMT"/>
              </a:rPr>
              <a:t>מבחן ההצלחה</a:t>
            </a:r>
            <a:r>
              <a:rPr lang="en-IL" sz="1500" b="1" u="none" strike="noStrike">
                <a:solidFill>
                  <a:srgbClr val="262424"/>
                </a:solidFill>
                <a:effectLst/>
                <a:uFillTx/>
                <a:latin typeface="Helvetica-Bold"/>
                <a:ea typeface="Helvetica-Bold"/>
              </a:rPr>
              <a:t>: </a:t>
            </a:r>
            <a:r>
              <a:rPr lang="hi-IN" sz="1500" b="1" u="none" strike="noStrike">
                <a:solidFill>
                  <a:srgbClr val="262424"/>
                </a:solidFill>
                <a:effectLst/>
                <a:uFillTx/>
                <a:latin typeface="Arial-BoldMT"/>
                <a:cs typeface="Arial-BoldMT"/>
              </a:rPr>
              <a:t>המשך עבודה ללא הסבר מחדש של הפרויקט</a:t>
            </a:r>
            <a:r>
              <a:rPr lang="en-IL" sz="1500" b="1" u="none" strike="noStrike">
                <a:solidFill>
                  <a:srgbClr val="262424"/>
                </a:solidFill>
                <a:effectLst/>
                <a:uFillTx/>
                <a:latin typeface="Helvetica-Bold"/>
                <a:ea typeface="Helvetica-Bold"/>
              </a:rPr>
              <a:t>.</a:t>
            </a:r>
            <a:endParaRPr lang="en-IL"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8" name=""/>
          <p:cNvSpPr txBox="1"/>
          <p:nvPr/>
        </p:nvSpPr>
        <p:spPr>
          <a:xfrm>
            <a:off x="457200" y="324000"/>
            <a:ext cx="8229600" cy="571680"/>
          </a:xfrm>
          <a:prstGeom prst="rect">
            <a:avLst/>
          </a:prstGeom>
          <a:noFill/>
          <a:ln w="0">
            <a:noFill/>
          </a:ln>
        </p:spPr>
        <p:txBody>
          <a:bodyPr lIns="90000" tIns="45000" rIns="90000" bIns="45000" anchor="t">
            <a:spAutoFit/>
          </a:bodyPr>
          <a:p>
            <a:pPr algn="r" rtl="1"/>
            <a:r>
              <a:rPr lang="hi-IN" sz="2800" b="1" u="none" strike="noStrike">
                <a:solidFill>
                  <a:srgbClr val="D75AE2"/>
                </a:solidFill>
                <a:effectLst/>
                <a:uFillTx/>
                <a:latin typeface="Arial-BoldMT"/>
                <a:cs typeface="Arial-BoldMT"/>
              </a:rPr>
              <a:t>מה נשאר בתיקייה בסיום</a:t>
            </a:r>
            <a:r>
              <a:rPr lang="en-IL" sz="2800" b="1" u="none" strike="noStrike">
                <a:solidFill>
                  <a:srgbClr val="D75AE2"/>
                </a:solidFill>
                <a:effectLst/>
                <a:uFillTx/>
                <a:latin typeface="Helvetica-Bold"/>
                <a:ea typeface="Helvetica-Bold"/>
              </a:rPr>
              <a:t>?</a:t>
            </a:r>
            <a:endParaRPr lang="en-IL" sz="2800" b="0" u="none" strike="noStrike">
              <a:solidFill>
                <a:srgbClr val="000000"/>
              </a:solidFill>
              <a:effectLst/>
              <a:uFillTx/>
              <a:latin typeface="Arial"/>
            </a:endParaRPr>
          </a:p>
        </p:txBody>
      </p:sp>
      <p:sp>
        <p:nvSpPr>
          <p:cNvPr id="429" name=""/>
          <p:cNvSpPr txBox="1"/>
          <p:nvPr/>
        </p:nvSpPr>
        <p:spPr>
          <a:xfrm>
            <a:off x="5905440" y="4876920"/>
            <a:ext cx="2781360" cy="206280"/>
          </a:xfrm>
          <a:prstGeom prst="rect">
            <a:avLst/>
          </a:prstGeom>
          <a:noFill/>
          <a:ln w="0">
            <a:noFill/>
          </a:ln>
        </p:spPr>
        <p:txBody>
          <a:bodyPr lIns="90000" tIns="45000" rIns="90000" bIns="45000" anchor="t">
            <a:spAutoFit/>
          </a:bodyPr>
          <a:p>
            <a:pPr algn="r" rtl="1"/>
            <a:r>
              <a:rPr lang="hi-IN" sz="800" b="0" u="none" strike="noStrike">
                <a:solidFill>
                  <a:srgbClr val="6F5A72"/>
                </a:solidFill>
                <a:effectLst/>
                <a:uFillTx/>
                <a:latin typeface="ArialMT"/>
                <a:cs typeface="ArialMT"/>
              </a:rPr>
              <a:t>שיעור</a:t>
            </a:r>
            <a:r>
              <a:rPr lang="en-IL" sz="800" b="0" u="none" strike="noStrike">
                <a:solidFill>
                  <a:srgbClr val="6F5A72"/>
                </a:solidFill>
                <a:effectLst/>
                <a:uFillTx/>
                <a:latin typeface="Arial"/>
                <a:ea typeface="Arial"/>
              </a:rPr>
              <a:t>: </a:t>
            </a:r>
            <a:r>
              <a:rPr lang="hi-IN" sz="800" b="0" u="none" strike="noStrike">
                <a:solidFill>
                  <a:srgbClr val="6F5A72"/>
                </a:solidFill>
                <a:effectLst/>
                <a:uFillTx/>
                <a:latin typeface="ArialMT"/>
                <a:cs typeface="ArialMT"/>
              </a:rPr>
              <a:t>פיתוח עם סוכני־קוד</a:t>
            </a:r>
            <a:endParaRPr lang="en-IL" sz="800" b="0" u="none" strike="noStrike">
              <a:solidFill>
                <a:srgbClr val="000000"/>
              </a:solidFill>
              <a:effectLst/>
              <a:uFillTx/>
              <a:latin typeface="Arial"/>
            </a:endParaRPr>
          </a:p>
        </p:txBody>
      </p:sp>
      <p:sp>
        <p:nvSpPr>
          <p:cNvPr id="430" name=""/>
          <p:cNvSpPr txBox="1"/>
          <p:nvPr/>
        </p:nvSpPr>
        <p:spPr>
          <a:xfrm>
            <a:off x="457200" y="4876920"/>
            <a:ext cx="333360" cy="192600"/>
          </a:xfrm>
          <a:prstGeom prst="rect">
            <a:avLst/>
          </a:prstGeom>
          <a:noFill/>
          <a:ln w="0">
            <a:noFill/>
          </a:ln>
        </p:spPr>
        <p:txBody>
          <a:bodyPr lIns="90000" tIns="45000" rIns="90000" bIns="45000" anchor="t">
            <a:spAutoFit/>
          </a:bodyPr>
          <a:p>
            <a:r>
              <a:rPr lang="en-IL" sz="800" b="0" u="none" strike="noStrike">
                <a:solidFill>
                  <a:srgbClr val="6F5A72"/>
                </a:solidFill>
                <a:effectLst/>
                <a:uFillTx/>
                <a:latin typeface="Arial"/>
                <a:ea typeface="Arial"/>
              </a:rPr>
              <a:t>50</a:t>
            </a:r>
            <a:endParaRPr lang="en-IL" sz="800" b="0" u="none" strike="noStrike">
              <a:solidFill>
                <a:srgbClr val="000000"/>
              </a:solidFill>
              <a:effectLst/>
              <a:uFillTx/>
              <a:latin typeface="Arial"/>
            </a:endParaRPr>
          </a:p>
        </p:txBody>
      </p:sp>
      <p:pic>
        <p:nvPicPr>
          <p:cNvPr id="431" name=""/>
          <p:cNvPicPr/>
          <p:nvPr/>
        </p:nvPicPr>
        <p:blipFill>
          <a:blip r:embed="rId1"/>
          <a:stretch/>
        </p:blipFill>
        <p:spPr>
          <a:xfrm>
            <a:off x="790200" y="1238400"/>
            <a:ext cx="1981800" cy="2971800"/>
          </a:xfrm>
          <a:prstGeom prst="rect">
            <a:avLst/>
          </a:prstGeom>
          <a:noFill/>
          <a:ln w="0">
            <a:noFill/>
          </a:ln>
        </p:spPr>
      </p:pic>
      <p:sp>
        <p:nvSpPr>
          <p:cNvPr id="432" name=""/>
          <p:cNvSpPr txBox="1"/>
          <p:nvPr/>
        </p:nvSpPr>
        <p:spPr>
          <a:xfrm>
            <a:off x="3619440" y="1257480"/>
            <a:ext cx="5048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ידע שאפשר להעביר</a:t>
            </a:r>
            <a:endParaRPr lang="en-IL" sz="1800" b="0" u="none" strike="noStrike">
              <a:solidFill>
                <a:srgbClr val="000000"/>
              </a:solidFill>
              <a:effectLst/>
              <a:uFillTx/>
              <a:latin typeface="Arial"/>
            </a:endParaRPr>
          </a:p>
        </p:txBody>
      </p:sp>
      <p:sp>
        <p:nvSpPr>
          <p:cNvPr id="433" name=""/>
          <p:cNvSpPr txBox="1"/>
          <p:nvPr/>
        </p:nvSpPr>
        <p:spPr>
          <a:xfrm>
            <a:off x="3619440" y="1590840"/>
            <a:ext cx="5048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אפיון עדכני</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החלטות מתועדות והוראות הפעלה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34" name=""/>
          <p:cNvSpPr txBox="1"/>
          <p:nvPr/>
        </p:nvSpPr>
        <p:spPr>
          <a:xfrm>
            <a:off x="3619440" y="2305080"/>
            <a:ext cx="5048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תוצר שאפשר לבדוק</a:t>
            </a:r>
            <a:endParaRPr lang="en-IL" sz="1800" b="0" u="none" strike="noStrike">
              <a:solidFill>
                <a:srgbClr val="000000"/>
              </a:solidFill>
              <a:effectLst/>
              <a:uFillTx/>
              <a:latin typeface="Arial"/>
            </a:endParaRPr>
          </a:p>
        </p:txBody>
      </p:sp>
      <p:sp>
        <p:nvSpPr>
          <p:cNvPr id="435" name=""/>
          <p:cNvSpPr txBox="1"/>
          <p:nvPr/>
        </p:nvSpPr>
        <p:spPr>
          <a:xfrm>
            <a:off x="3619440" y="2638440"/>
            <a:ext cx="5048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קוד</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בדיקות ותוצאות אימות שמקושרות לדרישות</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
        <p:nvSpPr>
          <p:cNvPr id="436" name=""/>
          <p:cNvSpPr txBox="1"/>
          <p:nvPr/>
        </p:nvSpPr>
        <p:spPr>
          <a:xfrm>
            <a:off x="3619440" y="3352680"/>
            <a:ext cx="5048280" cy="346320"/>
          </a:xfrm>
          <a:prstGeom prst="rect">
            <a:avLst/>
          </a:prstGeom>
          <a:noFill/>
          <a:ln w="0">
            <a:noFill/>
          </a:ln>
        </p:spPr>
        <p:txBody>
          <a:bodyPr lIns="90000" tIns="45000" rIns="90000" bIns="45000" anchor="t">
            <a:spAutoFit/>
          </a:bodyPr>
          <a:p>
            <a:pPr algn="r" rtl="1"/>
            <a:r>
              <a:rPr lang="hi-IN" sz="1800" b="1" u="none" strike="noStrike">
                <a:solidFill>
                  <a:srgbClr val="262424"/>
                </a:solidFill>
                <a:effectLst/>
                <a:uFillTx/>
                <a:latin typeface="Arial-BoldMT"/>
                <a:cs typeface="Arial-BoldMT"/>
              </a:rPr>
              <a:t>המשך עבודה ברור</a:t>
            </a:r>
            <a:endParaRPr lang="en-IL" sz="1800" b="0" u="none" strike="noStrike">
              <a:solidFill>
                <a:srgbClr val="000000"/>
              </a:solidFill>
              <a:effectLst/>
              <a:uFillTx/>
              <a:latin typeface="Arial"/>
            </a:endParaRPr>
          </a:p>
        </p:txBody>
      </p:sp>
      <p:sp>
        <p:nvSpPr>
          <p:cNvPr id="437" name=""/>
          <p:cNvSpPr txBox="1"/>
          <p:nvPr/>
        </p:nvSpPr>
        <p:spPr>
          <a:xfrm>
            <a:off x="3619440" y="3686040"/>
            <a:ext cx="5048280" cy="552600"/>
          </a:xfrm>
          <a:prstGeom prst="rect">
            <a:avLst/>
          </a:prstGeom>
          <a:noFill/>
          <a:ln w="0">
            <a:noFill/>
          </a:ln>
        </p:spPr>
        <p:txBody>
          <a:bodyPr lIns="90000" tIns="45000" rIns="90000" bIns="45000" anchor="t">
            <a:spAutoFit/>
          </a:bodyPr>
          <a:p>
            <a:pPr algn="r" rtl="1"/>
            <a:r>
              <a:rPr lang="hi-IN" sz="1600" b="0" u="none" strike="noStrike">
                <a:solidFill>
                  <a:srgbClr val="262424"/>
                </a:solidFill>
                <a:effectLst/>
                <a:uFillTx/>
                <a:latin typeface="ArialMT"/>
                <a:cs typeface="ArialMT"/>
              </a:rPr>
              <a:t>מצב הפרויקט והמשימה הבאה</a:t>
            </a:r>
            <a:r>
              <a:rPr lang="en-IL" sz="1600" b="0" u="none" strike="noStrike">
                <a:solidFill>
                  <a:srgbClr val="262424"/>
                </a:solidFill>
                <a:effectLst/>
                <a:uFillTx/>
                <a:latin typeface="Arial"/>
                <a:ea typeface="Arial"/>
              </a:rPr>
              <a:t>, </a:t>
            </a:r>
            <a:r>
              <a:rPr lang="hi-IN" sz="1600" b="0" u="none" strike="noStrike">
                <a:solidFill>
                  <a:srgbClr val="262424"/>
                </a:solidFill>
                <a:effectLst/>
                <a:uFillTx/>
                <a:latin typeface="ArialMT"/>
                <a:cs typeface="ArialMT"/>
              </a:rPr>
              <a:t>גם למי שלא קרא את השיחה</a:t>
            </a:r>
            <a:r>
              <a:rPr lang="en-IL" sz="1600" b="0" u="none" strike="noStrike">
                <a:solidFill>
                  <a:srgbClr val="262424"/>
                </a:solidFill>
                <a:effectLst/>
                <a:uFillTx/>
                <a:latin typeface="Arial"/>
                <a:ea typeface="Arial"/>
              </a:rPr>
              <a:t>.</a:t>
            </a:r>
            <a:endParaRPr lang="en-I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LibreOffice/26.2.5.2$MacOSX_AARCH64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en-IL</dc:language>
  <cp:lastModifiedBy/>
  <cp:revision>0</cp:revision>
  <dc:subject/>
  <dc:title/>
</cp:coreProperties>
</file>