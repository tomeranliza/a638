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8229600" cx="14630400"/>
  <p:notesSz cx="8229600" cy="14630400"/>
  <p:embeddedFontLst>
    <p:embeddedFont>
      <p:font typeface="Montserrat"/>
      <p:regular r:id="rId13"/>
      <p:bold r:id="rId14"/>
      <p:italic r:id="rId15"/>
      <p:boldItalic r:id="rId16"/>
    </p:embeddedFont>
    <p:embeddedFont>
      <p:font typeface="Assistant"/>
      <p:regular r:id="rId17"/>
      <p:bold r:id="rId18"/>
    </p:embeddedFont>
    <p:embeddedFont>
      <p:font typeface="Rubik"/>
      <p:regular r:id="rId19"/>
      <p:bold r:id="rId20"/>
      <p:italic r:id="rId21"/>
      <p:boldItalic r:id="rId22"/>
    </p:embeddedFont>
    <p:embeddedFont>
      <p:font typeface="Barlow"/>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xwq9N5rgOXahUBU6aLnvZjltL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ubik-bold.fntdata"/><Relationship Id="rId22" Type="http://schemas.openxmlformats.org/officeDocument/2006/relationships/font" Target="fonts/Rubik-boldItalic.fntdata"/><Relationship Id="rId21" Type="http://schemas.openxmlformats.org/officeDocument/2006/relationships/font" Target="fonts/Rubik-italic.fntdata"/><Relationship Id="rId24" Type="http://schemas.openxmlformats.org/officeDocument/2006/relationships/font" Target="fonts/Barlow-bold.fntdata"/><Relationship Id="rId23" Type="http://schemas.openxmlformats.org/officeDocument/2006/relationships/font" Target="fonts/Barlow-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arlow-boldItalic.fntdata"/><Relationship Id="rId25" Type="http://schemas.openxmlformats.org/officeDocument/2006/relationships/font" Target="fonts/Barlow-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Montserrat-regular.fntdata"/><Relationship Id="rId12" Type="http://schemas.openxmlformats.org/officeDocument/2006/relationships/slide" Target="slides/slide8.xml"/><Relationship Id="rId15" Type="http://schemas.openxmlformats.org/officeDocument/2006/relationships/font" Target="fonts/Montserrat-italic.fntdata"/><Relationship Id="rId14" Type="http://schemas.openxmlformats.org/officeDocument/2006/relationships/font" Target="fonts/Montserrat-bold.fntdata"/><Relationship Id="rId17" Type="http://schemas.openxmlformats.org/officeDocument/2006/relationships/font" Target="fonts/Assistant-regular.fntdata"/><Relationship Id="rId16" Type="http://schemas.openxmlformats.org/officeDocument/2006/relationships/font" Target="fonts/Montserrat-boldItalic.fntdata"/><Relationship Id="rId19" Type="http://schemas.openxmlformats.org/officeDocument/2006/relationships/font" Target="fonts/Rubik-regular.fntdata"/><Relationship Id="rId18" Type="http://schemas.openxmlformats.org/officeDocument/2006/relationships/font" Target="fonts/Assistan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c347053ea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6c347053ea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6c347053ea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6c347053ea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6c347053ea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b="1" lang="en-US" sz="1100">
                <a:solidFill>
                  <a:srgbClr val="011813"/>
                </a:solidFill>
                <a:highlight>
                  <a:srgbClr val="FFFFFF"/>
                </a:highlight>
                <a:latin typeface="Arial"/>
                <a:ea typeface="Arial"/>
                <a:cs typeface="Arial"/>
                <a:sym typeface="Arial"/>
              </a:rPr>
              <a:t>MVP</a:t>
            </a:r>
            <a:r>
              <a:rPr lang="en-US" sz="1100">
                <a:solidFill>
                  <a:srgbClr val="011813"/>
                </a:solidFill>
                <a:highlight>
                  <a:srgbClr val="FFFFFF"/>
                </a:highlight>
                <a:latin typeface="Arial"/>
                <a:ea typeface="Arial"/>
                <a:cs typeface="Arial"/>
                <a:sym typeface="Arial"/>
              </a:rPr>
              <a:t> זה ראשי תיבות של </a:t>
            </a:r>
            <a:r>
              <a:rPr b="1" lang="en-US" sz="1100">
                <a:solidFill>
                  <a:srgbClr val="011813"/>
                </a:solidFill>
                <a:highlight>
                  <a:srgbClr val="FFFFFF"/>
                </a:highlight>
                <a:latin typeface="Arial"/>
                <a:ea typeface="Arial"/>
                <a:cs typeface="Arial"/>
                <a:sym typeface="Arial"/>
              </a:rPr>
              <a:t>Minimum Viable Product</a:t>
            </a:r>
            <a:r>
              <a:rPr lang="en-US" sz="1100">
                <a:solidFill>
                  <a:srgbClr val="011813"/>
                </a:solidFill>
                <a:highlight>
                  <a:srgbClr val="FFFFFF"/>
                </a:highlight>
                <a:latin typeface="Arial"/>
                <a:ea typeface="Arial"/>
                <a:cs typeface="Arial"/>
                <a:sym typeface="Arial"/>
              </a:rPr>
              <a:t> (מוצר בר-קיימא ראשוני) שזה הוא קונספט בעולם הסטארט-אפים המתאר בנייה ופיתוח של מוצר בסיסי שמכיל את המינימום הנדרש (מבחינת יכולות ונראות) על מנת להתחיל. הרעיון בפיתוח MVP הוא לבדוק היתכנות לרעיון מסוים בגרסא ״הרזה״ ביותר שלו, כל זאת לפני שיוצאים לפיתוח מלא של המוצר (ומבזבזים זמן וכסף יקר).</a:t>
            </a:r>
            <a:endParaRPr sz="1100">
              <a:solidFill>
                <a:srgbClr val="011813"/>
              </a:solidFill>
              <a:highlight>
                <a:srgbClr val="FFFFFF"/>
              </a:highlight>
              <a:latin typeface="Arial"/>
              <a:ea typeface="Arial"/>
              <a:cs typeface="Arial"/>
              <a:sym typeface="Arial"/>
            </a:endParaRPr>
          </a:p>
          <a:p>
            <a:pPr indent="0" lvl="0" marL="0" rtl="1" algn="r">
              <a:lnSpc>
                <a:spcPct val="100000"/>
              </a:lnSpc>
              <a:spcBef>
                <a:spcPts val="0"/>
              </a:spcBef>
              <a:spcAft>
                <a:spcPts val="0"/>
              </a:spcAft>
              <a:buSzPts val="1400"/>
              <a:buNone/>
            </a:pPr>
            <a:r>
              <a:t/>
            </a:r>
            <a:endParaRPr sz="1100">
              <a:solidFill>
                <a:srgbClr val="011813"/>
              </a:solidFill>
              <a:highlight>
                <a:srgbClr val="FFFFFF"/>
              </a:highlight>
              <a:latin typeface="Arial"/>
              <a:ea typeface="Arial"/>
              <a:cs typeface="Arial"/>
              <a:sym typeface="Arial"/>
            </a:endParaRPr>
          </a:p>
          <a:p>
            <a:pPr indent="0" lvl="0" marL="0" rtl="1" algn="r">
              <a:lnSpc>
                <a:spcPct val="100000"/>
              </a:lnSpc>
              <a:spcBef>
                <a:spcPts val="0"/>
              </a:spcBef>
              <a:spcAft>
                <a:spcPts val="0"/>
              </a:spcAft>
              <a:buSzPts val="1400"/>
              <a:buNone/>
            </a:pPr>
            <a:r>
              <a:rPr b="1" lang="en-US" sz="1100">
                <a:solidFill>
                  <a:srgbClr val="011813"/>
                </a:solidFill>
                <a:highlight>
                  <a:srgbClr val="FFFFFF"/>
                </a:highlight>
                <a:latin typeface="Arial"/>
                <a:ea typeface="Arial"/>
                <a:cs typeface="Arial"/>
                <a:sym typeface="Arial"/>
              </a:rPr>
              <a:t>PRD</a:t>
            </a:r>
            <a:r>
              <a:rPr lang="en-US" sz="1100">
                <a:solidFill>
                  <a:srgbClr val="011813"/>
                </a:solidFill>
                <a:highlight>
                  <a:srgbClr val="FFFFFF"/>
                </a:highlight>
                <a:latin typeface="Arial"/>
                <a:ea typeface="Arial"/>
                <a:cs typeface="Arial"/>
                <a:sym typeface="Arial"/>
              </a:rPr>
              <a:t> זה קיצור של </a:t>
            </a:r>
            <a:r>
              <a:rPr b="1" lang="en-US" sz="1100">
                <a:solidFill>
                  <a:srgbClr val="011813"/>
                </a:solidFill>
                <a:highlight>
                  <a:srgbClr val="FFFFFF"/>
                </a:highlight>
                <a:latin typeface="Arial"/>
                <a:ea typeface="Arial"/>
                <a:cs typeface="Arial"/>
                <a:sym typeface="Arial"/>
              </a:rPr>
              <a:t>Product Requierments Document</a:t>
            </a:r>
            <a:r>
              <a:rPr lang="en-US" sz="1100">
                <a:solidFill>
                  <a:srgbClr val="011813"/>
                </a:solidFill>
                <a:highlight>
                  <a:srgbClr val="FFFFFF"/>
                </a:highlight>
                <a:latin typeface="Arial"/>
                <a:ea typeface="Arial"/>
                <a:cs typeface="Arial"/>
                <a:sym typeface="Arial"/>
              </a:rPr>
              <a:t>, או בעברית - </a:t>
            </a:r>
            <a:r>
              <a:rPr b="1" lang="en-US" sz="1100">
                <a:solidFill>
                  <a:srgbClr val="011813"/>
                </a:solidFill>
                <a:highlight>
                  <a:srgbClr val="FFFFFF"/>
                </a:highlight>
                <a:latin typeface="Arial"/>
                <a:ea typeface="Arial"/>
                <a:cs typeface="Arial"/>
                <a:sym typeface="Arial"/>
              </a:rPr>
              <a:t>מסמך דרישות מוצר</a:t>
            </a:r>
            <a:r>
              <a:rPr lang="en-US" sz="1100">
                <a:solidFill>
                  <a:srgbClr val="011813"/>
                </a:solidFill>
                <a:highlight>
                  <a:srgbClr val="FFFFFF"/>
                </a:highlight>
                <a:latin typeface="Arial"/>
                <a:ea typeface="Arial"/>
                <a:cs typeface="Arial"/>
                <a:sym typeface="Arial"/>
              </a:rPr>
              <a:t>. מדובר במסמך אשר מגדיר את הדרישות של מוצר/פרויקט מסוים - מטרות עיקריות, יעדים, פיצ׳רים, מסכים ועוד. מסמך PRD משמש כ״מדריך״ עבור הצוותים העסקיים והטכניים על מנת לבנות, להשיק ולשווק את המוצר - בין אם מדובר באפליקציה, אתר, פיצ׳ר חדש או כל יוזמה מוצרית אחרת.</a:t>
            </a:r>
            <a:endParaRPr sz="1100">
              <a:solidFill>
                <a:srgbClr val="011813"/>
              </a:solidFill>
              <a:highlight>
                <a:srgbClr val="FFFFFF"/>
              </a:highlight>
              <a:latin typeface="Arial"/>
              <a:ea typeface="Arial"/>
              <a:cs typeface="Arial"/>
              <a:sym typeface="Arial"/>
            </a:endParaRPr>
          </a:p>
        </p:txBody>
      </p:sp>
      <p:sp>
        <p:nvSpPr>
          <p:cNvPr id="97" name="Google Shape;97;g36c347053ea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a7fb579dc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6a7fb579dc_1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חשוב להבהיר להם שהאופציה הזו נותנת לנו רק את הפרונט של האפליקציה, בלי בקאנד - אי אפשר לשמור לוגים שהיוזרים עושים, שום מידע לא נשמר, כל הפעולות ש'מבצעים' בעמוד הן 'סתם' (==לא באמת קורה משהו בעקבותיהן). </a:t>
            </a:r>
            <a:endParaRPr/>
          </a:p>
          <a:p>
            <a:pPr indent="0" lvl="0" marL="0" rtl="1" algn="r">
              <a:lnSpc>
                <a:spcPct val="100000"/>
              </a:lnSpc>
              <a:spcBef>
                <a:spcPts val="0"/>
              </a:spcBef>
              <a:spcAft>
                <a:spcPts val="0"/>
              </a:spcAft>
              <a:buSzPts val="1400"/>
              <a:buNone/>
            </a:pPr>
            <a:r>
              <a:t/>
            </a:r>
            <a:endParaRPr/>
          </a:p>
        </p:txBody>
      </p:sp>
      <p:sp>
        <p:nvSpPr>
          <p:cNvPr id="108" name="Google Shape;108;g36a7fb579dc_1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c347053ea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6c347053ea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None/>
            </a:pPr>
            <a:r>
              <a:rPr lang="en-US" sz="1100">
                <a:solidFill>
                  <a:srgbClr val="011813"/>
                </a:solidFill>
                <a:highlight>
                  <a:srgbClr val="FFFFFF"/>
                </a:highlight>
                <a:latin typeface="Arial"/>
                <a:ea typeface="Arial"/>
                <a:cs typeface="Arial"/>
                <a:sym typeface="Arial"/>
              </a:rPr>
              <a:t>לעבור למסמך הדגמות למדריך! </a:t>
            </a:r>
            <a:endParaRPr sz="1100">
              <a:solidFill>
                <a:srgbClr val="011813"/>
              </a:solidFill>
              <a:highlight>
                <a:srgbClr val="FFFFFF"/>
              </a:highlight>
              <a:latin typeface="Arial"/>
              <a:ea typeface="Arial"/>
              <a:cs typeface="Arial"/>
              <a:sym typeface="Arial"/>
            </a:endParaRPr>
          </a:p>
        </p:txBody>
      </p:sp>
      <p:sp>
        <p:nvSpPr>
          <p:cNvPr id="120" name="Google Shape;120;g36c347053ea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a7fb579dc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6a7fb579dc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36a7fb579dc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4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4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pic>
        <p:nvPicPr>
          <p:cNvPr descr="preencoded.png" id="14" name="Google Shape;14;p4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5" name="Google Shape;15;p4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pic>
        <p:nvPicPr>
          <p:cNvPr descr="preencoded.png" id="17" name="Google Shape;17;p4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8" name="Google Shape;18;p4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9" name="Shape 19"/>
        <p:cNvGrpSpPr/>
        <p:nvPr/>
      </p:nvGrpSpPr>
      <p:grpSpPr>
        <a:xfrm>
          <a:off x="0" y="0"/>
          <a:ext cx="0" cy="0"/>
          <a:chOff x="0" y="0"/>
          <a:chExt cx="0" cy="0"/>
        </a:xfrm>
      </p:grpSpPr>
      <p:pic>
        <p:nvPicPr>
          <p:cNvPr descr="preencoded.png" id="20" name="Google Shape;20;p5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1" name="Google Shape;21;p5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22" name="Shape 22"/>
        <p:cNvGrpSpPr/>
        <p:nvPr/>
      </p:nvGrpSpPr>
      <p:grpSpPr>
        <a:xfrm>
          <a:off x="0" y="0"/>
          <a:ext cx="0" cy="0"/>
          <a:chOff x="0" y="0"/>
          <a:chExt cx="0" cy="0"/>
        </a:xfrm>
      </p:grpSpPr>
      <p:pic>
        <p:nvPicPr>
          <p:cNvPr descr="preencoded.png" id="23" name="Google Shape;23;p5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25" name="Shape 25"/>
        <p:cNvGrpSpPr/>
        <p:nvPr/>
      </p:nvGrpSpPr>
      <p:grpSpPr>
        <a:xfrm>
          <a:off x="0" y="0"/>
          <a:ext cx="0" cy="0"/>
          <a:chOff x="0" y="0"/>
          <a:chExt cx="0" cy="0"/>
        </a:xfrm>
      </p:grpSpPr>
      <p:pic>
        <p:nvPicPr>
          <p:cNvPr descr="preencoded.png" id="26" name="Google Shape;26;p5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7" name="Google Shape;27;p5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8" name="Shape 28"/>
        <p:cNvGrpSpPr/>
        <p:nvPr/>
      </p:nvGrpSpPr>
      <p:grpSpPr>
        <a:xfrm>
          <a:off x="0" y="0"/>
          <a:ext cx="0" cy="0"/>
          <a:chOff x="0" y="0"/>
          <a:chExt cx="0" cy="0"/>
        </a:xfrm>
      </p:grpSpPr>
      <p:pic>
        <p:nvPicPr>
          <p:cNvPr descr="preencoded.png" id="29" name="Google Shape;29;p5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0" name="Google Shape;30;p5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1" name="Shape 31"/>
        <p:cNvGrpSpPr/>
        <p:nvPr/>
      </p:nvGrpSpPr>
      <p:grpSpPr>
        <a:xfrm>
          <a:off x="0" y="0"/>
          <a:ext cx="0" cy="0"/>
          <a:chOff x="0" y="0"/>
          <a:chExt cx="0" cy="0"/>
        </a:xfrm>
      </p:grpSpPr>
      <p:pic>
        <p:nvPicPr>
          <p:cNvPr descr="preencoded.png" id="32" name="Google Shape;32;p5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3" name="Google Shape;33;p5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pic>
        <p:nvPicPr>
          <p:cNvPr descr="preencoded.png" id="35" name="Google Shape;35;p5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5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7" name="Shape 37"/>
        <p:cNvGrpSpPr/>
        <p:nvPr/>
      </p:nvGrpSpPr>
      <p:grpSpPr>
        <a:xfrm>
          <a:off x="0" y="0"/>
          <a:ext cx="0" cy="0"/>
          <a:chOff x="0" y="0"/>
          <a:chExt cx="0" cy="0"/>
        </a:xfrm>
      </p:grpSpPr>
      <p:pic>
        <p:nvPicPr>
          <p:cNvPr descr="preencoded.png" id="38" name="Google Shape;38;p5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9" name="Google Shape;39;p5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0" name="Shape 40"/>
        <p:cNvGrpSpPr/>
        <p:nvPr/>
      </p:nvGrpSpPr>
      <p:grpSpPr>
        <a:xfrm>
          <a:off x="0" y="0"/>
          <a:ext cx="0" cy="0"/>
          <a:chOff x="0" y="0"/>
          <a:chExt cx="0" cy="0"/>
        </a:xfrm>
      </p:grpSpPr>
      <p:pic>
        <p:nvPicPr>
          <p:cNvPr descr="preencoded.png" id="41" name="Google Shape;41;p5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2" name="Google Shape;42;p5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pic>
        <p:nvPicPr>
          <p:cNvPr descr="preencoded.png" id="44" name="Google Shape;44;p5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5" name="Google Shape;45;p5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46" name="Shape 46"/>
        <p:cNvGrpSpPr/>
        <p:nvPr/>
      </p:nvGrpSpPr>
      <p:grpSpPr>
        <a:xfrm>
          <a:off x="0" y="0"/>
          <a:ext cx="0" cy="0"/>
          <a:chOff x="0" y="0"/>
          <a:chExt cx="0" cy="0"/>
        </a:xfrm>
      </p:grpSpPr>
      <p:pic>
        <p:nvPicPr>
          <p:cNvPr descr="preencoded.png" id="47" name="Google Shape;47;p5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5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9" name="Shape 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descr="preencoded.png" id="55" name="Google Shape;55;p1"/>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pic>
        <p:nvPicPr>
          <p:cNvPr descr="preencoded.png" id="56" name="Google Shape;56;p1"/>
          <p:cNvPicPr preferRelativeResize="0"/>
          <p:nvPr/>
        </p:nvPicPr>
        <p:blipFill rotWithShape="1">
          <a:blip r:embed="rId4">
            <a:alphaModFix/>
          </a:blip>
          <a:srcRect b="0" l="0" r="0" t="0"/>
          <a:stretch/>
        </p:blipFill>
        <p:spPr>
          <a:xfrm>
            <a:off x="2654265" y="4877363"/>
            <a:ext cx="2788801" cy="1233249"/>
          </a:xfrm>
          <a:prstGeom prst="rect">
            <a:avLst/>
          </a:prstGeom>
          <a:noFill/>
          <a:ln>
            <a:noFill/>
          </a:ln>
        </p:spPr>
      </p:pic>
      <p:sp>
        <p:nvSpPr>
          <p:cNvPr id="57" name="Google Shape;57;p1"/>
          <p:cNvSpPr/>
          <p:nvPr/>
        </p:nvSpPr>
        <p:spPr>
          <a:xfrm>
            <a:off x="-279274" y="2048700"/>
            <a:ext cx="8655900" cy="570000"/>
          </a:xfrm>
          <a:prstGeom prst="rect">
            <a:avLst/>
          </a:prstGeom>
          <a:noFill/>
          <a:ln>
            <a:noFill/>
          </a:ln>
        </p:spPr>
        <p:txBody>
          <a:bodyPr anchorCtr="0" anchor="t" bIns="0" lIns="0" spcFirstLastPara="1" rIns="0" wrap="square" tIns="0">
            <a:noAutofit/>
          </a:bodyPr>
          <a:lstStyle/>
          <a:p>
            <a:pPr indent="0" lvl="0" marL="457200" rtl="0" algn="ctr">
              <a:lnSpc>
                <a:spcPct val="115000"/>
              </a:lnSpc>
              <a:spcBef>
                <a:spcPts val="0"/>
              </a:spcBef>
              <a:spcAft>
                <a:spcPts val="0"/>
              </a:spcAft>
              <a:buClr>
                <a:schemeClr val="dk1"/>
              </a:buClr>
              <a:buSzPts val="6000"/>
              <a:buFont typeface="Arial"/>
              <a:buNone/>
            </a:pPr>
            <a:r>
              <a:rPr b="1" lang="en-US" sz="6600">
                <a:solidFill>
                  <a:srgbClr val="384653"/>
                </a:solidFill>
                <a:latin typeface="Barlow"/>
                <a:ea typeface="Barlow"/>
                <a:cs typeface="Barlow"/>
                <a:sym typeface="Barlow"/>
              </a:rPr>
              <a:t>Custom web-pages and Prototyping</a:t>
            </a:r>
            <a:endParaRPr b="1" sz="8150">
              <a:solidFill>
                <a:srgbClr val="2E3C4E"/>
              </a:solidFill>
              <a:latin typeface="Barlow"/>
              <a:ea typeface="Barlow"/>
              <a:cs typeface="Barlow"/>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nvSpPr>
        <p:spPr>
          <a:xfrm>
            <a:off x="492300" y="1647550"/>
            <a:ext cx="10342800" cy="1652400"/>
          </a:xfrm>
          <a:prstGeom prst="rect">
            <a:avLst/>
          </a:prstGeom>
          <a:noFill/>
          <a:ln>
            <a:noFill/>
          </a:ln>
        </p:spPr>
        <p:txBody>
          <a:bodyPr anchorCtr="0" anchor="t" bIns="45700" lIns="91425" spcFirstLastPara="1" rIns="91425" wrap="square" tIns="45700">
            <a:spAutoFit/>
          </a:bodyPr>
          <a:lstStyle/>
          <a:p>
            <a:pPr indent="-400050" lvl="0" marL="457200" rtl="0" algn="l">
              <a:lnSpc>
                <a:spcPct val="125352"/>
              </a:lnSpc>
              <a:spcBef>
                <a:spcPts val="0"/>
              </a:spcBef>
              <a:spcAft>
                <a:spcPts val="0"/>
              </a:spcAft>
              <a:buSzPts val="2700"/>
              <a:buFont typeface="Assistant"/>
              <a:buAutoNum type="arabicPeriod"/>
            </a:pPr>
            <a:r>
              <a:rPr lang="en-US" sz="2700">
                <a:latin typeface="Assistant"/>
                <a:ea typeface="Assistant"/>
                <a:cs typeface="Assistant"/>
                <a:sym typeface="Assistant"/>
              </a:rPr>
              <a:t>What is Prototyping?</a:t>
            </a:r>
            <a:endParaRPr sz="4000">
              <a:solidFill>
                <a:schemeClr val="dk1"/>
              </a:solidFill>
            </a:endParaRPr>
          </a:p>
          <a:p>
            <a:pPr indent="-457200" lvl="0" marL="457200" marR="0" rtl="0" algn="l">
              <a:lnSpc>
                <a:spcPct val="150000"/>
              </a:lnSpc>
              <a:spcBef>
                <a:spcPts val="0"/>
              </a:spcBef>
              <a:spcAft>
                <a:spcPts val="0"/>
              </a:spcAft>
              <a:buSzPts val="2700"/>
              <a:buFont typeface="Assistant"/>
              <a:buAutoNum type="arabicPeriod"/>
            </a:pPr>
            <a:r>
              <a:rPr lang="en-US" sz="2700">
                <a:latin typeface="Assistant"/>
                <a:ea typeface="Assistant"/>
                <a:cs typeface="Assistant"/>
                <a:sym typeface="Assistant"/>
              </a:rPr>
              <a:t>Two ways to start</a:t>
            </a:r>
            <a:endParaRPr sz="2700">
              <a:latin typeface="Assistant"/>
              <a:ea typeface="Assistant"/>
              <a:cs typeface="Assistant"/>
              <a:sym typeface="Assistant"/>
            </a:endParaRPr>
          </a:p>
          <a:p>
            <a:pPr indent="-457200" lvl="0" marL="457200" marR="0" rtl="0" algn="l">
              <a:lnSpc>
                <a:spcPct val="150000"/>
              </a:lnSpc>
              <a:spcBef>
                <a:spcPts val="0"/>
              </a:spcBef>
              <a:spcAft>
                <a:spcPts val="0"/>
              </a:spcAft>
              <a:buSzPts val="2700"/>
              <a:buFont typeface="Assistant"/>
              <a:buAutoNum type="arabicPeriod"/>
            </a:pPr>
            <a:r>
              <a:rPr lang="en-US" sz="2700">
                <a:latin typeface="Assistant"/>
                <a:ea typeface="Assistant"/>
                <a:cs typeface="Assistant"/>
                <a:sym typeface="Assistant"/>
              </a:rPr>
              <a:t>Demonstrations on the tools</a:t>
            </a:r>
            <a:endParaRPr b="0" i="0" sz="2100" u="none" cap="none" strike="noStrike">
              <a:solidFill>
                <a:srgbClr val="000000"/>
              </a:solidFill>
              <a:latin typeface="Assistant"/>
              <a:ea typeface="Assistant"/>
              <a:cs typeface="Assistant"/>
              <a:sym typeface="Assistant"/>
            </a:endParaRPr>
          </a:p>
        </p:txBody>
      </p:sp>
      <p:sp>
        <p:nvSpPr>
          <p:cNvPr id="64" name="Google Shape;64;p2"/>
          <p:cNvSpPr/>
          <p:nvPr/>
        </p:nvSpPr>
        <p:spPr>
          <a:xfrm>
            <a:off x="492302" y="313157"/>
            <a:ext cx="4561284" cy="570071"/>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E3C4E"/>
              </a:buClr>
              <a:buSzPts val="3550"/>
              <a:buFont typeface="Barlow"/>
              <a:buNone/>
            </a:pPr>
            <a:r>
              <a:rPr b="1" i="0" lang="en-US" sz="4850" u="none" cap="none" strike="noStrike">
                <a:solidFill>
                  <a:srgbClr val="2E3C4E"/>
                </a:solidFill>
                <a:latin typeface="Barlow"/>
                <a:ea typeface="Barlow"/>
                <a:cs typeface="Barlow"/>
                <a:sym typeface="Barlow"/>
              </a:rPr>
              <a:t>Agenda </a:t>
            </a:r>
            <a:endParaRPr b="0" i="0" sz="485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6"/>
          <p:cNvSpPr/>
          <p:nvPr/>
        </p:nvSpPr>
        <p:spPr>
          <a:xfrm>
            <a:off x="542174" y="515075"/>
            <a:ext cx="6745500" cy="570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E3C4E"/>
              </a:buClr>
              <a:buSzPts val="3550"/>
              <a:buFont typeface="Barlow"/>
              <a:buNone/>
            </a:pPr>
            <a:r>
              <a:rPr b="1" i="0" lang="en-US" sz="4000" u="none" cap="none" strike="noStrike">
                <a:solidFill>
                  <a:srgbClr val="2E3C4E"/>
                </a:solidFill>
                <a:latin typeface="Barlow"/>
                <a:ea typeface="Barlow"/>
                <a:cs typeface="Barlow"/>
                <a:sym typeface="Barlow"/>
              </a:rPr>
              <a:t>What is Prototyping?</a:t>
            </a:r>
            <a:endParaRPr b="0" i="0" sz="4000" u="none" cap="none" strike="noStrike">
              <a:solidFill>
                <a:srgbClr val="000000"/>
              </a:solidFill>
              <a:latin typeface="Arial"/>
              <a:ea typeface="Arial"/>
              <a:cs typeface="Arial"/>
              <a:sym typeface="Arial"/>
            </a:endParaRPr>
          </a:p>
        </p:txBody>
      </p:sp>
      <p:sp>
        <p:nvSpPr>
          <p:cNvPr id="71" name="Google Shape;71;p26"/>
          <p:cNvSpPr/>
          <p:nvPr/>
        </p:nvSpPr>
        <p:spPr>
          <a:xfrm>
            <a:off x="570900" y="1544896"/>
            <a:ext cx="13488600" cy="11502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84653"/>
              </a:buClr>
              <a:buSzPts val="2100"/>
              <a:buFont typeface="Montserrat"/>
              <a:buNone/>
            </a:pPr>
            <a:r>
              <a:rPr b="1" i="0" lang="en-US" sz="2300" u="none" cap="none" strike="noStrike">
                <a:solidFill>
                  <a:srgbClr val="384653"/>
                </a:solidFill>
                <a:latin typeface="Montserrat"/>
                <a:ea typeface="Montserrat"/>
                <a:cs typeface="Montserrat"/>
                <a:sym typeface="Montserrat"/>
              </a:rPr>
              <a:t>Definition:</a:t>
            </a:r>
            <a:r>
              <a:rPr b="0" i="0" lang="en-US" sz="2300" u="none" cap="none" strike="noStrike">
                <a:solidFill>
                  <a:srgbClr val="384653"/>
                </a:solidFill>
                <a:latin typeface="Montserrat"/>
                <a:ea typeface="Montserrat"/>
                <a:cs typeface="Montserrat"/>
                <a:sym typeface="Montserrat"/>
              </a:rPr>
              <a:t> Prototyping is the process of </a:t>
            </a:r>
            <a:r>
              <a:rPr b="1" i="0" lang="en-US" sz="2300" u="none" cap="none" strike="noStrike">
                <a:solidFill>
                  <a:srgbClr val="384653"/>
                </a:solidFill>
                <a:latin typeface="Montserrat"/>
                <a:ea typeface="Montserrat"/>
                <a:cs typeface="Montserrat"/>
                <a:sym typeface="Montserrat"/>
              </a:rPr>
              <a:t>quickly creating a simplified version of a product</a:t>
            </a:r>
            <a:r>
              <a:rPr b="0" i="0" lang="en-US" sz="2300" u="none" cap="none" strike="noStrike">
                <a:solidFill>
                  <a:srgbClr val="384653"/>
                </a:solidFill>
                <a:latin typeface="Montserrat"/>
                <a:ea typeface="Montserrat"/>
                <a:cs typeface="Montserrat"/>
                <a:sym typeface="Montserrat"/>
              </a:rPr>
              <a:t> to test ideas, features, or workflows before full development.</a:t>
            </a:r>
            <a:endParaRPr b="0" i="0" sz="2300" u="none" cap="none" strike="noStrike">
              <a:solidFill>
                <a:srgbClr val="000000"/>
              </a:solidFill>
              <a:latin typeface="Arial"/>
              <a:ea typeface="Arial"/>
              <a:cs typeface="Arial"/>
              <a:sym typeface="Arial"/>
            </a:endParaRPr>
          </a:p>
        </p:txBody>
      </p:sp>
      <p:sp>
        <p:nvSpPr>
          <p:cNvPr id="72" name="Google Shape;72;p26"/>
          <p:cNvSpPr/>
          <p:nvPr/>
        </p:nvSpPr>
        <p:spPr>
          <a:xfrm>
            <a:off x="650376" y="3110026"/>
            <a:ext cx="13488600" cy="4335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84653"/>
              </a:buClr>
              <a:buSzPts val="2100"/>
              <a:buFont typeface="Montserrat"/>
              <a:buNone/>
            </a:pPr>
            <a:r>
              <a:rPr b="1" i="0" lang="en-US" sz="2300" u="none" cap="none" strike="noStrike">
                <a:solidFill>
                  <a:srgbClr val="384653"/>
                </a:solidFill>
                <a:highlight>
                  <a:srgbClr val="F2F2F2"/>
                </a:highlight>
                <a:latin typeface="Montserrat"/>
                <a:ea typeface="Montserrat"/>
                <a:cs typeface="Montserrat"/>
                <a:sym typeface="Montserrat"/>
              </a:rPr>
              <a:t>Purpose of Prototyping:</a:t>
            </a:r>
            <a:endParaRPr b="0" i="0" sz="2300" u="none" cap="none" strike="noStrike">
              <a:solidFill>
                <a:srgbClr val="000000"/>
              </a:solidFill>
              <a:latin typeface="Arial"/>
              <a:ea typeface="Arial"/>
              <a:cs typeface="Arial"/>
              <a:sym typeface="Arial"/>
            </a:endParaRPr>
          </a:p>
        </p:txBody>
      </p:sp>
      <p:sp>
        <p:nvSpPr>
          <p:cNvPr id="73" name="Google Shape;73;p26"/>
          <p:cNvSpPr/>
          <p:nvPr/>
        </p:nvSpPr>
        <p:spPr>
          <a:xfrm>
            <a:off x="574176" y="3738320"/>
            <a:ext cx="13488600" cy="433500"/>
          </a:xfrm>
          <a:prstGeom prst="rect">
            <a:avLst/>
          </a:prstGeom>
          <a:noFill/>
          <a:ln>
            <a:noFill/>
          </a:ln>
        </p:spPr>
        <p:txBody>
          <a:bodyPr anchorCtr="0" anchor="t" bIns="0" lIns="0" spcFirstLastPara="1" rIns="0" wrap="square" tIns="0">
            <a:noAutofit/>
          </a:bodyPr>
          <a:lstStyle/>
          <a:p>
            <a:pPr indent="-342900" lvl="0" marL="342900" marR="0" rtl="0" algn="l">
              <a:lnSpc>
                <a:spcPct val="158823"/>
              </a:lnSpc>
              <a:spcBef>
                <a:spcPts val="0"/>
              </a:spcBef>
              <a:spcAft>
                <a:spcPts val="0"/>
              </a:spcAft>
              <a:buClr>
                <a:srgbClr val="384653"/>
              </a:buClr>
              <a:buSzPts val="1900"/>
              <a:buFont typeface="Montserrat"/>
              <a:buChar char="•"/>
            </a:pPr>
            <a:r>
              <a:rPr b="0" i="0" lang="en-US" sz="2000" u="none" cap="none" strike="noStrike">
                <a:solidFill>
                  <a:srgbClr val="384653"/>
                </a:solidFill>
                <a:latin typeface="Montserrat"/>
                <a:ea typeface="Montserrat"/>
                <a:cs typeface="Montserrat"/>
                <a:sym typeface="Montserrat"/>
              </a:rPr>
              <a:t>Explore and validate ideas with real users</a:t>
            </a:r>
            <a:endParaRPr b="0" i="0" sz="2000" u="none" cap="none" strike="noStrike">
              <a:solidFill>
                <a:srgbClr val="000000"/>
              </a:solidFill>
              <a:latin typeface="Arial"/>
              <a:ea typeface="Arial"/>
              <a:cs typeface="Arial"/>
              <a:sym typeface="Arial"/>
            </a:endParaRPr>
          </a:p>
        </p:txBody>
      </p:sp>
      <p:sp>
        <p:nvSpPr>
          <p:cNvPr id="74" name="Google Shape;74;p26"/>
          <p:cNvSpPr/>
          <p:nvPr/>
        </p:nvSpPr>
        <p:spPr>
          <a:xfrm>
            <a:off x="574157" y="4247426"/>
            <a:ext cx="13488300" cy="433500"/>
          </a:xfrm>
          <a:prstGeom prst="rect">
            <a:avLst/>
          </a:prstGeom>
          <a:noFill/>
          <a:ln>
            <a:noFill/>
          </a:ln>
        </p:spPr>
        <p:txBody>
          <a:bodyPr anchorCtr="0" anchor="t" bIns="0" lIns="0" spcFirstLastPara="1" rIns="0" wrap="square" tIns="0">
            <a:noAutofit/>
          </a:bodyPr>
          <a:lstStyle/>
          <a:p>
            <a:pPr indent="-342900" lvl="0" marL="342900" marR="0" rtl="0" algn="l">
              <a:lnSpc>
                <a:spcPct val="158823"/>
              </a:lnSpc>
              <a:spcBef>
                <a:spcPts val="0"/>
              </a:spcBef>
              <a:spcAft>
                <a:spcPts val="0"/>
              </a:spcAft>
              <a:buClr>
                <a:srgbClr val="384653"/>
              </a:buClr>
              <a:buSzPts val="1900"/>
              <a:buFont typeface="Montserrat"/>
              <a:buChar char="•"/>
            </a:pPr>
            <a:r>
              <a:rPr b="0" i="0" lang="en-US" sz="2000" u="none" cap="none" strike="noStrike">
                <a:solidFill>
                  <a:srgbClr val="384653"/>
                </a:solidFill>
                <a:latin typeface="Montserrat"/>
                <a:ea typeface="Montserrat"/>
                <a:cs typeface="Montserrat"/>
                <a:sym typeface="Montserrat"/>
              </a:rPr>
              <a:t>Get early feedback without full commitment</a:t>
            </a:r>
            <a:endParaRPr b="0" i="0" sz="2000" u="none" cap="none" strike="noStrike">
              <a:solidFill>
                <a:srgbClr val="000000"/>
              </a:solidFill>
              <a:latin typeface="Arial"/>
              <a:ea typeface="Arial"/>
              <a:cs typeface="Arial"/>
              <a:sym typeface="Arial"/>
            </a:endParaRPr>
          </a:p>
        </p:txBody>
      </p:sp>
      <p:sp>
        <p:nvSpPr>
          <p:cNvPr id="75" name="Google Shape;75;p26"/>
          <p:cNvSpPr/>
          <p:nvPr/>
        </p:nvSpPr>
        <p:spPr>
          <a:xfrm>
            <a:off x="574176" y="4732731"/>
            <a:ext cx="13488300" cy="433500"/>
          </a:xfrm>
          <a:prstGeom prst="rect">
            <a:avLst/>
          </a:prstGeom>
          <a:noFill/>
          <a:ln>
            <a:noFill/>
          </a:ln>
        </p:spPr>
        <p:txBody>
          <a:bodyPr anchorCtr="0" anchor="t" bIns="0" lIns="0" spcFirstLastPara="1" rIns="0" wrap="square" tIns="0">
            <a:noAutofit/>
          </a:bodyPr>
          <a:lstStyle/>
          <a:p>
            <a:pPr indent="-342900" lvl="0" marL="342900" marR="0" rtl="0" algn="l">
              <a:lnSpc>
                <a:spcPct val="158823"/>
              </a:lnSpc>
              <a:spcBef>
                <a:spcPts val="0"/>
              </a:spcBef>
              <a:spcAft>
                <a:spcPts val="0"/>
              </a:spcAft>
              <a:buClr>
                <a:srgbClr val="384653"/>
              </a:buClr>
              <a:buSzPts val="1900"/>
              <a:buFont typeface="Montserrat"/>
              <a:buChar char="•"/>
            </a:pPr>
            <a:r>
              <a:rPr b="0" i="0" lang="en-US" sz="2000" u="none" cap="none" strike="noStrike">
                <a:solidFill>
                  <a:srgbClr val="384653"/>
                </a:solidFill>
                <a:latin typeface="Montserrat"/>
                <a:ea typeface="Montserrat"/>
                <a:cs typeface="Montserrat"/>
                <a:sym typeface="Montserrat"/>
              </a:rPr>
              <a:t>Iterate rapidly on design, logic, or interface</a:t>
            </a:r>
            <a:endParaRPr b="0" i="0" sz="2000" u="none" cap="none" strike="noStrike">
              <a:solidFill>
                <a:srgbClr val="000000"/>
              </a:solidFill>
              <a:latin typeface="Arial"/>
              <a:ea typeface="Arial"/>
              <a:cs typeface="Arial"/>
              <a:sym typeface="Arial"/>
            </a:endParaRPr>
          </a:p>
        </p:txBody>
      </p:sp>
      <p:sp>
        <p:nvSpPr>
          <p:cNvPr id="76" name="Google Shape;76;p26"/>
          <p:cNvSpPr/>
          <p:nvPr/>
        </p:nvSpPr>
        <p:spPr>
          <a:xfrm>
            <a:off x="574157" y="5241846"/>
            <a:ext cx="13488300" cy="433500"/>
          </a:xfrm>
          <a:prstGeom prst="rect">
            <a:avLst/>
          </a:prstGeom>
          <a:noFill/>
          <a:ln>
            <a:noFill/>
          </a:ln>
        </p:spPr>
        <p:txBody>
          <a:bodyPr anchorCtr="0" anchor="t" bIns="0" lIns="0" spcFirstLastPara="1" rIns="0" wrap="square" tIns="0">
            <a:noAutofit/>
          </a:bodyPr>
          <a:lstStyle/>
          <a:p>
            <a:pPr indent="-342900" lvl="0" marL="342900" marR="0" rtl="0" algn="l">
              <a:lnSpc>
                <a:spcPct val="158823"/>
              </a:lnSpc>
              <a:spcBef>
                <a:spcPts val="0"/>
              </a:spcBef>
              <a:spcAft>
                <a:spcPts val="0"/>
              </a:spcAft>
              <a:buClr>
                <a:srgbClr val="384653"/>
              </a:buClr>
              <a:buSzPts val="1900"/>
              <a:buFont typeface="Montserrat"/>
              <a:buChar char="•"/>
            </a:pPr>
            <a:r>
              <a:rPr b="0" i="0" lang="en-US" sz="2000" u="none" cap="none" strike="noStrike">
                <a:solidFill>
                  <a:srgbClr val="384653"/>
                </a:solidFill>
                <a:latin typeface="Montserrat"/>
                <a:ea typeface="Montserrat"/>
                <a:cs typeface="Montserrat"/>
                <a:sym typeface="Montserrat"/>
              </a:rPr>
              <a:t>Communicate concepts to stakeholders or investors</a:t>
            </a:r>
            <a:endParaRPr b="0" i="0" sz="2000" u="none" cap="none" strike="noStrike">
              <a:solidFill>
                <a:srgbClr val="000000"/>
              </a:solidFill>
              <a:latin typeface="Arial"/>
              <a:ea typeface="Arial"/>
              <a:cs typeface="Arial"/>
              <a:sym typeface="Arial"/>
            </a:endParaRPr>
          </a:p>
        </p:txBody>
      </p:sp>
      <p:sp>
        <p:nvSpPr>
          <p:cNvPr id="77" name="Google Shape;77;p26"/>
          <p:cNvSpPr/>
          <p:nvPr/>
        </p:nvSpPr>
        <p:spPr>
          <a:xfrm>
            <a:off x="650535" y="6083881"/>
            <a:ext cx="13488300" cy="4335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84653"/>
              </a:buClr>
              <a:buSzPts val="2100"/>
              <a:buFont typeface="Montserrat"/>
              <a:buNone/>
            </a:pPr>
            <a:r>
              <a:rPr b="1" i="0" lang="en-US" sz="2300" u="none" cap="none" strike="noStrike">
                <a:solidFill>
                  <a:srgbClr val="384653"/>
                </a:solidFill>
                <a:highlight>
                  <a:srgbClr val="F2F2F2"/>
                </a:highlight>
                <a:latin typeface="Montserrat"/>
                <a:ea typeface="Montserrat"/>
                <a:cs typeface="Montserrat"/>
                <a:sym typeface="Montserrat"/>
              </a:rPr>
              <a:t>Why it matters:</a:t>
            </a:r>
            <a:endParaRPr b="0" i="0" sz="2300" u="none" cap="none" strike="noStrike">
              <a:solidFill>
                <a:srgbClr val="000000"/>
              </a:solidFill>
              <a:latin typeface="Arial"/>
              <a:ea typeface="Arial"/>
              <a:cs typeface="Arial"/>
              <a:sym typeface="Arial"/>
            </a:endParaRPr>
          </a:p>
        </p:txBody>
      </p:sp>
      <p:sp>
        <p:nvSpPr>
          <p:cNvPr id="78" name="Google Shape;78;p26"/>
          <p:cNvSpPr/>
          <p:nvPr/>
        </p:nvSpPr>
        <p:spPr>
          <a:xfrm>
            <a:off x="676905" y="6820123"/>
            <a:ext cx="13488300" cy="8973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2000" u="none" cap="none" strike="noStrike">
                <a:solidFill>
                  <a:srgbClr val="384653"/>
                </a:solidFill>
                <a:latin typeface="Montserrat"/>
                <a:ea typeface="Montserrat"/>
                <a:cs typeface="Montserrat"/>
                <a:sym typeface="Montserrat"/>
              </a:rPr>
              <a:t>LLM-based systems for Vibe-Coding are costly and depend heavily on </a:t>
            </a:r>
            <a:r>
              <a:rPr b="1" i="0" lang="en-US" sz="2000" u="none" cap="none" strike="noStrike">
                <a:solidFill>
                  <a:srgbClr val="384653"/>
                </a:solidFill>
                <a:latin typeface="Montserrat"/>
                <a:ea typeface="Montserrat"/>
                <a:cs typeface="Montserrat"/>
                <a:sym typeface="Montserrat"/>
              </a:rPr>
              <a:t>user interaction</a:t>
            </a:r>
            <a:r>
              <a:rPr b="0" i="0" lang="en-US" sz="2000" u="none" cap="none" strike="noStrike">
                <a:solidFill>
                  <a:srgbClr val="384653"/>
                </a:solidFill>
                <a:latin typeface="Montserrat"/>
                <a:ea typeface="Montserrat"/>
                <a:cs typeface="Montserrat"/>
                <a:sym typeface="Montserrat"/>
              </a:rPr>
              <a:t>, </a:t>
            </a:r>
            <a:r>
              <a:rPr b="1" i="0" lang="en-US" sz="2000" u="none" cap="none" strike="noStrike">
                <a:solidFill>
                  <a:srgbClr val="384653"/>
                </a:solidFill>
                <a:latin typeface="Montserrat"/>
                <a:ea typeface="Montserrat"/>
                <a:cs typeface="Montserrat"/>
                <a:sym typeface="Montserrat"/>
              </a:rPr>
              <a:t>prompt design</a:t>
            </a:r>
            <a:r>
              <a:rPr b="0" i="0" lang="en-US" sz="2000" u="none" cap="none" strike="noStrike">
                <a:solidFill>
                  <a:srgbClr val="384653"/>
                </a:solidFill>
                <a:latin typeface="Montserrat"/>
                <a:ea typeface="Montserrat"/>
                <a:cs typeface="Montserrat"/>
                <a:sym typeface="Montserrat"/>
              </a:rPr>
              <a:t>, and </a:t>
            </a:r>
            <a:r>
              <a:rPr b="1" i="0" lang="en-US" sz="2000" u="none" cap="none" strike="noStrike">
                <a:solidFill>
                  <a:srgbClr val="384653"/>
                </a:solidFill>
                <a:latin typeface="Montserrat"/>
                <a:ea typeface="Montserrat"/>
                <a:cs typeface="Montserrat"/>
                <a:sym typeface="Montserrat"/>
              </a:rPr>
              <a:t>feedback cycles</a:t>
            </a:r>
            <a:r>
              <a:rPr b="0" i="0" lang="en-US" sz="2000" u="none" cap="none" strike="noStrike">
                <a:solidFill>
                  <a:srgbClr val="384653"/>
                </a:solidFill>
                <a:latin typeface="Montserrat"/>
                <a:ea typeface="Montserrat"/>
                <a:cs typeface="Montserrat"/>
                <a:sym typeface="Montserrat"/>
              </a:rPr>
              <a:t>. A prototype helps test </a:t>
            </a:r>
            <a:r>
              <a:rPr b="1" i="0" lang="en-US" sz="2000" u="none" cap="none" strike="noStrike">
                <a:solidFill>
                  <a:srgbClr val="384653"/>
                </a:solidFill>
                <a:latin typeface="Montserrat"/>
                <a:ea typeface="Montserrat"/>
                <a:cs typeface="Montserrat"/>
                <a:sym typeface="Montserrat"/>
              </a:rPr>
              <a:t>which prompts work best </a:t>
            </a:r>
            <a:r>
              <a:rPr b="0" i="0" lang="en-US" sz="2000" u="none" cap="none" strike="noStrike">
                <a:solidFill>
                  <a:srgbClr val="384653"/>
                </a:solidFill>
                <a:latin typeface="Montserrat"/>
                <a:ea typeface="Montserrat"/>
                <a:cs typeface="Montserrat"/>
                <a:sym typeface="Montserrat"/>
              </a:rPr>
              <a:t>before building the full app.</a:t>
            </a:r>
            <a:endParaRPr b="0" i="0" sz="2000" u="none" cap="none" strike="noStrike">
              <a:solidFill>
                <a:schemeClr val="dk1"/>
              </a:solidFill>
              <a:latin typeface="Arial"/>
              <a:ea typeface="Arial"/>
              <a:cs typeface="Arial"/>
              <a:sym typeface="Arial"/>
            </a:endParaRPr>
          </a:p>
          <a:p>
            <a:pPr indent="0" lvl="0" marL="0" marR="0" rtl="0" algn="l">
              <a:lnSpc>
                <a:spcPct val="158823"/>
              </a:lnSpc>
              <a:spcBef>
                <a:spcPts val="0"/>
              </a:spcBef>
              <a:spcAft>
                <a:spcPts val="0"/>
              </a:spcAft>
              <a:buClr>
                <a:srgbClr val="384653"/>
              </a:buClr>
              <a:buSzPts val="1700"/>
              <a:buFont typeface="Montserrat"/>
              <a:buNone/>
            </a:pPr>
            <a:r>
              <a:t/>
            </a:r>
            <a:endParaRPr b="0" i="0" sz="2000" u="none" cap="none" strike="noStrike">
              <a:solidFill>
                <a:srgbClr val="384653"/>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6c347053ea_0_13"/>
          <p:cNvSpPr/>
          <p:nvPr/>
        </p:nvSpPr>
        <p:spPr>
          <a:xfrm>
            <a:off x="542174" y="515075"/>
            <a:ext cx="6745500" cy="570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E3C4E"/>
              </a:buClr>
              <a:buSzPts val="3550"/>
              <a:buFont typeface="Barlow"/>
              <a:buNone/>
            </a:pPr>
            <a:r>
              <a:rPr b="1" i="0" lang="en-US" sz="4000" u="none" cap="none" strike="noStrike">
                <a:solidFill>
                  <a:srgbClr val="2E3C4E"/>
                </a:solidFill>
                <a:latin typeface="Barlow"/>
                <a:ea typeface="Barlow"/>
                <a:cs typeface="Barlow"/>
                <a:sym typeface="Barlow"/>
              </a:rPr>
              <a:t>What is Prototyping?</a:t>
            </a:r>
            <a:endParaRPr b="0" i="0" sz="4000" u="none" cap="none" strike="noStrike">
              <a:solidFill>
                <a:srgbClr val="000000"/>
              </a:solidFill>
              <a:latin typeface="Arial"/>
              <a:ea typeface="Arial"/>
              <a:cs typeface="Arial"/>
              <a:sym typeface="Arial"/>
            </a:endParaRPr>
          </a:p>
        </p:txBody>
      </p:sp>
      <p:sp>
        <p:nvSpPr>
          <p:cNvPr id="85" name="Google Shape;85;g36c347053ea_0_13"/>
          <p:cNvSpPr/>
          <p:nvPr/>
        </p:nvSpPr>
        <p:spPr>
          <a:xfrm>
            <a:off x="650535" y="1588081"/>
            <a:ext cx="13488300" cy="4335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84653"/>
              </a:buClr>
              <a:buSzPts val="2100"/>
              <a:buFont typeface="Montserrat"/>
              <a:buNone/>
            </a:pPr>
            <a:r>
              <a:rPr b="1" lang="en-US" sz="2300">
                <a:solidFill>
                  <a:srgbClr val="384653"/>
                </a:solidFill>
                <a:highlight>
                  <a:srgbClr val="F2F2F2"/>
                </a:highlight>
                <a:latin typeface="Montserrat"/>
                <a:ea typeface="Montserrat"/>
                <a:cs typeface="Montserrat"/>
                <a:sym typeface="Montserrat"/>
              </a:rPr>
              <a:t>Prototyping Enables</a:t>
            </a:r>
            <a:r>
              <a:rPr b="1" i="0" lang="en-US" sz="2300" u="none" cap="none" strike="noStrike">
                <a:solidFill>
                  <a:srgbClr val="384653"/>
                </a:solidFill>
                <a:highlight>
                  <a:srgbClr val="F2F2F2"/>
                </a:highlight>
                <a:latin typeface="Montserrat"/>
                <a:ea typeface="Montserrat"/>
                <a:cs typeface="Montserrat"/>
                <a:sym typeface="Montserrat"/>
              </a:rPr>
              <a:t>:</a:t>
            </a:r>
            <a:endParaRPr b="0" i="0" sz="2300" u="none" cap="none" strike="noStrike">
              <a:solidFill>
                <a:srgbClr val="000000"/>
              </a:solidFill>
              <a:latin typeface="Arial"/>
              <a:ea typeface="Arial"/>
              <a:cs typeface="Arial"/>
              <a:sym typeface="Arial"/>
            </a:endParaRPr>
          </a:p>
        </p:txBody>
      </p:sp>
      <p:sp>
        <p:nvSpPr>
          <p:cNvPr id="86" name="Google Shape;86;g36c347053ea_0_13"/>
          <p:cNvSpPr/>
          <p:nvPr/>
        </p:nvSpPr>
        <p:spPr>
          <a:xfrm>
            <a:off x="667312" y="2321957"/>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1" i="0" lang="en-US" sz="2100" u="none" cap="none" strike="noStrike">
                <a:solidFill>
                  <a:srgbClr val="384653"/>
                </a:solidFill>
                <a:latin typeface="Montserrat"/>
                <a:ea typeface="Montserrat"/>
                <a:cs typeface="Montserrat"/>
                <a:sym typeface="Montserrat"/>
              </a:rPr>
              <a:t>Prompt Design</a:t>
            </a:r>
            <a:endParaRPr b="0" i="0" sz="2100" u="none" cap="none" strike="noStrike">
              <a:solidFill>
                <a:srgbClr val="000000"/>
              </a:solidFill>
              <a:latin typeface="Arial"/>
              <a:ea typeface="Arial"/>
              <a:cs typeface="Arial"/>
              <a:sym typeface="Arial"/>
            </a:endParaRPr>
          </a:p>
        </p:txBody>
      </p:sp>
      <p:sp>
        <p:nvSpPr>
          <p:cNvPr id="87" name="Google Shape;87;g36c347053ea_0_13"/>
          <p:cNvSpPr/>
          <p:nvPr/>
        </p:nvSpPr>
        <p:spPr>
          <a:xfrm>
            <a:off x="667312" y="2809161"/>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0" i="0" lang="en-US" sz="2100" u="none" cap="none" strike="noStrike">
                <a:solidFill>
                  <a:srgbClr val="384653"/>
                </a:solidFill>
                <a:latin typeface="Montserrat"/>
                <a:ea typeface="Montserrat"/>
                <a:cs typeface="Montserrat"/>
                <a:sym typeface="Montserrat"/>
              </a:rPr>
              <a:t>LLM performance is </a:t>
            </a:r>
            <a:r>
              <a:rPr b="1" i="0" lang="en-US" sz="2100" u="none" cap="none" strike="noStrike">
                <a:solidFill>
                  <a:srgbClr val="384653"/>
                </a:solidFill>
                <a:latin typeface="Montserrat"/>
                <a:ea typeface="Montserrat"/>
                <a:cs typeface="Montserrat"/>
                <a:sym typeface="Montserrat"/>
              </a:rPr>
              <a:t>prompt-sensitive</a:t>
            </a:r>
            <a:r>
              <a:rPr b="0" i="0" lang="en-US" sz="2100" u="none" cap="none" strike="noStrike">
                <a:solidFill>
                  <a:srgbClr val="384653"/>
                </a:solidFill>
                <a:latin typeface="Montserrat"/>
                <a:ea typeface="Montserrat"/>
                <a:cs typeface="Montserrat"/>
                <a:sym typeface="Montserrat"/>
              </a:rPr>
              <a:t>: tone, structure, context all matter</a:t>
            </a:r>
            <a:endParaRPr b="0" i="0" sz="2100" u="none" cap="none" strike="noStrike">
              <a:solidFill>
                <a:srgbClr val="000000"/>
              </a:solidFill>
              <a:latin typeface="Arial"/>
              <a:ea typeface="Arial"/>
              <a:cs typeface="Arial"/>
              <a:sym typeface="Arial"/>
            </a:endParaRPr>
          </a:p>
        </p:txBody>
      </p:sp>
      <p:sp>
        <p:nvSpPr>
          <p:cNvPr id="88" name="Google Shape;88;g36c347053ea_0_13"/>
          <p:cNvSpPr/>
          <p:nvPr/>
        </p:nvSpPr>
        <p:spPr>
          <a:xfrm>
            <a:off x="667312" y="3558778"/>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1" i="0" lang="en-US" sz="2100" u="none" cap="none" strike="noStrike">
                <a:solidFill>
                  <a:srgbClr val="384653"/>
                </a:solidFill>
                <a:latin typeface="Montserrat"/>
                <a:ea typeface="Montserrat"/>
                <a:cs typeface="Montserrat"/>
                <a:sym typeface="Montserrat"/>
              </a:rPr>
              <a:t>Testing Tools</a:t>
            </a:r>
            <a:endParaRPr b="0" i="0" sz="2100" u="none" cap="none" strike="noStrike">
              <a:solidFill>
                <a:srgbClr val="000000"/>
              </a:solidFill>
              <a:latin typeface="Arial"/>
              <a:ea typeface="Arial"/>
              <a:cs typeface="Arial"/>
              <a:sym typeface="Arial"/>
            </a:endParaRPr>
          </a:p>
        </p:txBody>
      </p:sp>
      <p:sp>
        <p:nvSpPr>
          <p:cNvPr id="89" name="Google Shape;89;g36c347053ea_0_13"/>
          <p:cNvSpPr/>
          <p:nvPr/>
        </p:nvSpPr>
        <p:spPr>
          <a:xfrm>
            <a:off x="667312" y="4045982"/>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0" i="0" lang="en-US" sz="2100" u="none" cap="none" strike="noStrike">
                <a:solidFill>
                  <a:srgbClr val="384653"/>
                </a:solidFill>
                <a:latin typeface="Montserrat"/>
                <a:ea typeface="Montserrat"/>
                <a:cs typeface="Montserrat"/>
                <a:sym typeface="Montserrat"/>
              </a:rPr>
              <a:t>No-code tools help test and refine prompt chains, UI input types, and output formatting</a:t>
            </a:r>
            <a:endParaRPr b="0" i="0" sz="2100" u="none" cap="none" strike="noStrike">
              <a:solidFill>
                <a:srgbClr val="000000"/>
              </a:solidFill>
              <a:latin typeface="Arial"/>
              <a:ea typeface="Arial"/>
              <a:cs typeface="Arial"/>
              <a:sym typeface="Arial"/>
            </a:endParaRPr>
          </a:p>
        </p:txBody>
      </p:sp>
      <p:sp>
        <p:nvSpPr>
          <p:cNvPr id="90" name="Google Shape;90;g36c347053ea_0_13"/>
          <p:cNvSpPr/>
          <p:nvPr/>
        </p:nvSpPr>
        <p:spPr>
          <a:xfrm>
            <a:off x="667312" y="4795599"/>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1" i="0" lang="en-US" sz="2100" u="none" cap="none" strike="noStrike">
                <a:solidFill>
                  <a:srgbClr val="384653"/>
                </a:solidFill>
                <a:latin typeface="Montserrat"/>
                <a:ea typeface="Montserrat"/>
                <a:cs typeface="Montserrat"/>
                <a:sym typeface="Montserrat"/>
              </a:rPr>
              <a:t>Side-by-Side Comparison</a:t>
            </a:r>
            <a:endParaRPr b="0" i="0" sz="2100" u="none" cap="none" strike="noStrike">
              <a:solidFill>
                <a:srgbClr val="000000"/>
              </a:solidFill>
              <a:latin typeface="Arial"/>
              <a:ea typeface="Arial"/>
              <a:cs typeface="Arial"/>
              <a:sym typeface="Arial"/>
            </a:endParaRPr>
          </a:p>
        </p:txBody>
      </p:sp>
      <p:sp>
        <p:nvSpPr>
          <p:cNvPr id="91" name="Google Shape;91;g36c347053ea_0_13"/>
          <p:cNvSpPr/>
          <p:nvPr/>
        </p:nvSpPr>
        <p:spPr>
          <a:xfrm>
            <a:off x="667312" y="5282803"/>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0" i="0" lang="en-US" sz="2100" u="none" cap="none" strike="noStrike">
                <a:solidFill>
                  <a:srgbClr val="384653"/>
                </a:solidFill>
                <a:latin typeface="Montserrat"/>
                <a:ea typeface="Montserrat"/>
                <a:cs typeface="Montserrat"/>
                <a:sym typeface="Montserrat"/>
              </a:rPr>
              <a:t>Compare different prompt approaches and see results immediately</a:t>
            </a:r>
            <a:endParaRPr b="0" i="0" sz="2100" u="none" cap="none" strike="noStrike">
              <a:solidFill>
                <a:srgbClr val="000000"/>
              </a:solidFill>
              <a:latin typeface="Arial"/>
              <a:ea typeface="Arial"/>
              <a:cs typeface="Arial"/>
              <a:sym typeface="Arial"/>
            </a:endParaRPr>
          </a:p>
        </p:txBody>
      </p:sp>
      <p:sp>
        <p:nvSpPr>
          <p:cNvPr id="92" name="Google Shape;92;g36c347053ea_0_13"/>
          <p:cNvSpPr/>
          <p:nvPr/>
        </p:nvSpPr>
        <p:spPr>
          <a:xfrm>
            <a:off x="667312" y="6032421"/>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1" i="0" lang="en-US" sz="2100" u="none" cap="none" strike="noStrike">
                <a:solidFill>
                  <a:srgbClr val="384653"/>
                </a:solidFill>
                <a:latin typeface="Montserrat"/>
                <a:ea typeface="Montserrat"/>
                <a:cs typeface="Montserrat"/>
                <a:sym typeface="Montserrat"/>
              </a:rPr>
              <a:t>Rapid Feedback Loop</a:t>
            </a:r>
            <a:endParaRPr b="0" i="0" sz="2100" u="none" cap="none" strike="noStrike">
              <a:solidFill>
                <a:srgbClr val="000000"/>
              </a:solidFill>
              <a:latin typeface="Arial"/>
              <a:ea typeface="Arial"/>
              <a:cs typeface="Arial"/>
              <a:sym typeface="Arial"/>
            </a:endParaRPr>
          </a:p>
        </p:txBody>
      </p:sp>
      <p:sp>
        <p:nvSpPr>
          <p:cNvPr id="93" name="Google Shape;93;g36c347053ea_0_13"/>
          <p:cNvSpPr/>
          <p:nvPr/>
        </p:nvSpPr>
        <p:spPr>
          <a:xfrm>
            <a:off x="667312" y="6519624"/>
            <a:ext cx="12100500" cy="374700"/>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384653"/>
              </a:buClr>
              <a:buSzPts val="1800"/>
              <a:buFont typeface="Montserrat"/>
              <a:buNone/>
            </a:pPr>
            <a:r>
              <a:rPr b="0" i="0" lang="en-US" sz="2100" u="none" cap="none" strike="noStrike">
                <a:solidFill>
                  <a:srgbClr val="384653"/>
                </a:solidFill>
                <a:latin typeface="Montserrat"/>
                <a:ea typeface="Montserrat"/>
                <a:cs typeface="Montserrat"/>
                <a:sym typeface="Montserrat"/>
              </a:rPr>
              <a:t>Get feedback without backend changes</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6c347053ea_0_34"/>
          <p:cNvSpPr/>
          <p:nvPr/>
        </p:nvSpPr>
        <p:spPr>
          <a:xfrm>
            <a:off x="3679024" y="754975"/>
            <a:ext cx="6745500" cy="570000"/>
          </a:xfrm>
          <a:prstGeom prst="rect">
            <a:avLst/>
          </a:prstGeom>
          <a:noFill/>
          <a:ln>
            <a:noFill/>
          </a:ln>
        </p:spPr>
        <p:txBody>
          <a:bodyPr anchorCtr="0" anchor="t" bIns="0" lIns="0" spcFirstLastPara="1" rIns="0" wrap="square" tIns="0">
            <a:noAutofit/>
          </a:bodyPr>
          <a:lstStyle/>
          <a:p>
            <a:pPr indent="0" lvl="0" marL="457200" marR="0" rtl="0" algn="ctr">
              <a:lnSpc>
                <a:spcPct val="150000"/>
              </a:lnSpc>
              <a:spcBef>
                <a:spcPts val="0"/>
              </a:spcBef>
              <a:spcAft>
                <a:spcPts val="0"/>
              </a:spcAft>
              <a:buClr>
                <a:srgbClr val="000000"/>
              </a:buClr>
              <a:buSzPts val="6000"/>
              <a:buFont typeface="Arial"/>
              <a:buNone/>
            </a:pPr>
            <a:r>
              <a:rPr b="1" lang="en-US" sz="6000">
                <a:solidFill>
                  <a:srgbClr val="2E3C4E"/>
                </a:solidFill>
                <a:latin typeface="Barlow"/>
                <a:ea typeface="Barlow"/>
                <a:cs typeface="Barlow"/>
                <a:sym typeface="Barlow"/>
              </a:rPr>
              <a:t>Two </a:t>
            </a:r>
            <a:r>
              <a:rPr b="1" lang="en-US" sz="6000">
                <a:solidFill>
                  <a:srgbClr val="384653"/>
                </a:solidFill>
                <a:latin typeface="Barlow"/>
                <a:ea typeface="Barlow"/>
                <a:cs typeface="Barlow"/>
                <a:sym typeface="Barlow"/>
              </a:rPr>
              <a:t>ways</a:t>
            </a:r>
            <a:r>
              <a:rPr b="1" lang="en-US" sz="6000">
                <a:solidFill>
                  <a:srgbClr val="2E3C4E"/>
                </a:solidFill>
                <a:latin typeface="Barlow"/>
                <a:ea typeface="Barlow"/>
                <a:cs typeface="Barlow"/>
                <a:sym typeface="Barlow"/>
              </a:rPr>
              <a:t> to start</a:t>
            </a:r>
            <a:endParaRPr b="0" i="0" sz="6000" u="none" cap="none" strike="noStrike">
              <a:solidFill>
                <a:srgbClr val="000000"/>
              </a:solidFill>
              <a:latin typeface="Arial"/>
              <a:ea typeface="Arial"/>
              <a:cs typeface="Arial"/>
              <a:sym typeface="Arial"/>
            </a:endParaRPr>
          </a:p>
        </p:txBody>
      </p:sp>
      <p:sp>
        <p:nvSpPr>
          <p:cNvPr id="100" name="Google Shape;100;g36c347053ea_0_34"/>
          <p:cNvSpPr/>
          <p:nvPr/>
        </p:nvSpPr>
        <p:spPr>
          <a:xfrm>
            <a:off x="272575" y="2137825"/>
            <a:ext cx="4826400" cy="570000"/>
          </a:xfrm>
          <a:prstGeom prst="rect">
            <a:avLst/>
          </a:prstGeom>
          <a:noFill/>
          <a:ln>
            <a:noFill/>
          </a:ln>
        </p:spPr>
        <p:txBody>
          <a:bodyPr anchorCtr="0" anchor="t" bIns="0" lIns="0" spcFirstLastPara="1" rIns="0" wrap="square" tIns="0">
            <a:noAutofit/>
          </a:bodyPr>
          <a:lstStyle/>
          <a:p>
            <a:pPr indent="-514350" lvl="0" marL="457200" marR="0" rtl="0" algn="ctr">
              <a:lnSpc>
                <a:spcPct val="100000"/>
              </a:lnSpc>
              <a:spcBef>
                <a:spcPts val="0"/>
              </a:spcBef>
              <a:spcAft>
                <a:spcPts val="0"/>
              </a:spcAft>
              <a:buClr>
                <a:srgbClr val="2E3C4E"/>
              </a:buClr>
              <a:buSzPts val="4500"/>
              <a:buFont typeface="Barlow"/>
              <a:buAutoNum type="arabicPeriod"/>
            </a:pPr>
            <a:r>
              <a:rPr lang="en-US" sz="4500">
                <a:solidFill>
                  <a:srgbClr val="2E3C4E"/>
                </a:solidFill>
                <a:latin typeface="Barlow"/>
                <a:ea typeface="Barlow"/>
                <a:cs typeface="Barlow"/>
                <a:sym typeface="Barlow"/>
              </a:rPr>
              <a:t>Write your initial idea and begin</a:t>
            </a:r>
            <a:endParaRPr i="0" sz="4500" u="none" cap="none" strike="noStrike">
              <a:solidFill>
                <a:srgbClr val="000000"/>
              </a:solidFill>
            </a:endParaRPr>
          </a:p>
        </p:txBody>
      </p:sp>
      <p:sp>
        <p:nvSpPr>
          <p:cNvPr id="101" name="Google Shape;101;g36c347053ea_0_34"/>
          <p:cNvSpPr/>
          <p:nvPr/>
        </p:nvSpPr>
        <p:spPr>
          <a:xfrm>
            <a:off x="7009950" y="2137825"/>
            <a:ext cx="7072500" cy="570000"/>
          </a:xfrm>
          <a:prstGeom prst="rect">
            <a:avLst/>
          </a:prstGeom>
          <a:noFill/>
          <a:ln>
            <a:noFill/>
          </a:ln>
        </p:spPr>
        <p:txBody>
          <a:bodyPr anchorCtr="0" anchor="t" bIns="0" lIns="0" spcFirstLastPara="1" rIns="0" wrap="square" tIns="0">
            <a:noAutofit/>
          </a:bodyPr>
          <a:lstStyle/>
          <a:p>
            <a:pPr indent="0" lvl="0" marL="457200" marR="0" rtl="0" algn="ctr">
              <a:lnSpc>
                <a:spcPct val="100000"/>
              </a:lnSpc>
              <a:spcBef>
                <a:spcPts val="0"/>
              </a:spcBef>
              <a:spcAft>
                <a:spcPts val="0"/>
              </a:spcAft>
              <a:buClr>
                <a:srgbClr val="000000"/>
              </a:buClr>
              <a:buSzPts val="6000"/>
              <a:buFont typeface="Arial"/>
              <a:buNone/>
            </a:pPr>
            <a:r>
              <a:rPr lang="en-US" sz="4500">
                <a:solidFill>
                  <a:srgbClr val="2E3C4E"/>
                </a:solidFill>
                <a:latin typeface="Barlow"/>
                <a:ea typeface="Barlow"/>
                <a:cs typeface="Barlow"/>
                <a:sym typeface="Barlow"/>
              </a:rPr>
              <a:t>2. Plan you idea first (using AI) to </a:t>
            </a:r>
            <a:r>
              <a:rPr lang="en-US" sz="4500">
                <a:solidFill>
                  <a:srgbClr val="2E3C4E"/>
                </a:solidFill>
                <a:latin typeface="Barlow"/>
                <a:ea typeface="Barlow"/>
                <a:cs typeface="Barlow"/>
                <a:sym typeface="Barlow"/>
              </a:rPr>
              <a:t>create</a:t>
            </a:r>
            <a:r>
              <a:rPr lang="en-US" sz="4500">
                <a:solidFill>
                  <a:srgbClr val="2E3C4E"/>
                </a:solidFill>
                <a:latin typeface="Barlow"/>
                <a:ea typeface="Barlow"/>
                <a:cs typeface="Barlow"/>
                <a:sym typeface="Barlow"/>
              </a:rPr>
              <a:t> an MVP, and begin to build with a detailed PRD  </a:t>
            </a:r>
            <a:endParaRPr i="0" sz="4500" u="none" cap="none" strike="noStrike">
              <a:solidFill>
                <a:srgbClr val="000000"/>
              </a:solidFill>
            </a:endParaRPr>
          </a:p>
        </p:txBody>
      </p:sp>
      <p:sp>
        <p:nvSpPr>
          <p:cNvPr id="102" name="Google Shape;102;g36c347053ea_0_34"/>
          <p:cNvSpPr/>
          <p:nvPr/>
        </p:nvSpPr>
        <p:spPr>
          <a:xfrm>
            <a:off x="7009950" y="5100150"/>
            <a:ext cx="7072500" cy="570000"/>
          </a:xfrm>
          <a:prstGeom prst="rect">
            <a:avLst/>
          </a:prstGeom>
          <a:noFill/>
          <a:ln>
            <a:noFill/>
          </a:ln>
        </p:spPr>
        <p:txBody>
          <a:bodyPr anchorCtr="0" anchor="t" bIns="0" lIns="0" spcFirstLastPara="1" rIns="0" wrap="square" tIns="0">
            <a:noAutofit/>
          </a:bodyPr>
          <a:lstStyle/>
          <a:p>
            <a:pPr indent="0" lvl="0" marL="457200" marR="0" rtl="0" algn="ctr">
              <a:lnSpc>
                <a:spcPct val="100000"/>
              </a:lnSpc>
              <a:spcBef>
                <a:spcPts val="0"/>
              </a:spcBef>
              <a:spcAft>
                <a:spcPts val="0"/>
              </a:spcAft>
              <a:buClr>
                <a:srgbClr val="000000"/>
              </a:buClr>
              <a:buSzPts val="6000"/>
              <a:buFont typeface="Arial"/>
              <a:buNone/>
            </a:pPr>
            <a:r>
              <a:rPr lang="en-US" sz="2500">
                <a:solidFill>
                  <a:srgbClr val="2E3C4E"/>
                </a:solidFill>
                <a:latin typeface="Barlow"/>
                <a:ea typeface="Barlow"/>
                <a:cs typeface="Barlow"/>
                <a:sym typeface="Barlow"/>
              </a:rPr>
              <a:t>* MVP = </a:t>
            </a:r>
            <a:r>
              <a:rPr lang="en-US" sz="2500">
                <a:solidFill>
                  <a:srgbClr val="2E3C4E"/>
                </a:solidFill>
                <a:latin typeface="Barlow"/>
                <a:ea typeface="Barlow"/>
                <a:cs typeface="Barlow"/>
                <a:sym typeface="Barlow"/>
              </a:rPr>
              <a:t>Minimum Viable Product </a:t>
            </a:r>
            <a:r>
              <a:rPr lang="en-US" sz="2500">
                <a:solidFill>
                  <a:srgbClr val="2E3C4E"/>
                </a:solidFill>
                <a:latin typeface="Barlow"/>
                <a:ea typeface="Barlow"/>
                <a:cs typeface="Barlow"/>
                <a:sym typeface="Barlow"/>
              </a:rPr>
              <a:t> </a:t>
            </a:r>
            <a:endParaRPr sz="2500">
              <a:solidFill>
                <a:srgbClr val="2E3C4E"/>
              </a:solidFill>
              <a:latin typeface="Barlow"/>
              <a:ea typeface="Barlow"/>
              <a:cs typeface="Barlow"/>
              <a:sym typeface="Barlow"/>
            </a:endParaRPr>
          </a:p>
          <a:p>
            <a:pPr indent="0" lvl="0" marL="457200" marR="0" rtl="0" algn="ctr">
              <a:lnSpc>
                <a:spcPct val="100000"/>
              </a:lnSpc>
              <a:spcBef>
                <a:spcPts val="0"/>
              </a:spcBef>
              <a:spcAft>
                <a:spcPts val="0"/>
              </a:spcAft>
              <a:buClr>
                <a:srgbClr val="000000"/>
              </a:buClr>
              <a:buSzPts val="6000"/>
              <a:buFont typeface="Arial"/>
              <a:buNone/>
            </a:pPr>
            <a:r>
              <a:rPr lang="en-US" sz="2500">
                <a:solidFill>
                  <a:srgbClr val="2E3C4E"/>
                </a:solidFill>
                <a:latin typeface="Barlow"/>
                <a:ea typeface="Barlow"/>
                <a:cs typeface="Barlow"/>
                <a:sym typeface="Barlow"/>
              </a:rPr>
              <a:t>* PRD  = </a:t>
            </a:r>
            <a:r>
              <a:rPr lang="en-US" sz="2500">
                <a:solidFill>
                  <a:srgbClr val="2E3C4E"/>
                </a:solidFill>
                <a:latin typeface="Barlow"/>
                <a:ea typeface="Barlow"/>
                <a:cs typeface="Barlow"/>
                <a:sym typeface="Barlow"/>
              </a:rPr>
              <a:t>Product Requirements Document</a:t>
            </a:r>
            <a:r>
              <a:rPr lang="en-US" sz="2500">
                <a:solidFill>
                  <a:srgbClr val="2E3C4E"/>
                </a:solidFill>
                <a:latin typeface="Barlow"/>
                <a:ea typeface="Barlow"/>
                <a:cs typeface="Barlow"/>
                <a:sym typeface="Barlow"/>
              </a:rPr>
              <a:t> </a:t>
            </a:r>
            <a:endParaRPr i="0" sz="2500" u="none" cap="none" strike="noStrike">
              <a:solidFill>
                <a:srgbClr val="000000"/>
              </a:solidFill>
            </a:endParaRPr>
          </a:p>
        </p:txBody>
      </p:sp>
      <p:pic>
        <p:nvPicPr>
          <p:cNvPr id="103" name="Google Shape;103;g36c347053ea_0_34"/>
          <p:cNvPicPr preferRelativeResize="0"/>
          <p:nvPr/>
        </p:nvPicPr>
        <p:blipFill>
          <a:blip r:embed="rId3">
            <a:alphaModFix/>
          </a:blip>
          <a:stretch>
            <a:fillRect/>
          </a:stretch>
        </p:blipFill>
        <p:spPr>
          <a:xfrm>
            <a:off x="7789125" y="6054825"/>
            <a:ext cx="6060100" cy="1056600"/>
          </a:xfrm>
          <a:prstGeom prst="rect">
            <a:avLst/>
          </a:prstGeom>
          <a:noFill/>
          <a:ln>
            <a:noFill/>
          </a:ln>
        </p:spPr>
      </p:pic>
      <p:pic>
        <p:nvPicPr>
          <p:cNvPr id="104" name="Google Shape;104;g36c347053ea_0_34"/>
          <p:cNvPicPr preferRelativeResize="0"/>
          <p:nvPr/>
        </p:nvPicPr>
        <p:blipFill>
          <a:blip r:embed="rId4">
            <a:alphaModFix/>
          </a:blip>
          <a:stretch>
            <a:fillRect/>
          </a:stretch>
        </p:blipFill>
        <p:spPr>
          <a:xfrm>
            <a:off x="0" y="4038550"/>
            <a:ext cx="5962650" cy="742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6a7fb579dc_1_23"/>
          <p:cNvSpPr/>
          <p:nvPr/>
        </p:nvSpPr>
        <p:spPr>
          <a:xfrm>
            <a:off x="865509" y="809807"/>
            <a:ext cx="12899400" cy="1140000"/>
          </a:xfrm>
          <a:prstGeom prst="rect">
            <a:avLst/>
          </a:prstGeom>
          <a:noFill/>
          <a:ln>
            <a:noFill/>
          </a:ln>
        </p:spPr>
        <p:txBody>
          <a:bodyPr anchorCtr="0" anchor="t" bIns="0" lIns="0" spcFirstLastPara="1" rIns="0" wrap="square" tIns="0">
            <a:noAutofit/>
          </a:bodyPr>
          <a:lstStyle/>
          <a:p>
            <a:pPr indent="0" lvl="0" marL="457200" marR="0" rtl="0" algn="ctr">
              <a:lnSpc>
                <a:spcPct val="150000"/>
              </a:lnSpc>
              <a:spcBef>
                <a:spcPts val="0"/>
              </a:spcBef>
              <a:spcAft>
                <a:spcPts val="0"/>
              </a:spcAft>
              <a:buClr>
                <a:srgbClr val="000000"/>
              </a:buClr>
              <a:buSzPts val="6000"/>
              <a:buFont typeface="Arial"/>
              <a:buNone/>
            </a:pPr>
            <a:r>
              <a:rPr b="1" i="0" lang="en-US" sz="6000" u="none" cap="none" strike="noStrike">
                <a:solidFill>
                  <a:srgbClr val="384653"/>
                </a:solidFill>
                <a:latin typeface="Barlow"/>
                <a:ea typeface="Barlow"/>
                <a:cs typeface="Barlow"/>
                <a:sym typeface="Barlow"/>
              </a:rPr>
              <a:t>Custom web-pages and Prototyping your ideas</a:t>
            </a:r>
            <a:endParaRPr b="1" i="0" sz="6000" u="none" cap="none" strike="noStrike">
              <a:solidFill>
                <a:srgbClr val="384653"/>
              </a:solidFill>
              <a:latin typeface="Barlow"/>
              <a:ea typeface="Barlow"/>
              <a:cs typeface="Barlow"/>
              <a:sym typeface="Barlow"/>
            </a:endParaRPr>
          </a:p>
          <a:p>
            <a:pPr indent="0" lvl="0" marL="457200" marR="0" rtl="0" algn="l">
              <a:lnSpc>
                <a:spcPct val="150000"/>
              </a:lnSpc>
              <a:spcBef>
                <a:spcPts val="0"/>
              </a:spcBef>
              <a:spcAft>
                <a:spcPts val="0"/>
              </a:spcAft>
              <a:buClr>
                <a:srgbClr val="000000"/>
              </a:buClr>
              <a:buSzPts val="6000"/>
              <a:buFont typeface="Arial"/>
              <a:buNone/>
            </a:pPr>
            <a:r>
              <a:t/>
            </a:r>
            <a:endParaRPr b="1" i="0" sz="6000" u="none" cap="none" strike="noStrike">
              <a:solidFill>
                <a:srgbClr val="384653"/>
              </a:solidFill>
              <a:latin typeface="Barlow"/>
              <a:ea typeface="Barlow"/>
              <a:cs typeface="Barlow"/>
              <a:sym typeface="Barlow"/>
            </a:endParaRPr>
          </a:p>
        </p:txBody>
      </p:sp>
      <p:pic>
        <p:nvPicPr>
          <p:cNvPr id="111" name="Google Shape;111;g36a7fb579dc_1_23"/>
          <p:cNvPicPr preferRelativeResize="0"/>
          <p:nvPr/>
        </p:nvPicPr>
        <p:blipFill rotWithShape="1">
          <a:blip r:embed="rId3">
            <a:alphaModFix/>
          </a:blip>
          <a:srcRect b="0" l="0" r="0" t="0"/>
          <a:stretch/>
        </p:blipFill>
        <p:spPr>
          <a:xfrm>
            <a:off x="620550" y="3493850"/>
            <a:ext cx="2957126" cy="2957126"/>
          </a:xfrm>
          <a:prstGeom prst="rect">
            <a:avLst/>
          </a:prstGeom>
          <a:noFill/>
          <a:ln>
            <a:noFill/>
          </a:ln>
        </p:spPr>
      </p:pic>
      <p:sp>
        <p:nvSpPr>
          <p:cNvPr id="112" name="Google Shape;112;g36a7fb579dc_1_23"/>
          <p:cNvSpPr/>
          <p:nvPr/>
        </p:nvSpPr>
        <p:spPr>
          <a:xfrm>
            <a:off x="620550" y="6580025"/>
            <a:ext cx="3178800" cy="624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3700"/>
              <a:buFont typeface="Arial"/>
              <a:buNone/>
            </a:pPr>
            <a:r>
              <a:rPr b="0" i="0" lang="en-US" sz="3700" u="none" cap="none" strike="noStrike">
                <a:solidFill>
                  <a:srgbClr val="384653"/>
                </a:solidFill>
                <a:latin typeface="Barlow"/>
                <a:ea typeface="Barlow"/>
                <a:cs typeface="Barlow"/>
                <a:sym typeface="Barlow"/>
              </a:rPr>
              <a:t>canvas feature</a:t>
            </a:r>
            <a:endParaRPr b="1" i="0" sz="6000" u="none" cap="none" strike="noStrike">
              <a:solidFill>
                <a:srgbClr val="384653"/>
              </a:solidFill>
              <a:latin typeface="Barlow"/>
              <a:ea typeface="Barlow"/>
              <a:cs typeface="Barlow"/>
              <a:sym typeface="Barlow"/>
            </a:endParaRPr>
          </a:p>
        </p:txBody>
      </p:sp>
      <p:pic>
        <p:nvPicPr>
          <p:cNvPr id="113" name="Google Shape;113;g36a7fb579dc_1_23"/>
          <p:cNvPicPr preferRelativeResize="0"/>
          <p:nvPr/>
        </p:nvPicPr>
        <p:blipFill rotWithShape="1">
          <a:blip r:embed="rId4">
            <a:alphaModFix/>
          </a:blip>
          <a:srcRect b="33197" l="20712" r="20876" t="26571"/>
          <a:stretch/>
        </p:blipFill>
        <p:spPr>
          <a:xfrm>
            <a:off x="4932825" y="4288400"/>
            <a:ext cx="4514750" cy="1634950"/>
          </a:xfrm>
          <a:prstGeom prst="rect">
            <a:avLst/>
          </a:prstGeom>
          <a:noFill/>
          <a:ln>
            <a:noFill/>
          </a:ln>
        </p:spPr>
      </p:pic>
      <p:sp>
        <p:nvSpPr>
          <p:cNvPr id="114" name="Google Shape;114;g36a7fb579dc_1_23"/>
          <p:cNvSpPr/>
          <p:nvPr/>
        </p:nvSpPr>
        <p:spPr>
          <a:xfrm>
            <a:off x="5573550" y="6580025"/>
            <a:ext cx="3178800" cy="624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3700"/>
              <a:buFont typeface="Arial"/>
              <a:buNone/>
            </a:pPr>
            <a:r>
              <a:rPr b="0" i="0" lang="en-US" sz="3700" u="none" cap="none" strike="noStrike">
                <a:solidFill>
                  <a:srgbClr val="384653"/>
                </a:solidFill>
                <a:latin typeface="Barlow"/>
                <a:ea typeface="Barlow"/>
                <a:cs typeface="Barlow"/>
                <a:sym typeface="Barlow"/>
              </a:rPr>
              <a:t>canvas feature</a:t>
            </a:r>
            <a:endParaRPr b="1" i="0" sz="6000" u="none" cap="none" strike="noStrike">
              <a:solidFill>
                <a:srgbClr val="384653"/>
              </a:solidFill>
              <a:latin typeface="Barlow"/>
              <a:ea typeface="Barlow"/>
              <a:cs typeface="Barlow"/>
              <a:sym typeface="Barlow"/>
            </a:endParaRPr>
          </a:p>
        </p:txBody>
      </p:sp>
      <p:pic>
        <p:nvPicPr>
          <p:cNvPr id="115" name="Google Shape;115;g36a7fb579dc_1_23"/>
          <p:cNvPicPr preferRelativeResize="0"/>
          <p:nvPr/>
        </p:nvPicPr>
        <p:blipFill rotWithShape="1">
          <a:blip r:embed="rId5">
            <a:alphaModFix/>
          </a:blip>
          <a:srcRect b="26555" l="4807" r="0" t="29442"/>
          <a:stretch/>
        </p:blipFill>
        <p:spPr>
          <a:xfrm>
            <a:off x="10162100" y="4592799"/>
            <a:ext cx="4340999" cy="1503025"/>
          </a:xfrm>
          <a:prstGeom prst="rect">
            <a:avLst/>
          </a:prstGeom>
          <a:noFill/>
          <a:ln>
            <a:noFill/>
          </a:ln>
        </p:spPr>
      </p:pic>
      <p:sp>
        <p:nvSpPr>
          <p:cNvPr id="116" name="Google Shape;116;g36a7fb579dc_1_23"/>
          <p:cNvSpPr/>
          <p:nvPr/>
        </p:nvSpPr>
        <p:spPr>
          <a:xfrm>
            <a:off x="10907550" y="6580025"/>
            <a:ext cx="3178800" cy="624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3700"/>
              <a:buFont typeface="Arial"/>
              <a:buNone/>
            </a:pPr>
            <a:r>
              <a:rPr b="0" i="0" lang="en-US" sz="3700" u="none" cap="none" strike="noStrike">
                <a:solidFill>
                  <a:srgbClr val="384653"/>
                </a:solidFill>
                <a:latin typeface="Barlow"/>
                <a:ea typeface="Barlow"/>
                <a:cs typeface="Barlow"/>
                <a:sym typeface="Barlow"/>
              </a:rPr>
              <a:t>artifact feature</a:t>
            </a:r>
            <a:endParaRPr b="1" i="0" sz="6000" u="none" cap="none" strike="noStrike">
              <a:solidFill>
                <a:srgbClr val="384653"/>
              </a:solidFill>
              <a:latin typeface="Barlow"/>
              <a:ea typeface="Barlow"/>
              <a:cs typeface="Barlow"/>
              <a:sym typeface="Barlo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6c347053ea_0_75"/>
          <p:cNvSpPr/>
          <p:nvPr/>
        </p:nvSpPr>
        <p:spPr>
          <a:xfrm>
            <a:off x="3942449" y="3829800"/>
            <a:ext cx="6745500" cy="570000"/>
          </a:xfrm>
          <a:prstGeom prst="rect">
            <a:avLst/>
          </a:prstGeom>
          <a:noFill/>
          <a:ln>
            <a:noFill/>
          </a:ln>
        </p:spPr>
        <p:txBody>
          <a:bodyPr anchorCtr="0" anchor="t" bIns="0" lIns="0" spcFirstLastPara="1" rIns="0" wrap="square" tIns="0">
            <a:noAutofit/>
          </a:bodyPr>
          <a:lstStyle/>
          <a:p>
            <a:pPr indent="0" lvl="0" marL="457200" marR="0" rtl="0" algn="ctr">
              <a:lnSpc>
                <a:spcPct val="150000"/>
              </a:lnSpc>
              <a:spcBef>
                <a:spcPts val="0"/>
              </a:spcBef>
              <a:spcAft>
                <a:spcPts val="0"/>
              </a:spcAft>
              <a:buClr>
                <a:srgbClr val="000000"/>
              </a:buClr>
              <a:buSzPts val="6000"/>
              <a:buFont typeface="Arial"/>
              <a:buNone/>
            </a:pPr>
            <a:r>
              <a:rPr b="1" lang="en-US" sz="6000">
                <a:solidFill>
                  <a:srgbClr val="2E3C4E"/>
                </a:solidFill>
                <a:latin typeface="Barlow"/>
                <a:ea typeface="Barlow"/>
                <a:cs typeface="Barlow"/>
                <a:sym typeface="Barlow"/>
              </a:rPr>
              <a:t>Demonstrations</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6a7fb579dc_1_52"/>
          <p:cNvSpPr/>
          <p:nvPr/>
        </p:nvSpPr>
        <p:spPr>
          <a:xfrm>
            <a:off x="4078351" y="3303150"/>
            <a:ext cx="64737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9000" u="none" cap="none" strike="noStrike">
                <a:solidFill>
                  <a:srgbClr val="D75BE2"/>
                </a:solidFill>
                <a:latin typeface="Rubik"/>
                <a:ea typeface="Rubik"/>
                <a:cs typeface="Rubik"/>
                <a:sym typeface="Rubik"/>
              </a:rPr>
              <a:t>Questions?</a:t>
            </a:r>
            <a:endParaRPr b="0" i="0" sz="9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