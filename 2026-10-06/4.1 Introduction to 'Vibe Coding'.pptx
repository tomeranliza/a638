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8229600" cx="14630400"/>
  <p:notesSz cx="8229600" cy="146304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Assistant"/>
      <p:regular r:id="rId31"/>
      <p:bold r:id="rId32"/>
    </p:embeddedFont>
    <p:embeddedFont>
      <p:font typeface="Rubik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QC5ZZfAMNcwK6nrMOsD0aeeU+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C1AE15-97EC-4F55-B0D1-6C6E6013DD06}">
  <a:tblStyle styleId="{35C1AE15-97EC-4F55-B0D1-6C6E6013DD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sistant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ubik-regular.fntdata"/><Relationship Id="rId10" Type="http://schemas.openxmlformats.org/officeDocument/2006/relationships/slide" Target="slides/slide5.xml"/><Relationship Id="rId32" Type="http://schemas.openxmlformats.org/officeDocument/2006/relationships/font" Target="fonts/Assistant-bold.fntdata"/><Relationship Id="rId13" Type="http://schemas.openxmlformats.org/officeDocument/2006/relationships/slide" Target="slides/slide8.xml"/><Relationship Id="rId35" Type="http://schemas.openxmlformats.org/officeDocument/2006/relationships/font" Target="fonts/Rubik-italic.fntdata"/><Relationship Id="rId12" Type="http://schemas.openxmlformats.org/officeDocument/2006/relationships/slide" Target="slides/slide7.xml"/><Relationship Id="rId34" Type="http://schemas.openxmlformats.org/officeDocument/2006/relationships/font" Target="fonts/Rubik-bold.fntdata"/><Relationship Id="rId15" Type="http://schemas.openxmlformats.org/officeDocument/2006/relationships/slide" Target="slides/slide10.xml"/><Relationship Id="rId37" Type="http://schemas.openxmlformats.org/officeDocument/2006/relationships/font" Target="fonts/Barlow-regular.fntdata"/><Relationship Id="rId14" Type="http://schemas.openxmlformats.org/officeDocument/2006/relationships/slide" Target="slides/slide9.xml"/><Relationship Id="rId36" Type="http://schemas.openxmlformats.org/officeDocument/2006/relationships/font" Target="fonts/Rubik-boldItalic.fntdata"/><Relationship Id="rId17" Type="http://schemas.openxmlformats.org/officeDocument/2006/relationships/slide" Target="slides/slide12.xml"/><Relationship Id="rId39" Type="http://schemas.openxmlformats.org/officeDocument/2006/relationships/font" Target="fonts/Barlow-italic.fntdata"/><Relationship Id="rId16" Type="http://schemas.openxmlformats.org/officeDocument/2006/relationships/slide" Target="slides/slide11.xml"/><Relationship Id="rId38" Type="http://schemas.openxmlformats.org/officeDocument/2006/relationships/font" Target="fonts/Barlow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PROS:</a:t>
            </a:r>
            <a:br>
              <a:rPr lang="en-US"/>
            </a:br>
            <a:r>
              <a:rPr lang="en-US"/>
              <a:t>Full Control - Complete control over logic, performance, and integrations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Better Suited For - Complex systems, Scalable architectures, Security-sensitive apps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Deep Debugging - Advanced debugging tools (e.g., logs, breakpoints, test suites)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/>
            </a:br>
            <a:r>
              <a:rPr lang="en-US"/>
              <a:t>CONS: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Longer Time to Market - Traditional development involves manual coding, testing, and debugging, which leads to slower iterations and delayed deployments.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Higher Costs - It typically requires hiring skilled developers, leading to increased labor and maintenance expenses.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Resource Intensive - need </a:t>
            </a:r>
            <a:r>
              <a:rPr lang="en-US"/>
              <a:t>developments</a:t>
            </a:r>
            <a:r>
              <a:rPr lang="en-US"/>
              <a:t> and multiple specialists such as backend, frontend, and QA engineers, making the process complex and resource-heavy.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Slower Prototyping and less Agility - Building and testing new features or prototypes takes longer, delaying user feedback and product refinement.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Limited to experts only - Non-technical stakeholders cannot easily contribute, and business logic remains locked in the hands of developers.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a7fb579dc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6a7fb579dc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6a7fb579dc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בסיום ההסבר - לעבור לקלוד ולהדגים איך זה נראה: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אני מבקשת ממנו לבנות לי איזשהו דף אינטרנט כשאני רק מספרת לו את הרעיון, והוא כותב את הקוד ומציג לי את ה-preview לדף הזה.</a:t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מה שחשוב כאן הוא לא לדעת לקודד אלא לדעת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לנסח פרומפטים טובים, לחדד כוונה ולכוון את הבינה המלאכותית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מאפשר לכולם לבנות, בלי שום רקע טכני.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a7fb579dc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6a7fb579dc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6a7fb579dc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a7fb579dc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6a7fb579dc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6a7fb579dc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a7fb579dc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6a7fb579dc_1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6a7fb579dc_1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a7fb579dc_1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6a7fb579dc_1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6a7fb579dc_1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ix.com/builder/no-code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ase44.com/" TargetMode="External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555320" y="1753475"/>
            <a:ext cx="6986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75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Introduction to 'Vibe Coding'</a:t>
            </a:r>
            <a:endParaRPr b="0" i="0" sz="7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4265" y="4858913"/>
            <a:ext cx="2788801" cy="123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492300" y="1647550"/>
            <a:ext cx="10342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Traditional </a:t>
            </a: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Development</a:t>
            </a: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 to No-Code Tools 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No-Code Tools to ‘Vibe Coding’ - AIs coding revolution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‘</a:t>
            </a: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Vibe Coding’ Tools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In this Course - Prototype &amp; Deployment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2302" y="313157"/>
            <a:ext cx="4561284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en-US" sz="48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Agenda </a:t>
            </a:r>
            <a:endParaRPr b="0" i="0" sz="4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1031697" y="3046175"/>
            <a:ext cx="12567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From </a:t>
            </a:r>
            <a:r>
              <a:rPr b="1" i="0" lang="en-US" sz="5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Traditional Development </a:t>
            </a:r>
            <a:endParaRPr b="1" i="0" sz="5000" u="none" cap="none" strike="noStrike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to </a:t>
            </a:r>
            <a:r>
              <a:rPr b="1" i="0" lang="en-US" sz="5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No-Code </a:t>
            </a: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Tools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318455" y="678690"/>
            <a:ext cx="83217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What is Traditional Development?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89372" y="2135819"/>
            <a:ext cx="147600" cy="11817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2403" y="2135819"/>
            <a:ext cx="73221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Writing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software </a:t>
            </a: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manually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using programming languages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Python, JavaScript, Java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, etc.).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79966" y="3514325"/>
            <a:ext cx="147600" cy="14178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122998" y="3514325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Requires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programing knowledge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of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122998" y="4026294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Syntax, logic, data structures, and architecture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1122998" y="4538263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DevOps, version control (Git), and testing frameworks.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70560" y="5129051"/>
            <a:ext cx="147600" cy="18117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113592" y="5129051"/>
            <a:ext cx="673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Involves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113592" y="5641019"/>
            <a:ext cx="673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Designing and co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ding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from scratch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113592" y="6152988"/>
            <a:ext cx="6731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Allows f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ull control over front-end, back-end, and infrastructure.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704" y="0"/>
            <a:ext cx="5760695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397425" y="465900"/>
            <a:ext cx="9905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10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Traditional Development - Pros &amp; Cons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63925" y="1572188"/>
            <a:ext cx="7442100" cy="5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b="1"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i="0" lang="en-US" sz="23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Full Control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Good for complex systems, scalable architectures, and security-sensitive apps.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Deep Debugging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b="1"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Longer Time to Market 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Higher Costs 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Resource Intensive 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Slower Prototyping and less Agility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Limited to experts only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t/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t/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1083225" y="7327225"/>
            <a:ext cx="73026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lang="en-US" sz="2100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Common Example</a:t>
            </a:r>
            <a:r>
              <a:rPr b="1" i="0" lang="en-US" sz="21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Wix </a:t>
            </a: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for website building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338351" y="509950"/>
            <a:ext cx="5997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en-US" sz="46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What is No-Code?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58309" y="3093125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development approach enabling software creation without writing traditional code.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58309" y="4035623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Uses visual interfaces, prebuilt modules, and workflows.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58309" y="4978122"/>
            <a:ext cx="76275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Allows users to drag-and-drop UI components, define logic with visual rules, and connect to data sources/API services without scripting.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58309" y="6468833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Targets users with minimal or no programming background.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83231" y="1688425"/>
            <a:ext cx="7302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Definition: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No-code platforms abstract away code through visual representations of logic, state, and UI.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58309" y="1444704"/>
            <a:ext cx="30600" cy="13542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 flipH="1">
            <a:off x="788916" y="7113801"/>
            <a:ext cx="30600" cy="8667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425676" y="492800"/>
            <a:ext cx="9743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No-Code Building - 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Key Characteristics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5830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46232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Visual Interfaces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462326" y="2567659"/>
            <a:ext cx="3486745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Tools like flowcharts or form builders replace coding environments.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21981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2383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Logic Blocks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923836" y="2567659"/>
            <a:ext cx="3486745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Conditional logic and loops handled through </a:t>
            </a: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pre built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modules.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68132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38534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Component Reuse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385346" y="2567659"/>
            <a:ext cx="348674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Templates, design systems, and reusable blocks accelerate development.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58309" y="5191678"/>
            <a:ext cx="487500" cy="487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462326" y="5218705"/>
            <a:ext cx="5717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Backend Integration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462326" y="5781989"/>
            <a:ext cx="5717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Built-in or pluggable services for data storage, APIs, and third-party tools.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450574" y="5191678"/>
            <a:ext cx="487500" cy="487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154591" y="5218705"/>
            <a:ext cx="5717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Cloud Deployment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154591" y="5781989"/>
            <a:ext cx="5717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Apps are often hosted automatically via the platform.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a7fb579dc_1_5"/>
          <p:cNvSpPr/>
          <p:nvPr/>
        </p:nvSpPr>
        <p:spPr>
          <a:xfrm>
            <a:off x="1031697" y="3544800"/>
            <a:ext cx="12567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From No-Code Tools to Vibe Coding</a:t>
            </a:r>
            <a:endParaRPr b="1" sz="5000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333427" y="398575"/>
            <a:ext cx="8461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8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What is Vibe Coding?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33429" y="3724270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48" y="3748261"/>
            <a:ext cx="451334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1262302" y="3745939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new programming paradigm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262302" y="4198377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Focused on intuition, visual thinking, and flow over syntax and strict logic.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33429" y="5236602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248" y="5294883"/>
            <a:ext cx="451334" cy="2747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1262302" y="5258271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Modern context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262302" y="5710709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Coined in the context of no-code/low-code + AI-assisted development.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3429" y="6754768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3" name="Google Shape;1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48" y="6778759"/>
            <a:ext cx="451334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1262302" y="6776437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Natural building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262302" y="7228875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Encourages building based on natural language, spatial logic, and creative iteration. </a:t>
            </a:r>
            <a:r>
              <a:rPr lang="en-US" sz="16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No-code tools wrap LLMs to let you design and test workflows quickly.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t/>
            </a:r>
            <a:endParaRPr sz="18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24236" y="1383621"/>
            <a:ext cx="140073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Definition: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Using LLM transformative conversational power and coding skills for building apps by describing what you want! </a:t>
            </a:r>
            <a:endParaRPr sz="21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Think of Sketching an app or describing its behavior in words — and the system handles the translation into logic/code.</a:t>
            </a:r>
            <a:endParaRPr sz="21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t/>
            </a:r>
            <a:endParaRPr sz="21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-122801" y="911300"/>
            <a:ext cx="58800" cy="13542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686285" y="541369"/>
            <a:ext cx="61626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0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No Code 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vs 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Vibe Coding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678656" y="1555790"/>
            <a:ext cx="13273088" cy="6016109"/>
          </a:xfrm>
          <a:prstGeom prst="roundRect">
            <a:avLst>
              <a:gd fmla="val 4835" name="adj"/>
            </a:avLst>
          </a:prstGeom>
          <a:noFill/>
          <a:ln cap="flat" cmpd="sng" w="9525">
            <a:solidFill>
              <a:srgbClr val="000000">
                <a:alpha val="745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86276" y="1563410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881658" y="168735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Aspect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5303758" y="1687354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Code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722048" y="168735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Vibe Coding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86276" y="2199084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881658" y="232302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Interface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303758" y="2323028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Visual drag-and-drop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9722048" y="2323028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+ AI-powered code generation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86276" y="3222546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881658" y="3346490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User Base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303758" y="3346490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Non-technical users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9722048" y="3346490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Developers &amp; technical creators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686276" y="3858220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881658" y="398216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Flexibility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303758" y="3982164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Limited by platform constraints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9722048" y="3982164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Highly flexible with AI-assisted logic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686276" y="4881682"/>
            <a:ext cx="13256419" cy="1023461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881658" y="5005626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Learning Curve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5303758" y="5005626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Very low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9722048" y="5005626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Low-to-medium (some coding knowledge helps)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686276" y="5905143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881658" y="6029087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Output Quality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5303758" y="6029087"/>
            <a:ext cx="402300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Abstracted, often less customizable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9722048" y="6029087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Custom, developer-quality output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86276" y="6928604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81658" y="705254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Main Tools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5303758" y="7052548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Webflow, Bubble, Zapier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9722048" y="705254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Cursor, Replit, GPT-based IDEs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5"/>
          <p:cNvSpPr/>
          <p:nvPr/>
        </p:nvSpPr>
        <p:spPr>
          <a:xfrm>
            <a:off x="6132675" y="972475"/>
            <a:ext cx="8401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en-US" sz="40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The Revolution </a:t>
            </a:r>
            <a:r>
              <a:rPr b="1" lang="en-US" sz="40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- </a:t>
            </a:r>
            <a:endParaRPr b="1" sz="4050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en-US" sz="40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Democratization of Software Creation!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2671" y="516374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"/>
          <p:cNvSpPr/>
          <p:nvPr/>
        </p:nvSpPr>
        <p:spPr>
          <a:xfrm>
            <a:off x="6132671" y="5810012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Entrepreneurs &amp; Startups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132671" y="6659404"/>
            <a:ext cx="2463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MVP development without hiring dev teams.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3" name="Google Shape;2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6698" y="516374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/>
          <p:nvPr/>
        </p:nvSpPr>
        <p:spPr>
          <a:xfrm>
            <a:off x="8826698" y="5810012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Product Designers &amp; PMs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826698" y="6659404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Quick iterations and UI/UX validation.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" name="Google Shape;2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071" y="516493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11619071" y="5811203"/>
            <a:ext cx="24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Individual Users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1619071" y="6291263"/>
            <a:ext cx="2463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Personal </a:t>
            </a: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r>
              <a:rPr lang="en-US" sz="18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132675" y="3577550"/>
            <a:ext cx="8401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lang="en-US" sz="2400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These tools </a:t>
            </a:r>
            <a:r>
              <a:rPr b="0" i="0" lang="en-US" sz="24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allows broader participation in building digital products</a:t>
            </a:r>
            <a:r>
              <a:rPr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! </a:t>
            </a:r>
            <a:r>
              <a:rPr b="1"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focus</a:t>
            </a:r>
            <a:r>
              <a:rPr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writing good prompts..!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416311" y="289183"/>
            <a:ext cx="82194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‘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 Day in Life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’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 of a Vibe Coder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16310" y="1292725"/>
            <a:ext cx="3122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💡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Spark Stage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16300" y="1794098"/>
            <a:ext cx="41637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Sketch the idea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Start with a raw concept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/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Drop a thought into Canvas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/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draft a quick UI sketch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It’s all about capturing the spark and visualize you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 app idea!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303912" y="1292725"/>
            <a:ext cx="3210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⚙️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Live Feedback Loop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303912" y="1794097"/>
            <a:ext cx="38196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Test in real-time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Immediately run prompts, logic, and UI updates. </a:t>
            </a:r>
            <a:endParaRPr i="0" sz="2000" u="none" cap="none" strike="noStrike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eedback flows instantly, so you can adjust on the fly.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581928" y="1292725"/>
            <a:ext cx="394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🧪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Feel Tuning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581928" y="1794098"/>
            <a:ext cx="48213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Refine the output 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by 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adjust the prompt, flow, or interface until the tool 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is what you want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“I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 it clicks, it's right.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717100" y="5063675"/>
            <a:ext cx="2289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🚀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Flash Deploy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717100" y="5565049"/>
            <a:ext cx="45927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Ship fast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Turn your prototype into something shareable 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link, a demo, or even a live product!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 hours, not days. 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02975" y="5063675"/>
            <a:ext cx="2662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🤖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Co-Creation Mode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02975" y="5565048"/>
            <a:ext cx="53406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 with AI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 AI not just for writing code, but for iterating UI, refining copy, optimizing prompts, and brainstorming edge cases — like a creative partner.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/>
          <p:nvPr/>
        </p:nvSpPr>
        <p:spPr>
          <a:xfrm>
            <a:off x="910707" y="420958"/>
            <a:ext cx="7887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Real-World Scenario Comparison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58309" y="1532280"/>
            <a:ext cx="1311378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🔧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Scenario: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Build an internal AI-powered content assistant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58309" y="2437989"/>
            <a:ext cx="13113900" cy="4337400"/>
          </a:xfrm>
          <a:prstGeom prst="roundRect">
            <a:avLst>
              <a:gd fmla="val 7493" name="adj"/>
            </a:avLst>
          </a:prstGeom>
          <a:noFill/>
          <a:ln cap="flat" cmpd="sng" w="9525">
            <a:solidFill>
              <a:srgbClr val="000000">
                <a:alpha val="745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765929" y="2445609"/>
            <a:ext cx="13097100" cy="6216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83813" y="2583126"/>
            <a:ext cx="392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Criteria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352931" y="2583126"/>
            <a:ext cx="3924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Traditional Development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9718251" y="2583125"/>
            <a:ext cx="4144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No-Code/Vibe C</a:t>
            </a:r>
            <a:r>
              <a:rPr b="1"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oding</a:t>
            </a: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Development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65929" y="3067353"/>
            <a:ext cx="13097100" cy="1141800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983813" y="3204870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Time to MVP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352931" y="3204870"/>
            <a:ext cx="3924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3–5 weeks (setup, frontend, API, auth)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9718238" y="3204870"/>
            <a:ext cx="3928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2–3 days (Base44 + ChatGPT Canvas)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765929" y="4209163"/>
            <a:ext cx="13097100" cy="11418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983813" y="4346680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Required Roles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352931" y="4346680"/>
            <a:ext cx="3924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Backend + frontend dev, designer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9718238" y="4346680"/>
            <a:ext cx="3928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One builder with prompt + logic skills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65929" y="5350972"/>
            <a:ext cx="13097100" cy="708300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983813" y="5488489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Flexibility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352931" y="5488489"/>
            <a:ext cx="3924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Full customization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9718238" y="5488489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Limited but fast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65929" y="6059394"/>
            <a:ext cx="13097100" cy="7083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983813" y="6196911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Maintenance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352931" y="6196911"/>
            <a:ext cx="3924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Needs dev attention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9718238" y="6196911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Mostly automated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439649" y="181975"/>
            <a:ext cx="119274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Pros of Vibe C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oding 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Tools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439649" y="1458375"/>
            <a:ext cx="6403200" cy="6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Speed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Build and iterate 5–10× faster than traditional coding.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Lower Barriers to Entry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prior coding experience required.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Reduced Costs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Fewer developers needed = lower dev budgets.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Rapid Prototyping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Useful for quick feedback and early validation.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Built-in Scalability (to a point)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platforms support scaling to moderate traffic.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6974666" y="1451997"/>
            <a:ext cx="73152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Interfaces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plain English to create logic, workflows, or content.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Creative Flexibility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Blend logic, design, and storytelling using intuitive tools and AI.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Human-AI Collaboration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Co-create with LLMs to build smarter, more adaptive systems.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Faster Ideation-to-Execution Flow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 from idea to output without detailed specs or manual coding.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311217" y="326574"/>
            <a:ext cx="9196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Cons 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of Vibe Coding Tools</a:t>
            </a:r>
            <a:endParaRPr sz="4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400"/>
              <a:buFont typeface="Barlow"/>
              <a:buNone/>
            </a:pPr>
            <a:r>
              <a:t/>
            </a:r>
            <a:endParaRPr b="1" sz="3550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7303770" y="1518999"/>
            <a:ext cx="22860" cy="6145173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489204" y="1739027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083683" y="1518999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152680" y="1547396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578423" y="1589723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Limited Customization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20209" y="2051566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No-code platforms often restrict access to lower-level code, limiting the ability to implement highly customized features.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7523857" y="2973824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7083683" y="2753797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7152680" y="2782193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8344138" y="2824520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Scalability Issues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8344138" y="3286363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Applications may struggle to handle large-scale users, complex workflows, or data-heavy operations efficiently.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489204" y="4038124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7083683" y="3818096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7152680" y="3846493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578423" y="3888819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Vendor Lock-In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720209" y="4350663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You're often tied to the specific platform's infrastructure, pricing, and limitations, making migration difficult.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523857" y="5102543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083683" y="4882515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152680" y="4910911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8344138" y="4953238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Security Concerns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8344138" y="5415082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Security and compliance are managed by the platform, which may not meet the requirements of all industries or use cases.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489204" y="6166961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7083683" y="5946934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152680" y="5975330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5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3533061" y="6017657"/>
            <a:ext cx="2753201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Integration Limitations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720209" y="6479500"/>
            <a:ext cx="5566053" cy="65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Third-party integrations can be limited or less flexible compared to custom code solutions.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549711" y="536301"/>
            <a:ext cx="10930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60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When to Use What?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24"/>
          <p:cNvGraphicFramePr/>
          <p:nvPr/>
        </p:nvGraphicFramePr>
        <p:xfrm>
          <a:off x="745625" y="174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{35C1AE15-97EC-4F55-B0D1-6C6E6013DD06}</a:tableStyleId>
              </a:tblPr>
              <a:tblGrid>
                <a:gridCol w="4241800"/>
                <a:gridCol w="4241800"/>
                <a:gridCol w="424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Purpose</a:t>
                      </a:r>
                      <a:endParaRPr b="1"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Optional Platforms</a:t>
                      </a:r>
                      <a:endParaRPr b="1"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Complexity Level</a:t>
                      </a:r>
                      <a:endParaRPr b="1"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Simple web pages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Chat GPT 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Gemini </a:t>
                      </a: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Claude (artifact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simple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Prototype an idea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Chat GPT 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Gemini 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Claude (artifact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simple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Lightweight fully functional web applications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Base44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Lovable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Bolt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medium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Free programing with AI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Cursor, Windsurf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(require programming skills and background)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865509" y="2610907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 this Course you will: </a:t>
            </a:r>
            <a:endParaRPr sz="4700"/>
          </a:p>
          <a:p>
            <a:pPr indent="-5016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en-US" sz="43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Create custom web-pages</a:t>
            </a:r>
            <a:endParaRPr sz="43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5016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en-US" sz="43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Prototype your idea</a:t>
            </a:r>
            <a:endParaRPr sz="43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50165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en-US" sz="43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Deploy your idea to become a fully functional app</a:t>
            </a:r>
            <a:endParaRPr sz="43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a7fb579dc_1_23"/>
          <p:cNvSpPr/>
          <p:nvPr/>
        </p:nvSpPr>
        <p:spPr>
          <a:xfrm>
            <a:off x="865509" y="809807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Custom web-pages and </a:t>
            </a:r>
            <a:r>
              <a:rPr b="1" lang="en-US" sz="6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Prototyping your ideas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13" name="Google Shape;313;g36a7fb579dc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50" y="3493850"/>
            <a:ext cx="2957126" cy="2957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6a7fb579dc_1_23"/>
          <p:cNvSpPr/>
          <p:nvPr/>
        </p:nvSpPr>
        <p:spPr>
          <a:xfrm>
            <a:off x="620550" y="6580025"/>
            <a:ext cx="4023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codex sites feature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15" name="Google Shape;315;g36a7fb579dc_1_23"/>
          <p:cNvPicPr preferRelativeResize="0"/>
          <p:nvPr/>
        </p:nvPicPr>
        <p:blipFill rotWithShape="1">
          <a:blip r:embed="rId4">
            <a:alphaModFix/>
          </a:blip>
          <a:srcRect b="33198" l="20713" r="20876" t="26572"/>
          <a:stretch/>
        </p:blipFill>
        <p:spPr>
          <a:xfrm>
            <a:off x="4932825" y="4288400"/>
            <a:ext cx="4514750" cy="16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6a7fb579dc_1_23"/>
          <p:cNvSpPr/>
          <p:nvPr/>
        </p:nvSpPr>
        <p:spPr>
          <a:xfrm>
            <a:off x="5573550" y="6580025"/>
            <a:ext cx="3178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canvas feature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17" name="Google Shape;317;g36a7fb579dc_1_23"/>
          <p:cNvPicPr preferRelativeResize="0"/>
          <p:nvPr/>
        </p:nvPicPr>
        <p:blipFill rotWithShape="1">
          <a:blip r:embed="rId5">
            <a:alphaModFix/>
          </a:blip>
          <a:srcRect b="26555" l="4807" r="0" t="29442"/>
          <a:stretch/>
        </p:blipFill>
        <p:spPr>
          <a:xfrm>
            <a:off x="10162100" y="4592799"/>
            <a:ext cx="4340999" cy="15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6a7fb579dc_1_23"/>
          <p:cNvSpPr/>
          <p:nvPr/>
        </p:nvSpPr>
        <p:spPr>
          <a:xfrm>
            <a:off x="10907550" y="6580025"/>
            <a:ext cx="3178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artifact </a:t>
            </a: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feature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a7fb579dc_1_28"/>
          <p:cNvSpPr/>
          <p:nvPr/>
        </p:nvSpPr>
        <p:spPr>
          <a:xfrm>
            <a:off x="865509" y="627382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Deploy your idea via Vibe-Coding platform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g36a7fb579dc_1_2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088" y="3163725"/>
            <a:ext cx="9122223" cy="47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a7fb579dc_1_101"/>
          <p:cNvSpPr txBox="1"/>
          <p:nvPr/>
        </p:nvSpPr>
        <p:spPr>
          <a:xfrm>
            <a:off x="492300" y="1647550"/>
            <a:ext cx="87750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Traditional Development to No-Code Tools 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No-Code Tools to ‘Vibe Coding’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Vibe Coding Tools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In this Course - Prototype &amp; Deployment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32" name="Google Shape;332;g36a7fb579dc_1_101"/>
          <p:cNvSpPr/>
          <p:nvPr/>
        </p:nvSpPr>
        <p:spPr>
          <a:xfrm>
            <a:off x="492302" y="313157"/>
            <a:ext cx="45612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48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Summary</a:t>
            </a:r>
            <a:endParaRPr b="0" i="0" sz="4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a7fb579dc_1_52"/>
          <p:cNvSpPr/>
          <p:nvPr/>
        </p:nvSpPr>
        <p:spPr>
          <a:xfrm>
            <a:off x="4078351" y="3303150"/>
            <a:ext cx="6473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90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Questions?</a:t>
            </a:r>
            <a:endParaRPr b="0" i="0" sz="90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