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8229600" cx="14630400"/>
  <p:notesSz cx="8229600" cy="146304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Assistant"/>
      <p:regular r:id="rId31"/>
      <p:bold r:id="rId32"/>
    </p:embeddedFont>
    <p:embeddedFont>
      <p:font typeface="Rubik"/>
      <p:regular r:id="rId33"/>
      <p:bold r:id="rId34"/>
      <p:italic r:id="rId35"/>
      <p:boldItalic r:id="rId36"/>
    </p:embeddedFont>
    <p:embeddedFont>
      <p:font typeface="Barlow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jQC5ZZfAMNcwK6nrMOsD0aeeU+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C1AE15-97EC-4F55-B0D1-6C6E6013DD06}">
  <a:tblStyle styleId="{35C1AE15-97EC-4F55-B0D1-6C6E6013DD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ssistant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Rubik-regular.fntdata"/><Relationship Id="rId10" Type="http://schemas.openxmlformats.org/officeDocument/2006/relationships/slide" Target="slides/slide5.xml"/><Relationship Id="rId32" Type="http://schemas.openxmlformats.org/officeDocument/2006/relationships/font" Target="fonts/Assistant-bold.fntdata"/><Relationship Id="rId13" Type="http://schemas.openxmlformats.org/officeDocument/2006/relationships/slide" Target="slides/slide8.xml"/><Relationship Id="rId35" Type="http://schemas.openxmlformats.org/officeDocument/2006/relationships/font" Target="fonts/Rubik-italic.fntdata"/><Relationship Id="rId12" Type="http://schemas.openxmlformats.org/officeDocument/2006/relationships/slide" Target="slides/slide7.xml"/><Relationship Id="rId34" Type="http://schemas.openxmlformats.org/officeDocument/2006/relationships/font" Target="fonts/Rubik-bold.fntdata"/><Relationship Id="rId15" Type="http://schemas.openxmlformats.org/officeDocument/2006/relationships/slide" Target="slides/slide10.xml"/><Relationship Id="rId37" Type="http://schemas.openxmlformats.org/officeDocument/2006/relationships/font" Target="fonts/Barlow-regular.fntdata"/><Relationship Id="rId14" Type="http://schemas.openxmlformats.org/officeDocument/2006/relationships/slide" Target="slides/slide9.xml"/><Relationship Id="rId36" Type="http://schemas.openxmlformats.org/officeDocument/2006/relationships/font" Target="fonts/Rubik-boldItalic.fntdata"/><Relationship Id="rId17" Type="http://schemas.openxmlformats.org/officeDocument/2006/relationships/slide" Target="slides/slide12.xml"/><Relationship Id="rId39" Type="http://schemas.openxmlformats.org/officeDocument/2006/relationships/font" Target="fonts/Barlow-italic.fntdata"/><Relationship Id="rId16" Type="http://schemas.openxmlformats.org/officeDocument/2006/relationships/slide" Target="slides/slide11.xml"/><Relationship Id="rId38" Type="http://schemas.openxmlformats.org/officeDocument/2006/relationships/font" Target="fonts/Barlow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PROS:</a:t>
            </a:r>
            <a:br>
              <a:rPr lang="en-US"/>
            </a:br>
            <a:r>
              <a:rPr lang="en-US"/>
              <a:t>Full Control - Complete control over logic, performance, and integrations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Better Suited For - Complex systems, Scalable architectures, Security-sensitive apps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Deep Debugging - Advanced debugging tools (e.g., logs, breakpoints, test suites)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-US"/>
            </a:br>
            <a:r>
              <a:rPr lang="en-US"/>
              <a:t>CONS: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Longer Time to Market - Traditional development involves manual coding, testing, and debugging, which leads to slower iterations and delayed deployments.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Higher Costs - It typically requires hiring skilled developers, leading to increased labor and maintenance expenses.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Resource Intensive - need </a:t>
            </a:r>
            <a:r>
              <a:rPr lang="en-US"/>
              <a:t>developments</a:t>
            </a:r>
            <a:r>
              <a:rPr lang="en-US"/>
              <a:t> and multiple specialists such as backend, frontend, and QA engineers, making the process complex and resource-heavy.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Slower Prototyping and less Agility - Building and testing new features or prototypes takes longer, delaying user feedback and product refinement.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Limited to experts only - Non-technical stakeholders cannot easily contribute, and business logic remains locked in the hands of developers.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a7fb579dc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6a7fb579dc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6a7fb579dc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בסיום ההסבר - לעבור לקלוד ולהדגים איך זה נראה:</a:t>
            </a:r>
            <a:endParaRPr/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אני מבקשת ממנו לבנות לי איזשהו דף אינטרנט כשאני רק מספרת לו את הרעיון, והוא כותב את הקוד ומציג לי את ה-preview לדף הזה.</a:t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מה שחשוב כאן הוא לא לדעת לקודד אלא לדעת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לנסח פרומפטים טובים, לחדד כוונה ולכוון את הבינה המלאכותית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מאפשר לכולם לבנות, בלי שום רקע טכני.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a7fb579dc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6a7fb579dc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6a7fb579dc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a7fb579dc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6a7fb579dc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6a7fb579dc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a7fb579dc_1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6a7fb579dc_1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36a7fb579dc_1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a7fb579dc_1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6a7fb579dc_1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6a7fb579dc_1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" name="Google Shape;4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wix.com/builder/no-code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base44.com/" TargetMode="External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/>
          <p:nvPr/>
        </p:nvSpPr>
        <p:spPr>
          <a:xfrm>
            <a:off x="555320" y="1753475"/>
            <a:ext cx="6986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lang="he-IL" sz="50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מבוא לווייב קודינג</a:t>
            </a:r>
            <a:endParaRPr b="0" i="0" sz="50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4265" y="4858913"/>
            <a:ext cx="2788801" cy="123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/>
        </p:nvSpPr>
        <p:spPr>
          <a:xfrm>
            <a:off x="492300" y="1647550"/>
            <a:ext cx="103428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rtlCol="1">
            <a:spAutoFit/>
          </a:bodyPr>
          <a:lstStyle/>
          <a:p>
            <a:pPr indent="-501650" lvl="0" marL="0" marR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ssistant"/>
              <a:buAutoNum type="arabicPeriod"/>
            </a:pPr>
            <a:r>
              <a:rPr lang="he-IL" sz="2700" altLang="en-US">
                <a:latin typeface="Arial"/>
                <a:ea typeface="Arial"/>
                <a:cs typeface="Arial"/>
                <a:sym typeface="Assistant"/>
              </a:rPr>
              <a:t>מפיתוח מסורתי לכלים ללא קוד</a:t>
            </a:r>
            <a:r>
              <a:rPr lang="he-IL" sz="2700" altLang="en-US">
                <a:latin typeface="Arial"/>
                <a:ea typeface="Arial"/>
                <a:cs typeface="Arial"/>
                <a:sym typeface="Assistant"/>
              </a:rPr>
              <a:t/>
            </a:r>
            <a:r>
              <a:rPr lang="he-IL" sz="2700" altLang="en-US">
                <a:latin typeface="Arial"/>
                <a:ea typeface="Arial"/>
                <a:cs typeface="Arial"/>
                <a:sym typeface="Assistant"/>
              </a:rPr>
              <a:t/>
            </a:r>
            <a:endParaRPr sz="2700" lang="he-IL" altLang="en-US">
              <a:latin typeface="Arial"/>
              <a:ea typeface="Arial"/>
              <a:cs typeface="Arial"/>
              <a:sym typeface="Assistant"/>
            </a:endParaRPr>
          </a:p>
          <a:p>
            <a:pPr indent="-501650" lvl="0" marL="0" marR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he-IL" sz="2700" altLang="en-US">
                <a:latin typeface="Arial"/>
                <a:ea typeface="Arial"/>
                <a:cs typeface="Arial"/>
                <a:sym typeface="Assistant"/>
              </a:rPr>
              <a:t>מכלים ללא קוד ל־Vibe Coding — מהפכת הפיתוח בעזרת בינה מלאכותית</a:t>
            </a:r>
            <a:endParaRPr sz="2700" lang="he-IL" altLang="en-US">
              <a:latin typeface="Arial"/>
              <a:ea typeface="Arial"/>
              <a:cs typeface="Arial"/>
              <a:sym typeface="Assistant"/>
            </a:endParaRPr>
          </a:p>
          <a:p>
            <a:pPr indent="-4000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he-IL" sz="27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Assistant"/>
              </a:rPr>
              <a:t>כלים לפיתוח בשיטת Vibe Coding</a:t>
            </a:r>
            <a:r>
              <a:rPr lang="he-IL" sz="27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Assistant"/>
              </a:rPr>
              <a:t/>
            </a:r>
            <a:endParaRPr sz="2700" lang="he-IL" altLang="en-US">
              <a:solidFill>
                <a:schemeClr val="dk1"/>
              </a:solidFill>
              <a:latin typeface="Arial"/>
              <a:ea typeface="Arial"/>
              <a:cs typeface="Arial"/>
              <a:sym typeface="Assistant"/>
            </a:endParaRPr>
          </a:p>
          <a:p>
            <a:pPr indent="-4000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ssistant"/>
              <a:buAutoNum type="arabicPeriod"/>
            </a:pPr>
            <a:r>
              <a:rPr lang="he-IL" sz="27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Assistant"/>
              </a:rPr>
              <a:t>בקורס: בניית אב־טיפוס ופרסום אפליקציה</a:t>
            </a:r>
            <a:endParaRPr sz="2700" lang="he-IL" altLang="en-US">
              <a:solidFill>
                <a:schemeClr val="dk1"/>
              </a:solidFill>
              <a:latin typeface="Arial"/>
              <a:ea typeface="Arial"/>
              <a:cs typeface="Arial"/>
              <a:sym typeface="Assistan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92302" y="313157"/>
            <a:ext cx="4561284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נושאי השיעור</a:t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1031697" y="3046175"/>
            <a:ext cx="125670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מפיתוח מסורתי</a:t>
            </a: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endParaRPr b="1" i="0" sz="3200" u="none" cap="none" strike="noStrike" lang="he-IL" altLang="en-US">
              <a:solidFill>
                <a:srgbClr val="2E3C4E"/>
              </a:solidFill>
              <a:latin typeface="Arial"/>
              <a:ea typeface="Arial"/>
              <a:cs typeface="Arial"/>
              <a:sym typeface="Barlow"/>
            </a:endParaRPr>
          </a:p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לכלים ללא קוד</a:t>
            </a: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/>
          <p:nvPr/>
        </p:nvSpPr>
        <p:spPr>
          <a:xfrm>
            <a:off x="318455" y="678690"/>
            <a:ext cx="83217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250"/>
              <a:buFont typeface="Barlow"/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מהו פיתוח מסורתי?</a:t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89372" y="2135819"/>
            <a:ext cx="147600" cy="1181700"/>
          </a:xfrm>
          <a:prstGeom prst="roundRect">
            <a:avLst>
              <a:gd fmla="val 20011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132403" y="2135819"/>
            <a:ext cx="73221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כתיבת תוכנה באמצעות שפות תכנות, כגון Python, JavaScript ו־Java.</a:t>
            </a: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1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19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19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679966" y="3514325"/>
            <a:ext cx="147600" cy="1417800"/>
          </a:xfrm>
          <a:prstGeom prst="roundRect">
            <a:avLst>
              <a:gd fmla="val 20011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1122998" y="3514325"/>
            <a:ext cx="7026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נדרש ידע בתכנות בתחומים הבאים:</a:t>
            </a: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19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1122998" y="4026294"/>
            <a:ext cx="7026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תחביר, לוגיקה, מבני נתונים וארכיטקטורה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1122998" y="4538263"/>
            <a:ext cx="7026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תפעול מערכות, ניהול גרסאות בעזרת Git ובדיקות תוכנה.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670560" y="5129051"/>
            <a:ext cx="147600" cy="1811700"/>
          </a:xfrm>
          <a:prstGeom prst="roundRect">
            <a:avLst>
              <a:gd fmla="val 200118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113592" y="5129051"/>
            <a:ext cx="673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תהליך העבודה כולל:</a:t>
            </a: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1113592" y="5641019"/>
            <a:ext cx="67314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תכנון וכתיבת קוד מאפס.</a:t>
            </a:r>
            <a:r>
              <a:rPr lang="he-IL" sz="19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19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1113592" y="6152988"/>
            <a:ext cx="67314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שליטה מלאה בממשק, בצד השרת ובתשתיות.</a:t>
            </a: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704" y="0"/>
            <a:ext cx="5760695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397425" y="465900"/>
            <a:ext cx="99057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193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100"/>
              <a:buFont typeface="Barlow"/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פיתוח מסורתי — יתרונות וחסרונות</a:t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563925" y="1572188"/>
            <a:ext cx="7442100" cy="5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lang="he-IL" sz="23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יתרונות:</a:t>
            </a:r>
            <a:endParaRPr b="1" sz="23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-374650" lvl="0" marL="0" marR="457200" rtl="1" algn="r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i="0" lang="he-IL" sz="23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שליטה מלאה</a:t>
            </a:r>
            <a:endParaRPr sz="23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-374650" lvl="0" marL="0" marR="457200" rtl="1" algn="r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he-IL" sz="23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מתאים למערכות מורכבות, להתרחבות וליישומים עם דרישות אבטחה גבוהות.</a:t>
            </a:r>
            <a:endParaRPr sz="23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-374650" lvl="0" marL="0" marR="457200" rtl="1" algn="r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he-IL" sz="23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איתור תקלות מעמיק</a:t>
            </a:r>
            <a:endParaRPr sz="23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e-IL" sz="23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חסרונות:</a:t>
            </a:r>
            <a:endParaRPr b="1" sz="23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-3746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he-IL" sz="23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זמן ארוך יותר עד להשקה</a:t>
            </a:r>
            <a:endParaRPr sz="23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-3746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he-IL" sz="23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עלויות גבוהות יותר</a:t>
            </a:r>
            <a:endParaRPr sz="23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-3746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he-IL" sz="23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השקעה רבה במשאבים</a:t>
            </a:r>
            <a:endParaRPr sz="23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-3746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he-IL" sz="23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בניית אב־טיפוס ושינויים דורשים יותר זמן</a:t>
            </a:r>
            <a:endParaRPr sz="23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-3746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300"/>
              <a:buFont typeface="Montserrat"/>
              <a:buChar char="●"/>
            </a:pPr>
            <a:r>
              <a:rPr lang="he-IL" sz="23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נדרשת מומחיות</a:t>
            </a:r>
            <a:endParaRPr sz="23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0" lvl="0" marL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t/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88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t/>
            </a:r>
            <a:endParaRPr sz="23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1083225" y="7327225"/>
            <a:ext cx="73026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lang="he-IL" sz="21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דוגמה מוכרת: בניית אתרים באמצעות Wix</a:t>
            </a:r>
            <a:r>
              <a:rPr b="1" i="0" lang="he-IL" sz="2100" u="none" cap="none" strike="noStrike" altLang="en-US">
                <a:solidFill>
                  <a:srgbClr val="38465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2100" u="sng" altLang="en-US">
                <a:solidFill>
                  <a:schemeClr val="hlink"/>
                </a:solidFill>
                <a:latin typeface="Arial"/>
                <a:ea typeface="Arial"/>
                <a:cs typeface="Arial"/>
                <a:sym typeface="Montserrat"/>
                <a:hlinkClick r:id="rId3"/>
              </a:rPr>
              <a:t/>
            </a:r>
            <a:r>
              <a:rPr lang="he-IL" sz="21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338351" y="509950"/>
            <a:ext cx="5997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מהו פיתוח ללא קוד?</a:t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58309" y="3093125"/>
            <a:ext cx="7627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גישה המאפשרת ליצור תוכנה בלי לכתוב קוד באופן המסורתי.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58309" y="4035623"/>
            <a:ext cx="7627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משתמשים בממשקים חזותיים, ברכיבים מוכנים ובתהליכי עבודה.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58309" y="4978122"/>
            <a:ext cx="76275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גוררים רכיבי ממשק, מגדירים כללים ומחברים מקורות מידע ושירותי API ללא כתיבת סקריפטים.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758309" y="6468833"/>
            <a:ext cx="7627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-342900" lvl="0" marL="0" marR="34290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Char char="•"/>
            </a:pPr>
            <a:r>
              <a:rPr b="0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מתאים למשתמשים עם מעט ידע בתכנות או ללא ידע קודם.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083231" y="1688425"/>
            <a:ext cx="73026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הגדרה: כלים ללא קוד מציגים את הלוגיקה, הנתונים והממשק בצורה חזותית, ומסתירים את הקוד שמאחוריהם.</a:t>
            </a: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58309" y="1444704"/>
            <a:ext cx="30600" cy="1354200"/>
          </a:xfrm>
          <a:prstGeom prst="rect">
            <a:avLst/>
          </a:prstGeom>
          <a:solidFill>
            <a:srgbClr val="75BAE6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 flipH="1">
            <a:off x="788916" y="7113801"/>
            <a:ext cx="30600" cy="866700"/>
          </a:xfrm>
          <a:prstGeom prst="rect">
            <a:avLst/>
          </a:prstGeom>
          <a:solidFill>
            <a:srgbClr val="75BAE6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425676" y="492800"/>
            <a:ext cx="97431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מאפיינים של פיתוח ללא קוד</a:t>
            </a: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58309" y="197734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462326" y="2004374"/>
            <a:ext cx="348674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ממשקים חזותיים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462326" y="2567659"/>
            <a:ext cx="3486745" cy="1300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תרשימי זרימה ובוני טפסים מחליפים את סביבת כתיבת הקוד.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219819" y="197734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923836" y="2004374"/>
            <a:ext cx="348674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רכיבי לוגיקה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923836" y="2567659"/>
            <a:ext cx="3486745" cy="1300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תנאים ולולאות מוגדרים באמצעות רכיבים מוכנים.</a:t>
            </a:r>
            <a:r>
              <a:rPr lang="he-IL" sz="21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9681329" y="1977347"/>
            <a:ext cx="487442" cy="487442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385346" y="2004374"/>
            <a:ext cx="3486745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שימוש חוזר ברכיבים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385346" y="2567659"/>
            <a:ext cx="348674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תבניות ורכיבים מוכנים מקצרים את זמן הפיתוח.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58309" y="5191678"/>
            <a:ext cx="487500" cy="487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462326" y="5218705"/>
            <a:ext cx="57174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חיבור לצד השרת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462326" y="5781989"/>
            <a:ext cx="5717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שירותים מובנים או חיצוניים לשמירת מידע ולחיבור לשירותי API.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450574" y="5191678"/>
            <a:ext cx="487500" cy="487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154591" y="5218705"/>
            <a:ext cx="57174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1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פרסום בענן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154591" y="5781989"/>
            <a:ext cx="5717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במקרים רבים הפלטפורמה מארחת את האפליקציה באופן אוטומטי.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a7fb579dc_1_5"/>
          <p:cNvSpPr/>
          <p:nvPr/>
        </p:nvSpPr>
        <p:spPr>
          <a:xfrm>
            <a:off x="1031697" y="3544800"/>
            <a:ext cx="125670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מכלים ללא קוד לפיתוח בשיטת Vibe Coding</a:t>
            </a:r>
            <a:endParaRPr b="1" sz="3200" lang="he-IL" altLang="en-US">
              <a:solidFill>
                <a:srgbClr val="2E3C4E"/>
              </a:solidFill>
              <a:latin typeface="Arial"/>
              <a:ea typeface="Arial"/>
              <a:cs typeface="Arial"/>
              <a:sym typeface="Barl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333427" y="398575"/>
            <a:ext cx="8461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850"/>
              <a:buFont typeface="Barlow"/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מהו פיתוח בשיטת Vibe Coding?</a:t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33429" y="3724270"/>
            <a:ext cx="642900" cy="391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248" y="3748261"/>
            <a:ext cx="451334" cy="3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1262302" y="3745939"/>
            <a:ext cx="12088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גישה חדשה לפיתוח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262302" y="4198377"/>
            <a:ext cx="12088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מתמקדים בתיאור הרעיון, בהתנסות ובשיפור, במקום בכתיבה ידנית של כל שורת קוד.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33429" y="5236602"/>
            <a:ext cx="642900" cy="391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248" y="5294883"/>
            <a:ext cx="451334" cy="27479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1262302" y="5258271"/>
            <a:ext cx="12088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ההקשר הטכנולוגי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262302" y="5710709"/>
            <a:ext cx="12088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פיתוח בעזרת בינה מלאכותית, לצד כלים ללא קוד ועם מעט קוד.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33429" y="6754768"/>
            <a:ext cx="642900" cy="391500"/>
          </a:xfrm>
          <a:prstGeom prst="roundRect">
            <a:avLst>
              <a:gd fmla="val 66673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3" name="Google Shape;1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248" y="6778759"/>
            <a:ext cx="451334" cy="3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/>
          <p:nvPr/>
        </p:nvSpPr>
        <p:spPr>
          <a:xfrm>
            <a:off x="1262302" y="6776437"/>
            <a:ext cx="120885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בנייה בשפה טבעית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262302" y="7228875"/>
            <a:ext cx="120885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0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מתארים את התוצאה הרצויה, בוחנים אותה ומשפרים בהדרגה. מודלי שפה מאפשרים לבנות ולבדוק תהליכים במהירות.</a:t>
            </a:r>
            <a:r>
              <a:rPr lang="he-IL" sz="16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sz="1600" lang="he-IL" altLang="en-US">
              <a:solidFill>
                <a:schemeClr val="dk1"/>
              </a:solidFill>
              <a:latin typeface="Arial"/>
              <a:cs typeface="Arial"/>
              <a:ea typeface="Arial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t/>
            </a:r>
            <a:endParaRPr sz="18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24236" y="1383621"/>
            <a:ext cx="140073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lang="he-IL" sz="21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הגדרה: בניית אפליקציות באמצעות תיאור מילולי של מה שרוצים, בעזרת יכולות השיחה והתכנות של מודלי שפה.</a:t>
            </a: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21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sz="21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lang="he-IL" sz="21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אפשר לשרטט אפליקציה או לתאר את ההתנהגות שלה במילים — והמערכת מתרגמת זאת ללוגיקה ולקוד.</a:t>
            </a:r>
            <a:endParaRPr sz="21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t/>
            </a:r>
            <a:endParaRPr sz="2100">
              <a:solidFill>
                <a:srgbClr val="3846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-122801" y="911300"/>
            <a:ext cx="58800" cy="1354200"/>
          </a:xfrm>
          <a:prstGeom prst="rect">
            <a:avLst/>
          </a:prstGeom>
          <a:solidFill>
            <a:srgbClr val="75BAE6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686285" y="541369"/>
            <a:ext cx="61626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200"/>
              <a:buFont typeface="Barlow"/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פיתוח ללא קוד לעומת Vibe Coding</a:t>
            </a: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678656" y="1555790"/>
            <a:ext cx="13273088" cy="6016109"/>
          </a:xfrm>
          <a:prstGeom prst="roundRect">
            <a:avLst>
              <a:gd fmla="val 4835" name="adj"/>
            </a:avLst>
          </a:prstGeom>
          <a:noFill/>
          <a:ln cap="flat" cmpd="sng" w="9525">
            <a:solidFill>
              <a:srgbClr val="000000">
                <a:alpha val="745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686276" y="1563410"/>
            <a:ext cx="13256419" cy="635675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881658" y="1687354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מאפיין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5303758" y="1687354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פיתוח ללא קוד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722048" y="1687354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פיתוח בשיטת Vibe Coding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686276" y="2199084"/>
            <a:ext cx="13256419" cy="1023461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881658" y="2323028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ממשק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5303758" y="2323028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גרירה ושחרור של רכיבים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9722048" y="2323028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שפה טבעית ויצירת קוד בעזרת בינה מלאכותית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686276" y="3222546"/>
            <a:ext cx="13256419" cy="635675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881658" y="3346490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קהל יעד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303758" y="3346490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משתמשים ללא רקע טכני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9722048" y="3346490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מפתחים ויוצרים טכנולוגיים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686276" y="3858220"/>
            <a:ext cx="13256419" cy="1023461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881658" y="3982164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גמישות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303758" y="3982164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מוגבלת ליכולות הפלטפורמה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9722048" y="3982164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גמישות רבה בעזרת יצירת לוגיקה בקוד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686276" y="4881682"/>
            <a:ext cx="13256419" cy="1023461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881658" y="5005626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עקומת למידה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5303758" y="5005626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מתונה מאוד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9722048" y="5005626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מתונה עד בינונית; ידע בתכנות מסייע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686276" y="5905143"/>
            <a:ext cx="13256419" cy="1023461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881658" y="6029087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איכות התוצר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5303758" y="6029087"/>
            <a:ext cx="402300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התאמה אישית מוגבלת יחסית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9722048" y="6029087"/>
            <a:ext cx="4026813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תוצר מותאם אישית; נדרשת בדיקת איכות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686276" y="6928604"/>
            <a:ext cx="13256419" cy="635675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81658" y="7052548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1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כלים מרכזיים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5303758" y="7052548"/>
            <a:ext cx="402300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כלים כגון Webflow, Bubble ו־Zapier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9722048" y="7052548"/>
            <a:ext cx="4026813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900"/>
              <a:buFont typeface="Montserrat"/>
              <a:buNone/>
            </a:pPr>
            <a:r>
              <a:rPr b="0" i="0" lang="he-IL" sz="19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כלים כגון Cursor, Replit וסביבות מבוססות מודלי שפה</a:t>
            </a:r>
            <a:endParaRPr b="0" i="0" sz="19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8" name="Google Shape;1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5"/>
          <p:cNvSpPr/>
          <p:nvPr/>
        </p:nvSpPr>
        <p:spPr>
          <a:xfrm>
            <a:off x="6132675" y="972475"/>
            <a:ext cx="84015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המהפכה: יותר אנשים</a:t>
            </a: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endParaRPr b="1" sz="3200" lang="he-IL" altLang="en-US">
              <a:solidFill>
                <a:srgbClr val="2E3C4E"/>
              </a:solidFill>
              <a:latin typeface="Arial"/>
              <a:ea typeface="Arial"/>
              <a:cs typeface="Arial"/>
              <a:sym typeface="Barlow"/>
            </a:endParaRPr>
          </a:p>
          <a:p>
            <a:pPr indent="0" lvl="0" marL="0" marR="0" rtl="1" algn="r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יכולים ליצור תוכנה</a:t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0" name="Google Shape;2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2671" y="5163741"/>
            <a:ext cx="461605" cy="46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"/>
          <p:cNvSpPr/>
          <p:nvPr/>
        </p:nvSpPr>
        <p:spPr>
          <a:xfrm>
            <a:off x="6132671" y="5810012"/>
            <a:ext cx="2463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יזמים וחברות הזנק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132671" y="6659404"/>
            <a:ext cx="2463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0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בניית מוצר ראשוני בלי לגייס צוות פיתוח שלם.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3" name="Google Shape;2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6698" y="5163741"/>
            <a:ext cx="461605" cy="46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/>
          <p:nvPr/>
        </p:nvSpPr>
        <p:spPr>
          <a:xfrm>
            <a:off x="8826698" y="5810012"/>
            <a:ext cx="2463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מעצבי מוצר ומנהלי מוצר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8826698" y="6659404"/>
            <a:ext cx="2463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0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שינויים מהירים ובדיקת הממשק וחוויית המשתמש.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6" name="Google Shape;20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9071" y="5164931"/>
            <a:ext cx="461605" cy="46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/>
          <p:nvPr/>
        </p:nvSpPr>
        <p:spPr>
          <a:xfrm>
            <a:off x="11619071" y="5811203"/>
            <a:ext cx="24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1" lang="he-IL" sz="18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משתמשים פרטיים</a:t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1619071" y="6291263"/>
            <a:ext cx="2463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lang="he-IL" sz="18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יצירת כלים לשימוש אישי.</a:t>
            </a:r>
            <a:r>
              <a:rPr b="0" i="0" lang="he-IL" sz="18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18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18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132675" y="3577550"/>
            <a:ext cx="84015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800"/>
              <a:buFont typeface="Montserrat"/>
              <a:buNone/>
            </a:pPr>
            <a:r>
              <a:rPr b="0" i="0" lang="he-IL" sz="24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הכלים מאפשרים ליותר אנשים לבנות מוצרים דיגיטליים. מיומנות מרכזית: ניסוח הנחיות ברורות.</a:t>
            </a:r>
            <a:r>
              <a:rPr b="0" i="0" lang="he-IL" sz="24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24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1" lang="he-IL" sz="24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1" lang="he-IL" sz="24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24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24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/>
          <p:nvPr/>
        </p:nvSpPr>
        <p:spPr>
          <a:xfrm>
            <a:off x="416311" y="289183"/>
            <a:ext cx="82194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יום בחייו של יוצר בשיטת Vibe Coding</a:t>
            </a: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16310" y="1292725"/>
            <a:ext cx="3122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he-IL" sz="2200" u="none" cap="none" strike="noStrike" altLang="en-US">
                <a:solidFill>
                  <a:srgbClr val="38465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Barlow"/>
              </a:rPr>
              <a:t>שלב הרעיון 💡</a:t>
            </a:r>
            <a:r>
              <a:rPr b="1" i="0" lang="he-IL" sz="2200" u="none" cap="none" strike="noStrike" altLang="en-US">
                <a:solidFill>
                  <a:srgbClr val="38465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Barlow"/>
              </a:rPr>
              <a:t/>
            </a:r>
            <a:endParaRPr b="0" i="0" sz="2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416300" y="1794098"/>
            <a:ext cx="41637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משרטטים את הרעיון —</a:t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sz="20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מתחילים מתיאור קצר, מרעיון על גבי קנבס או מסקיצה של הממשק.</a:t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sz="20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המטרה היא להפוך את הרעיון הראשוני למשהו שאפשר לראות.</a:t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i="0" sz="2000" u="none" cap="none" strike="noStrike" lang="he-IL" altLang="en-US">
              <a:solidFill>
                <a:srgbClr val="000000"/>
              </a:solidFill>
              <a:latin typeface="Arial"/>
              <a:cs typeface="Arial"/>
              <a:ea typeface="Arial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303912" y="1292725"/>
            <a:ext cx="3210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he-IL" sz="2200" u="none" cap="none" strike="noStrike" altLang="en-US">
                <a:solidFill>
                  <a:srgbClr val="38465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Barlow"/>
              </a:rPr>
              <a:t>בדיקה ושיפור בזמן אמת ⚙️</a:t>
            </a:r>
            <a:r>
              <a:rPr b="1" i="0" lang="he-IL" sz="2200" u="none" cap="none" strike="noStrike" altLang="en-US">
                <a:solidFill>
                  <a:srgbClr val="38465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Barlow"/>
              </a:rPr>
              <a:t/>
            </a:r>
            <a:endParaRPr b="0" i="0" sz="2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5303912" y="1794097"/>
            <a:ext cx="38196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בודקים מיד —</a:t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sz="20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מריצים הנחיות ובוחנים את הלוגיקה ואת השינויים בממשק.</a:t>
            </a:r>
            <a:endParaRPr i="0" sz="2000" u="none" cap="none" strike="noStrike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מקבלים משוב ומתקנים תוך כדי עבודה.</a:t>
            </a: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i="0" sz="2000" u="none" cap="none" strike="noStrike" lang="he-IL" altLang="en-US">
              <a:solidFill>
                <a:srgbClr val="000000"/>
              </a:solidFill>
              <a:latin typeface="Arial"/>
              <a:cs typeface="Arial"/>
              <a:ea typeface="Arial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9581928" y="1292725"/>
            <a:ext cx="3941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he-IL" sz="2200" u="none" cap="none" strike="noStrike" altLang="en-US">
                <a:solidFill>
                  <a:srgbClr val="38465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Barlow"/>
              </a:rPr>
              <a:t>דיוק התוצאה 🧪</a:t>
            </a:r>
            <a:r>
              <a:rPr b="1" i="0" lang="he-IL" sz="2200" u="none" cap="none" strike="noStrike" altLang="en-US">
                <a:solidFill>
                  <a:srgbClr val="38465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Barlow"/>
              </a:rPr>
              <a:t/>
            </a:r>
            <a:endParaRPr b="0" i="0" sz="2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581928" y="1794098"/>
            <a:ext cx="48213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משפרים את ההנחיה, את התהליך או את הממשק עד לקבלת התוצאה הרצויה.</a:t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i="0" sz="2000" u="none" cap="none" strike="noStrike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בודקים שהתוצאה אכן מתאימה לצורך.</a:t>
            </a: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i="0" sz="2000" u="none" cap="none" strike="noStrike" lang="he-IL" altLang="en-US">
              <a:solidFill>
                <a:srgbClr val="000000"/>
              </a:solidFill>
              <a:latin typeface="Arial"/>
              <a:cs typeface="Arial"/>
              <a:ea typeface="Arial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9717100" y="5063675"/>
            <a:ext cx="2289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he-IL" sz="2200" u="none" cap="none" strike="noStrike" altLang="en-US">
                <a:solidFill>
                  <a:srgbClr val="38465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Barlow"/>
              </a:rPr>
              <a:t>פרסום מהיר 🚀</a:t>
            </a:r>
            <a:r>
              <a:rPr b="1" i="0" lang="he-IL" sz="2200" u="none" cap="none" strike="noStrike" altLang="en-US">
                <a:solidFill>
                  <a:srgbClr val="38465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Barlow"/>
              </a:rPr>
              <a:t/>
            </a:r>
            <a:endParaRPr b="0" i="0" sz="2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9717100" y="5565049"/>
            <a:ext cx="45927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משתפים במהירות —</a:t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sz="20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הופכים את אב־הטיפוס לקישור, להדגמה או למוצר שאפשר להשתמש בו.</a:t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i="0" sz="2000" u="none" cap="none" strike="noStrike" lang="he-IL" altLang="en-US">
              <a:solidFill>
                <a:srgbClr val="000000"/>
              </a:solidFill>
              <a:latin typeface="Arial"/>
              <a:cs typeface="Arial"/>
              <a:ea typeface="Arial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02975" y="5063675"/>
            <a:ext cx="2662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Barlow"/>
              <a:buNone/>
            </a:pPr>
            <a:r>
              <a:rPr b="1" i="0" lang="he-IL" sz="2200" u="none" cap="none" strike="noStrike" altLang="en-US">
                <a:solidFill>
                  <a:srgbClr val="38465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Barlow"/>
              </a:rPr>
              <a:t>יצירה משותפת עם בינה מלאכותית 🤖</a:t>
            </a:r>
            <a:r>
              <a:rPr b="1" i="0" lang="he-IL" sz="2200" u="none" cap="none" strike="noStrike" altLang="en-US">
                <a:solidFill>
                  <a:srgbClr val="38465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Barlow"/>
              </a:rPr>
              <a:t/>
            </a:r>
            <a:endParaRPr b="0" i="0" sz="2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02975" y="5565048"/>
            <a:ext cx="53406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בונים יחד —</a:t>
            </a:r>
            <a:r>
              <a:rPr lang="he-IL" sz="20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sz="20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i="0" lang="he-IL" sz="20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נעזרים בבינה מלאכותית לכתיבת קוד, לשיפור הממשק והטקסטים, לדיוק הנחיות ולחשיבה על מקרי קצה.</a:t>
            </a:r>
            <a:endParaRPr i="0" sz="2000" u="none" cap="none" strike="noStrike" lang="he-IL" altLang="en-US">
              <a:solidFill>
                <a:srgbClr val="000000"/>
              </a:solidFill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/>
          <p:nvPr/>
        </p:nvSpPr>
        <p:spPr>
          <a:xfrm>
            <a:off x="910707" y="420958"/>
            <a:ext cx="7887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השוואה באמצעות תרחיש לדוגמה</a:t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58309" y="1532280"/>
            <a:ext cx="13113782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תרחיש: בניית עוזר פנימי ליצירת תוכן בעזרת בינה מלאכותית</a:t>
            </a: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1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758309" y="2437989"/>
            <a:ext cx="13113900" cy="4337400"/>
          </a:xfrm>
          <a:prstGeom prst="roundRect">
            <a:avLst>
              <a:gd fmla="val 7493" name="adj"/>
            </a:avLst>
          </a:prstGeom>
          <a:noFill/>
          <a:ln cap="flat" cmpd="sng" w="9525">
            <a:solidFill>
              <a:srgbClr val="000000">
                <a:alpha val="745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765929" y="2445609"/>
            <a:ext cx="13097100" cy="6216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983813" y="2583126"/>
            <a:ext cx="3928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he-IL" sz="17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קריטריון</a:t>
            </a:r>
            <a:endParaRPr b="0" i="0" sz="17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352931" y="2583126"/>
            <a:ext cx="39246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he-IL" sz="17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פיתוח מסורתי</a:t>
            </a:r>
            <a:endParaRPr b="0" i="0" sz="17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9718251" y="2583125"/>
            <a:ext cx="41448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Montserrat"/>
              <a:buNone/>
            </a:pPr>
            <a:r>
              <a:rPr b="1" i="0" lang="he-IL" sz="17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פיתוח ללא קוד או בשיטת Vibe Coding</a:t>
            </a:r>
            <a:r>
              <a:rPr b="1" lang="he-IL" sz="17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r>
              <a:rPr b="1" i="0" lang="he-IL" sz="17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/>
            </a:r>
            <a:endParaRPr b="0" i="0" sz="17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765929" y="3067353"/>
            <a:ext cx="13097100" cy="1141800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983813" y="3204870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זמן למוצר ראשוני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352931" y="3204870"/>
            <a:ext cx="39246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בדוגמה: 3–5 שבועות לתשתית, ממשק, חיבור והרשאות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9718238" y="3204870"/>
            <a:ext cx="39282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בדוגמה: 2–3 ימים בעזרת Base44 וקנבס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765929" y="4209163"/>
            <a:ext cx="13097100" cy="11418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983813" y="4346680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תפקידים נדרשים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352931" y="4346680"/>
            <a:ext cx="39246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מפתחי צד שרת וממשק, ומעצב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9718238" y="4346680"/>
            <a:ext cx="39282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יוצר אחד עם יכולת ניסוח והבנת לוגיקה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765929" y="5350972"/>
            <a:ext cx="13097100" cy="708300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983813" y="5488489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גמישות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352931" y="5488489"/>
            <a:ext cx="39246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התאמה אישית מלאה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9718238" y="5488489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מוגבלת יותר, אך מהירה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65929" y="6059394"/>
            <a:ext cx="13097100" cy="708300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983813" y="6196911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תחזוקה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352931" y="6196911"/>
            <a:ext cx="39246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דורשת טיפול של מפתחים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9718238" y="6196911"/>
            <a:ext cx="392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Montserrat"/>
              <a:buNone/>
            </a:pPr>
            <a:r>
              <a:rPr b="0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חלק מהתחזוקה מנוהל בידי הפלטפורמה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/>
          <p:nvPr/>
        </p:nvSpPr>
        <p:spPr>
          <a:xfrm>
            <a:off x="439649" y="181975"/>
            <a:ext cx="119274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יתרונות של כלים לפיתוח בעזרת בינה מלאכותית</a:t>
            </a: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439649" y="1458375"/>
            <a:ext cx="6403200" cy="6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rtlCol="1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e-IL" sz="2000" u="none" cap="none" strike="noStrike" altLang="en-US">
                <a:solidFill>
                  <a:srgbClr val="0070C0"/>
                </a:solidFill>
                <a:latin typeface="Arial"/>
                <a:ea typeface="Arial"/>
                <a:cs typeface="Arial"/>
                <a:sym typeface="Montserrat"/>
              </a:rPr>
              <a:t>מהירות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he-IL" sz="2000" u="none" cap="none" strike="noStrike" altLang="en-US">
                <a:solidFill>
                  <a:srgbClr val="000000"/>
                </a:solidFill>
                <a:latin typeface="Arial"/>
                <a:ea typeface="Arial"/>
                <a:cs typeface="Arial"/>
                <a:sym typeface="Montserrat"/>
              </a:rPr>
              <a:t>קיצור משמעותי של זמן הבנייה והשיפור, בהתאם למשימה.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e-IL" sz="2000" u="none" cap="none" strike="noStrike" altLang="en-US">
                <a:solidFill>
                  <a:srgbClr val="0070C0"/>
                </a:solidFill>
                <a:latin typeface="Arial"/>
                <a:ea typeface="Arial"/>
                <a:cs typeface="Arial"/>
                <a:sym typeface="Montserrat"/>
              </a:rPr>
              <a:t>חסם כניסה נמוך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he-IL" sz="2000" u="none" cap="none" strike="noStrike" altLang="en-US">
                <a:solidFill>
                  <a:srgbClr val="000000"/>
                </a:solidFill>
                <a:latin typeface="Arial"/>
                <a:ea typeface="Arial"/>
                <a:cs typeface="Arial"/>
                <a:sym typeface="Montserrat"/>
              </a:rPr>
              <a:t>אפשר להתחיל גם ללא ניסיון קודם בכתיבת קוד.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e-IL" sz="2000" u="none" cap="none" strike="noStrike" altLang="en-US">
                <a:solidFill>
                  <a:srgbClr val="0070C0"/>
                </a:solidFill>
                <a:latin typeface="Arial"/>
                <a:ea typeface="Arial"/>
                <a:cs typeface="Arial"/>
                <a:sym typeface="Montserrat"/>
              </a:rPr>
              <a:t>הפחתת עלויות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he-IL" sz="2000" u="none" cap="none" strike="noStrike" altLang="en-US">
                <a:solidFill>
                  <a:srgbClr val="000000"/>
                </a:solidFill>
                <a:latin typeface="Arial"/>
                <a:ea typeface="Arial"/>
                <a:cs typeface="Arial"/>
                <a:sym typeface="Montserrat"/>
              </a:rPr>
              <a:t>צמצום חלק מעבודת הפיתוח עשוי להפחית עלויות.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e-IL" sz="2000" u="none" cap="none" strike="noStrike" altLang="en-US">
                <a:solidFill>
                  <a:srgbClr val="0070C0"/>
                </a:solidFill>
                <a:latin typeface="Arial"/>
                <a:ea typeface="Arial"/>
                <a:cs typeface="Arial"/>
                <a:sym typeface="Montserrat"/>
              </a:rPr>
              <a:t>בניית אב־טיפוס במהירות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he-IL" sz="2000" u="none" cap="none" strike="noStrike" altLang="en-US">
                <a:solidFill>
                  <a:srgbClr val="000000"/>
                </a:solidFill>
                <a:latin typeface="Arial"/>
                <a:ea typeface="Arial"/>
                <a:cs typeface="Arial"/>
                <a:sym typeface="Montserrat"/>
              </a:rPr>
              <a:t>קבלת משוב ובדיקת הרעיון בשלב מוקדם.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e-IL" sz="2000" u="none" cap="none" strike="noStrike" altLang="en-US">
                <a:solidFill>
                  <a:srgbClr val="0070C0"/>
                </a:solidFill>
                <a:latin typeface="Arial"/>
                <a:ea typeface="Arial"/>
                <a:cs typeface="Arial"/>
                <a:sym typeface="Montserrat"/>
              </a:rPr>
              <a:t>אפשרות להתרחבות — עד גבול מסוים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he-IL" sz="2000" u="none" cap="none" strike="noStrike" altLang="en-US">
                <a:solidFill>
                  <a:srgbClr val="000000"/>
                </a:solidFill>
                <a:latin typeface="Arial"/>
                <a:ea typeface="Arial"/>
                <a:cs typeface="Arial"/>
                <a:sym typeface="Montserrat"/>
              </a:rPr>
              <a:t>חלק מהפלטפורמות תומכות בעומסי שימוש בינוניים.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6974666" y="1451997"/>
            <a:ext cx="73152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rtlCol="1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e-IL" sz="2000" u="none" cap="none" strike="noStrike" altLang="en-US">
                <a:solidFill>
                  <a:srgbClr val="0070C0"/>
                </a:solidFill>
                <a:latin typeface="Arial"/>
                <a:ea typeface="Arial"/>
                <a:cs typeface="Arial"/>
                <a:sym typeface="Montserrat"/>
              </a:rPr>
              <a:t>ממשק בשפה טבעית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he-IL" sz="2000" u="none" cap="none" strike="noStrike" altLang="en-US">
                <a:solidFill>
                  <a:srgbClr val="000000"/>
                </a:solidFill>
                <a:latin typeface="Arial"/>
                <a:ea typeface="Arial"/>
                <a:cs typeface="Arial"/>
                <a:sym typeface="Montserrat"/>
              </a:rPr>
              <a:t>מתארים במילים את הלוגיקה, התהליכים והתוכן.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e-IL" sz="2000" u="none" cap="none" strike="noStrike" altLang="en-US">
                <a:solidFill>
                  <a:srgbClr val="0070C0"/>
                </a:solidFill>
                <a:latin typeface="Arial"/>
                <a:ea typeface="Arial"/>
                <a:cs typeface="Arial"/>
                <a:sym typeface="Montserrat"/>
              </a:rPr>
              <a:t>גמישות יצירתית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he-IL" sz="2000" u="none" cap="none" strike="noStrike" altLang="en-US">
                <a:solidFill>
                  <a:srgbClr val="000000"/>
                </a:solidFill>
                <a:latin typeface="Arial"/>
                <a:ea typeface="Arial"/>
                <a:cs typeface="Arial"/>
                <a:sym typeface="Montserrat"/>
              </a:rPr>
              <a:t>משלבים לוגיקה, עיצוב ותוכן בעזרת כלים נגישים.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e-IL" sz="2000" u="none" cap="none" strike="noStrike" altLang="en-US">
                <a:solidFill>
                  <a:srgbClr val="0070C0"/>
                </a:solidFill>
                <a:latin typeface="Arial"/>
                <a:ea typeface="Arial"/>
                <a:cs typeface="Arial"/>
                <a:sym typeface="Montserrat"/>
              </a:rPr>
              <a:t>שיתוף פעולה עם בינה מלאכותית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he-IL" sz="2000" u="none" cap="none" strike="noStrike" altLang="en-US">
                <a:solidFill>
                  <a:srgbClr val="000000"/>
                </a:solidFill>
                <a:latin typeface="Arial"/>
                <a:ea typeface="Arial"/>
                <a:cs typeface="Arial"/>
                <a:sym typeface="Montserrat"/>
              </a:rPr>
              <a:t>נעזרים במודלי שפה לבנייה ולשיפור של מערכות.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e-IL" sz="2000" u="none" cap="none" strike="noStrike" altLang="en-US">
                <a:solidFill>
                  <a:srgbClr val="0070C0"/>
                </a:solidFill>
                <a:latin typeface="Arial"/>
                <a:ea typeface="Arial"/>
                <a:cs typeface="Arial"/>
                <a:sym typeface="Montserrat"/>
              </a:rPr>
              <a:t>קיצור הדרך מהרעיון לתוצר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he-IL" sz="2000" u="none" cap="none" strike="noStrike" altLang="en-US">
                <a:solidFill>
                  <a:srgbClr val="000000"/>
                </a:solidFill>
                <a:latin typeface="Arial"/>
                <a:ea typeface="Arial"/>
                <a:cs typeface="Arial"/>
                <a:sym typeface="Montserrat"/>
              </a:rPr>
              <a:t>אפשר להתחיל לבנות לפני כתיבת מפרט מפורט או קוד ידני.</a:t>
            </a:r>
            <a:endParaRPr lang="he-IL" altLang="en-US">
              <a:latin typeface="Arial"/>
              <a:ea typeface="Arial"/>
              <a:cs typeface="Arial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/>
          <p:nvPr/>
        </p:nvSpPr>
        <p:spPr>
          <a:xfrm>
            <a:off x="311217" y="326574"/>
            <a:ext cx="9196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rtl="1" algn="r">
              <a:lnSpc>
                <a:spcPct val="12459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050"/>
              <a:buFont typeface="Barlow"/>
              <a:buNone/>
            </a:pP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חסרונות של כלים לפיתוח בעזרת בינה מלאכותית</a:t>
            </a: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endParaRPr sz="3200" lang="he-IL" altLang="en-US">
              <a:solidFill>
                <a:schemeClr val="dk1"/>
              </a:solidFill>
              <a:latin typeface="Arial"/>
              <a:cs typeface="Arial"/>
              <a:ea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400"/>
              <a:buFont typeface="Barlow"/>
              <a:buNone/>
            </a:pPr>
            <a:r>
              <a:t/>
            </a:r>
            <a:endParaRPr b="1" sz="3550">
              <a:solidFill>
                <a:srgbClr val="2E3C4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7303770" y="1518999"/>
            <a:ext cx="22860" cy="6145173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6489204" y="1739027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7083683" y="1518999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7152680" y="1547396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3578423" y="1589723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התאמה אישית מוגבלת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720209" y="2051566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he-IL" sz="16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חלק מהפלטפורמות מגבילות גישה לקוד ולתשתיות, ולכן קשה יותר לממש דרישות מיוחדות.</a:t>
            </a:r>
            <a:endParaRPr b="0" i="0" sz="16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7523857" y="2973824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7083683" y="2753797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7152680" y="2782193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8344138" y="2824520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מגבלות בהתרחבות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8344138" y="3286363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he-IL" sz="16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יישומים עלולים להתקשות בעומס משתמשים גדול, בתהליכים מורכבים או בכמויות מידע גדולות.</a:t>
            </a:r>
            <a:endParaRPr b="0" i="0" sz="16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6489204" y="4038124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7083683" y="3818096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7152680" y="3846493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3578423" y="3888819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תלות בספק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720209" y="4350663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he-IL" sz="16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תלות בתשתית, במחיר ובמגבלות הפלטפורמה עלולה להקשות על מעבר לשירות אחר.</a:t>
            </a:r>
            <a:endParaRPr b="0" i="0" sz="16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7523857" y="5102543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7083683" y="4882515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7152680" y="4910911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4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8344138" y="4953238"/>
            <a:ext cx="2707838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סוגיות אבטחה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8344138" y="5415082"/>
            <a:ext cx="5566053" cy="9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he-IL" sz="16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יכולות האבטחה והתאימות של הפלטפורמה אינן בהכרח מתאימות לכל ענף או שימוש.</a:t>
            </a:r>
            <a:endParaRPr b="0" i="0" sz="16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6489204" y="6166961"/>
            <a:ext cx="617339" cy="22860"/>
          </a:xfrm>
          <a:prstGeom prst="roundRect">
            <a:avLst>
              <a:gd fmla="val 1350396" name="adj"/>
            </a:avLst>
          </a:prstGeom>
          <a:solidFill>
            <a:srgbClr val="BACFDD"/>
          </a:solidFill>
          <a:ln>
            <a:noFill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7083683" y="5946934"/>
            <a:ext cx="463034" cy="463034"/>
          </a:xfrm>
          <a:prstGeom prst="roundRect">
            <a:avLst>
              <a:gd fmla="val 66669" name="adj"/>
            </a:avLst>
          </a:prstGeom>
          <a:solidFill>
            <a:srgbClr val="D4E9F7"/>
          </a:solidFill>
          <a:ln cap="flat" cmpd="sng" w="9525">
            <a:solidFill>
              <a:srgbClr val="BA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 rtlCol="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7152680" y="5975330"/>
            <a:ext cx="324922" cy="406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550"/>
              <a:buFont typeface="Barlow"/>
              <a:buNone/>
            </a:pPr>
            <a:r>
              <a:rPr b="1" i="0" lang="en-US" sz="2550" u="none" cap="none" strike="noStrike">
                <a:solidFill>
                  <a:srgbClr val="384653"/>
                </a:solidFill>
                <a:latin typeface="Barlow"/>
                <a:ea typeface="Barlow"/>
                <a:cs typeface="Barlow"/>
                <a:sym typeface="Barlow"/>
              </a:rPr>
              <a:t>5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3533061" y="6017657"/>
            <a:ext cx="2753201" cy="33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100"/>
              <a:buFont typeface="Barlow"/>
              <a:buNone/>
            </a:pPr>
            <a:r>
              <a:rPr b="1" i="0" lang="he-IL" sz="21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מגבלות בחיבורים</a:t>
            </a:r>
            <a:endParaRPr b="0" i="0" sz="21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720209" y="6479500"/>
            <a:ext cx="5566053" cy="658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600"/>
              <a:buFont typeface="Montserrat"/>
              <a:buNone/>
            </a:pPr>
            <a:r>
              <a:rPr b="0" i="0" lang="he-IL" sz="1600" u="none" cap="none" strike="noStrike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Montserrat"/>
              </a:rPr>
              <a:t>החיבור לשירותים חיצוניים עשוי להיות מוגבל יותר מאשר בפתרון המבוסס על קוד מותאם.</a:t>
            </a:r>
            <a:endParaRPr b="0" i="0" sz="16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/>
          <p:nvPr/>
        </p:nvSpPr>
        <p:spPr>
          <a:xfrm>
            <a:off x="549711" y="536301"/>
            <a:ext cx="10930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600"/>
              <a:buFont typeface="Barlow"/>
              <a:buNone/>
            </a:pPr>
            <a:r>
              <a:rPr b="1" i="0" lang="he-IL" sz="3200" u="none" cap="none" strike="noStrike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באיזה כלי כדאי להשתמש?</a:t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0" name="Google Shape;300;p24"/>
          <p:cNvGraphicFramePr/>
          <p:nvPr/>
        </p:nvGraphicFramePr>
        <p:xfrm>
          <a:off x="745625" y="1743675"/>
          <a:ext cx="12725400" cy="1905000"/>
        </p:xfrm>
        <a:graphic>
          <a:graphicData uri="http://schemas.openxmlformats.org/drawingml/2006/table">
            <a:tbl>
              <a:tblPr rtl="0">
                <a:noFill/>
                <a:tableStyleId>{35C1AE15-97EC-4F55-B0D1-6C6E6013DD06}</a:tableStyleId>
              </a:tblPr>
              <a:tblGrid>
                <a:gridCol w="4241800"/>
                <a:gridCol w="4241800"/>
                <a:gridCol w="4241800"/>
              </a:tblGrid>
              <a:tr h="381000"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רמת מורכבות</a:t>
                      </a:r>
                      <a:endParaRPr b="1"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כלים אפשריים</a:t>
                      </a:r>
                      <a:endParaRPr b="1"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מטרה</a:t>
                      </a:r>
                      <a:endParaRPr b="1"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פשוטה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הקנבס של ChatGPT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הקנבס של Gemini</a:t>
                      </a: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/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התוצרים של Claude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עמודי אינטרנט פשוטים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פשוטה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הקנבס של ChatGPT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הקנבס של Gemini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התוצרים של Claude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בניית אב־טיפוס לרעיון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בינונית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38465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הכלי Base44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הכלי Lovable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הכלי Bolt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אפליקציות ווב קלות עם יכולות מלאות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גבוהה; נדרש רקע בתכנות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כלים כגון Cursor ו־Windsurf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 rtlCol="1"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altLang="en-US">
                          <a:solidFill>
                            <a:srgbClr val="384653"/>
                          </a:solidFill>
                          <a:latin typeface="Arial"/>
                          <a:ea typeface="Arial"/>
                          <a:cs typeface="Arial"/>
                          <a:sym typeface="Montserrat"/>
                        </a:rPr>
                        <a:t>תכנות חופשי בעזרת בינה מלאכותית</a:t>
                      </a:r>
                      <a:endParaRPr sz="2400" lang="he-IL" altLang="en-US">
                        <a:solidFill>
                          <a:srgbClr val="384653"/>
                        </a:solidFill>
                        <a:latin typeface="Arial"/>
                        <a:ea typeface="Arial"/>
                        <a:cs typeface="Arial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865509" y="2610907"/>
            <a:ext cx="128994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e-IL" sz="32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בקורס הזה נלמד:</a:t>
            </a:r>
            <a:endParaRPr sz="3200" lang="he-IL" altLang="en-US">
              <a:latin typeface="Arial"/>
              <a:cs typeface="Arial"/>
              <a:ea typeface="Arial"/>
            </a:endParaRPr>
          </a:p>
          <a:p>
            <a:pPr indent="-501650" lvl="0" marL="0" rtl="1" algn="ct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4300"/>
              <a:buFont typeface="Barlow"/>
              <a:buAutoNum type="arabicPeriod"/>
            </a:pPr>
            <a:r>
              <a:rPr lang="he-IL" sz="32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ליצור עמודי אינטרנט מותאמים אישית</a:t>
            </a:r>
            <a:endParaRPr sz="32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Barlow"/>
            </a:endParaRPr>
          </a:p>
          <a:p>
            <a:pPr indent="-501650" lvl="0" marL="0" rtl="1" algn="ct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4300"/>
              <a:buFont typeface="Barlow"/>
              <a:buAutoNum type="arabicPeriod"/>
            </a:pPr>
            <a:r>
              <a:rPr lang="he-IL" sz="32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לבנות אב־טיפוס לרעיון</a:t>
            </a:r>
            <a:endParaRPr sz="32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Barlow"/>
            </a:endParaRPr>
          </a:p>
          <a:p>
            <a:pPr indent="-501650" lvl="0" marL="0" marR="45720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4300"/>
              <a:buFont typeface="Barlow"/>
              <a:buAutoNum type="arabicPeriod"/>
            </a:pPr>
            <a:r>
              <a:rPr lang="he-IL" sz="32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לפרסם אפליקציה מתפקדת ברשת</a:t>
            </a:r>
            <a:endParaRPr sz="32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4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a7fb579dc_1_23"/>
          <p:cNvSpPr/>
          <p:nvPr/>
        </p:nvSpPr>
        <p:spPr>
          <a:xfrm>
            <a:off x="865509" y="809807"/>
            <a:ext cx="128994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45720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e-IL" sz="32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עמודי אינטרנט מותאמים ובניית אב־טיפוס</a:t>
            </a:r>
            <a:r>
              <a:rPr b="1" lang="he-IL" sz="32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endParaRPr b="1" sz="32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Barlow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38465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13" name="Google Shape;313;g36a7fb579dc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50" y="3493850"/>
            <a:ext cx="2957126" cy="2957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6a7fb579dc_1_23"/>
          <p:cNvSpPr/>
          <p:nvPr/>
        </p:nvSpPr>
        <p:spPr>
          <a:xfrm>
            <a:off x="620550" y="6580025"/>
            <a:ext cx="4023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2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יכולת יצירת האתרים של Codex</a:t>
            </a:r>
            <a:endParaRPr b="1" sz="32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Barlow"/>
            </a:endParaRPr>
          </a:p>
        </p:txBody>
      </p:sp>
      <p:pic>
        <p:nvPicPr>
          <p:cNvPr id="315" name="Google Shape;315;g36a7fb579dc_1_23"/>
          <p:cNvPicPr preferRelativeResize="0"/>
          <p:nvPr/>
        </p:nvPicPr>
        <p:blipFill rotWithShape="1">
          <a:blip r:embed="rId4">
            <a:alphaModFix/>
          </a:blip>
          <a:srcRect b="33198" l="20713" r="20876" t="26572"/>
          <a:stretch/>
        </p:blipFill>
        <p:spPr>
          <a:xfrm>
            <a:off x="4932825" y="4288400"/>
            <a:ext cx="4514750" cy="16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6a7fb579dc_1_23"/>
          <p:cNvSpPr/>
          <p:nvPr/>
        </p:nvSpPr>
        <p:spPr>
          <a:xfrm>
            <a:off x="5573550" y="6580025"/>
            <a:ext cx="31788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2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יכולת הקנבס</a:t>
            </a:r>
            <a:endParaRPr b="1" sz="32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Barlow"/>
            </a:endParaRPr>
          </a:p>
        </p:txBody>
      </p:sp>
      <p:pic>
        <p:nvPicPr>
          <p:cNvPr id="317" name="Google Shape;317;g36a7fb579dc_1_23"/>
          <p:cNvPicPr preferRelativeResize="0"/>
          <p:nvPr/>
        </p:nvPicPr>
        <p:blipFill rotWithShape="1">
          <a:blip r:embed="rId5">
            <a:alphaModFix/>
          </a:blip>
          <a:srcRect b="26555" l="4807" r="0" t="29442"/>
          <a:stretch/>
        </p:blipFill>
        <p:spPr>
          <a:xfrm>
            <a:off x="10162100" y="4592799"/>
            <a:ext cx="4340999" cy="15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6a7fb579dc_1_23"/>
          <p:cNvSpPr/>
          <p:nvPr/>
        </p:nvSpPr>
        <p:spPr>
          <a:xfrm>
            <a:off x="10907550" y="6580025"/>
            <a:ext cx="31788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2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יכולת יצירת התוצרים</a:t>
            </a:r>
            <a:r>
              <a:rPr lang="he-IL" sz="32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/>
            </a:r>
            <a:endParaRPr b="1" sz="32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Barlo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a7fb579dc_1_28"/>
          <p:cNvSpPr/>
          <p:nvPr/>
        </p:nvSpPr>
        <p:spPr>
          <a:xfrm>
            <a:off x="865509" y="627382"/>
            <a:ext cx="128994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rtl="1" algn="ct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e-IL" sz="3200" altLang="en-US">
                <a:solidFill>
                  <a:srgbClr val="384653"/>
                </a:solidFill>
                <a:latin typeface="Arial"/>
                <a:ea typeface="Arial"/>
                <a:cs typeface="Arial"/>
                <a:sym typeface="Barlow"/>
              </a:rPr>
              <a:t>פרסום האפליקציה באמצעות כלי Vibe Coding</a:t>
            </a:r>
            <a:endParaRPr b="1" sz="3200" lang="he-IL" altLang="en-US">
              <a:solidFill>
                <a:srgbClr val="384653"/>
              </a:solidFill>
              <a:latin typeface="Arial"/>
              <a:ea typeface="Arial"/>
              <a:cs typeface="Arial"/>
              <a:sym typeface="Barlow"/>
            </a:endParaRPr>
          </a:p>
        </p:txBody>
      </p:sp>
      <p:pic>
        <p:nvPicPr>
          <p:cNvPr id="325" name="Google Shape;325;g36a7fb579dc_1_2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088" y="3163725"/>
            <a:ext cx="9122223" cy="47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a7fb579dc_1_101"/>
          <p:cNvSpPr txBox="1"/>
          <p:nvPr/>
        </p:nvSpPr>
        <p:spPr>
          <a:xfrm>
            <a:off x="492300" y="1647550"/>
            <a:ext cx="87750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rtlCol="1">
            <a:spAutoFit/>
          </a:bodyPr>
          <a:lstStyle/>
          <a:p>
            <a:pPr indent="-501650" lvl="0" marL="0" marR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ssistant"/>
              <a:buAutoNum type="arabicPeriod"/>
            </a:pPr>
            <a:r>
              <a:rPr lang="he-IL" sz="2700" altLang="en-US">
                <a:latin typeface="Arial"/>
                <a:ea typeface="Arial"/>
                <a:cs typeface="Arial"/>
                <a:sym typeface="Assistant"/>
              </a:rPr>
              <a:t>מפיתוח מסורתי לכלים ללא קוד</a:t>
            </a:r>
            <a:endParaRPr sz="2700" lang="he-IL" altLang="en-US">
              <a:latin typeface="Arial"/>
              <a:ea typeface="Arial"/>
              <a:cs typeface="Arial"/>
              <a:sym typeface="Assistant"/>
            </a:endParaRPr>
          </a:p>
          <a:p>
            <a:pPr indent="-501650" lvl="0" marL="0" marR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he-IL" sz="2700" altLang="en-US">
                <a:latin typeface="Arial"/>
                <a:ea typeface="Arial"/>
                <a:cs typeface="Arial"/>
                <a:sym typeface="Assistant"/>
              </a:rPr>
              <a:t>מכלים ללא קוד לפיתוח בשיטת Vibe Coding</a:t>
            </a:r>
            <a:endParaRPr sz="2700" lang="he-IL" altLang="en-US">
              <a:latin typeface="Arial"/>
              <a:ea typeface="Arial"/>
              <a:cs typeface="Arial"/>
              <a:sym typeface="Assistant"/>
            </a:endParaRPr>
          </a:p>
          <a:p>
            <a:pPr indent="-4000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ssistant"/>
              <a:buAutoNum type="arabicPeriod"/>
            </a:pPr>
            <a:r>
              <a:rPr lang="he-IL" sz="27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Assistant"/>
              </a:rPr>
              <a:t>כלים לפיתוח בעזרת בינה מלאכותית</a:t>
            </a:r>
            <a:endParaRPr sz="2700" lang="he-IL" altLang="en-US">
              <a:solidFill>
                <a:schemeClr val="dk1"/>
              </a:solidFill>
              <a:latin typeface="Arial"/>
              <a:ea typeface="Arial"/>
              <a:cs typeface="Arial"/>
              <a:sym typeface="Assistant"/>
            </a:endParaRPr>
          </a:p>
          <a:p>
            <a:pPr indent="-400050" lvl="0" marL="0" rtl="1" algn="r" marR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ssistant"/>
              <a:buAutoNum type="arabicPeriod"/>
            </a:pPr>
            <a:r>
              <a:rPr lang="he-IL" sz="2700" altLang="en-US">
                <a:solidFill>
                  <a:schemeClr val="dk1"/>
                </a:solidFill>
                <a:latin typeface="Arial"/>
                <a:ea typeface="Arial"/>
                <a:cs typeface="Arial"/>
                <a:sym typeface="Assistant"/>
              </a:rPr>
              <a:t>בקורס: בניית אב־טיפוס ופרסום אפליקציה</a:t>
            </a:r>
            <a:endParaRPr sz="2700" lang="he-IL" altLang="en-US">
              <a:solidFill>
                <a:schemeClr val="dk1"/>
              </a:solidFill>
              <a:latin typeface="Arial"/>
              <a:ea typeface="Arial"/>
              <a:cs typeface="Arial"/>
              <a:sym typeface="Assistan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32" name="Google Shape;332;g36a7fb579dc_1_101"/>
          <p:cNvSpPr/>
          <p:nvPr/>
        </p:nvSpPr>
        <p:spPr>
          <a:xfrm>
            <a:off x="492302" y="313157"/>
            <a:ext cx="45612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550"/>
              <a:buFont typeface="Barlow"/>
              <a:buNone/>
            </a:pPr>
            <a:r>
              <a:rPr b="1" lang="he-IL" sz="3200" altLang="en-US">
                <a:solidFill>
                  <a:srgbClr val="2E3C4E"/>
                </a:solidFill>
                <a:latin typeface="Arial"/>
                <a:ea typeface="Arial"/>
                <a:cs typeface="Arial"/>
                <a:sym typeface="Barlow"/>
              </a:rPr>
              <a:t>סיכום</a:t>
            </a:r>
            <a:endParaRPr b="0" i="0" sz="3200" u="none" cap="none" strike="noStrike" lang="he-IL" alt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a7fb579dc_1_52"/>
          <p:cNvSpPr/>
          <p:nvPr/>
        </p:nvSpPr>
        <p:spPr>
          <a:xfrm>
            <a:off x="4078351" y="3303150"/>
            <a:ext cx="6473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rtlCol="1">
            <a:noAutofit/>
          </a:bodyPr>
          <a:lstStyle/>
          <a:p>
            <a:pPr indent="0" lvl="0" marL="0" marR="0" rtl="1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he-IL" sz="3200" u="none" cap="none" strike="noStrike" altLang="en-US">
                <a:solidFill>
                  <a:srgbClr val="D75BE2"/>
                </a:solidFill>
                <a:latin typeface="Arial"/>
                <a:ea typeface="Arial"/>
                <a:cs typeface="Arial"/>
                <a:sym typeface="Rubik"/>
              </a:rPr>
              <a:t>שאלות?</a:t>
            </a:r>
            <a:endParaRPr b="0" i="0" sz="3200" u="none" cap="none" strike="noStrike" lang="he-IL" altLang="en-US">
              <a:latin typeface="Arial"/>
              <a:cs typeface="Arial"/>
              <a:ea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