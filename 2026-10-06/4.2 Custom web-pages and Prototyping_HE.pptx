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Lst>
  <p:sldSz cy="8229600" cx="14630400"/>
  <p:notesSz cx="8229600" cy="14630400"/>
  <p:embeddedFontLst>
    <p:embeddedFont>
      <p:font typeface="Montserrat"/>
      <p:regular r:id="rId13"/>
      <p:bold r:id="rId14"/>
      <p:italic r:id="rId15"/>
      <p:boldItalic r:id="rId16"/>
    </p:embeddedFont>
    <p:embeddedFont>
      <p:font typeface="Assistant"/>
      <p:regular r:id="rId17"/>
      <p:bold r:id="rId18"/>
    </p:embeddedFont>
    <p:embeddedFont>
      <p:font typeface="Rubik"/>
      <p:regular r:id="rId19"/>
      <p:bold r:id="rId20"/>
      <p:italic r:id="rId21"/>
      <p:boldItalic r:id="rId22"/>
    </p:embeddedFont>
    <p:embeddedFont>
      <p:font typeface="Barlow"/>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7" roundtripDataSignature="AMtx7mgxwq9N5rgOXahUBU6aLnvZjltL5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Rubik-bold.fntdata"/><Relationship Id="rId22" Type="http://schemas.openxmlformats.org/officeDocument/2006/relationships/font" Target="fonts/Rubik-boldItalic.fntdata"/><Relationship Id="rId21" Type="http://schemas.openxmlformats.org/officeDocument/2006/relationships/font" Target="fonts/Rubik-italic.fntdata"/><Relationship Id="rId24" Type="http://schemas.openxmlformats.org/officeDocument/2006/relationships/font" Target="fonts/Barlow-bold.fntdata"/><Relationship Id="rId23" Type="http://schemas.openxmlformats.org/officeDocument/2006/relationships/font" Target="fonts/Barlow-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Barlow-boldItalic.fntdata"/><Relationship Id="rId25" Type="http://schemas.openxmlformats.org/officeDocument/2006/relationships/font" Target="fonts/Barlow-italic.fntdata"/><Relationship Id="rId27"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font" Target="fonts/Montserrat-regular.fntdata"/><Relationship Id="rId12" Type="http://schemas.openxmlformats.org/officeDocument/2006/relationships/slide" Target="slides/slide8.xml"/><Relationship Id="rId15" Type="http://schemas.openxmlformats.org/officeDocument/2006/relationships/font" Target="fonts/Montserrat-italic.fntdata"/><Relationship Id="rId14" Type="http://schemas.openxmlformats.org/officeDocument/2006/relationships/font" Target="fonts/Montserrat-bold.fntdata"/><Relationship Id="rId17" Type="http://schemas.openxmlformats.org/officeDocument/2006/relationships/font" Target="fonts/Assistant-regular.fntdata"/><Relationship Id="rId16" Type="http://schemas.openxmlformats.org/officeDocument/2006/relationships/font" Target="fonts/Montserrat-boldItalic.fntdata"/><Relationship Id="rId19" Type="http://schemas.openxmlformats.org/officeDocument/2006/relationships/font" Target="fonts/Rubik-regular.fntdata"/><Relationship Id="rId18" Type="http://schemas.openxmlformats.org/officeDocument/2006/relationships/font" Target="fonts/Assistant-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 name="Google Shape;52;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 name="Google Shape;53;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 name="Google Shape;6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 name="Google Shape;61;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 name="Google Shape;67;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 name="Google Shape;68;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6c347053ea_0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 name="Google Shape;81;g36c347053ea_0_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 name="Google Shape;82;g36c347053ea_0_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6c347053ea_0_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 name="Google Shape;96;g36c347053ea_0_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1" algn="r">
              <a:lnSpc>
                <a:spcPct val="100000"/>
              </a:lnSpc>
              <a:spcBef>
                <a:spcPts val="0"/>
              </a:spcBef>
              <a:spcAft>
                <a:spcPts val="0"/>
              </a:spcAft>
              <a:buSzPts val="1400"/>
              <a:buNone/>
            </a:pPr>
            <a:r>
              <a:rPr b="1" lang="en-US" sz="1100">
                <a:solidFill>
                  <a:srgbClr val="011813"/>
                </a:solidFill>
                <a:highlight>
                  <a:srgbClr val="FFFFFF"/>
                </a:highlight>
                <a:latin typeface="Arial"/>
                <a:ea typeface="Arial"/>
                <a:cs typeface="Arial"/>
                <a:sym typeface="Arial"/>
              </a:rPr>
              <a:t>MVP</a:t>
            </a:r>
            <a:r>
              <a:rPr lang="en-US" sz="1100">
                <a:solidFill>
                  <a:srgbClr val="011813"/>
                </a:solidFill>
                <a:highlight>
                  <a:srgbClr val="FFFFFF"/>
                </a:highlight>
                <a:latin typeface="Arial"/>
                <a:ea typeface="Arial"/>
                <a:cs typeface="Arial"/>
                <a:sym typeface="Arial"/>
              </a:rPr>
              <a:t> זה ראשי תיבות של </a:t>
            </a:r>
            <a:r>
              <a:rPr b="1" lang="en-US" sz="1100">
                <a:solidFill>
                  <a:srgbClr val="011813"/>
                </a:solidFill>
                <a:highlight>
                  <a:srgbClr val="FFFFFF"/>
                </a:highlight>
                <a:latin typeface="Arial"/>
                <a:ea typeface="Arial"/>
                <a:cs typeface="Arial"/>
                <a:sym typeface="Arial"/>
              </a:rPr>
              <a:t>Minimum Viable Product</a:t>
            </a:r>
            <a:r>
              <a:rPr lang="en-US" sz="1100">
                <a:solidFill>
                  <a:srgbClr val="011813"/>
                </a:solidFill>
                <a:highlight>
                  <a:srgbClr val="FFFFFF"/>
                </a:highlight>
                <a:latin typeface="Arial"/>
                <a:ea typeface="Arial"/>
                <a:cs typeface="Arial"/>
                <a:sym typeface="Arial"/>
              </a:rPr>
              <a:t> (מוצר בר-קיימא ראשוני) שזה הוא קונספט בעולם הסטארט-אפים המתאר בנייה ופיתוח של מוצר בסיסי שמכיל את המינימום הנדרש (מבחינת יכולות ונראות) על מנת להתחיל. הרעיון בפיתוח MVP הוא לבדוק היתכנות לרעיון מסוים בגרסא ״הרזה״ ביותר שלו, כל זאת לפני שיוצאים לפיתוח מלא של המוצר (ומבזבזים זמן וכסף יקר).</a:t>
            </a:r>
            <a:endParaRPr sz="1100">
              <a:solidFill>
                <a:srgbClr val="011813"/>
              </a:solidFill>
              <a:highlight>
                <a:srgbClr val="FFFFFF"/>
              </a:highlight>
              <a:latin typeface="Arial"/>
              <a:ea typeface="Arial"/>
              <a:cs typeface="Arial"/>
              <a:sym typeface="Arial"/>
            </a:endParaRPr>
          </a:p>
          <a:p>
            <a:pPr indent="0" lvl="0" marL="0" rtl="1" algn="r">
              <a:lnSpc>
                <a:spcPct val="100000"/>
              </a:lnSpc>
              <a:spcBef>
                <a:spcPts val="0"/>
              </a:spcBef>
              <a:spcAft>
                <a:spcPts val="0"/>
              </a:spcAft>
              <a:buSzPts val="1400"/>
              <a:buNone/>
            </a:pPr>
            <a:r>
              <a:t/>
            </a:r>
            <a:endParaRPr sz="1100">
              <a:solidFill>
                <a:srgbClr val="011813"/>
              </a:solidFill>
              <a:highlight>
                <a:srgbClr val="FFFFFF"/>
              </a:highlight>
              <a:latin typeface="Arial"/>
              <a:ea typeface="Arial"/>
              <a:cs typeface="Arial"/>
              <a:sym typeface="Arial"/>
            </a:endParaRPr>
          </a:p>
          <a:p>
            <a:pPr indent="0" lvl="0" marL="0" rtl="1" algn="r">
              <a:lnSpc>
                <a:spcPct val="100000"/>
              </a:lnSpc>
              <a:spcBef>
                <a:spcPts val="0"/>
              </a:spcBef>
              <a:spcAft>
                <a:spcPts val="0"/>
              </a:spcAft>
              <a:buSzPts val="1400"/>
              <a:buNone/>
            </a:pPr>
            <a:r>
              <a:rPr b="1" lang="en-US" sz="1100">
                <a:solidFill>
                  <a:srgbClr val="011813"/>
                </a:solidFill>
                <a:highlight>
                  <a:srgbClr val="FFFFFF"/>
                </a:highlight>
                <a:latin typeface="Arial"/>
                <a:ea typeface="Arial"/>
                <a:cs typeface="Arial"/>
                <a:sym typeface="Arial"/>
              </a:rPr>
              <a:t>PRD</a:t>
            </a:r>
            <a:r>
              <a:rPr lang="en-US" sz="1100">
                <a:solidFill>
                  <a:srgbClr val="011813"/>
                </a:solidFill>
                <a:highlight>
                  <a:srgbClr val="FFFFFF"/>
                </a:highlight>
                <a:latin typeface="Arial"/>
                <a:ea typeface="Arial"/>
                <a:cs typeface="Arial"/>
                <a:sym typeface="Arial"/>
              </a:rPr>
              <a:t> זה קיצור של </a:t>
            </a:r>
            <a:r>
              <a:rPr b="1" lang="en-US" sz="1100">
                <a:solidFill>
                  <a:srgbClr val="011813"/>
                </a:solidFill>
                <a:highlight>
                  <a:srgbClr val="FFFFFF"/>
                </a:highlight>
                <a:latin typeface="Arial"/>
                <a:ea typeface="Arial"/>
                <a:cs typeface="Arial"/>
                <a:sym typeface="Arial"/>
              </a:rPr>
              <a:t>Product Requierments Document</a:t>
            </a:r>
            <a:r>
              <a:rPr lang="en-US" sz="1100">
                <a:solidFill>
                  <a:srgbClr val="011813"/>
                </a:solidFill>
                <a:highlight>
                  <a:srgbClr val="FFFFFF"/>
                </a:highlight>
                <a:latin typeface="Arial"/>
                <a:ea typeface="Arial"/>
                <a:cs typeface="Arial"/>
                <a:sym typeface="Arial"/>
              </a:rPr>
              <a:t>, או בעברית - </a:t>
            </a:r>
            <a:r>
              <a:rPr b="1" lang="en-US" sz="1100">
                <a:solidFill>
                  <a:srgbClr val="011813"/>
                </a:solidFill>
                <a:highlight>
                  <a:srgbClr val="FFFFFF"/>
                </a:highlight>
                <a:latin typeface="Arial"/>
                <a:ea typeface="Arial"/>
                <a:cs typeface="Arial"/>
                <a:sym typeface="Arial"/>
              </a:rPr>
              <a:t>מסמך דרישות מוצר</a:t>
            </a:r>
            <a:r>
              <a:rPr lang="en-US" sz="1100">
                <a:solidFill>
                  <a:srgbClr val="011813"/>
                </a:solidFill>
                <a:highlight>
                  <a:srgbClr val="FFFFFF"/>
                </a:highlight>
                <a:latin typeface="Arial"/>
                <a:ea typeface="Arial"/>
                <a:cs typeface="Arial"/>
                <a:sym typeface="Arial"/>
              </a:rPr>
              <a:t>. מדובר במסמך אשר מגדיר את הדרישות של מוצר/פרויקט מסוים - מטרות עיקריות, יעדים, פיצ׳רים, מסכים ועוד. מסמך PRD משמש כ״מדריך״ עבור הצוותים העסקיים והטכניים על מנת לבנות, להשיק ולשווק את המוצר - בין אם מדובר באפליקציה, אתר, פיצ׳ר חדש או כל יוזמה מוצרית אחרת.</a:t>
            </a:r>
            <a:endParaRPr sz="1100">
              <a:solidFill>
                <a:srgbClr val="011813"/>
              </a:solidFill>
              <a:highlight>
                <a:srgbClr val="FFFFFF"/>
              </a:highlight>
              <a:latin typeface="Arial"/>
              <a:ea typeface="Arial"/>
              <a:cs typeface="Arial"/>
              <a:sym typeface="Arial"/>
            </a:endParaRPr>
          </a:p>
        </p:txBody>
      </p:sp>
      <p:sp>
        <p:nvSpPr>
          <p:cNvPr id="97" name="Google Shape;97;g36c347053ea_0_3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6a7fb579dc_1_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g36a7fb579dc_1_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1" algn="r">
              <a:lnSpc>
                <a:spcPct val="100000"/>
              </a:lnSpc>
              <a:spcBef>
                <a:spcPts val="0"/>
              </a:spcBef>
              <a:spcAft>
                <a:spcPts val="0"/>
              </a:spcAft>
              <a:buSzPts val="1400"/>
              <a:buNone/>
            </a:pPr>
            <a:r>
              <a:rPr lang="en-US"/>
              <a:t>חשוב להבהיר להם שהאופציה הזו נותנת לנו רק את הפרונט של האפליקציה, בלי בקאנד - אי אפשר לשמור לוגים שהיוזרים עושים, שום מידע לא נשמר, כל הפעולות ש'מבצעים' בעמוד הן 'סתם' (==לא באמת קורה משהו בעקבותיהן). </a:t>
            </a:r>
            <a:endParaRPr/>
          </a:p>
          <a:p>
            <a:pPr indent="0" lvl="0" marL="0" rtl="1" algn="r">
              <a:lnSpc>
                <a:spcPct val="100000"/>
              </a:lnSpc>
              <a:spcBef>
                <a:spcPts val="0"/>
              </a:spcBef>
              <a:spcAft>
                <a:spcPts val="0"/>
              </a:spcAft>
              <a:buSzPts val="1400"/>
              <a:buNone/>
            </a:pPr>
            <a:r>
              <a:t/>
            </a:r>
            <a:endParaRPr/>
          </a:p>
        </p:txBody>
      </p:sp>
      <p:sp>
        <p:nvSpPr>
          <p:cNvPr id="108" name="Google Shape;108;g36a7fb579dc_1_2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6c347053ea_0_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 name="Google Shape;119;g36c347053ea_0_7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1" algn="r">
              <a:lnSpc>
                <a:spcPct val="100000"/>
              </a:lnSpc>
              <a:spcBef>
                <a:spcPts val="0"/>
              </a:spcBef>
              <a:spcAft>
                <a:spcPts val="0"/>
              </a:spcAft>
              <a:buNone/>
            </a:pPr>
            <a:r>
              <a:rPr lang="en-US" sz="1100">
                <a:solidFill>
                  <a:srgbClr val="011813"/>
                </a:solidFill>
                <a:highlight>
                  <a:srgbClr val="FFFFFF"/>
                </a:highlight>
                <a:latin typeface="Arial"/>
                <a:ea typeface="Arial"/>
                <a:cs typeface="Arial"/>
                <a:sym typeface="Arial"/>
              </a:rPr>
              <a:t>לעבור למסמך הדגמות למדריך! </a:t>
            </a:r>
            <a:endParaRPr sz="1100">
              <a:solidFill>
                <a:srgbClr val="011813"/>
              </a:solidFill>
              <a:highlight>
                <a:srgbClr val="FFFFFF"/>
              </a:highlight>
              <a:latin typeface="Arial"/>
              <a:ea typeface="Arial"/>
              <a:cs typeface="Arial"/>
              <a:sym typeface="Arial"/>
            </a:endParaRPr>
          </a:p>
        </p:txBody>
      </p:sp>
      <p:sp>
        <p:nvSpPr>
          <p:cNvPr id="120" name="Google Shape;120;g36c347053ea_0_7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6a7fb579dc_1_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g36a7fb579dc_1_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g36a7fb579dc_1_5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10" name="Shape 10"/>
        <p:cNvGrpSpPr/>
        <p:nvPr/>
      </p:nvGrpSpPr>
      <p:grpSpPr>
        <a:xfrm>
          <a:off x="0" y="0"/>
          <a:ext cx="0" cy="0"/>
          <a:chOff x="0" y="0"/>
          <a:chExt cx="0" cy="0"/>
        </a:xfrm>
      </p:grpSpPr>
      <p:pic>
        <p:nvPicPr>
          <p:cNvPr descr="preencoded.png" id="11" name="Google Shape;11;p47"/>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12" name="Google Shape;12;p47"/>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13" name="Shape 13"/>
        <p:cNvGrpSpPr/>
        <p:nvPr/>
      </p:nvGrpSpPr>
      <p:grpSpPr>
        <a:xfrm>
          <a:off x="0" y="0"/>
          <a:ext cx="0" cy="0"/>
          <a:chOff x="0" y="0"/>
          <a:chExt cx="0" cy="0"/>
        </a:xfrm>
      </p:grpSpPr>
      <p:pic>
        <p:nvPicPr>
          <p:cNvPr descr="preencoded.png" id="14" name="Google Shape;14;p48"/>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15" name="Google Shape;15;p48"/>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16" name="Shape 16"/>
        <p:cNvGrpSpPr/>
        <p:nvPr/>
      </p:nvGrpSpPr>
      <p:grpSpPr>
        <a:xfrm>
          <a:off x="0" y="0"/>
          <a:ext cx="0" cy="0"/>
          <a:chOff x="0" y="0"/>
          <a:chExt cx="0" cy="0"/>
        </a:xfrm>
      </p:grpSpPr>
      <p:pic>
        <p:nvPicPr>
          <p:cNvPr descr="preencoded.png" id="17" name="Google Shape;17;p49"/>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18" name="Google Shape;18;p49"/>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spTree>
      <p:nvGrpSpPr>
        <p:cNvPr id="19" name="Shape 19"/>
        <p:cNvGrpSpPr/>
        <p:nvPr/>
      </p:nvGrpSpPr>
      <p:grpSpPr>
        <a:xfrm>
          <a:off x="0" y="0"/>
          <a:ext cx="0" cy="0"/>
          <a:chOff x="0" y="0"/>
          <a:chExt cx="0" cy="0"/>
        </a:xfrm>
      </p:grpSpPr>
      <p:pic>
        <p:nvPicPr>
          <p:cNvPr descr="preencoded.png" id="20" name="Google Shape;20;p57"/>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21" name="Google Shape;21;p57"/>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spTree>
      <p:nvGrpSpPr>
        <p:cNvPr id="22" name="Shape 22"/>
        <p:cNvGrpSpPr/>
        <p:nvPr/>
      </p:nvGrpSpPr>
      <p:grpSpPr>
        <a:xfrm>
          <a:off x="0" y="0"/>
          <a:ext cx="0" cy="0"/>
          <a:chOff x="0" y="0"/>
          <a:chExt cx="0" cy="0"/>
        </a:xfrm>
      </p:grpSpPr>
      <p:pic>
        <p:nvPicPr>
          <p:cNvPr descr="preencoded.png" id="23" name="Google Shape;23;p53"/>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24" name="Google Shape;24;p53"/>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1 master">
  <p:cSld name="Slide 11 master">
    <p:spTree>
      <p:nvGrpSpPr>
        <p:cNvPr id="25" name="Shape 25"/>
        <p:cNvGrpSpPr/>
        <p:nvPr/>
      </p:nvGrpSpPr>
      <p:grpSpPr>
        <a:xfrm>
          <a:off x="0" y="0"/>
          <a:ext cx="0" cy="0"/>
          <a:chOff x="0" y="0"/>
          <a:chExt cx="0" cy="0"/>
        </a:xfrm>
      </p:grpSpPr>
      <p:pic>
        <p:nvPicPr>
          <p:cNvPr descr="preencoded.png" id="26" name="Google Shape;26;p56"/>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27" name="Google Shape;27;p56"/>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28" name="Shape 28"/>
        <p:cNvGrpSpPr/>
        <p:nvPr/>
      </p:nvGrpSpPr>
      <p:grpSpPr>
        <a:xfrm>
          <a:off x="0" y="0"/>
          <a:ext cx="0" cy="0"/>
          <a:chOff x="0" y="0"/>
          <a:chExt cx="0" cy="0"/>
        </a:xfrm>
      </p:grpSpPr>
      <p:pic>
        <p:nvPicPr>
          <p:cNvPr descr="preencoded.png" id="29" name="Google Shape;29;p51"/>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30" name="Google Shape;30;p51"/>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spTree>
      <p:nvGrpSpPr>
        <p:cNvPr id="31" name="Shape 31"/>
        <p:cNvGrpSpPr/>
        <p:nvPr/>
      </p:nvGrpSpPr>
      <p:grpSpPr>
        <a:xfrm>
          <a:off x="0" y="0"/>
          <a:ext cx="0" cy="0"/>
          <a:chOff x="0" y="0"/>
          <a:chExt cx="0" cy="0"/>
        </a:xfrm>
      </p:grpSpPr>
      <p:pic>
        <p:nvPicPr>
          <p:cNvPr descr="preencoded.png" id="32" name="Google Shape;32;p55"/>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33" name="Google Shape;33;p55"/>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spTree>
      <p:nvGrpSpPr>
        <p:cNvPr id="34" name="Shape 34"/>
        <p:cNvGrpSpPr/>
        <p:nvPr/>
      </p:nvGrpSpPr>
      <p:grpSpPr>
        <a:xfrm>
          <a:off x="0" y="0"/>
          <a:ext cx="0" cy="0"/>
          <a:chOff x="0" y="0"/>
          <a:chExt cx="0" cy="0"/>
        </a:xfrm>
      </p:grpSpPr>
      <p:pic>
        <p:nvPicPr>
          <p:cNvPr descr="preencoded.png" id="35" name="Google Shape;35;p54"/>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36" name="Google Shape;36;p54"/>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37" name="Shape 37"/>
        <p:cNvGrpSpPr/>
        <p:nvPr/>
      </p:nvGrpSpPr>
      <p:grpSpPr>
        <a:xfrm>
          <a:off x="0" y="0"/>
          <a:ext cx="0" cy="0"/>
          <a:chOff x="0" y="0"/>
          <a:chExt cx="0" cy="0"/>
        </a:xfrm>
      </p:grpSpPr>
      <p:pic>
        <p:nvPicPr>
          <p:cNvPr descr="preencoded.png" id="38" name="Google Shape;38;p50"/>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39" name="Google Shape;39;p50"/>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3 master">
  <p:cSld name="Slide 13 master">
    <p:spTree>
      <p:nvGrpSpPr>
        <p:cNvPr id="40" name="Shape 40"/>
        <p:cNvGrpSpPr/>
        <p:nvPr/>
      </p:nvGrpSpPr>
      <p:grpSpPr>
        <a:xfrm>
          <a:off x="0" y="0"/>
          <a:ext cx="0" cy="0"/>
          <a:chOff x="0" y="0"/>
          <a:chExt cx="0" cy="0"/>
        </a:xfrm>
      </p:grpSpPr>
      <p:pic>
        <p:nvPicPr>
          <p:cNvPr descr="preencoded.png" id="41" name="Google Shape;41;p59"/>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42" name="Google Shape;42;p59"/>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2 master">
  <p:cSld name="Slide 12 master">
    <p:spTree>
      <p:nvGrpSpPr>
        <p:cNvPr id="43" name="Shape 43"/>
        <p:cNvGrpSpPr/>
        <p:nvPr/>
      </p:nvGrpSpPr>
      <p:grpSpPr>
        <a:xfrm>
          <a:off x="0" y="0"/>
          <a:ext cx="0" cy="0"/>
          <a:chOff x="0" y="0"/>
          <a:chExt cx="0" cy="0"/>
        </a:xfrm>
      </p:grpSpPr>
      <p:pic>
        <p:nvPicPr>
          <p:cNvPr descr="preencoded.png" id="44" name="Google Shape;44;p58"/>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45" name="Google Shape;45;p58"/>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spTree>
      <p:nvGrpSpPr>
        <p:cNvPr id="46" name="Shape 46"/>
        <p:cNvGrpSpPr/>
        <p:nvPr/>
      </p:nvGrpSpPr>
      <p:grpSpPr>
        <a:xfrm>
          <a:off x="0" y="0"/>
          <a:ext cx="0" cy="0"/>
          <a:chOff x="0" y="0"/>
          <a:chExt cx="0" cy="0"/>
        </a:xfrm>
      </p:grpSpPr>
      <p:pic>
        <p:nvPicPr>
          <p:cNvPr descr="preencoded.png" id="47" name="Google Shape;47;p52"/>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48" name="Google Shape;48;p52"/>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49" name="Shape 49"/>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2.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pic>
        <p:nvPicPr>
          <p:cNvPr descr="preencoded.png" id="55" name="Google Shape;55;p1"/>
          <p:cNvPicPr preferRelativeResize="0"/>
          <p:nvPr/>
        </p:nvPicPr>
        <p:blipFill rotWithShape="1">
          <a:blip r:embed="rId3">
            <a:alphaModFix/>
          </a:blip>
          <a:srcRect b="0" l="0" r="0" t="0"/>
          <a:stretch/>
        </p:blipFill>
        <p:spPr>
          <a:xfrm>
            <a:off x="8869680" y="0"/>
            <a:ext cx="5760720" cy="8229600"/>
          </a:xfrm>
          <a:prstGeom prst="rect">
            <a:avLst/>
          </a:prstGeom>
          <a:noFill/>
          <a:ln>
            <a:noFill/>
          </a:ln>
        </p:spPr>
      </p:pic>
      <p:pic>
        <p:nvPicPr>
          <p:cNvPr descr="preencoded.png" id="56" name="Google Shape;56;p1"/>
          <p:cNvPicPr preferRelativeResize="0"/>
          <p:nvPr/>
        </p:nvPicPr>
        <p:blipFill rotWithShape="1">
          <a:blip r:embed="rId4">
            <a:alphaModFix/>
          </a:blip>
          <a:srcRect b="0" l="0" r="0" t="0"/>
          <a:stretch/>
        </p:blipFill>
        <p:spPr>
          <a:xfrm>
            <a:off x="2654265" y="4877363"/>
            <a:ext cx="2788801" cy="1233249"/>
          </a:xfrm>
          <a:prstGeom prst="rect">
            <a:avLst/>
          </a:prstGeom>
          <a:noFill/>
          <a:ln>
            <a:noFill/>
          </a:ln>
        </p:spPr>
      </p:pic>
      <p:sp>
        <p:nvSpPr>
          <p:cNvPr id="57" name="Google Shape;57;p1"/>
          <p:cNvSpPr/>
          <p:nvPr/>
        </p:nvSpPr>
        <p:spPr>
          <a:xfrm>
            <a:off x="350000" y="2048700"/>
            <a:ext cx="7600000" cy="570000"/>
          </a:xfrm>
          <a:prstGeom prst="rect">
            <a:avLst/>
          </a:prstGeom>
          <a:noFill/>
          <a:ln>
            <a:noFill/>
          </a:ln>
        </p:spPr>
        <p:txBody>
          <a:bodyPr anchorCtr="0" anchor="t" bIns="0" lIns="0" spcFirstLastPara="1" rIns="0" wrap="square" tIns="0" rtlCol="1">
            <a:noAutofit/>
          </a:bodyPr>
          <a:lstStyle/>
          <a:p>
            <a:pPr indent="0" lvl="0" marL="0" rtl="1" algn="ctr" marR="457200">
              <a:lnSpc>
                <a:spcPct val="115000"/>
              </a:lnSpc>
              <a:spcBef>
                <a:spcPts val="0"/>
              </a:spcBef>
              <a:spcAft>
                <a:spcPts val="0"/>
              </a:spcAft>
              <a:buClr>
                <a:schemeClr val="dk1"/>
              </a:buClr>
              <a:buSzPts val="6000"/>
              <a:buFont typeface="Arial"/>
              <a:buNone/>
            </a:pPr>
            <a:r>
              <a:rPr b="1" lang="he-IL" sz="4200" altLang="en-US">
                <a:solidFill>
                  <a:srgbClr val="384653"/>
                </a:solidFill>
                <a:latin typeface="Arial"/>
                <a:ea typeface="Arial"/>
                <a:cs typeface="Arial"/>
                <a:sym typeface="Barlow"/>
              </a:rPr>
              <a:t>עמודי אינטרנט מותאמים ובניית אב־טיפוס</a:t>
            </a:r>
            <a:endParaRPr b="1" sz="5000" lang="he-IL" altLang="en-US">
              <a:solidFill>
                <a:srgbClr val="2E3C4E"/>
              </a:solidFill>
              <a:latin typeface="Arial"/>
              <a:ea typeface="Arial"/>
              <a:cs typeface="Arial"/>
              <a:sym typeface="Barlow"/>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2"/>
          <p:cNvSpPr txBox="1"/>
          <p:nvPr/>
        </p:nvSpPr>
        <p:spPr>
          <a:xfrm>
            <a:off x="492300" y="1647550"/>
            <a:ext cx="10342800" cy="1652400"/>
          </a:xfrm>
          <a:prstGeom prst="rect">
            <a:avLst/>
          </a:prstGeom>
          <a:noFill/>
          <a:ln>
            <a:noFill/>
          </a:ln>
        </p:spPr>
        <p:txBody>
          <a:bodyPr anchorCtr="0" anchor="t" bIns="45700" lIns="91425" spcFirstLastPara="1" rIns="91425" wrap="square" tIns="45700" rtlCol="1">
            <a:spAutoFit/>
          </a:bodyPr>
          <a:lstStyle/>
          <a:p>
            <a:pPr indent="-400050" lvl="0" marL="0" rtl="1" algn="r" marR="457200">
              <a:lnSpc>
                <a:spcPct val="125352"/>
              </a:lnSpc>
              <a:spcBef>
                <a:spcPts val="0"/>
              </a:spcBef>
              <a:spcAft>
                <a:spcPts val="0"/>
              </a:spcAft>
              <a:buSzPts val="2700"/>
              <a:buFont typeface="Assistant"/>
              <a:buAutoNum type="arabicPeriod"/>
            </a:pPr>
            <a:r>
              <a:rPr lang="he-IL" sz="2700" altLang="en-US">
                <a:latin typeface="Arial"/>
                <a:ea typeface="Arial"/>
                <a:cs typeface="Arial"/>
                <a:sym typeface="Assistant"/>
              </a:rPr>
              <a:t>מהו אב־טיפוס?</a:t>
            </a:r>
            <a:endParaRPr sz="3200" lang="he-IL" altLang="en-US">
              <a:solidFill>
                <a:schemeClr val="dk1"/>
              </a:solidFill>
              <a:latin typeface="Arial"/>
              <a:cs typeface="Arial"/>
              <a:ea typeface="Arial"/>
            </a:endParaRPr>
          </a:p>
          <a:p>
            <a:pPr indent="-457200" lvl="0" marL="0" marR="457200" rtl="1" algn="r">
              <a:lnSpc>
                <a:spcPct val="150000"/>
              </a:lnSpc>
              <a:spcBef>
                <a:spcPts val="0"/>
              </a:spcBef>
              <a:spcAft>
                <a:spcPts val="0"/>
              </a:spcAft>
              <a:buSzPts val="2700"/>
              <a:buFont typeface="Assistant"/>
              <a:buAutoNum type="arabicPeriod"/>
            </a:pPr>
            <a:r>
              <a:rPr lang="he-IL" sz="2700" altLang="en-US">
                <a:latin typeface="Arial"/>
                <a:ea typeface="Arial"/>
                <a:cs typeface="Arial"/>
                <a:sym typeface="Assistant"/>
              </a:rPr>
              <a:t>שתי דרכים להתחיל</a:t>
            </a:r>
            <a:endParaRPr sz="2700" lang="he-IL" altLang="en-US">
              <a:latin typeface="Arial"/>
              <a:ea typeface="Arial"/>
              <a:cs typeface="Arial"/>
              <a:sym typeface="Assistant"/>
            </a:endParaRPr>
          </a:p>
          <a:p>
            <a:pPr indent="-457200" lvl="0" marL="0" marR="457200" rtl="1" algn="r">
              <a:lnSpc>
                <a:spcPct val="150000"/>
              </a:lnSpc>
              <a:spcBef>
                <a:spcPts val="0"/>
              </a:spcBef>
              <a:spcAft>
                <a:spcPts val="0"/>
              </a:spcAft>
              <a:buSzPts val="2700"/>
              <a:buFont typeface="Assistant"/>
              <a:buAutoNum type="arabicPeriod"/>
            </a:pPr>
            <a:r>
              <a:rPr lang="he-IL" sz="2700" altLang="en-US">
                <a:latin typeface="Arial"/>
                <a:ea typeface="Arial"/>
                <a:cs typeface="Arial"/>
                <a:sym typeface="Assistant"/>
              </a:rPr>
              <a:t>הדגמה של הכלים</a:t>
            </a:r>
            <a:endParaRPr b="0" i="0" sz="2100" u="none" cap="none" strike="noStrike" lang="he-IL" altLang="en-US">
              <a:solidFill>
                <a:srgbClr val="000000"/>
              </a:solidFill>
              <a:latin typeface="Arial"/>
              <a:ea typeface="Arial"/>
              <a:cs typeface="Arial"/>
              <a:sym typeface="Assistant"/>
            </a:endParaRPr>
          </a:p>
        </p:txBody>
      </p:sp>
      <p:sp>
        <p:nvSpPr>
          <p:cNvPr id="64" name="Google Shape;64;p2"/>
          <p:cNvSpPr/>
          <p:nvPr/>
        </p:nvSpPr>
        <p:spPr>
          <a:xfrm>
            <a:off x="492302" y="313157"/>
            <a:ext cx="4561284" cy="570071"/>
          </a:xfrm>
          <a:prstGeom prst="rect">
            <a:avLst/>
          </a:prstGeom>
          <a:noFill/>
          <a:ln>
            <a:noFill/>
          </a:ln>
        </p:spPr>
        <p:txBody>
          <a:bodyPr anchorCtr="0" anchor="t" bIns="0" lIns="0" spcFirstLastPara="1" rIns="0" wrap="square" tIns="0" rtlCol="1">
            <a:noAutofit/>
          </a:bodyPr>
          <a:lstStyle/>
          <a:p>
            <a:pPr indent="0" lvl="0" marL="0" marR="0" rtl="1" algn="r">
              <a:lnSpc>
                <a:spcPct val="125352"/>
              </a:lnSpc>
              <a:spcBef>
                <a:spcPts val="0"/>
              </a:spcBef>
              <a:spcAft>
                <a:spcPts val="0"/>
              </a:spcAft>
              <a:buClr>
                <a:srgbClr val="2E3C4E"/>
              </a:buClr>
              <a:buSzPts val="3550"/>
              <a:buFont typeface="Barlow"/>
              <a:buNone/>
            </a:pPr>
            <a:r>
              <a:rPr b="1" i="0" lang="he-IL" sz="3200" u="none" cap="none" strike="noStrike" altLang="en-US">
                <a:solidFill>
                  <a:srgbClr val="2E3C4E"/>
                </a:solidFill>
                <a:latin typeface="Arial"/>
                <a:ea typeface="Arial"/>
                <a:cs typeface="Arial"/>
                <a:sym typeface="Barlow"/>
              </a:rPr>
              <a:t>נושאי השיעור</a:t>
            </a:r>
            <a:endParaRPr b="0" i="0" sz="3200" u="none" cap="none" strike="noStrike" lang="he-IL" altLang="en-US">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26"/>
          <p:cNvSpPr/>
          <p:nvPr/>
        </p:nvSpPr>
        <p:spPr>
          <a:xfrm>
            <a:off x="542174" y="515075"/>
            <a:ext cx="6745500" cy="570000"/>
          </a:xfrm>
          <a:prstGeom prst="rect">
            <a:avLst/>
          </a:prstGeom>
          <a:noFill/>
          <a:ln>
            <a:noFill/>
          </a:ln>
        </p:spPr>
        <p:txBody>
          <a:bodyPr anchorCtr="0" anchor="t" bIns="0" lIns="0" spcFirstLastPara="1" rIns="0" wrap="square" tIns="0" rtlCol="1">
            <a:noAutofit/>
          </a:bodyPr>
          <a:lstStyle/>
          <a:p>
            <a:pPr indent="0" lvl="0" marL="0" marR="0" rtl="1" algn="r">
              <a:lnSpc>
                <a:spcPct val="125352"/>
              </a:lnSpc>
              <a:spcBef>
                <a:spcPts val="0"/>
              </a:spcBef>
              <a:spcAft>
                <a:spcPts val="0"/>
              </a:spcAft>
              <a:buClr>
                <a:srgbClr val="2E3C4E"/>
              </a:buClr>
              <a:buSzPts val="3550"/>
              <a:buFont typeface="Barlow"/>
              <a:buNone/>
            </a:pPr>
            <a:r>
              <a:rPr b="1" i="0" lang="he-IL" sz="3200" u="none" cap="none" strike="noStrike" altLang="en-US">
                <a:solidFill>
                  <a:srgbClr val="2E3C4E"/>
                </a:solidFill>
                <a:latin typeface="Arial"/>
                <a:ea typeface="Arial"/>
                <a:cs typeface="Arial"/>
                <a:sym typeface="Barlow"/>
              </a:rPr>
              <a:t>מהו אב־טיפוס?</a:t>
            </a:r>
            <a:endParaRPr b="0" i="0" sz="3200" u="none" cap="none" strike="noStrike" lang="he-IL" altLang="en-US">
              <a:solidFill>
                <a:srgbClr val="000000"/>
              </a:solidFill>
              <a:latin typeface="Arial"/>
              <a:ea typeface="Arial"/>
              <a:cs typeface="Arial"/>
              <a:sym typeface="Arial"/>
            </a:endParaRPr>
          </a:p>
        </p:txBody>
      </p:sp>
      <p:sp>
        <p:nvSpPr>
          <p:cNvPr id="71" name="Google Shape;71;p26"/>
          <p:cNvSpPr/>
          <p:nvPr/>
        </p:nvSpPr>
        <p:spPr>
          <a:xfrm>
            <a:off x="570900" y="1544896"/>
            <a:ext cx="13488600" cy="1150200"/>
          </a:xfrm>
          <a:prstGeom prst="rect">
            <a:avLst/>
          </a:prstGeom>
          <a:noFill/>
          <a:ln>
            <a:noFill/>
          </a:ln>
        </p:spPr>
        <p:txBody>
          <a:bodyPr anchorCtr="0" anchor="t" bIns="0" lIns="0" spcFirstLastPara="1" rIns="0" wrap="square" tIns="0" rtlCol="1">
            <a:noAutofit/>
          </a:bodyPr>
          <a:lstStyle/>
          <a:p>
            <a:pPr indent="0" lvl="0" marL="0" marR="0" rtl="1" algn="r">
              <a:lnSpc>
                <a:spcPct val="161904"/>
              </a:lnSpc>
              <a:spcBef>
                <a:spcPts val="0"/>
              </a:spcBef>
              <a:spcAft>
                <a:spcPts val="0"/>
              </a:spcAft>
              <a:buClr>
                <a:srgbClr val="384653"/>
              </a:buClr>
              <a:buSzPts val="2100"/>
              <a:buFont typeface="Montserrat"/>
              <a:buNone/>
            </a:pPr>
            <a:r>
              <a:rPr b="0" i="0" lang="he-IL" sz="2300" u="none" cap="none" strike="noStrike" altLang="en-US">
                <a:solidFill>
                  <a:srgbClr val="384653"/>
                </a:solidFill>
                <a:latin typeface="Arial"/>
                <a:ea typeface="Arial"/>
                <a:cs typeface="Arial"/>
                <a:sym typeface="Montserrat"/>
              </a:rPr>
              <a:t>הגדרה: גרסה ראשונית ופשוטה של מוצר, שנבנית במהירות כדי לבדוק רעיונות, תכונות או תהליכים לפני פיתוח מלא.</a:t>
            </a:r>
            <a:r>
              <a:rPr b="0" i="0" lang="he-IL" sz="2300" u="none" cap="none" strike="noStrike" altLang="en-US">
                <a:solidFill>
                  <a:srgbClr val="384653"/>
                </a:solidFill>
                <a:latin typeface="Arial"/>
                <a:ea typeface="Arial"/>
                <a:cs typeface="Arial"/>
                <a:sym typeface="Montserrat"/>
              </a:rPr>
              <a:t/>
            </a:r>
            <a:r>
              <a:rPr b="1" i="0" lang="he-IL" sz="2300" u="none" cap="none" strike="noStrike" altLang="en-US">
                <a:solidFill>
                  <a:srgbClr val="384653"/>
                </a:solidFill>
                <a:latin typeface="Arial"/>
                <a:ea typeface="Arial"/>
                <a:cs typeface="Arial"/>
                <a:sym typeface="Montserrat"/>
              </a:rPr>
              <a:t/>
            </a:r>
            <a:r>
              <a:rPr b="0" i="0" lang="he-IL" sz="2300" u="none" cap="none" strike="noStrike" altLang="en-US">
                <a:solidFill>
                  <a:srgbClr val="384653"/>
                </a:solidFill>
                <a:latin typeface="Arial"/>
                <a:ea typeface="Arial"/>
                <a:cs typeface="Arial"/>
                <a:sym typeface="Montserrat"/>
              </a:rPr>
              <a:t/>
            </a:r>
            <a:endParaRPr b="0" i="0" sz="2300" u="none" cap="none" strike="noStrike" lang="he-IL" altLang="en-US">
              <a:solidFill>
                <a:srgbClr val="000000"/>
              </a:solidFill>
              <a:latin typeface="Arial"/>
              <a:ea typeface="Arial"/>
              <a:cs typeface="Arial"/>
              <a:sym typeface="Arial"/>
            </a:endParaRPr>
          </a:p>
        </p:txBody>
      </p:sp>
      <p:sp>
        <p:nvSpPr>
          <p:cNvPr id="72" name="Google Shape;72;p26"/>
          <p:cNvSpPr/>
          <p:nvPr/>
        </p:nvSpPr>
        <p:spPr>
          <a:xfrm>
            <a:off x="650376" y="3110026"/>
            <a:ext cx="13488600" cy="433500"/>
          </a:xfrm>
          <a:prstGeom prst="rect">
            <a:avLst/>
          </a:prstGeom>
          <a:noFill/>
          <a:ln>
            <a:noFill/>
          </a:ln>
        </p:spPr>
        <p:txBody>
          <a:bodyPr anchorCtr="0" anchor="t" bIns="0" lIns="0" spcFirstLastPara="1" rIns="0" wrap="square" tIns="0" rtlCol="1">
            <a:noAutofit/>
          </a:bodyPr>
          <a:lstStyle/>
          <a:p>
            <a:pPr indent="0" lvl="0" marL="0" marR="0" rtl="1" algn="r">
              <a:lnSpc>
                <a:spcPct val="161904"/>
              </a:lnSpc>
              <a:spcBef>
                <a:spcPts val="0"/>
              </a:spcBef>
              <a:spcAft>
                <a:spcPts val="0"/>
              </a:spcAft>
              <a:buClr>
                <a:srgbClr val="384653"/>
              </a:buClr>
              <a:buSzPts val="2100"/>
              <a:buFont typeface="Montserrat"/>
              <a:buNone/>
            </a:pPr>
            <a:r>
              <a:rPr b="1" i="0" lang="he-IL" sz="2300" u="none" cap="none" strike="noStrike" altLang="en-US">
                <a:solidFill>
                  <a:srgbClr val="384653"/>
                </a:solidFill>
                <a:highlight>
                  <a:srgbClr val="F2F2F2"/>
                </a:highlight>
                <a:latin typeface="Arial"/>
                <a:ea typeface="Arial"/>
                <a:cs typeface="Arial"/>
                <a:sym typeface="Montserrat"/>
              </a:rPr>
              <a:t>מטרות אב־הטיפוס:</a:t>
            </a:r>
            <a:endParaRPr b="0" i="0" sz="2300" u="none" cap="none" strike="noStrike" lang="he-IL" altLang="en-US">
              <a:solidFill>
                <a:srgbClr val="000000"/>
              </a:solidFill>
              <a:latin typeface="Arial"/>
              <a:ea typeface="Arial"/>
              <a:cs typeface="Arial"/>
              <a:sym typeface="Arial"/>
            </a:endParaRPr>
          </a:p>
        </p:txBody>
      </p:sp>
      <p:sp>
        <p:nvSpPr>
          <p:cNvPr id="73" name="Google Shape;73;p26"/>
          <p:cNvSpPr/>
          <p:nvPr/>
        </p:nvSpPr>
        <p:spPr>
          <a:xfrm>
            <a:off x="574176" y="3738320"/>
            <a:ext cx="13488600" cy="433500"/>
          </a:xfrm>
          <a:prstGeom prst="rect">
            <a:avLst/>
          </a:prstGeom>
          <a:noFill/>
          <a:ln>
            <a:noFill/>
          </a:ln>
        </p:spPr>
        <p:txBody>
          <a:bodyPr anchorCtr="0" anchor="t" bIns="0" lIns="0" spcFirstLastPara="1" rIns="0" wrap="square" tIns="0" rtlCol="1">
            <a:noAutofit/>
          </a:bodyPr>
          <a:lstStyle/>
          <a:p>
            <a:pPr indent="-342900" lvl="0" marL="0" marR="342900" rtl="1" algn="r">
              <a:lnSpc>
                <a:spcPct val="158823"/>
              </a:lnSpc>
              <a:spcBef>
                <a:spcPts val="0"/>
              </a:spcBef>
              <a:spcAft>
                <a:spcPts val="0"/>
              </a:spcAft>
              <a:buClr>
                <a:srgbClr val="384653"/>
              </a:buClr>
              <a:buSzPts val="1900"/>
              <a:buFont typeface="Montserrat"/>
              <a:buChar char="•"/>
            </a:pPr>
            <a:r>
              <a:rPr b="0" i="0" lang="he-IL" sz="2000" u="none" cap="none" strike="noStrike" altLang="en-US">
                <a:solidFill>
                  <a:srgbClr val="384653"/>
                </a:solidFill>
                <a:latin typeface="Arial"/>
                <a:ea typeface="Arial"/>
                <a:cs typeface="Arial"/>
                <a:sym typeface="Montserrat"/>
              </a:rPr>
              <a:t>בחינת הרעיון עם משתמשים אמיתיים</a:t>
            </a:r>
            <a:endParaRPr b="0" i="0" sz="2000" u="none" cap="none" strike="noStrike" lang="he-IL" altLang="en-US">
              <a:solidFill>
                <a:srgbClr val="000000"/>
              </a:solidFill>
              <a:latin typeface="Arial"/>
              <a:ea typeface="Arial"/>
              <a:cs typeface="Arial"/>
              <a:sym typeface="Arial"/>
            </a:endParaRPr>
          </a:p>
        </p:txBody>
      </p:sp>
      <p:sp>
        <p:nvSpPr>
          <p:cNvPr id="74" name="Google Shape;74;p26"/>
          <p:cNvSpPr/>
          <p:nvPr/>
        </p:nvSpPr>
        <p:spPr>
          <a:xfrm>
            <a:off x="574157" y="4247426"/>
            <a:ext cx="13488300" cy="433500"/>
          </a:xfrm>
          <a:prstGeom prst="rect">
            <a:avLst/>
          </a:prstGeom>
          <a:noFill/>
          <a:ln>
            <a:noFill/>
          </a:ln>
        </p:spPr>
        <p:txBody>
          <a:bodyPr anchorCtr="0" anchor="t" bIns="0" lIns="0" spcFirstLastPara="1" rIns="0" wrap="square" tIns="0" rtlCol="1">
            <a:noAutofit/>
          </a:bodyPr>
          <a:lstStyle/>
          <a:p>
            <a:pPr indent="-342900" lvl="0" marL="0" marR="342900" rtl="1" algn="r">
              <a:lnSpc>
                <a:spcPct val="158823"/>
              </a:lnSpc>
              <a:spcBef>
                <a:spcPts val="0"/>
              </a:spcBef>
              <a:spcAft>
                <a:spcPts val="0"/>
              </a:spcAft>
              <a:buClr>
                <a:srgbClr val="384653"/>
              </a:buClr>
              <a:buSzPts val="1900"/>
              <a:buFont typeface="Montserrat"/>
              <a:buChar char="•"/>
            </a:pPr>
            <a:r>
              <a:rPr b="0" i="0" lang="he-IL" sz="2000" u="none" cap="none" strike="noStrike" altLang="en-US">
                <a:solidFill>
                  <a:srgbClr val="384653"/>
                </a:solidFill>
                <a:latin typeface="Arial"/>
                <a:ea typeface="Arial"/>
                <a:cs typeface="Arial"/>
                <a:sym typeface="Montserrat"/>
              </a:rPr>
              <a:t>קבלת משוב מוקדם לפני השקעה מלאה</a:t>
            </a:r>
            <a:endParaRPr b="0" i="0" sz="2000" u="none" cap="none" strike="noStrike" lang="he-IL" altLang="en-US">
              <a:solidFill>
                <a:srgbClr val="000000"/>
              </a:solidFill>
              <a:latin typeface="Arial"/>
              <a:ea typeface="Arial"/>
              <a:cs typeface="Arial"/>
              <a:sym typeface="Arial"/>
            </a:endParaRPr>
          </a:p>
        </p:txBody>
      </p:sp>
      <p:sp>
        <p:nvSpPr>
          <p:cNvPr id="75" name="Google Shape;75;p26"/>
          <p:cNvSpPr/>
          <p:nvPr/>
        </p:nvSpPr>
        <p:spPr>
          <a:xfrm>
            <a:off x="574176" y="4732731"/>
            <a:ext cx="13488300" cy="433500"/>
          </a:xfrm>
          <a:prstGeom prst="rect">
            <a:avLst/>
          </a:prstGeom>
          <a:noFill/>
          <a:ln>
            <a:noFill/>
          </a:ln>
        </p:spPr>
        <p:txBody>
          <a:bodyPr anchorCtr="0" anchor="t" bIns="0" lIns="0" spcFirstLastPara="1" rIns="0" wrap="square" tIns="0" rtlCol="1">
            <a:noAutofit/>
          </a:bodyPr>
          <a:lstStyle/>
          <a:p>
            <a:pPr indent="-342900" lvl="0" marL="0" marR="342900" rtl="1" algn="r">
              <a:lnSpc>
                <a:spcPct val="158823"/>
              </a:lnSpc>
              <a:spcBef>
                <a:spcPts val="0"/>
              </a:spcBef>
              <a:spcAft>
                <a:spcPts val="0"/>
              </a:spcAft>
              <a:buClr>
                <a:srgbClr val="384653"/>
              </a:buClr>
              <a:buSzPts val="1900"/>
              <a:buFont typeface="Montserrat"/>
              <a:buChar char="•"/>
            </a:pPr>
            <a:r>
              <a:rPr b="0" i="0" lang="he-IL" sz="2000" u="none" cap="none" strike="noStrike" altLang="en-US">
                <a:solidFill>
                  <a:srgbClr val="384653"/>
                </a:solidFill>
                <a:latin typeface="Arial"/>
                <a:ea typeface="Arial"/>
                <a:cs typeface="Arial"/>
                <a:sym typeface="Montserrat"/>
              </a:rPr>
              <a:t>שיפור מהיר של העיצוב, הלוגיקה או הממשק</a:t>
            </a:r>
            <a:endParaRPr b="0" i="0" sz="2000" u="none" cap="none" strike="noStrike" lang="he-IL" altLang="en-US">
              <a:solidFill>
                <a:srgbClr val="000000"/>
              </a:solidFill>
              <a:latin typeface="Arial"/>
              <a:ea typeface="Arial"/>
              <a:cs typeface="Arial"/>
              <a:sym typeface="Arial"/>
            </a:endParaRPr>
          </a:p>
        </p:txBody>
      </p:sp>
      <p:sp>
        <p:nvSpPr>
          <p:cNvPr id="76" name="Google Shape;76;p26"/>
          <p:cNvSpPr/>
          <p:nvPr/>
        </p:nvSpPr>
        <p:spPr>
          <a:xfrm>
            <a:off x="574157" y="5241846"/>
            <a:ext cx="13488300" cy="433500"/>
          </a:xfrm>
          <a:prstGeom prst="rect">
            <a:avLst/>
          </a:prstGeom>
          <a:noFill/>
          <a:ln>
            <a:noFill/>
          </a:ln>
        </p:spPr>
        <p:txBody>
          <a:bodyPr anchorCtr="0" anchor="t" bIns="0" lIns="0" spcFirstLastPara="1" rIns="0" wrap="square" tIns="0" rtlCol="1">
            <a:noAutofit/>
          </a:bodyPr>
          <a:lstStyle/>
          <a:p>
            <a:pPr indent="-342900" lvl="0" marL="0" marR="342900" rtl="1" algn="r">
              <a:lnSpc>
                <a:spcPct val="158823"/>
              </a:lnSpc>
              <a:spcBef>
                <a:spcPts val="0"/>
              </a:spcBef>
              <a:spcAft>
                <a:spcPts val="0"/>
              </a:spcAft>
              <a:buClr>
                <a:srgbClr val="384653"/>
              </a:buClr>
              <a:buSzPts val="1900"/>
              <a:buFont typeface="Montserrat"/>
              <a:buChar char="•"/>
            </a:pPr>
            <a:r>
              <a:rPr b="0" i="0" lang="he-IL" sz="2000" u="none" cap="none" strike="noStrike" altLang="en-US">
                <a:solidFill>
                  <a:srgbClr val="384653"/>
                </a:solidFill>
                <a:latin typeface="Arial"/>
                <a:ea typeface="Arial"/>
                <a:cs typeface="Arial"/>
                <a:sym typeface="Montserrat"/>
              </a:rPr>
              <a:t>המחשת הרעיון לשותפים או למשקיעים</a:t>
            </a:r>
            <a:endParaRPr b="0" i="0" sz="2000" u="none" cap="none" strike="noStrike" lang="he-IL" altLang="en-US">
              <a:solidFill>
                <a:srgbClr val="000000"/>
              </a:solidFill>
              <a:latin typeface="Arial"/>
              <a:ea typeface="Arial"/>
              <a:cs typeface="Arial"/>
              <a:sym typeface="Arial"/>
            </a:endParaRPr>
          </a:p>
        </p:txBody>
      </p:sp>
      <p:sp>
        <p:nvSpPr>
          <p:cNvPr id="77" name="Google Shape;77;p26"/>
          <p:cNvSpPr/>
          <p:nvPr/>
        </p:nvSpPr>
        <p:spPr>
          <a:xfrm>
            <a:off x="650535" y="6083881"/>
            <a:ext cx="13488300" cy="433500"/>
          </a:xfrm>
          <a:prstGeom prst="rect">
            <a:avLst/>
          </a:prstGeom>
          <a:noFill/>
          <a:ln>
            <a:noFill/>
          </a:ln>
        </p:spPr>
        <p:txBody>
          <a:bodyPr anchorCtr="0" anchor="t" bIns="0" lIns="0" spcFirstLastPara="1" rIns="0" wrap="square" tIns="0" rtlCol="1">
            <a:noAutofit/>
          </a:bodyPr>
          <a:lstStyle/>
          <a:p>
            <a:pPr indent="0" lvl="0" marL="0" marR="0" rtl="1" algn="r">
              <a:lnSpc>
                <a:spcPct val="161904"/>
              </a:lnSpc>
              <a:spcBef>
                <a:spcPts val="0"/>
              </a:spcBef>
              <a:spcAft>
                <a:spcPts val="0"/>
              </a:spcAft>
              <a:buClr>
                <a:srgbClr val="384653"/>
              </a:buClr>
              <a:buSzPts val="2100"/>
              <a:buFont typeface="Montserrat"/>
              <a:buNone/>
            </a:pPr>
            <a:r>
              <a:rPr b="1" i="0" lang="he-IL" sz="2300" u="none" cap="none" strike="noStrike" altLang="en-US">
                <a:solidFill>
                  <a:srgbClr val="384653"/>
                </a:solidFill>
                <a:highlight>
                  <a:srgbClr val="F2F2F2"/>
                </a:highlight>
                <a:latin typeface="Arial"/>
                <a:ea typeface="Arial"/>
                <a:cs typeface="Arial"/>
                <a:sym typeface="Montserrat"/>
              </a:rPr>
              <a:t>למה זה חשוב?</a:t>
            </a:r>
            <a:endParaRPr b="0" i="0" sz="2300" u="none" cap="none" strike="noStrike" lang="he-IL" altLang="en-US">
              <a:solidFill>
                <a:srgbClr val="000000"/>
              </a:solidFill>
              <a:latin typeface="Arial"/>
              <a:ea typeface="Arial"/>
              <a:cs typeface="Arial"/>
              <a:sym typeface="Arial"/>
            </a:endParaRPr>
          </a:p>
        </p:txBody>
      </p:sp>
      <p:sp>
        <p:nvSpPr>
          <p:cNvPr id="78" name="Google Shape;78;p26"/>
          <p:cNvSpPr/>
          <p:nvPr/>
        </p:nvSpPr>
        <p:spPr>
          <a:xfrm>
            <a:off x="676905" y="6820123"/>
            <a:ext cx="13488300" cy="897300"/>
          </a:xfrm>
          <a:prstGeom prst="rect">
            <a:avLst/>
          </a:prstGeom>
          <a:noFill/>
          <a:ln>
            <a:noFill/>
          </a:ln>
        </p:spPr>
        <p:txBody>
          <a:bodyPr anchorCtr="0" anchor="t" bIns="0" lIns="0" spcFirstLastPara="1" rIns="0" wrap="square" tIns="0" rtlCol="1">
            <a:noAutofit/>
          </a:bodyPr>
          <a:lstStyle/>
          <a:p>
            <a:pPr indent="0" lvl="0" marL="0" marR="0" rtl="1" algn="r">
              <a:lnSpc>
                <a:spcPct val="158823"/>
              </a:lnSpc>
              <a:spcBef>
                <a:spcPts val="0"/>
              </a:spcBef>
              <a:spcAft>
                <a:spcPts val="0"/>
              </a:spcAft>
              <a:buClr>
                <a:srgbClr val="384653"/>
              </a:buClr>
              <a:buSzPts val="1700"/>
              <a:buFont typeface="Montserrat"/>
              <a:buNone/>
            </a:pPr>
            <a:r>
              <a:rPr b="0" i="0" lang="he-IL" sz="2000" u="none" cap="none" strike="noStrike" altLang="en-US">
                <a:solidFill>
                  <a:srgbClr val="384653"/>
                </a:solidFill>
                <a:latin typeface="Arial"/>
                <a:ea typeface="Arial"/>
                <a:cs typeface="Arial"/>
                <a:sym typeface="Montserrat"/>
              </a:rPr>
              <a:t>פיתוח בעזרת מודלי שפה תלוי בהנחיות, בבדיקות ובסבבי שיפור, ועשוי לעלות כסף. אב־טיפוס מאפשר לבדוק את הגישה ואת ההנחיות לפני בניית האפליקציה המלאה.</a:t>
            </a:r>
            <a:r>
              <a:rPr b="1" i="0" lang="he-IL" sz="2000" u="none" cap="none" strike="noStrike" altLang="en-US">
                <a:solidFill>
                  <a:srgbClr val="384653"/>
                </a:solidFill>
                <a:latin typeface="Arial"/>
                <a:ea typeface="Arial"/>
                <a:cs typeface="Arial"/>
                <a:sym typeface="Montserrat"/>
              </a:rPr>
              <a:t/>
            </a:r>
            <a:r>
              <a:rPr b="0" i="0" lang="he-IL" sz="2000" u="none" cap="none" strike="noStrike" altLang="en-US">
                <a:solidFill>
                  <a:srgbClr val="384653"/>
                </a:solidFill>
                <a:latin typeface="Arial"/>
                <a:ea typeface="Arial"/>
                <a:cs typeface="Arial"/>
                <a:sym typeface="Montserrat"/>
              </a:rPr>
              <a:t/>
            </a:r>
            <a:r>
              <a:rPr b="1" i="0" lang="he-IL" sz="2000" u="none" cap="none" strike="noStrike" altLang="en-US">
                <a:solidFill>
                  <a:srgbClr val="384653"/>
                </a:solidFill>
                <a:latin typeface="Arial"/>
                <a:ea typeface="Arial"/>
                <a:cs typeface="Arial"/>
                <a:sym typeface="Montserrat"/>
              </a:rPr>
              <a:t/>
            </a:r>
            <a:r>
              <a:rPr b="0" i="0" lang="he-IL" sz="2000" u="none" cap="none" strike="noStrike" altLang="en-US">
                <a:solidFill>
                  <a:srgbClr val="384653"/>
                </a:solidFill>
                <a:latin typeface="Arial"/>
                <a:ea typeface="Arial"/>
                <a:cs typeface="Arial"/>
                <a:sym typeface="Montserrat"/>
              </a:rPr>
              <a:t/>
            </a:r>
            <a:r>
              <a:rPr b="1" i="0" lang="he-IL" sz="2000" u="none" cap="none" strike="noStrike" altLang="en-US">
                <a:solidFill>
                  <a:srgbClr val="384653"/>
                </a:solidFill>
                <a:latin typeface="Arial"/>
                <a:ea typeface="Arial"/>
                <a:cs typeface="Arial"/>
                <a:sym typeface="Montserrat"/>
              </a:rPr>
              <a:t/>
            </a:r>
            <a:r>
              <a:rPr b="0" i="0" lang="he-IL" sz="2000" u="none" cap="none" strike="noStrike" altLang="en-US">
                <a:solidFill>
                  <a:srgbClr val="384653"/>
                </a:solidFill>
                <a:latin typeface="Arial"/>
                <a:ea typeface="Arial"/>
                <a:cs typeface="Arial"/>
                <a:sym typeface="Montserrat"/>
              </a:rPr>
              <a:t/>
            </a:r>
            <a:r>
              <a:rPr b="1" i="0" lang="he-IL" sz="2000" u="none" cap="none" strike="noStrike" altLang="en-US">
                <a:solidFill>
                  <a:srgbClr val="384653"/>
                </a:solidFill>
                <a:latin typeface="Arial"/>
                <a:ea typeface="Arial"/>
                <a:cs typeface="Arial"/>
                <a:sym typeface="Montserrat"/>
              </a:rPr>
              <a:t/>
            </a:r>
            <a:r>
              <a:rPr b="0" i="0" lang="he-IL" sz="2000" u="none" cap="none" strike="noStrike" altLang="en-US">
                <a:solidFill>
                  <a:srgbClr val="384653"/>
                </a:solidFill>
                <a:latin typeface="Arial"/>
                <a:ea typeface="Arial"/>
                <a:cs typeface="Arial"/>
                <a:sym typeface="Montserrat"/>
              </a:rPr>
              <a:t/>
            </a:r>
            <a:endParaRPr b="0" i="0" sz="2000" u="none" cap="none" strike="noStrike" lang="he-IL" altLang="en-US">
              <a:solidFill>
                <a:schemeClr val="dk1"/>
              </a:solidFill>
              <a:latin typeface="Arial"/>
              <a:ea typeface="Arial"/>
              <a:cs typeface="Arial"/>
              <a:sym typeface="Arial"/>
            </a:endParaRPr>
          </a:p>
          <a:p>
            <a:pPr indent="0" lvl="0" marL="0" marR="0" rtl="0" algn="l">
              <a:lnSpc>
                <a:spcPct val="158823"/>
              </a:lnSpc>
              <a:spcBef>
                <a:spcPts val="0"/>
              </a:spcBef>
              <a:spcAft>
                <a:spcPts val="0"/>
              </a:spcAft>
              <a:buClr>
                <a:srgbClr val="384653"/>
              </a:buClr>
              <a:buSzPts val="1700"/>
              <a:buFont typeface="Montserrat"/>
              <a:buNone/>
            </a:pPr>
            <a:r>
              <a:t/>
            </a:r>
            <a:endParaRPr b="0" i="0" sz="2000" u="none" cap="none" strike="noStrike">
              <a:solidFill>
                <a:srgbClr val="384653"/>
              </a:solidFill>
              <a:latin typeface="Montserrat"/>
              <a:ea typeface="Montserrat"/>
              <a:cs typeface="Montserrat"/>
              <a:sym typeface="Montserra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g36c347053ea_0_13"/>
          <p:cNvSpPr/>
          <p:nvPr/>
        </p:nvSpPr>
        <p:spPr>
          <a:xfrm>
            <a:off x="542174" y="515075"/>
            <a:ext cx="6745500" cy="570000"/>
          </a:xfrm>
          <a:prstGeom prst="rect">
            <a:avLst/>
          </a:prstGeom>
          <a:noFill/>
          <a:ln>
            <a:noFill/>
          </a:ln>
        </p:spPr>
        <p:txBody>
          <a:bodyPr anchorCtr="0" anchor="t" bIns="0" lIns="0" spcFirstLastPara="1" rIns="0" wrap="square" tIns="0" rtlCol="1">
            <a:noAutofit/>
          </a:bodyPr>
          <a:lstStyle/>
          <a:p>
            <a:pPr indent="0" lvl="0" marL="0" marR="0" rtl="1" algn="r">
              <a:lnSpc>
                <a:spcPct val="125352"/>
              </a:lnSpc>
              <a:spcBef>
                <a:spcPts val="0"/>
              </a:spcBef>
              <a:spcAft>
                <a:spcPts val="0"/>
              </a:spcAft>
              <a:buClr>
                <a:srgbClr val="2E3C4E"/>
              </a:buClr>
              <a:buSzPts val="3550"/>
              <a:buFont typeface="Barlow"/>
              <a:buNone/>
            </a:pPr>
            <a:r>
              <a:rPr b="1" i="0" lang="he-IL" sz="3200" u="none" cap="none" strike="noStrike" altLang="en-US">
                <a:solidFill>
                  <a:srgbClr val="2E3C4E"/>
                </a:solidFill>
                <a:latin typeface="Arial"/>
                <a:ea typeface="Arial"/>
                <a:cs typeface="Arial"/>
                <a:sym typeface="Barlow"/>
              </a:rPr>
              <a:t>מהו אב־טיפוס?</a:t>
            </a:r>
            <a:endParaRPr b="0" i="0" sz="3200" u="none" cap="none" strike="noStrike" lang="he-IL" altLang="en-US">
              <a:solidFill>
                <a:srgbClr val="000000"/>
              </a:solidFill>
              <a:latin typeface="Arial"/>
              <a:ea typeface="Arial"/>
              <a:cs typeface="Arial"/>
              <a:sym typeface="Arial"/>
            </a:endParaRPr>
          </a:p>
        </p:txBody>
      </p:sp>
      <p:sp>
        <p:nvSpPr>
          <p:cNvPr id="85" name="Google Shape;85;g36c347053ea_0_13"/>
          <p:cNvSpPr/>
          <p:nvPr/>
        </p:nvSpPr>
        <p:spPr>
          <a:xfrm>
            <a:off x="650535" y="1588081"/>
            <a:ext cx="13488300" cy="433500"/>
          </a:xfrm>
          <a:prstGeom prst="rect">
            <a:avLst/>
          </a:prstGeom>
          <a:noFill/>
          <a:ln>
            <a:noFill/>
          </a:ln>
        </p:spPr>
        <p:txBody>
          <a:bodyPr anchorCtr="0" anchor="t" bIns="0" lIns="0" spcFirstLastPara="1" rIns="0" wrap="square" tIns="0" rtlCol="1">
            <a:noAutofit/>
          </a:bodyPr>
          <a:lstStyle/>
          <a:p>
            <a:pPr indent="0" lvl="0" marL="0" marR="0" rtl="1" algn="r">
              <a:lnSpc>
                <a:spcPct val="161904"/>
              </a:lnSpc>
              <a:spcBef>
                <a:spcPts val="0"/>
              </a:spcBef>
              <a:spcAft>
                <a:spcPts val="0"/>
              </a:spcAft>
              <a:buClr>
                <a:srgbClr val="384653"/>
              </a:buClr>
              <a:buSzPts val="2100"/>
              <a:buFont typeface="Montserrat"/>
              <a:buNone/>
            </a:pPr>
            <a:r>
              <a:rPr b="1" lang="he-IL" sz="2300" altLang="en-US">
                <a:solidFill>
                  <a:srgbClr val="384653"/>
                </a:solidFill>
                <a:highlight>
                  <a:srgbClr val="F2F2F2"/>
                </a:highlight>
                <a:latin typeface="Arial"/>
                <a:ea typeface="Arial"/>
                <a:cs typeface="Arial"/>
                <a:sym typeface="Montserrat"/>
              </a:rPr>
              <a:t>מה אפשר לבדוק בעזרתו?</a:t>
            </a:r>
            <a:r>
              <a:rPr b="1" i="0" lang="he-IL" sz="2300" u="none" cap="none" strike="noStrike" altLang="en-US">
                <a:solidFill>
                  <a:srgbClr val="384653"/>
                </a:solidFill>
                <a:highlight>
                  <a:srgbClr val="F2F2F2"/>
                </a:highlight>
                <a:latin typeface="Arial"/>
                <a:ea typeface="Arial"/>
                <a:cs typeface="Arial"/>
                <a:sym typeface="Montserrat"/>
              </a:rPr>
              <a:t/>
            </a:r>
            <a:endParaRPr b="0" i="0" sz="2300" u="none" cap="none" strike="noStrike" lang="he-IL" altLang="en-US">
              <a:solidFill>
                <a:srgbClr val="000000"/>
              </a:solidFill>
              <a:latin typeface="Arial"/>
              <a:ea typeface="Arial"/>
              <a:cs typeface="Arial"/>
              <a:sym typeface="Arial"/>
            </a:endParaRPr>
          </a:p>
        </p:txBody>
      </p:sp>
      <p:sp>
        <p:nvSpPr>
          <p:cNvPr id="86" name="Google Shape;86;g36c347053ea_0_13"/>
          <p:cNvSpPr/>
          <p:nvPr/>
        </p:nvSpPr>
        <p:spPr>
          <a:xfrm>
            <a:off x="667312" y="2321957"/>
            <a:ext cx="12100500" cy="374700"/>
          </a:xfrm>
          <a:prstGeom prst="rect">
            <a:avLst/>
          </a:prstGeom>
          <a:noFill/>
          <a:ln>
            <a:noFill/>
          </a:ln>
        </p:spPr>
        <p:txBody>
          <a:bodyPr anchorCtr="0" anchor="t" bIns="0" lIns="0" spcFirstLastPara="1" rIns="0" wrap="square" tIns="0" rtlCol="1">
            <a:noAutofit/>
          </a:bodyPr>
          <a:lstStyle/>
          <a:p>
            <a:pPr indent="0" lvl="0" marL="0" marR="0" rtl="1" algn="r">
              <a:lnSpc>
                <a:spcPct val="163888"/>
              </a:lnSpc>
              <a:spcBef>
                <a:spcPts val="0"/>
              </a:spcBef>
              <a:spcAft>
                <a:spcPts val="0"/>
              </a:spcAft>
              <a:buClr>
                <a:srgbClr val="384653"/>
              </a:buClr>
              <a:buSzPts val="1800"/>
              <a:buFont typeface="Montserrat"/>
              <a:buNone/>
            </a:pPr>
            <a:r>
              <a:rPr b="1" i="0" lang="he-IL" sz="2100" u="none" cap="none" strike="noStrike" altLang="en-US">
                <a:solidFill>
                  <a:srgbClr val="384653"/>
                </a:solidFill>
                <a:latin typeface="Arial"/>
                <a:ea typeface="Arial"/>
                <a:cs typeface="Arial"/>
                <a:sym typeface="Montserrat"/>
              </a:rPr>
              <a:t>ניסוח הנחיות</a:t>
            </a:r>
            <a:endParaRPr b="0" i="0" sz="2100" u="none" cap="none" strike="noStrike" lang="he-IL" altLang="en-US">
              <a:solidFill>
                <a:srgbClr val="000000"/>
              </a:solidFill>
              <a:latin typeface="Arial"/>
              <a:ea typeface="Arial"/>
              <a:cs typeface="Arial"/>
              <a:sym typeface="Arial"/>
            </a:endParaRPr>
          </a:p>
        </p:txBody>
      </p:sp>
      <p:sp>
        <p:nvSpPr>
          <p:cNvPr id="87" name="Google Shape;87;g36c347053ea_0_13"/>
          <p:cNvSpPr/>
          <p:nvPr/>
        </p:nvSpPr>
        <p:spPr>
          <a:xfrm>
            <a:off x="667312" y="2809161"/>
            <a:ext cx="12100500" cy="374700"/>
          </a:xfrm>
          <a:prstGeom prst="rect">
            <a:avLst/>
          </a:prstGeom>
          <a:noFill/>
          <a:ln>
            <a:noFill/>
          </a:ln>
        </p:spPr>
        <p:txBody>
          <a:bodyPr anchorCtr="0" anchor="t" bIns="0" lIns="0" spcFirstLastPara="1" rIns="0" wrap="square" tIns="0" rtlCol="1">
            <a:noAutofit/>
          </a:bodyPr>
          <a:lstStyle/>
          <a:p>
            <a:pPr indent="0" lvl="0" marL="0" marR="0" rtl="1" algn="r">
              <a:lnSpc>
                <a:spcPct val="163888"/>
              </a:lnSpc>
              <a:spcBef>
                <a:spcPts val="0"/>
              </a:spcBef>
              <a:spcAft>
                <a:spcPts val="0"/>
              </a:spcAft>
              <a:buClr>
                <a:srgbClr val="384653"/>
              </a:buClr>
              <a:buSzPts val="1800"/>
              <a:buFont typeface="Montserrat"/>
              <a:buNone/>
            </a:pPr>
            <a:r>
              <a:rPr b="0" i="0" lang="he-IL" sz="2100" u="none" cap="none" strike="noStrike" altLang="en-US">
                <a:solidFill>
                  <a:srgbClr val="384653"/>
                </a:solidFill>
                <a:latin typeface="Arial"/>
                <a:ea typeface="Arial"/>
                <a:cs typeface="Arial"/>
                <a:sym typeface="Montserrat"/>
              </a:rPr>
              <a:t>הטון, המבנה וההקשר של ההנחיה משפיעים על התוצאה של מודל השפה.</a:t>
            </a:r>
            <a:r>
              <a:rPr b="1" i="0" lang="he-IL" sz="2100" u="none" cap="none" strike="noStrike" altLang="en-US">
                <a:solidFill>
                  <a:srgbClr val="384653"/>
                </a:solidFill>
                <a:latin typeface="Arial"/>
                <a:ea typeface="Arial"/>
                <a:cs typeface="Arial"/>
                <a:sym typeface="Montserrat"/>
              </a:rPr>
              <a:t/>
            </a:r>
            <a:r>
              <a:rPr b="0" i="0" lang="he-IL" sz="2100" u="none" cap="none" strike="noStrike" altLang="en-US">
                <a:solidFill>
                  <a:srgbClr val="384653"/>
                </a:solidFill>
                <a:latin typeface="Arial"/>
                <a:ea typeface="Arial"/>
                <a:cs typeface="Arial"/>
                <a:sym typeface="Montserrat"/>
              </a:rPr>
              <a:t/>
            </a:r>
            <a:endParaRPr b="0" i="0" sz="2100" u="none" cap="none" strike="noStrike" lang="he-IL" altLang="en-US">
              <a:solidFill>
                <a:srgbClr val="000000"/>
              </a:solidFill>
              <a:latin typeface="Arial"/>
              <a:ea typeface="Arial"/>
              <a:cs typeface="Arial"/>
              <a:sym typeface="Arial"/>
            </a:endParaRPr>
          </a:p>
        </p:txBody>
      </p:sp>
      <p:sp>
        <p:nvSpPr>
          <p:cNvPr id="88" name="Google Shape;88;g36c347053ea_0_13"/>
          <p:cNvSpPr/>
          <p:nvPr/>
        </p:nvSpPr>
        <p:spPr>
          <a:xfrm>
            <a:off x="667312" y="3558778"/>
            <a:ext cx="12100500" cy="374700"/>
          </a:xfrm>
          <a:prstGeom prst="rect">
            <a:avLst/>
          </a:prstGeom>
          <a:noFill/>
          <a:ln>
            <a:noFill/>
          </a:ln>
        </p:spPr>
        <p:txBody>
          <a:bodyPr anchorCtr="0" anchor="t" bIns="0" lIns="0" spcFirstLastPara="1" rIns="0" wrap="square" tIns="0" rtlCol="1">
            <a:noAutofit/>
          </a:bodyPr>
          <a:lstStyle/>
          <a:p>
            <a:pPr indent="0" lvl="0" marL="0" marR="0" rtl="1" algn="r">
              <a:lnSpc>
                <a:spcPct val="163888"/>
              </a:lnSpc>
              <a:spcBef>
                <a:spcPts val="0"/>
              </a:spcBef>
              <a:spcAft>
                <a:spcPts val="0"/>
              </a:spcAft>
              <a:buClr>
                <a:srgbClr val="384653"/>
              </a:buClr>
              <a:buSzPts val="1800"/>
              <a:buFont typeface="Montserrat"/>
              <a:buNone/>
            </a:pPr>
            <a:r>
              <a:rPr b="1" i="0" lang="he-IL" sz="2100" u="none" cap="none" strike="noStrike" altLang="en-US">
                <a:solidFill>
                  <a:srgbClr val="384653"/>
                </a:solidFill>
                <a:latin typeface="Arial"/>
                <a:ea typeface="Arial"/>
                <a:cs typeface="Arial"/>
                <a:sym typeface="Montserrat"/>
              </a:rPr>
              <a:t>כלי בדיקה</a:t>
            </a:r>
            <a:endParaRPr b="0" i="0" sz="2100" u="none" cap="none" strike="noStrike" lang="he-IL" altLang="en-US">
              <a:solidFill>
                <a:srgbClr val="000000"/>
              </a:solidFill>
              <a:latin typeface="Arial"/>
              <a:ea typeface="Arial"/>
              <a:cs typeface="Arial"/>
              <a:sym typeface="Arial"/>
            </a:endParaRPr>
          </a:p>
        </p:txBody>
      </p:sp>
      <p:sp>
        <p:nvSpPr>
          <p:cNvPr id="89" name="Google Shape;89;g36c347053ea_0_13"/>
          <p:cNvSpPr/>
          <p:nvPr/>
        </p:nvSpPr>
        <p:spPr>
          <a:xfrm>
            <a:off x="667312" y="4045982"/>
            <a:ext cx="12100500" cy="374700"/>
          </a:xfrm>
          <a:prstGeom prst="rect">
            <a:avLst/>
          </a:prstGeom>
          <a:noFill/>
          <a:ln>
            <a:noFill/>
          </a:ln>
        </p:spPr>
        <p:txBody>
          <a:bodyPr anchorCtr="0" anchor="t" bIns="0" lIns="0" spcFirstLastPara="1" rIns="0" wrap="square" tIns="0" rtlCol="1">
            <a:noAutofit/>
          </a:bodyPr>
          <a:lstStyle/>
          <a:p>
            <a:pPr indent="0" lvl="0" marL="0" marR="0" rtl="1" algn="r">
              <a:lnSpc>
                <a:spcPct val="163888"/>
              </a:lnSpc>
              <a:spcBef>
                <a:spcPts val="0"/>
              </a:spcBef>
              <a:spcAft>
                <a:spcPts val="0"/>
              </a:spcAft>
              <a:buClr>
                <a:srgbClr val="384653"/>
              </a:buClr>
              <a:buSzPts val="1800"/>
              <a:buFont typeface="Montserrat"/>
              <a:buNone/>
            </a:pPr>
            <a:r>
              <a:rPr b="0" i="0" lang="he-IL" sz="2100" u="none" cap="none" strike="noStrike" altLang="en-US">
                <a:solidFill>
                  <a:srgbClr val="384653"/>
                </a:solidFill>
                <a:latin typeface="Arial"/>
                <a:ea typeface="Arial"/>
                <a:cs typeface="Arial"/>
                <a:sym typeface="Montserrat"/>
              </a:rPr>
              <a:t>בוחנים ומשפרים רצפי הנחיות, סוגי קלט בממשק ואת צורת הצגת התוצאה.</a:t>
            </a:r>
            <a:endParaRPr b="0" i="0" sz="2100" u="none" cap="none" strike="noStrike" lang="he-IL" altLang="en-US">
              <a:solidFill>
                <a:srgbClr val="000000"/>
              </a:solidFill>
              <a:latin typeface="Arial"/>
              <a:ea typeface="Arial"/>
              <a:cs typeface="Arial"/>
              <a:sym typeface="Arial"/>
            </a:endParaRPr>
          </a:p>
        </p:txBody>
      </p:sp>
      <p:sp>
        <p:nvSpPr>
          <p:cNvPr id="90" name="Google Shape;90;g36c347053ea_0_13"/>
          <p:cNvSpPr/>
          <p:nvPr/>
        </p:nvSpPr>
        <p:spPr>
          <a:xfrm>
            <a:off x="667312" y="4795599"/>
            <a:ext cx="12100500" cy="374700"/>
          </a:xfrm>
          <a:prstGeom prst="rect">
            <a:avLst/>
          </a:prstGeom>
          <a:noFill/>
          <a:ln>
            <a:noFill/>
          </a:ln>
        </p:spPr>
        <p:txBody>
          <a:bodyPr anchorCtr="0" anchor="t" bIns="0" lIns="0" spcFirstLastPara="1" rIns="0" wrap="square" tIns="0" rtlCol="1">
            <a:noAutofit/>
          </a:bodyPr>
          <a:lstStyle/>
          <a:p>
            <a:pPr indent="0" lvl="0" marL="0" marR="0" rtl="1" algn="r">
              <a:lnSpc>
                <a:spcPct val="163888"/>
              </a:lnSpc>
              <a:spcBef>
                <a:spcPts val="0"/>
              </a:spcBef>
              <a:spcAft>
                <a:spcPts val="0"/>
              </a:spcAft>
              <a:buClr>
                <a:srgbClr val="384653"/>
              </a:buClr>
              <a:buSzPts val="1800"/>
              <a:buFont typeface="Montserrat"/>
              <a:buNone/>
            </a:pPr>
            <a:r>
              <a:rPr b="1" i="0" lang="he-IL" sz="2100" u="none" cap="none" strike="noStrike" altLang="en-US">
                <a:solidFill>
                  <a:srgbClr val="384653"/>
                </a:solidFill>
                <a:latin typeface="Arial"/>
                <a:ea typeface="Arial"/>
                <a:cs typeface="Arial"/>
                <a:sym typeface="Montserrat"/>
              </a:rPr>
              <a:t>השוואה בין חלופות</a:t>
            </a:r>
            <a:endParaRPr b="0" i="0" sz="2100" u="none" cap="none" strike="noStrike" lang="he-IL" altLang="en-US">
              <a:solidFill>
                <a:srgbClr val="000000"/>
              </a:solidFill>
              <a:latin typeface="Arial"/>
              <a:ea typeface="Arial"/>
              <a:cs typeface="Arial"/>
              <a:sym typeface="Arial"/>
            </a:endParaRPr>
          </a:p>
        </p:txBody>
      </p:sp>
      <p:sp>
        <p:nvSpPr>
          <p:cNvPr id="91" name="Google Shape;91;g36c347053ea_0_13"/>
          <p:cNvSpPr/>
          <p:nvPr/>
        </p:nvSpPr>
        <p:spPr>
          <a:xfrm>
            <a:off x="667312" y="5282803"/>
            <a:ext cx="12100500" cy="374700"/>
          </a:xfrm>
          <a:prstGeom prst="rect">
            <a:avLst/>
          </a:prstGeom>
          <a:noFill/>
          <a:ln>
            <a:noFill/>
          </a:ln>
        </p:spPr>
        <p:txBody>
          <a:bodyPr anchorCtr="0" anchor="t" bIns="0" lIns="0" spcFirstLastPara="1" rIns="0" wrap="square" tIns="0" rtlCol="1">
            <a:noAutofit/>
          </a:bodyPr>
          <a:lstStyle/>
          <a:p>
            <a:pPr indent="0" lvl="0" marL="0" marR="0" rtl="1" algn="r">
              <a:lnSpc>
                <a:spcPct val="163888"/>
              </a:lnSpc>
              <a:spcBef>
                <a:spcPts val="0"/>
              </a:spcBef>
              <a:spcAft>
                <a:spcPts val="0"/>
              </a:spcAft>
              <a:buClr>
                <a:srgbClr val="384653"/>
              </a:buClr>
              <a:buSzPts val="1800"/>
              <a:buFont typeface="Montserrat"/>
              <a:buNone/>
            </a:pPr>
            <a:r>
              <a:rPr b="0" i="0" lang="he-IL" sz="2100" u="none" cap="none" strike="noStrike" altLang="en-US">
                <a:solidFill>
                  <a:srgbClr val="384653"/>
                </a:solidFill>
                <a:latin typeface="Arial"/>
                <a:ea typeface="Arial"/>
                <a:cs typeface="Arial"/>
                <a:sym typeface="Montserrat"/>
              </a:rPr>
              <a:t>משווים ניסוחים שונים ורואים מיד את ההבדלים בתוצאות.</a:t>
            </a:r>
            <a:endParaRPr b="0" i="0" sz="2100" u="none" cap="none" strike="noStrike" lang="he-IL" altLang="en-US">
              <a:solidFill>
                <a:srgbClr val="000000"/>
              </a:solidFill>
              <a:latin typeface="Arial"/>
              <a:ea typeface="Arial"/>
              <a:cs typeface="Arial"/>
              <a:sym typeface="Arial"/>
            </a:endParaRPr>
          </a:p>
        </p:txBody>
      </p:sp>
      <p:sp>
        <p:nvSpPr>
          <p:cNvPr id="92" name="Google Shape;92;g36c347053ea_0_13"/>
          <p:cNvSpPr/>
          <p:nvPr/>
        </p:nvSpPr>
        <p:spPr>
          <a:xfrm>
            <a:off x="667312" y="6032421"/>
            <a:ext cx="12100500" cy="374700"/>
          </a:xfrm>
          <a:prstGeom prst="rect">
            <a:avLst/>
          </a:prstGeom>
          <a:noFill/>
          <a:ln>
            <a:noFill/>
          </a:ln>
        </p:spPr>
        <p:txBody>
          <a:bodyPr anchorCtr="0" anchor="t" bIns="0" lIns="0" spcFirstLastPara="1" rIns="0" wrap="square" tIns="0" rtlCol="1">
            <a:noAutofit/>
          </a:bodyPr>
          <a:lstStyle/>
          <a:p>
            <a:pPr indent="0" lvl="0" marL="0" marR="0" rtl="1" algn="r">
              <a:lnSpc>
                <a:spcPct val="163888"/>
              </a:lnSpc>
              <a:spcBef>
                <a:spcPts val="0"/>
              </a:spcBef>
              <a:spcAft>
                <a:spcPts val="0"/>
              </a:spcAft>
              <a:buClr>
                <a:srgbClr val="384653"/>
              </a:buClr>
              <a:buSzPts val="1800"/>
              <a:buFont typeface="Montserrat"/>
              <a:buNone/>
            </a:pPr>
            <a:r>
              <a:rPr b="1" i="0" lang="he-IL" sz="2100" u="none" cap="none" strike="noStrike" altLang="en-US">
                <a:solidFill>
                  <a:srgbClr val="384653"/>
                </a:solidFill>
                <a:latin typeface="Arial"/>
                <a:ea typeface="Arial"/>
                <a:cs typeface="Arial"/>
                <a:sym typeface="Montserrat"/>
              </a:rPr>
              <a:t>סבבי משוב מהירים</a:t>
            </a:r>
            <a:endParaRPr b="0" i="0" sz="2100" u="none" cap="none" strike="noStrike" lang="he-IL" altLang="en-US">
              <a:solidFill>
                <a:srgbClr val="000000"/>
              </a:solidFill>
              <a:latin typeface="Arial"/>
              <a:ea typeface="Arial"/>
              <a:cs typeface="Arial"/>
              <a:sym typeface="Arial"/>
            </a:endParaRPr>
          </a:p>
        </p:txBody>
      </p:sp>
      <p:sp>
        <p:nvSpPr>
          <p:cNvPr id="93" name="Google Shape;93;g36c347053ea_0_13"/>
          <p:cNvSpPr/>
          <p:nvPr/>
        </p:nvSpPr>
        <p:spPr>
          <a:xfrm>
            <a:off x="667312" y="6519624"/>
            <a:ext cx="12100500" cy="374700"/>
          </a:xfrm>
          <a:prstGeom prst="rect">
            <a:avLst/>
          </a:prstGeom>
          <a:noFill/>
          <a:ln>
            <a:noFill/>
          </a:ln>
        </p:spPr>
        <p:txBody>
          <a:bodyPr anchorCtr="0" anchor="t" bIns="0" lIns="0" spcFirstLastPara="1" rIns="0" wrap="square" tIns="0" rtlCol="1">
            <a:noAutofit/>
          </a:bodyPr>
          <a:lstStyle/>
          <a:p>
            <a:pPr indent="0" lvl="0" marL="0" marR="0" rtl="1" algn="r">
              <a:lnSpc>
                <a:spcPct val="163888"/>
              </a:lnSpc>
              <a:spcBef>
                <a:spcPts val="0"/>
              </a:spcBef>
              <a:spcAft>
                <a:spcPts val="0"/>
              </a:spcAft>
              <a:buClr>
                <a:srgbClr val="384653"/>
              </a:buClr>
              <a:buSzPts val="1800"/>
              <a:buFont typeface="Montserrat"/>
              <a:buNone/>
            </a:pPr>
            <a:r>
              <a:rPr b="0" i="0" lang="he-IL" sz="2100" u="none" cap="none" strike="noStrike" altLang="en-US">
                <a:solidFill>
                  <a:srgbClr val="384653"/>
                </a:solidFill>
                <a:latin typeface="Arial"/>
                <a:ea typeface="Arial"/>
                <a:cs typeface="Arial"/>
                <a:sym typeface="Montserrat"/>
              </a:rPr>
              <a:t>מקבלים משוב על הממשק בלי לשנות את צד השרת.</a:t>
            </a:r>
            <a:endParaRPr b="0" i="0" sz="2100" u="none" cap="none" strike="noStrike" lang="he-IL" altLang="en-US">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g36c347053ea_0_34"/>
          <p:cNvSpPr/>
          <p:nvPr/>
        </p:nvSpPr>
        <p:spPr>
          <a:xfrm>
            <a:off x="3679024" y="754975"/>
            <a:ext cx="6745500" cy="570000"/>
          </a:xfrm>
          <a:prstGeom prst="rect">
            <a:avLst/>
          </a:prstGeom>
          <a:noFill/>
          <a:ln>
            <a:noFill/>
          </a:ln>
        </p:spPr>
        <p:txBody>
          <a:bodyPr anchorCtr="0" anchor="t" bIns="0" lIns="0" spcFirstLastPara="1" rIns="0" wrap="square" tIns="0" rtlCol="1">
            <a:noAutofit/>
          </a:bodyPr>
          <a:lstStyle/>
          <a:p>
            <a:pPr indent="0" lvl="0" marL="0" marR="457200" rtl="1" algn="ctr">
              <a:lnSpc>
                <a:spcPct val="150000"/>
              </a:lnSpc>
              <a:spcBef>
                <a:spcPts val="0"/>
              </a:spcBef>
              <a:spcAft>
                <a:spcPts val="0"/>
              </a:spcAft>
              <a:buClr>
                <a:srgbClr val="000000"/>
              </a:buClr>
              <a:buSzPts val="6000"/>
              <a:buFont typeface="Arial"/>
              <a:buNone/>
            </a:pPr>
            <a:r>
              <a:rPr b="1" lang="he-IL" sz="2800" altLang="en-US">
                <a:solidFill>
                  <a:srgbClr val="2E3C4E"/>
                </a:solidFill>
                <a:latin typeface="Arial"/>
                <a:ea typeface="Arial"/>
                <a:cs typeface="Arial"/>
                <a:sym typeface="Barlow"/>
              </a:rPr>
              <a:t>שתי דרכים להתחיל</a:t>
            </a:r>
            <a:r>
              <a:rPr b="1" lang="he-IL" sz="2800" altLang="en-US">
                <a:solidFill>
                  <a:srgbClr val="384653"/>
                </a:solidFill>
                <a:latin typeface="Arial"/>
                <a:ea typeface="Arial"/>
                <a:cs typeface="Arial"/>
                <a:sym typeface="Barlow"/>
              </a:rPr>
              <a:t/>
            </a:r>
            <a:r>
              <a:rPr b="1" lang="he-IL" sz="2800" altLang="en-US">
                <a:solidFill>
                  <a:srgbClr val="2E3C4E"/>
                </a:solidFill>
                <a:latin typeface="Arial"/>
                <a:ea typeface="Arial"/>
                <a:cs typeface="Arial"/>
                <a:sym typeface="Barlow"/>
              </a:rPr>
              <a:t/>
            </a:r>
            <a:endParaRPr b="0" i="0" sz="2800" u="none" cap="none" strike="noStrike" lang="he-IL" altLang="en-US">
              <a:solidFill>
                <a:srgbClr val="000000"/>
              </a:solidFill>
              <a:latin typeface="Arial"/>
              <a:ea typeface="Arial"/>
              <a:cs typeface="Arial"/>
              <a:sym typeface="Arial"/>
            </a:endParaRPr>
          </a:p>
        </p:txBody>
      </p:sp>
      <p:sp>
        <p:nvSpPr>
          <p:cNvPr id="100" name="Google Shape;100;g36c347053ea_0_34"/>
          <p:cNvSpPr/>
          <p:nvPr/>
        </p:nvSpPr>
        <p:spPr>
          <a:xfrm>
            <a:off x="272575" y="2137825"/>
            <a:ext cx="4826400" cy="570000"/>
          </a:xfrm>
          <a:prstGeom prst="rect">
            <a:avLst/>
          </a:prstGeom>
          <a:noFill/>
          <a:ln>
            <a:noFill/>
          </a:ln>
        </p:spPr>
        <p:txBody>
          <a:bodyPr anchorCtr="0" anchor="t" bIns="0" lIns="0" spcFirstLastPara="1" rIns="0" wrap="square" tIns="0" rtlCol="1">
            <a:noAutofit/>
          </a:bodyPr>
          <a:lstStyle/>
          <a:p>
            <a:pPr indent="-514350" lvl="0" marL="0" marR="457200" rtl="1" algn="ctr">
              <a:lnSpc>
                <a:spcPct val="100000"/>
              </a:lnSpc>
              <a:spcBef>
                <a:spcPts val="0"/>
              </a:spcBef>
              <a:spcAft>
                <a:spcPts val="0"/>
              </a:spcAft>
              <a:buClr>
                <a:srgbClr val="2E3C4E"/>
              </a:buClr>
              <a:buSzPts val="4500"/>
              <a:buFont typeface="Barlow"/>
              <a:buAutoNum type="arabicPeriod"/>
            </a:pPr>
            <a:r>
              <a:rPr lang="he-IL" sz="2800" altLang="en-US">
                <a:solidFill>
                  <a:srgbClr val="2E3C4E"/>
                </a:solidFill>
                <a:latin typeface="Arial"/>
                <a:ea typeface="Arial"/>
                <a:cs typeface="Arial"/>
                <a:sym typeface="Barlow"/>
              </a:rPr>
              <a:t>כותבים את הרעיון הראשוני ומתחילים לבנות</a:t>
            </a:r>
            <a:endParaRPr i="0" sz="2800" u="none" cap="none" strike="noStrike" lang="he-IL" altLang="en-US">
              <a:solidFill>
                <a:srgbClr val="000000"/>
              </a:solidFill>
              <a:latin typeface="Arial"/>
              <a:cs typeface="Arial"/>
              <a:ea typeface="Arial"/>
            </a:endParaRPr>
          </a:p>
        </p:txBody>
      </p:sp>
      <p:sp>
        <p:nvSpPr>
          <p:cNvPr id="101" name="Google Shape;101;g36c347053ea_0_34"/>
          <p:cNvSpPr/>
          <p:nvPr/>
        </p:nvSpPr>
        <p:spPr>
          <a:xfrm>
            <a:off x="7009950" y="2137825"/>
            <a:ext cx="7072500" cy="570000"/>
          </a:xfrm>
          <a:prstGeom prst="rect">
            <a:avLst/>
          </a:prstGeom>
          <a:noFill/>
          <a:ln>
            <a:noFill/>
          </a:ln>
        </p:spPr>
        <p:txBody>
          <a:bodyPr anchorCtr="0" anchor="t" bIns="0" lIns="0" spcFirstLastPara="1" rIns="0" wrap="square" tIns="0" rtlCol="1">
            <a:noAutofit/>
          </a:bodyPr>
          <a:lstStyle/>
          <a:p>
            <a:pPr indent="0" lvl="0" marL="0" marR="457200" rtl="1" algn="ctr">
              <a:lnSpc>
                <a:spcPct val="100000"/>
              </a:lnSpc>
              <a:spcBef>
                <a:spcPts val="0"/>
              </a:spcBef>
              <a:spcAft>
                <a:spcPts val="0"/>
              </a:spcAft>
              <a:buClr>
                <a:srgbClr val="000000"/>
              </a:buClr>
              <a:buSzPts val="6000"/>
              <a:buFont typeface="Arial"/>
              <a:buNone/>
            </a:pPr>
            <a:r>
              <a:rPr lang="he-IL" sz="2800" altLang="en-US">
                <a:solidFill>
                  <a:srgbClr val="2E3C4E"/>
                </a:solidFill>
                <a:latin typeface="Arial"/>
                <a:ea typeface="Arial"/>
                <a:cs typeface="Arial"/>
                <a:sym typeface="Barlow"/>
              </a:rPr>
              <a:t>מתכננים בעזרת בינה מלאכותית, מגדירים מוצר ראשוני וכותבים מסמך דרישות לפני הבנייה.</a:t>
            </a:r>
            <a:r>
              <a:rPr lang="he-IL" sz="2800" altLang="en-US">
                <a:solidFill>
                  <a:srgbClr val="2E3C4E"/>
                </a:solidFill>
                <a:latin typeface="Arial"/>
                <a:ea typeface="Arial"/>
                <a:cs typeface="Arial"/>
                <a:sym typeface="Barlow"/>
              </a:rPr>
              <a:t/>
            </a:r>
            <a:r>
              <a:rPr lang="he-IL" sz="2800" altLang="en-US">
                <a:solidFill>
                  <a:srgbClr val="2E3C4E"/>
                </a:solidFill>
                <a:latin typeface="Arial"/>
                <a:ea typeface="Arial"/>
                <a:cs typeface="Arial"/>
                <a:sym typeface="Barlow"/>
              </a:rPr>
              <a:t/>
            </a:r>
            <a:endParaRPr i="0" sz="2800" u="none" cap="none" strike="noStrike" lang="he-IL" altLang="en-US">
              <a:solidFill>
                <a:srgbClr val="000000"/>
              </a:solidFill>
              <a:latin typeface="Arial"/>
              <a:cs typeface="Arial"/>
              <a:ea typeface="Arial"/>
            </a:endParaRPr>
          </a:p>
        </p:txBody>
      </p:sp>
      <p:sp>
        <p:nvSpPr>
          <p:cNvPr id="102" name="Google Shape;102;g36c347053ea_0_34"/>
          <p:cNvSpPr/>
          <p:nvPr/>
        </p:nvSpPr>
        <p:spPr>
          <a:xfrm>
            <a:off x="7009950" y="5100150"/>
            <a:ext cx="7072500" cy="570000"/>
          </a:xfrm>
          <a:prstGeom prst="rect">
            <a:avLst/>
          </a:prstGeom>
          <a:noFill/>
          <a:ln>
            <a:noFill/>
          </a:ln>
        </p:spPr>
        <p:txBody>
          <a:bodyPr anchorCtr="0" anchor="t" bIns="0" lIns="0" spcFirstLastPara="1" rIns="0" wrap="square" tIns="0" rtlCol="1">
            <a:noAutofit/>
          </a:bodyPr>
          <a:lstStyle/>
          <a:p>
            <a:pPr indent="0" lvl="0" marL="0" marR="457200" rtl="1" algn="ctr">
              <a:lnSpc>
                <a:spcPct val="100000"/>
              </a:lnSpc>
              <a:spcBef>
                <a:spcPts val="0"/>
              </a:spcBef>
              <a:spcAft>
                <a:spcPts val="0"/>
              </a:spcAft>
              <a:buClr>
                <a:srgbClr val="000000"/>
              </a:buClr>
              <a:buSzPts val="6000"/>
              <a:buFont typeface="Arial"/>
              <a:buNone/>
            </a:pPr>
            <a:r>
              <a:rPr lang="he-IL" sz="2500" altLang="en-US">
                <a:solidFill>
                  <a:srgbClr val="2E3C4E"/>
                </a:solidFill>
                <a:latin typeface="Arial"/>
                <a:ea typeface="Arial"/>
                <a:cs typeface="Arial"/>
                <a:sym typeface="Barlow"/>
              </a:rPr>
              <a:t>מוצר ראשוני שימושי — MVP</a:t>
            </a:r>
            <a:r>
              <a:rPr lang="he-IL" sz="2500" altLang="en-US">
                <a:solidFill>
                  <a:srgbClr val="2E3C4E"/>
                </a:solidFill>
                <a:latin typeface="Arial"/>
                <a:ea typeface="Arial"/>
                <a:cs typeface="Arial"/>
                <a:sym typeface="Barlow"/>
              </a:rPr>
              <a:t/>
            </a:r>
            <a:r>
              <a:rPr lang="he-IL" sz="2500" altLang="en-US">
                <a:solidFill>
                  <a:srgbClr val="2E3C4E"/>
                </a:solidFill>
                <a:latin typeface="Arial"/>
                <a:ea typeface="Arial"/>
                <a:cs typeface="Arial"/>
                <a:sym typeface="Barlow"/>
              </a:rPr>
              <a:t/>
            </a:r>
            <a:endParaRPr sz="2500" lang="he-IL" altLang="en-US">
              <a:solidFill>
                <a:srgbClr val="2E3C4E"/>
              </a:solidFill>
              <a:latin typeface="Arial"/>
              <a:ea typeface="Arial"/>
              <a:cs typeface="Arial"/>
              <a:sym typeface="Barlow"/>
            </a:endParaRPr>
          </a:p>
          <a:p>
            <a:pPr indent="0" lvl="0" marL="0" marR="457200" rtl="1" algn="ctr">
              <a:lnSpc>
                <a:spcPct val="100000"/>
              </a:lnSpc>
              <a:spcBef>
                <a:spcPts val="0"/>
              </a:spcBef>
              <a:spcAft>
                <a:spcPts val="0"/>
              </a:spcAft>
              <a:buClr>
                <a:srgbClr val="000000"/>
              </a:buClr>
              <a:buSzPts val="6000"/>
              <a:buFont typeface="Arial"/>
              <a:buNone/>
            </a:pPr>
            <a:r>
              <a:rPr lang="he-IL" sz="2500" altLang="en-US">
                <a:solidFill>
                  <a:srgbClr val="2E3C4E"/>
                </a:solidFill>
                <a:latin typeface="Arial"/>
                <a:ea typeface="Arial"/>
                <a:cs typeface="Arial"/>
                <a:sym typeface="Barlow"/>
              </a:rPr>
              <a:t>מסמך דרישות מוצר — PRD</a:t>
            </a:r>
            <a:r>
              <a:rPr lang="he-IL" sz="2500" altLang="en-US">
                <a:solidFill>
                  <a:srgbClr val="2E3C4E"/>
                </a:solidFill>
                <a:latin typeface="Arial"/>
                <a:ea typeface="Arial"/>
                <a:cs typeface="Arial"/>
                <a:sym typeface="Barlow"/>
              </a:rPr>
              <a:t/>
            </a:r>
            <a:r>
              <a:rPr lang="he-IL" sz="2500" altLang="en-US">
                <a:solidFill>
                  <a:srgbClr val="2E3C4E"/>
                </a:solidFill>
                <a:latin typeface="Arial"/>
                <a:ea typeface="Arial"/>
                <a:cs typeface="Arial"/>
                <a:sym typeface="Barlow"/>
              </a:rPr>
              <a:t/>
            </a:r>
            <a:endParaRPr i="0" sz="2500" u="none" cap="none" strike="noStrike" lang="he-IL" altLang="en-US">
              <a:solidFill>
                <a:srgbClr val="000000"/>
              </a:solidFill>
              <a:latin typeface="Arial"/>
              <a:cs typeface="Arial"/>
              <a:ea typeface="Arial"/>
            </a:endParaRPr>
          </a:p>
        </p:txBody>
      </p:sp>
      <p:pic>
        <p:nvPicPr>
          <p:cNvPr id="103" name="Google Shape;103;g36c347053ea_0_34"/>
          <p:cNvPicPr preferRelativeResize="0"/>
          <p:nvPr/>
        </p:nvPicPr>
        <p:blipFill>
          <a:blip r:embed="rId3">
            <a:alphaModFix/>
          </a:blip>
          <a:stretch>
            <a:fillRect/>
          </a:stretch>
        </p:blipFill>
        <p:spPr>
          <a:xfrm>
            <a:off x="7789125" y="6054825"/>
            <a:ext cx="6060100" cy="1056600"/>
          </a:xfrm>
          <a:prstGeom prst="rect">
            <a:avLst/>
          </a:prstGeom>
          <a:noFill/>
          <a:ln>
            <a:noFill/>
          </a:ln>
        </p:spPr>
      </p:pic>
      <p:pic>
        <p:nvPicPr>
          <p:cNvPr id="104" name="Google Shape;104;g36c347053ea_0_34"/>
          <p:cNvPicPr preferRelativeResize="0"/>
          <p:nvPr/>
        </p:nvPicPr>
        <p:blipFill>
          <a:blip r:embed="rId4">
            <a:alphaModFix/>
          </a:blip>
          <a:stretch>
            <a:fillRect/>
          </a:stretch>
        </p:blipFill>
        <p:spPr>
          <a:xfrm>
            <a:off x="0" y="4038550"/>
            <a:ext cx="5962650" cy="7429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g36a7fb579dc_1_23"/>
          <p:cNvSpPr/>
          <p:nvPr/>
        </p:nvSpPr>
        <p:spPr>
          <a:xfrm>
            <a:off x="865509" y="809807"/>
            <a:ext cx="12899400" cy="1140000"/>
          </a:xfrm>
          <a:prstGeom prst="rect">
            <a:avLst/>
          </a:prstGeom>
          <a:noFill/>
          <a:ln>
            <a:noFill/>
          </a:ln>
        </p:spPr>
        <p:txBody>
          <a:bodyPr anchorCtr="0" anchor="t" bIns="0" lIns="0" spcFirstLastPara="1" rIns="0" wrap="square" tIns="0" rtlCol="1">
            <a:noAutofit/>
          </a:bodyPr>
          <a:lstStyle/>
          <a:p>
            <a:pPr indent="0" lvl="0" marL="0" marR="457200" rtl="1" algn="ctr">
              <a:lnSpc>
                <a:spcPct val="150000"/>
              </a:lnSpc>
              <a:spcBef>
                <a:spcPts val="0"/>
              </a:spcBef>
              <a:spcAft>
                <a:spcPts val="0"/>
              </a:spcAft>
              <a:buClr>
                <a:srgbClr val="000000"/>
              </a:buClr>
              <a:buSzPts val="6000"/>
              <a:buFont typeface="Arial"/>
              <a:buNone/>
            </a:pPr>
            <a:r>
              <a:rPr b="1" i="0" lang="he-IL" sz="3200" u="none" cap="none" strike="noStrike" altLang="en-US">
                <a:solidFill>
                  <a:srgbClr val="384653"/>
                </a:solidFill>
                <a:latin typeface="Arial"/>
                <a:ea typeface="Arial"/>
                <a:cs typeface="Arial"/>
                <a:sym typeface="Barlow"/>
              </a:rPr>
              <a:t>עמודי אינטרנט מותאמים ובניית אב־טיפוס</a:t>
            </a:r>
            <a:endParaRPr b="1" i="0" sz="3200" u="none" cap="none" strike="noStrike" lang="he-IL" altLang="en-US">
              <a:solidFill>
                <a:srgbClr val="384653"/>
              </a:solidFill>
              <a:latin typeface="Arial"/>
              <a:ea typeface="Arial"/>
              <a:cs typeface="Arial"/>
              <a:sym typeface="Barlow"/>
            </a:endParaRPr>
          </a:p>
          <a:p>
            <a:pPr indent="0" lvl="0" marL="457200" marR="0" rtl="0" algn="l">
              <a:lnSpc>
                <a:spcPct val="150000"/>
              </a:lnSpc>
              <a:spcBef>
                <a:spcPts val="0"/>
              </a:spcBef>
              <a:spcAft>
                <a:spcPts val="0"/>
              </a:spcAft>
              <a:buClr>
                <a:srgbClr val="000000"/>
              </a:buClr>
              <a:buSzPts val="6000"/>
              <a:buFont typeface="Arial"/>
              <a:buNone/>
            </a:pPr>
            <a:r>
              <a:t/>
            </a:r>
            <a:endParaRPr b="1" i="0" sz="6000" u="none" cap="none" strike="noStrike">
              <a:solidFill>
                <a:srgbClr val="384653"/>
              </a:solidFill>
              <a:latin typeface="Barlow"/>
              <a:ea typeface="Barlow"/>
              <a:cs typeface="Barlow"/>
              <a:sym typeface="Barlow"/>
            </a:endParaRPr>
          </a:p>
        </p:txBody>
      </p:sp>
      <p:pic>
        <p:nvPicPr>
          <p:cNvPr id="111" name="Google Shape;111;g36a7fb579dc_1_23"/>
          <p:cNvPicPr preferRelativeResize="0"/>
          <p:nvPr/>
        </p:nvPicPr>
        <p:blipFill rotWithShape="1">
          <a:blip r:embed="rId3">
            <a:alphaModFix/>
          </a:blip>
          <a:srcRect b="0" l="0" r="0" t="0"/>
          <a:stretch/>
        </p:blipFill>
        <p:spPr>
          <a:xfrm>
            <a:off x="620550" y="3493850"/>
            <a:ext cx="2957126" cy="2957126"/>
          </a:xfrm>
          <a:prstGeom prst="rect">
            <a:avLst/>
          </a:prstGeom>
          <a:noFill/>
          <a:ln>
            <a:noFill/>
          </a:ln>
        </p:spPr>
      </p:pic>
      <p:sp>
        <p:nvSpPr>
          <p:cNvPr id="112" name="Google Shape;112;g36a7fb579dc_1_23"/>
          <p:cNvSpPr/>
          <p:nvPr/>
        </p:nvSpPr>
        <p:spPr>
          <a:xfrm>
            <a:off x="620550" y="6580025"/>
            <a:ext cx="3178800" cy="624600"/>
          </a:xfrm>
          <a:prstGeom prst="rect">
            <a:avLst/>
          </a:prstGeom>
          <a:noFill/>
          <a:ln>
            <a:noFill/>
          </a:ln>
        </p:spPr>
        <p:txBody>
          <a:bodyPr anchorCtr="0" anchor="t" bIns="0" lIns="0" spcFirstLastPara="1" rIns="0" wrap="square" tIns="0" rtlCol="1">
            <a:noAutofit/>
          </a:bodyPr>
          <a:lstStyle/>
          <a:p>
            <a:pPr indent="0" lvl="0" marL="0" marR="0" rtl="1" algn="r">
              <a:lnSpc>
                <a:spcPct val="150000"/>
              </a:lnSpc>
              <a:spcBef>
                <a:spcPts val="0"/>
              </a:spcBef>
              <a:spcAft>
                <a:spcPts val="0"/>
              </a:spcAft>
              <a:buClr>
                <a:srgbClr val="000000"/>
              </a:buClr>
              <a:buSzPts val="3700"/>
              <a:buFont typeface="Arial"/>
              <a:buNone/>
            </a:pPr>
            <a:r>
              <a:rPr b="0" i="0" lang="he-IL" sz="3200" u="none" cap="none" strike="noStrike" altLang="en-US">
                <a:solidFill>
                  <a:srgbClr val="384653"/>
                </a:solidFill>
                <a:latin typeface="Arial"/>
                <a:ea typeface="Arial"/>
                <a:cs typeface="Arial"/>
                <a:sym typeface="Barlow"/>
              </a:rPr>
              <a:t>יכולת הקנבס</a:t>
            </a:r>
            <a:endParaRPr b="1" i="0" sz="3200" u="none" cap="none" strike="noStrike" lang="he-IL" altLang="en-US">
              <a:solidFill>
                <a:srgbClr val="384653"/>
              </a:solidFill>
              <a:latin typeface="Arial"/>
              <a:ea typeface="Arial"/>
              <a:cs typeface="Arial"/>
              <a:sym typeface="Barlow"/>
            </a:endParaRPr>
          </a:p>
        </p:txBody>
      </p:sp>
      <p:pic>
        <p:nvPicPr>
          <p:cNvPr id="113" name="Google Shape;113;g36a7fb579dc_1_23"/>
          <p:cNvPicPr preferRelativeResize="0"/>
          <p:nvPr/>
        </p:nvPicPr>
        <p:blipFill rotWithShape="1">
          <a:blip r:embed="rId4">
            <a:alphaModFix/>
          </a:blip>
          <a:srcRect b="33197" l="20712" r="20876" t="26571"/>
          <a:stretch/>
        </p:blipFill>
        <p:spPr>
          <a:xfrm>
            <a:off x="4932825" y="4288400"/>
            <a:ext cx="4514750" cy="1634950"/>
          </a:xfrm>
          <a:prstGeom prst="rect">
            <a:avLst/>
          </a:prstGeom>
          <a:noFill/>
          <a:ln>
            <a:noFill/>
          </a:ln>
        </p:spPr>
      </p:pic>
      <p:sp>
        <p:nvSpPr>
          <p:cNvPr id="114" name="Google Shape;114;g36a7fb579dc_1_23"/>
          <p:cNvSpPr/>
          <p:nvPr/>
        </p:nvSpPr>
        <p:spPr>
          <a:xfrm>
            <a:off x="5573550" y="6580025"/>
            <a:ext cx="3178800" cy="624600"/>
          </a:xfrm>
          <a:prstGeom prst="rect">
            <a:avLst/>
          </a:prstGeom>
          <a:noFill/>
          <a:ln>
            <a:noFill/>
          </a:ln>
        </p:spPr>
        <p:txBody>
          <a:bodyPr anchorCtr="0" anchor="t" bIns="0" lIns="0" spcFirstLastPara="1" rIns="0" wrap="square" tIns="0" rtlCol="1">
            <a:noAutofit/>
          </a:bodyPr>
          <a:lstStyle/>
          <a:p>
            <a:pPr indent="0" lvl="0" marL="0" marR="0" rtl="1" algn="r">
              <a:lnSpc>
                <a:spcPct val="150000"/>
              </a:lnSpc>
              <a:spcBef>
                <a:spcPts val="0"/>
              </a:spcBef>
              <a:spcAft>
                <a:spcPts val="0"/>
              </a:spcAft>
              <a:buClr>
                <a:srgbClr val="000000"/>
              </a:buClr>
              <a:buSzPts val="3700"/>
              <a:buFont typeface="Arial"/>
              <a:buNone/>
            </a:pPr>
            <a:r>
              <a:rPr b="0" i="0" lang="he-IL" sz="3200" u="none" cap="none" strike="noStrike" altLang="en-US">
                <a:solidFill>
                  <a:srgbClr val="384653"/>
                </a:solidFill>
                <a:latin typeface="Arial"/>
                <a:ea typeface="Arial"/>
                <a:cs typeface="Arial"/>
                <a:sym typeface="Barlow"/>
              </a:rPr>
              <a:t>יכולת הקנבס</a:t>
            </a:r>
            <a:endParaRPr b="1" i="0" sz="3200" u="none" cap="none" strike="noStrike" lang="he-IL" altLang="en-US">
              <a:solidFill>
                <a:srgbClr val="384653"/>
              </a:solidFill>
              <a:latin typeface="Arial"/>
              <a:ea typeface="Arial"/>
              <a:cs typeface="Arial"/>
              <a:sym typeface="Barlow"/>
            </a:endParaRPr>
          </a:p>
        </p:txBody>
      </p:sp>
      <p:pic>
        <p:nvPicPr>
          <p:cNvPr id="115" name="Google Shape;115;g36a7fb579dc_1_23"/>
          <p:cNvPicPr preferRelativeResize="0"/>
          <p:nvPr/>
        </p:nvPicPr>
        <p:blipFill rotWithShape="1">
          <a:blip r:embed="rId5">
            <a:alphaModFix/>
          </a:blip>
          <a:srcRect b="26555" l="4807" r="0" t="29442"/>
          <a:stretch/>
        </p:blipFill>
        <p:spPr>
          <a:xfrm>
            <a:off x="10162100" y="4592799"/>
            <a:ext cx="4340999" cy="1503025"/>
          </a:xfrm>
          <a:prstGeom prst="rect">
            <a:avLst/>
          </a:prstGeom>
          <a:noFill/>
          <a:ln>
            <a:noFill/>
          </a:ln>
        </p:spPr>
      </p:pic>
      <p:sp>
        <p:nvSpPr>
          <p:cNvPr id="116" name="Google Shape;116;g36a7fb579dc_1_23"/>
          <p:cNvSpPr/>
          <p:nvPr/>
        </p:nvSpPr>
        <p:spPr>
          <a:xfrm>
            <a:off x="10907550" y="6580025"/>
            <a:ext cx="3178800" cy="624600"/>
          </a:xfrm>
          <a:prstGeom prst="rect">
            <a:avLst/>
          </a:prstGeom>
          <a:noFill/>
          <a:ln>
            <a:noFill/>
          </a:ln>
        </p:spPr>
        <p:txBody>
          <a:bodyPr anchorCtr="0" anchor="t" bIns="0" lIns="0" spcFirstLastPara="1" rIns="0" wrap="square" tIns="0" rtlCol="1">
            <a:noAutofit/>
          </a:bodyPr>
          <a:lstStyle/>
          <a:p>
            <a:pPr indent="0" lvl="0" marL="0" marR="0" rtl="1" algn="r">
              <a:lnSpc>
                <a:spcPct val="150000"/>
              </a:lnSpc>
              <a:spcBef>
                <a:spcPts val="0"/>
              </a:spcBef>
              <a:spcAft>
                <a:spcPts val="0"/>
              </a:spcAft>
              <a:buClr>
                <a:srgbClr val="000000"/>
              </a:buClr>
              <a:buSzPts val="3700"/>
              <a:buFont typeface="Arial"/>
              <a:buNone/>
            </a:pPr>
            <a:r>
              <a:rPr b="0" i="0" lang="he-IL" sz="3200" u="none" cap="none" strike="noStrike" altLang="en-US">
                <a:solidFill>
                  <a:srgbClr val="384653"/>
                </a:solidFill>
                <a:latin typeface="Arial"/>
                <a:ea typeface="Arial"/>
                <a:cs typeface="Arial"/>
                <a:sym typeface="Barlow"/>
              </a:rPr>
              <a:t>יכולת יצירת התוצרים</a:t>
            </a:r>
            <a:endParaRPr b="1" i="0" sz="3200" u="none" cap="none" strike="noStrike" lang="he-IL" altLang="en-US">
              <a:solidFill>
                <a:srgbClr val="384653"/>
              </a:solidFill>
              <a:latin typeface="Arial"/>
              <a:ea typeface="Arial"/>
              <a:cs typeface="Arial"/>
              <a:sym typeface="Barlow"/>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g36c347053ea_0_75"/>
          <p:cNvSpPr/>
          <p:nvPr/>
        </p:nvSpPr>
        <p:spPr>
          <a:xfrm>
            <a:off x="3942449" y="3829800"/>
            <a:ext cx="6745500" cy="570000"/>
          </a:xfrm>
          <a:prstGeom prst="rect">
            <a:avLst/>
          </a:prstGeom>
          <a:noFill/>
          <a:ln>
            <a:noFill/>
          </a:ln>
        </p:spPr>
        <p:txBody>
          <a:bodyPr anchorCtr="0" anchor="t" bIns="0" lIns="0" spcFirstLastPara="1" rIns="0" wrap="square" tIns="0" rtlCol="1">
            <a:noAutofit/>
          </a:bodyPr>
          <a:lstStyle/>
          <a:p>
            <a:pPr indent="0" lvl="0" marL="0" marR="457200" rtl="1" algn="ctr">
              <a:lnSpc>
                <a:spcPct val="150000"/>
              </a:lnSpc>
              <a:spcBef>
                <a:spcPts val="0"/>
              </a:spcBef>
              <a:spcAft>
                <a:spcPts val="0"/>
              </a:spcAft>
              <a:buClr>
                <a:srgbClr val="000000"/>
              </a:buClr>
              <a:buSzPts val="6000"/>
              <a:buFont typeface="Arial"/>
              <a:buNone/>
            </a:pPr>
            <a:r>
              <a:rPr b="1" lang="he-IL" sz="3200" altLang="en-US">
                <a:solidFill>
                  <a:srgbClr val="2E3C4E"/>
                </a:solidFill>
                <a:latin typeface="Arial"/>
                <a:ea typeface="Arial"/>
                <a:cs typeface="Arial"/>
                <a:sym typeface="Barlow"/>
              </a:rPr>
              <a:t>הדגמות</a:t>
            </a:r>
            <a:endParaRPr b="0" i="0" sz="3200" u="none" cap="none" strike="noStrike" lang="he-IL" altLang="en-US">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g36a7fb579dc_1_52"/>
          <p:cNvSpPr/>
          <p:nvPr/>
        </p:nvSpPr>
        <p:spPr>
          <a:xfrm>
            <a:off x="4078351" y="3303150"/>
            <a:ext cx="6473700" cy="708900"/>
          </a:xfrm>
          <a:prstGeom prst="rect">
            <a:avLst/>
          </a:prstGeom>
          <a:noFill/>
          <a:ln>
            <a:noFill/>
          </a:ln>
        </p:spPr>
        <p:txBody>
          <a:bodyPr anchorCtr="0" anchor="t" bIns="0" lIns="0" spcFirstLastPara="1" rIns="0" wrap="square" tIns="0" rtlCol="1">
            <a:noAutofit/>
          </a:bodyPr>
          <a:lstStyle/>
          <a:p>
            <a:pPr indent="0" lvl="0" marL="0" marR="0" rtl="1" algn="r">
              <a:lnSpc>
                <a:spcPct val="124719"/>
              </a:lnSpc>
              <a:spcBef>
                <a:spcPts val="0"/>
              </a:spcBef>
              <a:spcAft>
                <a:spcPts val="0"/>
              </a:spcAft>
              <a:buClr>
                <a:srgbClr val="D75BE2"/>
              </a:buClr>
              <a:buSzPts val="4450"/>
              <a:buFont typeface="Rubik"/>
              <a:buNone/>
            </a:pPr>
            <a:r>
              <a:rPr b="0" i="0" lang="he-IL" sz="3200" u="none" cap="none" strike="noStrike" altLang="en-US">
                <a:solidFill>
                  <a:srgbClr val="D75BE2"/>
                </a:solidFill>
                <a:latin typeface="Arial"/>
                <a:ea typeface="Arial"/>
                <a:cs typeface="Arial"/>
                <a:sym typeface="Rubik"/>
              </a:rPr>
              <a:t>שאלות?</a:t>
            </a:r>
            <a:endParaRPr b="0" i="0" sz="3200" u="none" cap="none" strike="noStrike" lang="he-IL" altLang="en-US">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