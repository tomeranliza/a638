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Inter Light"/>
      <p:regular r:id="rId21"/>
      <p:bold r:id="rId22"/>
      <p:italic r:id="rId23"/>
      <p:boldItalic r:id="rId24"/>
    </p:embeddedFont>
    <p:embeddedFont>
      <p:font typeface="Inter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nterLight-bold.fntdata"/><Relationship Id="rId21" Type="http://schemas.openxmlformats.org/officeDocument/2006/relationships/font" Target="fonts/InterLight-regular.fntdata"/><Relationship Id="rId24" Type="http://schemas.openxmlformats.org/officeDocument/2006/relationships/font" Target="fonts/InterLight-boldItalic.fntdata"/><Relationship Id="rId23" Type="http://schemas.openxmlformats.org/officeDocument/2006/relationships/font" Target="fonts/Inter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Italic.fntdata"/><Relationship Id="rId25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2136130" y="2708471"/>
            <a:ext cx="4871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3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בניית מסד נתונים ב-Base44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267519" y="3364059"/>
            <a:ext cx="8609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מבנה, אובייקטים וקשרים — התשתית שעליה כל אפליקציה חכמה נשענת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4152" l="0" r="0" t="35212"/>
          <a:stretch/>
        </p:blipFill>
        <p:spPr>
          <a:xfrm>
            <a:off x="0" y="0"/>
            <a:ext cx="9144000" cy="1575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/>
          <p:nvPr/>
        </p:nvSpPr>
        <p:spPr>
          <a:xfrm>
            <a:off x="38926" y="1991475"/>
            <a:ext cx="56760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21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פרק א׳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38925" y="2269625"/>
            <a:ext cx="5676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5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מוטיבציה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38926" y="2925225"/>
            <a:ext cx="5676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9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למה בכלל אנחנו מדברים על זה?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1217563" y="1233264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1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הלב של כל אפליקציה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2928417" y="1888852"/>
            <a:ext cx="2290465" cy="1053182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" name="Google Shape;40;p6"/>
          <p:cNvSpPr/>
          <p:nvPr/>
        </p:nvSpPr>
        <p:spPr>
          <a:xfrm>
            <a:off x="3300338" y="203537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iw-IL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</a:t>
            </a: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למה מסד נתונים?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3074938" y="2341885"/>
            <a:ext cx="199742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הדאטה היא הבסיס — בלעדיה, אין מסכים, אין לוגיקה ואין AI.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278649" y="1888850"/>
            <a:ext cx="2508000" cy="1053300"/>
          </a:xfrm>
          <a:prstGeom prst="roundRect">
            <a:avLst>
              <a:gd fmla="val 5654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3" name="Google Shape;43;p6"/>
          <p:cNvSpPr/>
          <p:nvPr/>
        </p:nvSpPr>
        <p:spPr>
          <a:xfrm>
            <a:off x="685961" y="2035370"/>
            <a:ext cx="1940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iw-IL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📐</a:t>
            </a: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מה נלמד היום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39081" y="2341880"/>
            <a:ext cx="2187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הגדרת ישויות, שדות, וסוגי קשרים בין אובייקטים ב-Base44.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96119" y="3083793"/>
            <a:ext cx="4722763" cy="826368"/>
          </a:xfrm>
          <a:prstGeom prst="roundRect">
            <a:avLst>
              <a:gd fmla="val 7205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6" name="Google Shape;46;p6"/>
          <p:cNvSpPr/>
          <p:nvPr/>
        </p:nvSpPr>
        <p:spPr>
          <a:xfrm>
            <a:off x="3300338" y="323031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iw-IL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מטרת השיעור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42640" y="3536826"/>
            <a:ext cx="442972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מרעיון מופשט למבנה נתונים יציב ומוכן לעבודה עם AI.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3865500" y="2688925"/>
            <a:ext cx="1351200" cy="722400"/>
          </a:xfrm>
          <a:prstGeom prst="rect">
            <a:avLst/>
          </a:prstGeom>
          <a:solidFill>
            <a:srgbClr val="F4D4F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2745656" y="407417"/>
            <a:ext cx="590222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7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מאיפה הגענו — ולאן אנחנו הולכים?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5758131" y="2247673"/>
            <a:ext cx="1621640" cy="22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ממשק Base44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5758131" y="2531061"/>
            <a:ext cx="1621640" cy="353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הכרנו את הסביבה ואת המונחים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3742051" y="2775962"/>
            <a:ext cx="1621640" cy="220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מסד הנתונים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742051" y="3059351"/>
            <a:ext cx="1621640" cy="176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בונים את התשתית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1702436" y="2247673"/>
            <a:ext cx="1621641" cy="44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Workflows וטריגרים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1702436" y="2751693"/>
            <a:ext cx="1621641" cy="176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שיעור הבא — חיבור לוגיקה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38919" y="4509269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השיעור של היום הוא הגשר המרכזי שמחבר בין מה שלמדנו על Backend לבין הפעלת לוגיקה עסקית.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071896"/>
            <a:ext cx="8151765" cy="3215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064493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4403601" y="906587"/>
            <a:ext cx="424896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 זה בכלל מסד נתונים?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3474988" y="1491332"/>
            <a:ext cx="517758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הגדרה יבשה: מערכת דיגיטלית מאורגנת לאחסון, ניהול ושליפת מידע — שונה לחלוטין מקובץ אקסל שטוח.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6423347" y="2086719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בשטח -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1264" y="2467645"/>
            <a:ext cx="1631305" cy="136527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7182073" y="2628454"/>
            <a:ext cx="12334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מזין את ה-UI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7182073" y="2991669"/>
            <a:ext cx="1233488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כל מסך מציג נתונים שמגיעים ישירות מהדאטה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8126" y="2467645"/>
            <a:ext cx="1631380" cy="13652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/>
          <p:nvPr/>
        </p:nvSpPr>
        <p:spPr>
          <a:xfrm>
            <a:off x="5408935" y="2628454"/>
            <a:ext cx="12335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Workflows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5408935" y="2991669"/>
            <a:ext cx="123356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הלוגיקה העסקית פועלת על בסיס המידע המאוחסן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988" y="2467645"/>
            <a:ext cx="1631380" cy="136527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/>
          <p:nvPr/>
        </p:nvSpPr>
        <p:spPr>
          <a:xfrm>
            <a:off x="3635797" y="2628454"/>
            <a:ext cx="12335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מנגיש ל-AI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3635797" y="2991669"/>
            <a:ext cx="1233562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מאפשר ל-AI לגשת למידע הנכון בזמן הנכון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38919" y="4151858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במילים אחרות - כל האפליקציה שלנו בנויה ומושתת על מסד הנתונים וחשוב לאפיין ולדעת לבנות אותו בצורה נכונה.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1" y="1878050"/>
            <a:ext cx="57150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17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פרק ב׳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75" y="2156225"/>
            <a:ext cx="5715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1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מושגים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119725" y="2811800"/>
            <a:ext cx="5490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5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מונחים החיוניים של מסדי נתונים, החל מישויות בודדות ועד לקשרים מורכבים המגדירים את המידע.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/>
          <p:nvPr/>
        </p:nvSpPr>
        <p:spPr>
          <a:xfrm>
            <a:off x="4646563" y="577453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0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ניגשים למסד הנתונים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38919" y="1303958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לפני שצוללים למושגים, בואו נראה איך מתחילים לעבוד עם מסד הנתונים ב-Base44.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6025158" y="1690241"/>
            <a:ext cx="2622724" cy="425276"/>
          </a:xfrm>
          <a:prstGeom prst="roundRect">
            <a:avLst>
              <a:gd fmla="val 4800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"/>
          <p:cNvSpPr/>
          <p:nvPr/>
        </p:nvSpPr>
        <p:spPr>
          <a:xfrm>
            <a:off x="7230219" y="1769938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6734101" y="225727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פרומפט ראשוני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6166917" y="2563788"/>
            <a:ext cx="233920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נתחיל מתיאור קצר של האפליקציה במילים פשוטות. לדוגמה: "אפליקציה לניהול חנות אונליין עם מוצרים, לקוחות והזמנות".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3260675" y="1690241"/>
            <a:ext cx="2622724" cy="425276"/>
          </a:xfrm>
          <a:prstGeom prst="roundRect">
            <a:avLst>
              <a:gd fmla="val 4800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4465737" y="1769938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3969618" y="225727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דאשבורד Base44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3402434" y="2563788"/>
            <a:ext cx="233920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נעבור למסך הניהול הראשי של Base44 לאחר יצירת האפליקציה מהפרומפט.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496193" y="1690241"/>
            <a:ext cx="2622724" cy="425276"/>
          </a:xfrm>
          <a:prstGeom prst="roundRect">
            <a:avLst>
              <a:gd fmla="val 4800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/>
          <p:nvPr/>
        </p:nvSpPr>
        <p:spPr>
          <a:xfrm>
            <a:off x="1701254" y="1769938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iw-IL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1205136" y="225727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לחיצה על 'דאטא'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37952" y="2563788"/>
            <a:ext cx="233920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בתפריט הצדדי או בחלק העליון, נחפש ונלחץ על האפשרות 'דאטא' כדי להיכנס למסד הנתונים.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96119" y="3772272"/>
            <a:ext cx="8151763" cy="793775"/>
          </a:xfrm>
          <a:prstGeom prst="roundRect">
            <a:avLst>
              <a:gd fmla="val 7501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preencoded.png" id="111" name="Google Shape;1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77" y="3973041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/>
          <p:nvPr/>
        </p:nvSpPr>
        <p:spPr>
          <a:xfrm>
            <a:off x="956816" y="3949452"/>
            <a:ext cx="754930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iw-IL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שימו לב</a:t>
            </a:r>
            <a:r>
              <a:rPr b="0" i="0" lang="iw-IL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הדרך היחידה לערוך את המסד נתונים היא באמצעות פרומפטים לצ'אט ולכן מומלץ לתכנן מראש איך תרצו שהוא יראה לפני תחילת העבודה כדי לחסוך קרדיטים.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/>
          <p:nvPr/>
        </p:nvSpPr>
        <p:spPr>
          <a:xfrm>
            <a:off x="4923458" y="391046"/>
            <a:ext cx="3724424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550"/>
              <a:buFont typeface="Inter"/>
              <a:buNone/>
            </a:pPr>
            <a:r>
              <a:rPr b="1" i="0" lang="iw-IL" sz="28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מהי "ישות" (Entity)?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38919" y="1040383"/>
            <a:ext cx="8608963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ישות = אובייקט מהעולם האמיתי שמיוצג בטבלה חכמה ודינמית. החשיבה המוצרית מתחילה בשאלה: </a:t>
            </a: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אילו "דברים" האפליקציה שלי צריכה לזכור?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38919" y="1634860"/>
            <a:ext cx="86091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250"/>
              <a:buFont typeface="Inter"/>
              <a:buNone/>
            </a:pPr>
            <a:r>
              <a:rPr b="1" i="0" lang="iw-IL" sz="15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זה יכול להיות: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3792" y="1763316"/>
            <a:ext cx="1151409" cy="11514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/>
          <p:nvPr/>
        </p:nvSpPr>
        <p:spPr>
          <a:xfrm>
            <a:off x="6522690" y="3065264"/>
            <a:ext cx="1633612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משתמש (User)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6031037" y="3341638"/>
            <a:ext cx="2616845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שם, אימייל, תפקיד — כל פרט שמתאר אדם במערכת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96333" y="1763316"/>
            <a:ext cx="1151409" cy="115140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1"/>
          <p:cNvSpPr/>
          <p:nvPr/>
        </p:nvSpPr>
        <p:spPr>
          <a:xfrm>
            <a:off x="3755231" y="3065264"/>
            <a:ext cx="1633612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מוצר (Product)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3263578" y="3341638"/>
            <a:ext cx="2616919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שם, מחיר, מלאי — ייצוג של פריט בחנות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8874" y="1763316"/>
            <a:ext cx="1151409" cy="11514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987772" y="3065264"/>
            <a:ext cx="1633612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משימה (Task)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496119" y="3341638"/>
            <a:ext cx="2616919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כותרת, סטטוס, תאריך יעד — אובייקט פעולה בתהליך עבודה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496082" y="4037764"/>
            <a:ext cx="81519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כאשר ניכנס לתוך הישות נוכל לראות בטבלה את כל הפריטים שהיא מכילה</a:t>
            </a:r>
            <a:r>
              <a:rPr lang="iw-IL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כדי להוסיף פריט חדש נלחץ "Add Item" ונמלא את הפרטים הדרושים</a:t>
            </a:r>
            <a:r>
              <a:rPr lang="iw-IL" sz="1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כדי לערוך פריט קיים פשוט נלחץ עליו בטבלה.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/>
          <p:nvPr/>
        </p:nvSpPr>
        <p:spPr>
          <a:xfrm>
            <a:off x="4112121" y="445517"/>
            <a:ext cx="4535760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שדות (Fields) וסוגי נתונים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38919" y="1172021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לכל ישות יש את השדות שמאפיינים אותה ומספרים את הפרטים עליה לדוגמא: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280" y="1558305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/>
          <p:nvPr/>
        </p:nvSpPr>
        <p:spPr>
          <a:xfrm>
            <a:off x="496119" y="208984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62678" y="2396356"/>
            <a:ext cx="259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שמות, תיאורים, אימייל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2594" y="1558305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2"/>
          <p:cNvSpPr/>
          <p:nvPr/>
        </p:nvSpPr>
        <p:spPr>
          <a:xfrm>
            <a:off x="3272433" y="208984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Number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2838992" y="2396356"/>
            <a:ext cx="259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מחיר, כמות, גיל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8908" y="1558305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/>
          <p:nvPr/>
        </p:nvSpPr>
        <p:spPr>
          <a:xfrm>
            <a:off x="6048747" y="208984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5615306" y="2396356"/>
            <a:ext cx="259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תאריך יצירה, מועד יעד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89625" y="290668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2"/>
          <p:cNvSpPr/>
          <p:nvPr/>
        </p:nvSpPr>
        <p:spPr>
          <a:xfrm>
            <a:off x="496119" y="343822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Boolean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91574" y="3744739"/>
            <a:ext cx="259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אמת/שקר, זמין/לא זמין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65939" y="290668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2"/>
          <p:cNvSpPr/>
          <p:nvPr/>
        </p:nvSpPr>
        <p:spPr>
          <a:xfrm>
            <a:off x="3272433" y="343822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2867888" y="3744739"/>
            <a:ext cx="259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תמונות, מסמכים, קבצים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42253" y="2906688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2"/>
          <p:cNvSpPr/>
          <p:nvPr/>
        </p:nvSpPr>
        <p:spPr>
          <a:xfrm>
            <a:off x="6048747" y="343822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array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5644202" y="3744739"/>
            <a:ext cx="259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רשימה של משתנים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496119" y="4131022"/>
            <a:ext cx="8151763" cy="566961"/>
          </a:xfrm>
          <a:prstGeom prst="roundRect">
            <a:avLst>
              <a:gd fmla="val 10502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preencoded.png" id="157" name="Google Shape;157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877" y="4331791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/>
          <p:nvPr/>
        </p:nvSpPr>
        <p:spPr>
          <a:xfrm>
            <a:off x="499616" y="4308202"/>
            <a:ext cx="800650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iw-IL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הגדרת סוג שדה נכון מונעת באגים ומאפשרת ל-AI להבין את הדאטה שלך בקלות.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/>
          <p:nvPr/>
        </p:nvSpPr>
        <p:spPr>
          <a:xfrm>
            <a:off x="397743" y="548283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8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קשרים בין אובייקטים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496119" y="1133029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ישויות לעולם לא עובדות לבד. קשרים הם החוט שמחבר בין אובייקטים — ומאפשר לאפליקציה להפוך לחכמה ושלמה.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96119" y="1916474"/>
            <a:ext cx="3903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6220" lvl="0" marL="22352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מניעת כפילויות: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מידע נשמר פעם אחת ומשותף לכולם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220" lvl="0" marL="22352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עקביות הנתונים: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שינוי אחד מתעדכן בכל מקום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220" lvl="0" marL="22352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Char char="•"/>
            </a:pPr>
            <a:r>
              <a:rPr b="1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סכמה (Schema):</a:t>
            </a: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מפת מסד הנתונים כתרשים לוגי של האפליקציה כולה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496119" y="3151533"/>
            <a:ext cx="39030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אמנם הAI יוצר לנו את הקשרים הללו באופן אוטומטי, אך חשוב שנבין את המבנה הזה כדי שנוכל לתאר לו בדיוק מה אנחנו צריכים.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7478" y="-8"/>
            <a:ext cx="3902926" cy="390295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/>
          <p:nvPr/>
        </p:nvSpPr>
        <p:spPr>
          <a:xfrm>
            <a:off x="496119" y="3943127"/>
            <a:ext cx="8151763" cy="793775"/>
          </a:xfrm>
          <a:prstGeom prst="roundRect">
            <a:avLst>
              <a:gd fmla="val 7501" name="adj"/>
            </a:avLst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877" y="4143896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/>
          <p:nvPr/>
        </p:nvSpPr>
        <p:spPr>
          <a:xfrm>
            <a:off x="956816" y="4120307"/>
            <a:ext cx="754930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כדי לראות את הסכמה שלנו נלחץ על השלוש נקודות ליד שם הישות ואז "סכמה", נוכל לוודא שהשדות מוגדרים היטב ובמידה ולא להבין איזה שינוי צריך להתרחש.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/>
          <p:nvPr/>
        </p:nvSpPr>
        <p:spPr>
          <a:xfrm>
            <a:off x="-103" y="517800"/>
            <a:ext cx="91440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300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סוגי קשרים ב-Base44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363" y="1392075"/>
            <a:ext cx="2401826" cy="240180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14"/>
          <p:cNvSpPr/>
          <p:nvPr/>
        </p:nvSpPr>
        <p:spPr>
          <a:xfrm>
            <a:off x="5594637" y="3934900"/>
            <a:ext cx="2229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50"/>
              <a:buFont typeface="Inter"/>
              <a:buNone/>
            </a:pPr>
            <a:r>
              <a:rPr b="1" i="0" lang="iw-IL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אחד-לרבים (one :Many)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5594625" y="4163625"/>
            <a:ext cx="23157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המודל הנפוץ ביותר. קטגוריה אחת מכילה הרבה מוצרים. לקוח אחד מבצע הרבה הזמנות.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2100" y="1392054"/>
            <a:ext cx="2401826" cy="240182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14"/>
          <p:cNvSpPr/>
          <p:nvPr/>
        </p:nvSpPr>
        <p:spPr>
          <a:xfrm>
            <a:off x="1365174" y="3934900"/>
            <a:ext cx="2229300" cy="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50"/>
              <a:buFont typeface="Inter"/>
              <a:buNone/>
            </a:pPr>
            <a:r>
              <a:rPr b="1" lang="iw-IL" sz="14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רבים-לרבים (Many:Many)</a:t>
            </a:r>
            <a:endParaRPr b="1" sz="14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650"/>
              <a:buFont typeface="Inter"/>
              <a:buNone/>
            </a:pPr>
            <a:r>
              <a:t/>
            </a:r>
            <a:endParaRPr b="1" sz="14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1365163" y="4163625"/>
            <a:ext cx="23157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50"/>
              <a:buFont typeface="Inter"/>
              <a:buNone/>
            </a:pPr>
            <a:r>
              <a:rPr lang="iw-IL" sz="13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סטודנט נרשם להרבה קורסים, וכל קורס מכיל הרבה סטודנטים. Base44 מנהלת זאת אוטומטית.</a:t>
            </a:r>
            <a:endParaRPr sz="13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50"/>
              <a:buFont typeface="Inter"/>
              <a:buNone/>
            </a:pPr>
            <a:r>
              <a:t/>
            </a:r>
            <a:endParaRPr sz="135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4D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103" y="94655"/>
            <a:ext cx="3302794" cy="495419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/>
          <p:nvPr/>
        </p:nvSpPr>
        <p:spPr>
          <a:xfrm>
            <a:off x="569937" y="405482"/>
            <a:ext cx="4648944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450"/>
              <a:buFont typeface="Inter"/>
              <a:buNone/>
            </a:pPr>
            <a:r>
              <a:rPr b="1" i="0" lang="iw-IL" sz="26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הנדסת פרומפטים ומסדי נתונים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38919" y="968648"/>
            <a:ext cx="5179963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כמה נקודות חשובות בעת יצירת מסדי נתונים עם ממשק בייס44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170" y="1290005"/>
            <a:ext cx="189384" cy="18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5"/>
          <p:cNvSpPr/>
          <p:nvPr/>
        </p:nvSpPr>
        <p:spPr>
          <a:xfrm>
            <a:off x="3230389" y="1286098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תכנון מקדים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496119" y="1550789"/>
            <a:ext cx="4312518" cy="57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רגע לפני הפרומפט תכננו היטב איך המסד נתונים שלכם צריך להראות (אפשר </a:t>
            </a:r>
            <a:r>
              <a:rPr lang="iw-IL" sz="11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להתייעץ</a:t>
            </a: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עם AI אחר). ככל שהבקשה הראשונית תהיה חזקה יותר כך כל שאר התהליך יהיה קל יותר.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170" y="2352415"/>
            <a:ext cx="189384" cy="18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/>
          <p:nvPr/>
        </p:nvSpPr>
        <p:spPr>
          <a:xfrm>
            <a:off x="3230389" y="2348508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איגוד הנחיות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496119" y="2613199"/>
            <a:ext cx="4312518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בשל מגבלות קצב וקרדיטים מומלץ לשלב כמה ישויות ושדות לפרומפט אחד מקיף. כמובן בגבול הסביר כדי שאיכות הפרומפט לא תיפגע.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170" y="3223878"/>
            <a:ext cx="189384" cy="18938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/>
          <p:nvPr/>
        </p:nvSpPr>
        <p:spPr>
          <a:xfrm>
            <a:off x="2575322" y="3219971"/>
            <a:ext cx="2233315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תארו את הדאטה בשפה מקצועית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496119" y="3484662"/>
            <a:ext cx="4312518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ככל שנהיה יותר מדויקים בבקשות שלנו כך נקבל תוצר יותר טוב, כדאי להשתמש בשפה שלמדנו - "קשרי many to many", "ישויות", "שדות" וכו'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170" y="4095341"/>
            <a:ext cx="189384" cy="18938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5"/>
          <p:cNvSpPr/>
          <p:nvPr/>
        </p:nvSpPr>
        <p:spPr>
          <a:xfrm>
            <a:off x="3170560" y="4091434"/>
            <a:ext cx="1638077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בקרת איכות על התוצאה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496119" y="4356125"/>
            <a:ext cx="4312518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תמיד נבדוק שהמבנה שה-AI בנה תואם לדרישות הפרויקט לפני שממשיכים. בגלל שאין לנו שליטה ישירה על המסד הבקרה פה חשובה כפליים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"/>
          <p:cNvSpPr/>
          <p:nvPr/>
        </p:nvSpPr>
        <p:spPr>
          <a:xfrm>
            <a:off x="-70699" y="2211150"/>
            <a:ext cx="5875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21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פרק ג׳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0" y="2489300"/>
            <a:ext cx="5715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35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תרגול מעשי וסיכום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/>
          <p:nvPr/>
        </p:nvSpPr>
        <p:spPr>
          <a:xfrm>
            <a:off x="4473699" y="401687"/>
            <a:ext cx="4174182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450"/>
              <a:buFont typeface="Inter"/>
              <a:buNone/>
            </a:pPr>
            <a:r>
              <a:rPr b="1" i="0" lang="iw-IL" sz="28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תרגול מעשי — חנות אונליין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38919" y="1021110"/>
            <a:ext cx="8608963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עליכם לבנות מסד נתונים לאתר לחנות לבחירתכם, עקבו אחר השלבים הבאים: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8395395" y="1338560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4628257" y="1538808"/>
            <a:ext cx="4019624" cy="14288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2" name="Google Shape;222;p17"/>
          <p:cNvSpPr/>
          <p:nvPr/>
        </p:nvSpPr>
        <p:spPr>
          <a:xfrm>
            <a:off x="7069634" y="1630487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תכננו את המסד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4628257" y="1895177"/>
            <a:ext cx="4019624" cy="898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אתם יכולים להשתמש באקסל או אפילו על נייר.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בחרו 3 ישויות מרכזיות: מה המהות של כל אחת? אילו שדות יש בה? מה הסוג שלהם? אילו שדות אחראיים על קישור בין ישויות?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צרו 2 או 3 פריטים לכל ישות.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4263330" y="1338560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496119" y="1538808"/>
            <a:ext cx="4019699" cy="14288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26" name="Google Shape;226;p17"/>
          <p:cNvSpPr/>
          <p:nvPr/>
        </p:nvSpPr>
        <p:spPr>
          <a:xfrm>
            <a:off x="2937570" y="1630487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התחילו את הבנייה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496119" y="1895177"/>
            <a:ext cx="4019699" cy="898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בקשו מהבייס44 לבנות לכם אתר לחנות, בקשו באופן ספציפי את הישויות הללו.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תארו באופן מדויק את הישויות, השדות, הסוגים, הקשרים, ואפילו בקשו ליצור כמה פריטים לדוגמא.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קחו בחשבון את כל מיומנויות הנדסת הפרומטים שלמדנו.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8395395" y="3143941"/>
            <a:ext cx="252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4628257" y="3344189"/>
            <a:ext cx="4019700" cy="14400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0" name="Google Shape;230;p17"/>
          <p:cNvSpPr/>
          <p:nvPr/>
        </p:nvSpPr>
        <p:spPr>
          <a:xfrm>
            <a:off x="7069634" y="3435867"/>
            <a:ext cx="1578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בקרה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628257" y="3700558"/>
            <a:ext cx="40197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כנסו בדאשבורד לאזור הדאטא וודאו שהAI בנה הכל כמו שצריך.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בחנו את הסכמה של כל ישות, את סוגי השדות, ואת השדות המקשרים.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נסו להוסיף פריט לכל אחד לכל ישות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263330" y="3143941"/>
            <a:ext cx="2526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 Light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496119" y="3344189"/>
            <a:ext cx="4019700" cy="14400"/>
          </a:xfrm>
          <a:prstGeom prst="rect">
            <a:avLst/>
          </a:prstGeom>
          <a:solidFill>
            <a:srgbClr val="D75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34" name="Google Shape;234;p17"/>
          <p:cNvSpPr/>
          <p:nvPr/>
        </p:nvSpPr>
        <p:spPr>
          <a:xfrm>
            <a:off x="2937570" y="3435867"/>
            <a:ext cx="1578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iw-IL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משימות המשך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496119" y="3700558"/>
            <a:ext cx="40197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האם המסד נתונים לשביעות רצונכם?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אם לא חשבו מה ניתן לעשות כדי לתקן אותו, איזה פרומפט הייתם כותבים?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126000"/>
              </a:lnSpc>
              <a:spcBef>
                <a:spcPts val="50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/>
              <a:buNone/>
            </a:pPr>
            <a:r>
              <a:rPr b="0" i="0" lang="iw-IL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אם כן חשבו אילו עוד ישויות הייתם מוסיפים ואיך הם היו מתחברות לישויות הקיימות?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/>
          <p:nvPr/>
        </p:nvSpPr>
        <p:spPr>
          <a:xfrm>
            <a:off x="6418659" y="389855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1350"/>
              <a:buFont typeface="Inter"/>
              <a:buNone/>
            </a:pPr>
            <a:r>
              <a:rPr b="1" i="0" lang="iw-IL" sz="32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דוגמא: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6" y="266704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4646563" y="644798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2750"/>
              <a:buFont typeface="Inter"/>
              <a:buNone/>
            </a:pPr>
            <a:r>
              <a:rPr b="1" i="0" lang="iw-IL" sz="2950" u="none" cap="none" strike="noStrike">
                <a:solidFill>
                  <a:srgbClr val="D75BE2"/>
                </a:solidFill>
                <a:latin typeface="Inter"/>
                <a:ea typeface="Inter"/>
                <a:cs typeface="Inter"/>
                <a:sym typeface="Inter"/>
              </a:rPr>
              <a:t>סיכום ולקחים מרכזיים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38919" y="1371302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למדנו את היסודות לבניית מסד נתונים חזק ויעיל ב-Base44, שהוא עמוד השדרה של כל אפליקציה.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8328943" y="1757586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112" y="1810717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/>
          <p:nvPr/>
        </p:nvSpPr>
        <p:spPr>
          <a:xfrm>
            <a:off x="5967785" y="1806253"/>
            <a:ext cx="221939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מסד הנתונים הוא הלב הפועם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4660627" y="2112764"/>
            <a:ext cx="352655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הבנו שמסד הנתונים הוא הבסיס לכל ממשק משתמש, לוגיקה עסקית ואינטגרציה עם AI. בלעדיו, אין לאפליקציה זיכרון או יכולת פעולה.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4164509" y="1757586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7677" y="1810717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/>
          <p:nvPr/>
        </p:nvSpPr>
        <p:spPr>
          <a:xfrm>
            <a:off x="2250728" y="1806253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ישויות, שדות וקשרים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496119" y="2112764"/>
            <a:ext cx="3526631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הכרנו את אבני הבניין: ישויות (אובייקטים מהעולם האמיתי), שדות (המאפיינים שלהן) וקשרים (היחסים הלוגיים ביניהן) — המרכיבים כל מבנה נתונים.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8328943" y="3076724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112" y="3129855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5895380" y="3125391"/>
            <a:ext cx="229180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הנדסת פרומפטים היא המפתח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660627" y="3431902"/>
            <a:ext cx="3526557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הדגשנו את חשיבות התכנון המקדים והשימוש בפרומפטים מדויקים ועתיתניים לבניית מסד הנתונים ב-Base44, תוך שמירה על עקביות ואיכות.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4164509" y="3076724"/>
            <a:ext cx="318939" cy="318939"/>
          </a:xfrm>
          <a:prstGeom prst="roundRect">
            <a:avLst>
              <a:gd fmla="val 1866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17677" y="3129855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/>
          <p:nvPr/>
        </p:nvSpPr>
        <p:spPr>
          <a:xfrm>
            <a:off x="2189708" y="3125391"/>
            <a:ext cx="183304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1" i="0" lang="iw-IL" sz="15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חשיבות הבקרה והתרגול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496119" y="3431902"/>
            <a:ext cx="3526631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ראינו שהבנה מעמיקה ובקרת איכות על התוצר הסופי, כולל בדיקת הסכמה וסוגי הנתונים, קריטית להצלחת הפרויקט ולחיסכון במשאבים.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38919" y="4537964"/>
            <a:ext cx="8609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iw-IL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עם הידע והכלים שרכשנו, אתם מוכנים לבנות מסדי נתונים מורכבים ויעילים לאפליקציות הבאות שלכם.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