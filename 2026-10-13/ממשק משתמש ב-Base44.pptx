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Inter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52301" y="2211139"/>
            <a:ext cx="4610398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ממשק משתמש ב-Base44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742852" y="2710830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7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פריסת דפים ו-UI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4646563" y="92675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על מה נדבר היום?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925119" y="1582341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מעבר מהדאטה הסטטית והלוגיקה הנסתרת — אל מה שהמשתמשים שלכם באמת 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רואים וחווים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על המסך.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357417" y="2195438"/>
            <a:ext cx="2290465" cy="105318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" name="Google Shape;33;p5"/>
          <p:cNvSpPr/>
          <p:nvPr/>
        </p:nvSpPr>
        <p:spPr>
          <a:xfrm>
            <a:off x="6729338" y="234195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מסכים דינמיים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503938" y="2648471"/>
            <a:ext cx="19974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בניית עמודים שמגיבים לנתונים ולפעולות המשתמש בזמן אמת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925119" y="2195438"/>
            <a:ext cx="2290539" cy="105318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" name="Google Shape;36;p5"/>
          <p:cNvSpPr/>
          <p:nvPr/>
        </p:nvSpPr>
        <p:spPr>
          <a:xfrm>
            <a:off x="4297114" y="234195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טפסים חכמים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071640" y="2648471"/>
            <a:ext cx="199749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הזנת מידע מובנית ומאומתת לתוך מסד הנתונים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925119" y="3390379"/>
            <a:ext cx="4722763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9" name="Google Shape;39;p5"/>
          <p:cNvSpPr/>
          <p:nvPr/>
        </p:nvSpPr>
        <p:spPr>
          <a:xfrm>
            <a:off x="6729338" y="353690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תצוגות נתונים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071640" y="3843412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הצגה מעוצבת ורספונסיבית של מידע ממקורות 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189551" y="389850"/>
            <a:ext cx="6458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30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מאיפה הגענו — ולאן אנחנו הולכים?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8919" y="927771"/>
            <a:ext cx="86091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אנחנו משלימים את </a:t>
            </a:r>
            <a:r>
              <a:rPr b="1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המשולש </a:t>
            </a: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של כל מוצר תוכנה: Data, Logic, ו-UI.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509" y="1285535"/>
            <a:ext cx="3696425" cy="348693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963392" y="3608608"/>
            <a:ext cx="11736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4"/>
              <a:buFont typeface="Inter"/>
              <a:buNone/>
            </a:pPr>
            <a:r>
              <a:rPr b="1" i="0" lang="iw-IL" sz="1124" u="none" cap="none" strike="noStrike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endParaRPr b="0" i="0" sz="1124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2963392" y="3845063"/>
            <a:ext cx="11736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Inter"/>
              <a:buNone/>
            </a:pPr>
            <a:r>
              <a:rPr b="0" i="0" lang="iw-IL" sz="923" u="none" cap="none" strike="noStrike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מאגר ואחסון המידע שמזין את המערכת.</a:t>
            </a:r>
            <a:endParaRPr b="0" i="0" sz="923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847027" y="1998431"/>
            <a:ext cx="11736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4"/>
              <a:buFont typeface="Inter"/>
              <a:buNone/>
            </a:pPr>
            <a:r>
              <a:rPr b="1" i="0" lang="iw-IL" sz="112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Logic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847027" y="2234884"/>
            <a:ext cx="11736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Inter"/>
              <a:buNone/>
            </a:pPr>
            <a:r>
              <a:rPr b="0" i="0" lang="iw-IL" sz="92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Workflows ואוטומציה שמעבדים את הנתונים.</a:t>
            </a:r>
            <a:endParaRPr b="0" i="0" sz="9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782925" y="3608608"/>
            <a:ext cx="11736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4"/>
              <a:buFont typeface="Inter"/>
              <a:buNone/>
            </a:pPr>
            <a:r>
              <a:rPr b="1" i="0" lang="iw-IL" sz="112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782925" y="3845063"/>
            <a:ext cx="11736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3"/>
              <a:buFont typeface="Inter"/>
              <a:buNone/>
            </a:pPr>
            <a:r>
              <a:rPr b="0" i="0" lang="iw-IL" sz="92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מסכים וחוויית משתמש שמפעילים את ה-Logic.</a:t>
            </a:r>
            <a:endParaRPr b="0" i="0" sz="9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8919" y="4844688"/>
            <a:ext cx="86091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חיבור שלושת השכבות יוצר אפליקציה אינטראקטיבית שלמה — כפתור מעוצב על המסך הופך לטריגר שמפעיל Workflows מורכבים, ומניח תשתית ויזואלית לרכיבי AI ואינטגרציות עתידיות.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46563" y="100466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זה UI?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96119" y="1731169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ה-User Interface הוא השכבה הוויזואלית שבין המשתמש לבין המערכת — המקום שבו לוגיקה ודאטה הופכים למשהו שאפשר לראות, להבין ולהפעיל.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42917" y="2344266"/>
            <a:ext cx="4004965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4" name="Google Shape;64;p7"/>
          <p:cNvSpPr/>
          <p:nvPr/>
        </p:nvSpPr>
        <p:spPr>
          <a:xfrm>
            <a:off x="6729338" y="24907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פנים האפליקציה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789438" y="2797299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הדבר הראשון, ולעיתים היחיד, שהמשתמש פוגש.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96119" y="2344266"/>
            <a:ext cx="4005039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7" name="Google Shape;67;p7"/>
          <p:cNvSpPr/>
          <p:nvPr/>
        </p:nvSpPr>
        <p:spPr>
          <a:xfrm>
            <a:off x="2582614" y="24907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נקודות אינטראקציה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642640" y="2797299"/>
            <a:ext cx="371199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כפתורים, טפסים, תפריטים, ניווט וחלונות קופצים.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642917" y="3312393"/>
            <a:ext cx="4004965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0" name="Google Shape;70;p7"/>
          <p:cNvSpPr/>
          <p:nvPr/>
        </p:nvSpPr>
        <p:spPr>
          <a:xfrm>
            <a:off x="6729338" y="345891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נגישות אינטואיטיבית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789438" y="3765426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קריטי לגישה יעילה ללוגיקה ומידע.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96119" y="3312393"/>
            <a:ext cx="4005039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" name="Google Shape;73;p7"/>
          <p:cNvSpPr/>
          <p:nvPr/>
        </p:nvSpPr>
        <p:spPr>
          <a:xfrm>
            <a:off x="2582614" y="345891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בסיס ל-UX טוב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42640" y="3765426"/>
            <a:ext cx="371199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ממשק ברור, עקבי ונוח.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/>
        </p:nvSpPr>
        <p:spPr>
          <a:xfrm>
            <a:off x="-75" y="407725"/>
            <a:ext cx="9144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Inter"/>
              <a:buNone/>
            </a:pPr>
            <a:r>
              <a:rPr b="1" i="0" lang="iw-IL" sz="24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UI בעולם ה-Vibe Coding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016" y="913061"/>
            <a:ext cx="2661865" cy="92481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6955110" y="1035844"/>
            <a:ext cx="1512838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אורקסטרציה במקום קידוד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108799" y="1255216"/>
            <a:ext cx="2359149" cy="459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אין צורך בקובצי CSS מתישים או בקוד HTML ידני — אנחנו מנהלים את הארכיטקטורה הויזואלית בשפה טבעית.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104" y="913061"/>
            <a:ext cx="2661865" cy="92481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/>
          <p:nvPr/>
        </p:nvSpPr>
        <p:spPr>
          <a:xfrm>
            <a:off x="4366320" y="1035844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תרגום רעיונות לרכיבים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363888" y="1255216"/>
            <a:ext cx="2359149" cy="459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מגדירים ל-AI בשפה מקצועית אילו Components ישבו על המסך: כפתורים, תיבות טקסט, תפריטים נפתחים, גלריות תמונות.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93" y="913061"/>
            <a:ext cx="2661865" cy="92481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621408" y="1035844"/>
            <a:ext cx="135671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b="1" i="0" lang="iw-IL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רספונסיביות אוטומטית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18976" y="1255216"/>
            <a:ext cx="2359149" cy="459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iw-IL" sz="1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פלטפורמת Base44 מתאימה את פריסת הדפים אוטומטית למובייל, טאבלט ומחשב — ללא מאמץ נוסף מצדנו.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9816" y="1931343"/>
            <a:ext cx="2804368" cy="280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57598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4651251" y="1140991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מסך ה-Preview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8333631" y="174344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8386800" y="1770013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6419850" y="179211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מבנה העמוד הראשי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152406" y="2155329"/>
            <a:ext cx="203946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כאן נוכל לראות את ה-UI הנוכחי של האפליקציה כפי שהמשתמש יחווה אותה.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5656287" y="1743447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5709456" y="1770013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3742506" y="179211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סגנונות פריסה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474988" y="2155329"/>
            <a:ext cx="203954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Page View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לגלילה אנכית מסורתית, לעומת 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Canvas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לפריסה חופשית.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8333631" y="3119289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8386800" y="3145854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419850" y="316795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ניווט בין דפים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152406" y="3531171"/>
            <a:ext cx="203946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סרגל עליון מאפשר מעבר מהיר בין כל הדפים השונים של האתר.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5656287" y="3119289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5709456" y="3145854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742506" y="316795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סוג הממשק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474988" y="3531171"/>
            <a:ext cx="203954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נוכל לראות ולערוך את הממשק עבור מכשירים שונים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/>
          <p:nvPr/>
        </p:nvSpPr>
        <p:spPr>
          <a:xfrm>
            <a:off x="4030712" y="733053"/>
            <a:ext cx="461716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מצב עריכה מול מצב שימוש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496119" y="1459557"/>
            <a:ext cx="8151763" cy="1870025"/>
          </a:xfrm>
          <a:prstGeom prst="roundRect">
            <a:avLst>
              <a:gd fmla="val 318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1" name="Google Shape;121;p10"/>
          <p:cNvSpPr/>
          <p:nvPr/>
        </p:nvSpPr>
        <p:spPr>
          <a:xfrm>
            <a:off x="4572000" y="1464320"/>
            <a:ext cx="4071119" cy="1043657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2" name="Google Shape;122;p10"/>
          <p:cNvSpPr/>
          <p:nvPr/>
        </p:nvSpPr>
        <p:spPr>
          <a:xfrm>
            <a:off x="6187898" y="1606075"/>
            <a:ext cx="2313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מצב שימוש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713759" y="1912590"/>
            <a:ext cx="37876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צפייה באתר כמו משתמש אמיתי — אינטראקציה מלאה עם כל הפונקציות והתכנים.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00881" y="1464320"/>
            <a:ext cx="4071119" cy="1043657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5" name="Google Shape;125;p10"/>
          <p:cNvSpPr/>
          <p:nvPr/>
        </p:nvSpPr>
        <p:spPr>
          <a:xfrm>
            <a:off x="500881" y="1464320"/>
            <a:ext cx="19050" cy="1043657"/>
          </a:xfrm>
          <a:prstGeom prst="roundRect">
            <a:avLst>
              <a:gd fmla="val 312558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2658219" y="160607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מצב עריכה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42640" y="1912590"/>
            <a:ext cx="37876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לחיצה על כל אלמנט מאפשרת שינוי צבעים, שקיפות, תמונות וקצוות — ישירות על המסך.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00881" y="2507977"/>
            <a:ext cx="8142238" cy="816843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9" name="Google Shape;129;p10"/>
          <p:cNvSpPr/>
          <p:nvPr/>
        </p:nvSpPr>
        <p:spPr>
          <a:xfrm>
            <a:off x="500881" y="2507977"/>
            <a:ext cx="8142238" cy="19050"/>
          </a:xfrm>
          <a:prstGeom prst="roundRect">
            <a:avLst>
              <a:gd fmla="val 312558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0" name="Google Shape;130;p10"/>
          <p:cNvSpPr/>
          <p:nvPr/>
        </p:nvSpPr>
        <p:spPr>
          <a:xfrm>
            <a:off x="6729338" y="264973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עריכה עם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42640" y="2956247"/>
            <a:ext cx="78587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ניתן לבחור אלמנט ולבקש מה-AI לשנות אותו בדיוק — חיבור כפתורים לדפים, הזזת רכיבים, שינוי סגנון.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496119" y="3489052"/>
            <a:ext cx="8151763" cy="921321"/>
          </a:xfrm>
          <a:prstGeom prst="roundRect">
            <a:avLst>
              <a:gd fmla="val 6463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689821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956816" y="3666232"/>
            <a:ext cx="7549307" cy="581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בגלל מהות ה-Vibe Coding — פעולות רבות כמו חיבור כפתורים לדפים יש לבקש </a:t>
            </a:r>
            <a:r>
              <a:rPr b="1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במפורש</a:t>
            </a:r>
            <a:r>
              <a:rPr b="0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מה-AI.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תנסו לראות מה אתם יכולים לשנות בעצמכם ומה חייב את הAI.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3318049" y="942454"/>
            <a:ext cx="532983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קלט נתונים – טפסים ורכיבי הזנה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38919" y="1668959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טפסים חכמים מהווים את 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הגשר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בין המשתמש לבין מסד הנתונים.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522" y="228641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6344320" y="2286411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רכיבי הזנה מותאמים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048747" y="2592923"/>
            <a:ext cx="2067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תיבת טקסט לשם, Dropdown לסטטוס, ולוח שנה לתאריך — כל שדה מותאם לסוג הנתון.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7207" y="228641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/>
          <p:nvPr/>
        </p:nvSpPr>
        <p:spPr>
          <a:xfrm>
            <a:off x="3568005" y="2286411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חיבור ישיר לדאטה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3272433" y="2592923"/>
            <a:ext cx="2067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הטופס מזריק את המידע ישירות לשדות שהגדרנו בטבלאות ה-Backend.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0893" y="228641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/>
          <p:nvPr/>
        </p:nvSpPr>
        <p:spPr>
          <a:xfrm>
            <a:off x="791691" y="2286411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ולידציה ומניעת שגיאות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96119" y="2592923"/>
            <a:ext cx="2067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שדות חובה (Required) והודעות שגיאה ויזואליות מבטיחים דאטה נקייה ואמינה.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496119" y="3649554"/>
            <a:ext cx="81519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כאשר נבקש מהמודל ליצור לנו טופס נהיה ספציפיים ביותר כדי למנוע בעיות שנצטרך לפתור אחר כך.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עלינו לפרט את כל הפרטים הרלוונטים על הטופס, כולל איך מגיעים אליו ומה קורה אחרי ששולחים אותו.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לאחר מכן נבצע בדיקה מקיפה שאכן כל ההוראות שלנו התבצעו.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1672382" y="527144"/>
            <a:ext cx="4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תצוגת נתונים דינמית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96125" y="1415309"/>
            <a:ext cx="55281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משיכת נתונים מטבלאות ה-Backend והצגתם למשתמש הקצה בצורה 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מעוצבת ונקייה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הAI מכיר לפי שם כל אלמנט שקיים לנו במסד נתונים, ולכן נוכל לבקש ממנו להציג אותו בכל דרך שנרצה.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יתרה מכך - אפשר גם להוסיף ממשקים אינטקרטיבים המשפיעים על המסד נתונים ישירות לדוגמא: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496125" y="3278750"/>
            <a:ext cx="55281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57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כרטיסים וגלריות: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הצגת מוצרים ומשימות במבנה ויזואלי חוזר עם תמונה, כותרת ומחיר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סינון וחיפוש: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סרגלי חיפוש ומסננים ויזואליים המאפשרים מציאת מידע בשבריר שנייה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257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Char char="•"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רשמה לרשימת די</a:t>
            </a:r>
            <a:r>
              <a:rPr b="1" lang="iw-IL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ו</a:t>
            </a: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ור</a:t>
            </a: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כפתור המשנה שדה "דיוור" עבור הלקוח במסד נתונים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4352" y="1257600"/>
            <a:ext cx="3053151" cy="30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/>
          <p:nvPr/>
        </p:nvSpPr>
        <p:spPr>
          <a:xfrm>
            <a:off x="3925119" y="45697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אסטרטגיית ה-Bundling לפרומפטים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9088" y="1555552"/>
            <a:ext cx="708794" cy="104365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3"/>
          <p:cNvSpPr/>
          <p:nvPr/>
        </p:nvSpPr>
        <p:spPr>
          <a:xfrm>
            <a:off x="6025307" y="169731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הבעיה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925119" y="2003822"/>
            <a:ext cx="387221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בקשות איטרטיביות קטנות ("תזיז ימינה", "תשנה לירוק") שוחקות את מכסות ה-AI ומחסמות אתכם.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9088" y="2599209"/>
            <a:ext cx="708794" cy="104365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/>
          <p:nvPr/>
        </p:nvSpPr>
        <p:spPr>
          <a:xfrm>
            <a:off x="6025307" y="274096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הפתרון: UI Bundling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3925119" y="3047479"/>
            <a:ext cx="387221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Mega-Prompt יחיד המגדיר פריסה, צבעים, רכיבי קלט וחיבור לדאטה — הכל בבת אחת.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9088" y="3642866"/>
            <a:ext cx="708794" cy="10436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/>
          <p:nvPr/>
        </p:nvSpPr>
        <p:spPr>
          <a:xfrm>
            <a:off x="6025307" y="378462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שפה מקצועית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3925119" y="4091136"/>
            <a:ext cx="387221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מונחים כמו "Dark Mode", "Grid of 3 columns", "Card Layout" מניבים תוצאה מדויקת בריצה ראשונה.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/>
          <p:nvPr/>
        </p:nvSpPr>
        <p:spPr>
          <a:xfrm>
            <a:off x="3231133" y="406598"/>
            <a:ext cx="5416748" cy="3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50"/>
              <a:buFont typeface="Inter"/>
              <a:buNone/>
            </a:pPr>
            <a:r>
              <a:rPr b="1" i="0" lang="iw-IL" sz="25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תרגול מעשי – מעצבים את חנות האונליין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38919" y="953691"/>
            <a:ext cx="8608963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הגיע הזמן לחבר הכל יחד — נבנה ממשק שלם לחנות שהקמנו בשיעורים הקודמים.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25897"/>
            <a:ext cx="8151763" cy="8849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8314506" y="1560388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6639595" y="1355303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דף קטלוג מוצרים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25525" y="1591345"/>
            <a:ext cx="7453833" cy="390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הצגת כל הפריטים בפריסת כרטיסים (Cards) עם תמונה, שם ומחיר — מחובר ישירות לטבלת המוצרים.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1000"/>
              </a:lnSpc>
              <a:spcBef>
                <a:spcPts val="40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שנו את הצבעים והפונטים שיתיאמו לסנגון שלכם.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204368"/>
            <a:ext cx="8151763" cy="691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8314506" y="2441897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6639595" y="2333774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דף טופס הזמנה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625525" y="2569815"/>
            <a:ext cx="7453833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טופס חכם לפרטי לקוח עם ולידציה, המחובר ל-Workflow שמשגר אישור והודעת דוא"ל.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988990"/>
            <a:ext cx="8151763" cy="691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/>
          <p:nvPr/>
        </p:nvSpPr>
        <p:spPr>
          <a:xfrm>
            <a:off x="8314506" y="3226519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639595" y="3118396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עוד אלמנט לבחירתכם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625525" y="3354437"/>
            <a:ext cx="7453833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חשבו בעצמכם על עוד אלמנט UI שתרצו להוסיף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773612"/>
            <a:ext cx="8151763" cy="691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/>
          <p:nvPr/>
        </p:nvSpPr>
        <p:spPr>
          <a:xfrm>
            <a:off x="8314506" y="4011141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6639595" y="3903018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בקרת איכות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625525" y="4139059"/>
            <a:ext cx="7453833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iw-IL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מלאים פרטים, לוחצים על כפתור הרכישה, ומוודאים שהנתונים נשמרים בהצלחה ב-Database.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38919" y="4569916"/>
            <a:ext cx="8608963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/>
          <p:nvPr/>
        </p:nvSpPr>
        <p:spPr>
          <a:xfrm>
            <a:off x="4646563" y="439415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טיפים לעיצוב מנצח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6357417" y="1095003"/>
            <a:ext cx="2290465" cy="1847031"/>
          </a:xfrm>
          <a:prstGeom prst="roundRect">
            <a:avLst>
              <a:gd fmla="val 322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1" name="Google Shape;211;p15"/>
          <p:cNvSpPr/>
          <p:nvPr/>
        </p:nvSpPr>
        <p:spPr>
          <a:xfrm>
            <a:off x="8076084" y="1241524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3063" y="135842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/>
          <p:nvPr/>
        </p:nvSpPr>
        <p:spPr>
          <a:xfrm>
            <a:off x="6729338" y="180855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תכננו קודם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6503938" y="2115071"/>
            <a:ext cx="199742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שרטטו את פריסת המסך בנייר או בכלי wireframe לפני שפותחים את ה-AI.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3925119" y="1095003"/>
            <a:ext cx="2290539" cy="1847031"/>
          </a:xfrm>
          <a:prstGeom prst="roundRect">
            <a:avLst>
              <a:gd fmla="val 322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6" name="Google Shape;216;p15"/>
          <p:cNvSpPr/>
          <p:nvPr/>
        </p:nvSpPr>
        <p:spPr>
          <a:xfrm>
            <a:off x="5643860" y="1241524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839" y="135842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5"/>
          <p:cNvSpPr/>
          <p:nvPr/>
        </p:nvSpPr>
        <p:spPr>
          <a:xfrm>
            <a:off x="4297114" y="180855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התחילו ב-MVP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071640" y="2115071"/>
            <a:ext cx="199749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בנו את המסך הבסיסי והפונקציונלי קודם — הוסיפו מורכבות רק אחרי שהכל עובד.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3925119" y="3083793"/>
            <a:ext cx="4722763" cy="1620217"/>
          </a:xfrm>
          <a:prstGeom prst="roundRect">
            <a:avLst>
              <a:gd fmla="val 367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1" name="Google Shape;221;p15"/>
          <p:cNvSpPr/>
          <p:nvPr/>
        </p:nvSpPr>
        <p:spPr>
          <a:xfrm>
            <a:off x="8076084" y="3230314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63" y="3347219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5"/>
          <p:cNvSpPr/>
          <p:nvPr/>
        </p:nvSpPr>
        <p:spPr>
          <a:xfrm>
            <a:off x="6729338" y="379735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שפרו איטרטיבית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071640" y="4103861"/>
            <a:ext cx="44297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אספו פידבק ממשתמשים אמיתיים ובצעו שיפורים מבוססי נתונים — לא ניחושים.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