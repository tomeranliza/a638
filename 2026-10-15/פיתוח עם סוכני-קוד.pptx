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Lst>
  <p:sldSz cx="9144000" cy="51435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Arial"/>
        <a:ea typeface="Arial"/>
        <a:cs typeface="Arial"/>
        <a:sym typeface="Arial"/>
      </a:defRPr>
    </a:lvl1pPr>
    <a:lvl2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Arial"/>
        <a:ea typeface="Arial"/>
        <a:cs typeface="Arial"/>
        <a:sym typeface="Arial"/>
      </a:defRPr>
    </a:lvl2pPr>
    <a:lvl3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Arial"/>
        <a:ea typeface="Arial"/>
        <a:cs typeface="Arial"/>
        <a:sym typeface="Arial"/>
      </a:defRPr>
    </a:lvl3pPr>
    <a:lvl4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Arial"/>
        <a:ea typeface="Arial"/>
        <a:cs typeface="Arial"/>
        <a:sym typeface="Arial"/>
      </a:defRPr>
    </a:lvl4pPr>
    <a:lvl5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Arial"/>
        <a:ea typeface="Arial"/>
        <a:cs typeface="Arial"/>
        <a:sym typeface="Arial"/>
      </a:defRPr>
    </a:lvl5pPr>
    <a:lvl6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Arial"/>
        <a:ea typeface="Arial"/>
        <a:cs typeface="Arial"/>
        <a:sym typeface="Arial"/>
      </a:defRPr>
    </a:lvl6pPr>
    <a:lvl7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Arial"/>
        <a:ea typeface="Arial"/>
        <a:cs typeface="Arial"/>
        <a:sym typeface="Arial"/>
      </a:defRPr>
    </a:lvl7pPr>
    <a:lvl8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Arial"/>
        <a:ea typeface="Arial"/>
        <a:cs typeface="Arial"/>
        <a:sym typeface="Arial"/>
      </a:defRPr>
    </a:lvl8pPr>
    <a:lvl9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Arial"/>
        <a:ea typeface="Arial"/>
        <a:cs typeface="Arial"/>
        <a:sym typeface="Arial"/>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
          <a:latin typeface="Arial"/>
          <a:ea typeface="Arial"/>
          <a:cs typeface="Arial"/>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
          <a:latin typeface="Arial"/>
          <a:ea typeface="Arial"/>
          <a:cs typeface="Arial"/>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
          <a:latin typeface="Arial"/>
          <a:ea typeface="Arial"/>
          <a:cs typeface="Arial"/>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
          <a:latin typeface="Arial"/>
          <a:ea typeface="Arial"/>
          <a:cs typeface="Arial"/>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
          <a:latin typeface="Arial"/>
          <a:ea typeface="Arial"/>
          <a:cs typeface="Arial"/>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
          <a:latin typeface="Arial"/>
          <a:ea typeface="Arial"/>
          <a:cs typeface="Arial"/>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
          <a:latin typeface="Arial"/>
          <a:ea typeface="Arial"/>
          <a:cs typeface="Arial"/>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
          <a:latin typeface="Arial"/>
          <a:ea typeface="Arial"/>
          <a:cs typeface="Arial"/>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
          <a:latin typeface="Arial"/>
          <a:ea typeface="Arial"/>
          <a:cs typeface="Arial"/>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
          <a:latin typeface="Arial"/>
          <a:ea typeface="Arial"/>
          <a:cs typeface="Arial"/>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
          <a:latin typeface="Arial"/>
          <a:ea typeface="Arial"/>
          <a:cs typeface="Arial"/>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
          <a:latin typeface="Arial"/>
          <a:ea typeface="Arial"/>
          <a:cs typeface="Arial"/>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
          <a:latin typeface="Arial"/>
          <a:ea typeface="Arial"/>
          <a:cs typeface="Arial"/>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
          <a:latin typeface="Arial"/>
          <a:ea typeface="Arial"/>
          <a:cs typeface="Arial"/>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
          <a:latin typeface="Arial"/>
          <a:ea typeface="Arial"/>
          <a:cs typeface="Arial"/>
        </a:font>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
          <a:latin typeface="Arial"/>
          <a:ea typeface="Arial"/>
          <a:cs typeface="Arial"/>
        </a:font>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
          <a:latin typeface="Arial"/>
          <a:ea typeface="Arial"/>
          <a:cs typeface="Arial"/>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
          <a:latin typeface="Arial"/>
          <a:ea typeface="Arial"/>
          <a:cs typeface="Arial"/>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
          <a:latin typeface="Arial"/>
          <a:ea typeface="Arial"/>
          <a:cs typeface="Arial"/>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
          <a:latin typeface="Arial"/>
          <a:ea typeface="Arial"/>
          <a:cs typeface="Arial"/>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
          <a:latin typeface="Arial"/>
          <a:ea typeface="Arial"/>
          <a:cs typeface="Arial"/>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
          <a:latin typeface="Arial"/>
          <a:ea typeface="Arial"/>
          <a:cs typeface="Arial"/>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
          <a:latin typeface="Arial"/>
          <a:ea typeface="Arial"/>
          <a:cs typeface="Arial"/>
        </a:font>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
          <a:latin typeface="Arial"/>
          <a:ea typeface="Arial"/>
          <a:cs typeface="Arial"/>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26" name="Shape 26"/>
          <p:cNvSpPr/>
          <p:nvPr>
            <p:ph type="sldImg"/>
          </p:nvPr>
        </p:nvSpPr>
        <p:spPr>
          <a:xfrm>
            <a:off x="1143000" y="685800"/>
            <a:ext cx="4572000" cy="3429000"/>
          </a:xfrm>
          <a:prstGeom prst="rect">
            <a:avLst/>
          </a:prstGeom>
        </p:spPr>
        <p:txBody>
          <a:bodyPr/>
          <a:lstStyle/>
          <a:p>
            <a:pPr/>
          </a:p>
        </p:txBody>
      </p:sp>
      <p:sp>
        <p:nvSpPr>
          <p:cNvPr id="27" name="Shape 27"/>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Helvetica Neue"/>
      </a:defRPr>
    </a:lvl1pPr>
    <a:lvl2pPr indent="228600" latinLnBrk="0">
      <a:defRPr sz="1200">
        <a:latin typeface="+mn-lt"/>
        <a:ea typeface="+mn-ea"/>
        <a:cs typeface="+mn-cs"/>
        <a:sym typeface="Helvetica Neue"/>
      </a:defRPr>
    </a:lvl2pPr>
    <a:lvl3pPr indent="457200" latinLnBrk="0">
      <a:defRPr sz="1200">
        <a:latin typeface="+mn-lt"/>
        <a:ea typeface="+mn-ea"/>
        <a:cs typeface="+mn-cs"/>
        <a:sym typeface="Helvetica Neue"/>
      </a:defRPr>
    </a:lvl3pPr>
    <a:lvl4pPr indent="685800" latinLnBrk="0">
      <a:defRPr sz="1200">
        <a:latin typeface="+mn-lt"/>
        <a:ea typeface="+mn-ea"/>
        <a:cs typeface="+mn-cs"/>
        <a:sym typeface="Helvetica Neue"/>
      </a:defRPr>
    </a:lvl4pPr>
    <a:lvl5pPr indent="914400" latinLnBrk="0">
      <a:defRPr sz="1200">
        <a:latin typeface="+mn-lt"/>
        <a:ea typeface="+mn-ea"/>
        <a:cs typeface="+mn-cs"/>
        <a:sym typeface="Helvetica Neue"/>
      </a:defRPr>
    </a:lvl5pPr>
    <a:lvl6pPr indent="1143000" latinLnBrk="0">
      <a:defRPr sz="1200">
        <a:latin typeface="+mn-lt"/>
        <a:ea typeface="+mn-ea"/>
        <a:cs typeface="+mn-cs"/>
        <a:sym typeface="Helvetica Neue"/>
      </a:defRPr>
    </a:lvl6pPr>
    <a:lvl7pPr indent="1371600" latinLnBrk="0">
      <a:defRPr sz="1200">
        <a:latin typeface="+mn-lt"/>
        <a:ea typeface="+mn-ea"/>
        <a:cs typeface="+mn-cs"/>
        <a:sym typeface="Helvetica Neue"/>
      </a:defRPr>
    </a:lvl7pPr>
    <a:lvl8pPr indent="1600200" latinLnBrk="0">
      <a:defRPr sz="1200">
        <a:latin typeface="+mn-lt"/>
        <a:ea typeface="+mn-ea"/>
        <a:cs typeface="+mn-cs"/>
        <a:sym typeface="Helvetica Neue"/>
      </a:defRPr>
    </a:lvl8pPr>
    <a:lvl9pPr indent="1828800" latinLnBrk="0">
      <a:defRPr sz="1200">
        <a:latin typeface="+mn-lt"/>
        <a:ea typeface="+mn-ea"/>
        <a:cs typeface="+mn-cs"/>
        <a:sym typeface="Helvetica Neue"/>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Relationships>

</file>

<file path=ppt/notesSlides/_rels/notesSlide29.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Relationships>

</file>

<file path=ppt/notesSlides/_rels/notesSlide30.xml.rels><?xml version="1.0" encoding="UTF-8"?>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Relationships>

</file>

<file path=ppt/notesSlides/_rels/notesSlide31.xml.rels><?xml version="1.0" encoding="UTF-8"?>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Relationships>

</file>

<file path=ppt/notesSlides/_rels/notesSlide32.xml.rels><?xml version="1.0" encoding="UTF-8"?>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Relationships>

</file>

<file path=ppt/notesSlides/_rels/notesSlide33.xml.rels><?xml version="1.0" encoding="UTF-8"?>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Relationships>

</file>

<file path=ppt/notesSlides/_rels/notesSlide34.xml.rels><?xml version="1.0" encoding="UTF-8"?>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Relationships>

</file>

<file path=ppt/notesSlides/_rels/notesSlide35.xml.rels><?xml version="1.0" encoding="UTF-8"?>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Relationships>

</file>

<file path=ppt/notesSlides/_rels/notesSlide36.xml.rels><?xml version="1.0" encoding="UTF-8"?>
<Relationships xmlns="http://schemas.openxmlformats.org/package/2006/relationships"><Relationship Id="rId1" Type="http://schemas.openxmlformats.org/officeDocument/2006/relationships/slide" Target="../slides/slide36.xml"/><Relationship Id="rId2" Type="http://schemas.openxmlformats.org/officeDocument/2006/relationships/notesMaster" Target="../notesMasters/notesMaster1.xml"/></Relationships>

</file>

<file path=ppt/notesSlides/_rels/notesSlide37.xml.rels><?xml version="1.0" encoding="UTF-8"?>
<Relationships xmlns="http://schemas.openxmlformats.org/package/2006/relationships"><Relationship Id="rId1" Type="http://schemas.openxmlformats.org/officeDocument/2006/relationships/slide" Target="../slides/slide37.xml"/><Relationship Id="rId2" Type="http://schemas.openxmlformats.org/officeDocument/2006/relationships/notesMaster" Target="../notesMasters/notesMaster1.xml"/></Relationships>

</file>

<file path=ppt/notesSlides/_rels/notesSlide38.xml.rels><?xml version="1.0" encoding="UTF-8"?>
<Relationships xmlns="http://schemas.openxmlformats.org/package/2006/relationships"><Relationship Id="rId1" Type="http://schemas.openxmlformats.org/officeDocument/2006/relationships/slide" Target="../slides/slide38.xml"/><Relationship Id="rId2" Type="http://schemas.openxmlformats.org/officeDocument/2006/relationships/notesMaster" Target="../notesMasters/notesMaster1.xml"/></Relationships>

</file>

<file path=ppt/notesSlides/_rels/notesSlide39.xml.rels><?xml version="1.0" encoding="UTF-8"?>
<Relationships xmlns="http://schemas.openxmlformats.org/package/2006/relationships"><Relationship Id="rId1" Type="http://schemas.openxmlformats.org/officeDocument/2006/relationships/slide" Target="../slides/slide39.xml"/><Relationship Id="rId2" Type="http://schemas.openxmlformats.org/officeDocument/2006/relationships/notesMaster" Target="../notesMasters/notesMaster1.xml"/></Relationships>

</file>

<file path=ppt/notesSlides/_rels/notesSlide40.xml.rels><?xml version="1.0" encoding="UTF-8"?>
<Relationships xmlns="http://schemas.openxmlformats.org/package/2006/relationships"><Relationship Id="rId1" Type="http://schemas.openxmlformats.org/officeDocument/2006/relationships/slide" Target="../slides/slide40.xml"/><Relationship Id="rId2" Type="http://schemas.openxmlformats.org/officeDocument/2006/relationships/notesMaster" Target="../notesMasters/notesMaster1.xml"/></Relationships>

</file>

<file path=ppt/notesSlides/_rels/notesSlide41.xml.rels><?xml version="1.0" encoding="UTF-8"?>
<Relationships xmlns="http://schemas.openxmlformats.org/package/2006/relationships"><Relationship Id="rId1" Type="http://schemas.openxmlformats.org/officeDocument/2006/relationships/slide" Target="../slides/slide41.xml"/><Relationship Id="rId2" Type="http://schemas.openxmlformats.org/officeDocument/2006/relationships/notesMaster" Target="../notesMasters/notesMaster1.xml"/></Relationships>

</file>

<file path=ppt/notesSlides/_rels/notesSlide42.xml.rels><?xml version="1.0" encoding="UTF-8"?>
<Relationships xmlns="http://schemas.openxmlformats.org/package/2006/relationships"><Relationship Id="rId1" Type="http://schemas.openxmlformats.org/officeDocument/2006/relationships/slide" Target="../slides/slide42.xml"/><Relationship Id="rId2" Type="http://schemas.openxmlformats.org/officeDocument/2006/relationships/notesMaster" Target="../notesMasters/notesMaster1.xml"/></Relationships>

</file>

<file path=ppt/notesSlides/_rels/notesSlide43.xml.rels><?xml version="1.0" encoding="UTF-8"?>
<Relationships xmlns="http://schemas.openxmlformats.org/package/2006/relationships"><Relationship Id="rId1" Type="http://schemas.openxmlformats.org/officeDocument/2006/relationships/slide" Target="../slides/slide43.xml"/><Relationship Id="rId2" Type="http://schemas.openxmlformats.org/officeDocument/2006/relationships/notesMaster" Target="../notesMasters/notesMaster1.xml"/></Relationships>

</file>

<file path=ppt/notesSlides/_rels/notesSlide44.xml.rels><?xml version="1.0" encoding="UTF-8"?>
<Relationships xmlns="http://schemas.openxmlformats.org/package/2006/relationships"><Relationship Id="rId1" Type="http://schemas.openxmlformats.org/officeDocument/2006/relationships/slide" Target="../slides/slide44.xml"/><Relationship Id="rId2" Type="http://schemas.openxmlformats.org/officeDocument/2006/relationships/notesMaster" Target="../notesMasters/notesMaster1.xml"/></Relationships>

</file>

<file path=ppt/notesSlides/_rels/notesSlide45.xml.rels><?xml version="1.0" encoding="UTF-8"?>
<Relationships xmlns="http://schemas.openxmlformats.org/package/2006/relationships"><Relationship Id="rId1" Type="http://schemas.openxmlformats.org/officeDocument/2006/relationships/slide" Target="../slides/slide45.xml"/><Relationship Id="rId2" Type="http://schemas.openxmlformats.org/officeDocument/2006/relationships/notesMaster" Target="../notesMasters/notesMaster1.xml"/></Relationships>

</file>

<file path=ppt/notesSlides/_rels/notesSlide46.xml.rels><?xml version="1.0" encoding="UTF-8"?>
<Relationships xmlns="http://schemas.openxmlformats.org/package/2006/relationships"><Relationship Id="rId1" Type="http://schemas.openxmlformats.org/officeDocument/2006/relationships/slide" Target="../slides/slide46.xml"/><Relationship Id="rId2" Type="http://schemas.openxmlformats.org/officeDocument/2006/relationships/notesMaster" Target="../notesMasters/notesMaster1.xml"/></Relationships>

</file>

<file path=ppt/notesSlides/_rels/notesSlide47.xml.rels><?xml version="1.0" encoding="UTF-8"?>
<Relationships xmlns="http://schemas.openxmlformats.org/package/2006/relationships"><Relationship Id="rId1" Type="http://schemas.openxmlformats.org/officeDocument/2006/relationships/slide" Target="../slides/slide47.xml"/><Relationship Id="rId2" Type="http://schemas.openxmlformats.org/officeDocument/2006/relationships/notesMaster" Target="../notesMasters/notesMaster1.xml"/></Relationships>

</file>

<file path=ppt/notesSlides/_rels/notesSlide48.xml.rels><?xml version="1.0" encoding="UTF-8"?>
<Relationships xmlns="http://schemas.openxmlformats.org/package/2006/relationships"><Relationship Id="rId1" Type="http://schemas.openxmlformats.org/officeDocument/2006/relationships/slide" Target="../slides/slide48.xml"/><Relationship Id="rId2" Type="http://schemas.openxmlformats.org/officeDocument/2006/relationships/notesMaster" Target="../notesMasters/notesMaster1.xml"/></Relationships>

</file>

<file path=ppt/notesSlides/_rels/notesSlide49.xml.rels><?xml version="1.0" encoding="UTF-8"?>
<Relationships xmlns="http://schemas.openxmlformats.org/package/2006/relationships"><Relationship Id="rId1" Type="http://schemas.openxmlformats.org/officeDocument/2006/relationships/slide" Target="../slides/slide49.xml"/><Relationship Id="rId2" Type="http://schemas.openxmlformats.org/officeDocument/2006/relationships/notesMaster" Target="../notesMasters/notesMaster1.xml"/></Relationships>

</file>

<file path=ppt/notesSlides/_rels/notesSlide50.xml.rels><?xml version="1.0" encoding="UTF-8"?>
<Relationships xmlns="http://schemas.openxmlformats.org/package/2006/relationships"><Relationship Id="rId1" Type="http://schemas.openxmlformats.org/officeDocument/2006/relationships/slide" Target="../slides/slide50.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4" name="Shape 34"/>
          <p:cNvSpPr/>
          <p:nvPr>
            <p:ph type="sldImg"/>
          </p:nvPr>
        </p:nvSpPr>
        <p:spPr>
          <a:prstGeom prst="rect">
            <a:avLst/>
          </a:prstGeom>
        </p:spPr>
        <p:txBody>
          <a:bodyPr/>
          <a:lstStyle/>
          <a:p>
            <a:pPr/>
          </a:p>
        </p:txBody>
      </p:sp>
      <p:sp>
        <p:nvSpPr>
          <p:cNvPr id="35" name="Shape 35"/>
          <p:cNvSpPr/>
          <p:nvPr>
            <p:ph type="body" sz="quarter" idx="1"/>
          </p:nvPr>
        </p:nvSpPr>
        <p:spPr>
          <a:prstGeom prst="rect">
            <a:avLst/>
          </a:prstGeom>
        </p:spPr>
        <p:txBody>
          <a:bodyPr/>
          <a:lstStyle/>
          <a:p>
            <a:pPr rtl="1">
              <a:defRPr/>
            </a:pPr>
            <a:r>
              <a:t>פתיחה: היום לומדים לעבוד עם סוכני קוד לאורך זמן. התיקייה שומרת את האפיון וההחלטות, והסוכן משתמש בכלים כדי לבצע משימות ולבדוק תוצאות.</a:t>
            </a:r>
          </a:p>
          <a:p>
            <a:pPr rtl="1">
              <a:defRPr/>
            </a:pPr>
            <a:r>
              <a:t>עיצוב ואיור: מצגות הקורס שסיפק המרצה.</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5" name="Shape 45"/>
          <p:cNvSpPr/>
          <p:nvPr>
            <p:ph type="sldImg"/>
          </p:nvPr>
        </p:nvSpPr>
        <p:spPr>
          <a:prstGeom prst="rect">
            <a:avLst/>
          </a:prstGeom>
        </p:spPr>
        <p:txBody>
          <a:bodyPr/>
          <a:lstStyle/>
          <a:p>
            <a:pPr/>
          </a:p>
        </p:txBody>
      </p:sp>
      <p:sp>
        <p:nvSpPr>
          <p:cNvPr id="46" name="Shape 46"/>
          <p:cNvSpPr/>
          <p:nvPr>
            <p:ph type="body" sz="quarter" idx="1"/>
          </p:nvPr>
        </p:nvSpPr>
        <p:spPr>
          <a:prstGeom prst="rect">
            <a:avLst/>
          </a:prstGeom>
        </p:spPr>
        <p:txBody>
          <a:bodyPr/>
          <a:lstStyle/>
          <a:p>
            <a:pPr rtl="1">
              <a:defRPr/>
            </a:pPr>
            <a:r>
              <a:t>צילום מסך שסיפק המרצה מתוך Claude. לוחצים על סימן + ובוחרים Add folder כדי לחבר את תיקיית הפרויקט. אפשר לעבוד ישירות מתוך יישום הסוכן בלי VS Code. התיקייה מרכזת את החומרים, ההנחיות והתוצרים. יכולות הקריאה, העריכה וההרצה תלויות בכלים ובהרשאות הזמינים בסביבת הסוכן. בהמשך נראה כיצד VS Code מרכז תוספי סוכנים וכלים נוספים לעבודה עם קבצים.</a:t>
            </a:r>
          </a:p>
          <a:p>
            <a:pPr/>
          </a:p>
          <a:p>
            <a:pPr rtl="1">
              <a:defRPr/>
            </a:pPr>
            <a:r>
              <a:t>מקורות ותאריך בדיקה: 13.10.2026</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4" name="Shape 54"/>
          <p:cNvSpPr/>
          <p:nvPr>
            <p:ph type="sldImg"/>
          </p:nvPr>
        </p:nvSpPr>
        <p:spPr>
          <a:prstGeom prst="rect">
            <a:avLst/>
          </a:prstGeom>
        </p:spPr>
        <p:txBody>
          <a:bodyPr/>
          <a:lstStyle/>
          <a:p>
            <a:pPr/>
          </a:p>
        </p:txBody>
      </p:sp>
      <p:sp>
        <p:nvSpPr>
          <p:cNvPr id="55" name="Shape 55"/>
          <p:cNvSpPr/>
          <p:nvPr>
            <p:ph type="body" sz="quarter" idx="1"/>
          </p:nvPr>
        </p:nvSpPr>
        <p:spPr>
          <a:prstGeom prst="rect">
            <a:avLst/>
          </a:prstGeom>
        </p:spPr>
        <p:txBody>
          <a:bodyPr/>
          <a:lstStyle/>
          <a:p>
            <a:pPr rtl="1">
              <a:defRPr/>
            </a:pPr>
            <a:r>
              <a:t>צילום מסך שסיפק המרצה מתוך Claude. לוחצים על סימן + ובוחרים Add folder כדי לחבר את תיקיית הפרויקט. אפשר לעבוד ישירות מתוך יישום הסוכן בלי VS Code. התיקייה מרכזת את החומרים, ההנחיות והתוצרים. יכולות הקריאה, העריכה וההרצה תלויות בכלים ובהרשאות הזמינים בסביבת הסוכן. בהמשך נראה כיצד VS Code מרכז תוספי סוכנים וכלים נוספים לעבודה עם קבצים.</a:t>
            </a:r>
          </a:p>
          <a:p>
            <a:pPr/>
          </a:p>
          <a:p>
            <a:pPr rtl="1">
              <a:defRPr/>
            </a:pPr>
            <a:r>
              <a:t>מקורות ותאריך בדיקה: 13.10.2026</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1" name="Shape 61"/>
          <p:cNvSpPr/>
          <p:nvPr>
            <p:ph type="sldImg"/>
          </p:nvPr>
        </p:nvSpPr>
        <p:spPr>
          <a:prstGeom prst="rect">
            <a:avLst/>
          </a:prstGeom>
        </p:spPr>
        <p:txBody>
          <a:bodyPr/>
          <a:lstStyle/>
          <a:p>
            <a:pPr/>
          </a:p>
        </p:txBody>
      </p:sp>
      <p:sp>
        <p:nvSpPr>
          <p:cNvPr id="62" name="Shape 62"/>
          <p:cNvSpPr/>
          <p:nvPr>
            <p:ph type="body" sz="quarter" idx="1"/>
          </p:nvPr>
        </p:nvSpPr>
        <p:spPr>
          <a:prstGeom prst="rect">
            <a:avLst/>
          </a:prstGeom>
        </p:spPr>
        <p:txBody>
          <a:bodyPr/>
          <a:lstStyle/>
          <a:p>
            <a:pPr rtl="1">
              <a:defRPr/>
            </a:pPr>
            <a:r>
              <a:t>צילום מסך שסיפק המרצה מתוך Claude. לוחצים על סימן + ובוחרים Add folder כדי לחבר את תיקיית הפרויקט. אפשר לעבוד ישירות מתוך יישום הסוכן בלי VS Code. התיקייה מרכזת את החומרים, ההנחיות והתוצרים. יכולות הקריאה, העריכה וההרצה תלויות בכלים ובהרשאות הזמינים בסביבת הסוכן. בהמשך נראה כיצד VS Code מרכז תוספי סוכנים וכלים נוספים לעבודה עם קבצים.</a:t>
            </a:r>
          </a:p>
          <a:p>
            <a:pPr/>
          </a:p>
          <a:p>
            <a:pPr rtl="1">
              <a:defRPr/>
            </a:pPr>
            <a:r>
              <a:t>מקורות ותאריך בדיקה: 13.10.2026</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3" name="Shape 73"/>
          <p:cNvSpPr/>
          <p:nvPr>
            <p:ph type="sldImg"/>
          </p:nvPr>
        </p:nvSpPr>
        <p:spPr>
          <a:prstGeom prst="rect">
            <a:avLst/>
          </a:prstGeom>
        </p:spPr>
        <p:txBody>
          <a:bodyPr/>
          <a:lstStyle/>
          <a:p>
            <a:pPr/>
          </a:p>
        </p:txBody>
      </p:sp>
      <p:sp>
        <p:nvSpPr>
          <p:cNvPr id="74" name="Shape 74"/>
          <p:cNvSpPr/>
          <p:nvPr>
            <p:ph type="body" sz="quarter" idx="1"/>
          </p:nvPr>
        </p:nvSpPr>
        <p:spPr>
          <a:prstGeom prst="rect">
            <a:avLst/>
          </a:prstGeom>
        </p:spPr>
        <p:txBody>
          <a:bodyPr/>
          <a:lstStyle/>
          <a:p>
            <a:pPr rtl="1">
              <a:defRPr/>
            </a:pPr>
            <a:r>
              <a:t>מודל שפה מייצר תשובות ובקשות להפעלת כלים. סביבת הסוכן מבצעת את הקריאות ומחזירה תוצאות למודל להחלטת ההמשך. הכלים יכולים להיות מובנים או מחוברים באמצעות MCP. בסביבת ההדגמה זמינים גם חיבורי MCP לעבודה על קבצים שהועברו לסוכן. היכולות בפועל תלויות בכלים שחוברו ובהרשאות. גם מוצר צ׳אט יכול להפעיל כלים, ולכן ההבחנה אינה לפי צורת החלון.</a:t>
            </a:r>
          </a:p>
          <a:p>
            <a:pPr/>
          </a:p>
          <a:p>
            <a:pPr rtl="1">
              <a:defRPr/>
            </a:pPr>
            <a:r>
              <a:t>מקורות ותאריך בדיקה: 13.10.2026</a:t>
            </a:r>
          </a:p>
          <a:p>
            <a:pPr/>
            <a:r>
              <a:t>https://code.claude.com/docs/en/overview</a:t>
            </a:r>
          </a:p>
          <a:p>
            <a:pPr/>
            <a:r>
              <a:t>https://modelcontextprotocol.io/docs/learn/architecture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2" name="Shape 82"/>
          <p:cNvSpPr/>
          <p:nvPr>
            <p:ph type="sldImg"/>
          </p:nvPr>
        </p:nvSpPr>
        <p:spPr>
          <a:prstGeom prst="rect">
            <a:avLst/>
          </a:prstGeom>
        </p:spPr>
        <p:txBody>
          <a:bodyPr/>
          <a:lstStyle/>
          <a:p>
            <a:pPr/>
          </a:p>
        </p:txBody>
      </p:sp>
      <p:sp>
        <p:nvSpPr>
          <p:cNvPr id="83" name="Shape 83"/>
          <p:cNvSpPr/>
          <p:nvPr>
            <p:ph type="body" sz="quarter" idx="1"/>
          </p:nvPr>
        </p:nvSpPr>
        <p:spPr>
          <a:prstGeom prst="rect">
            <a:avLst/>
          </a:prstGeom>
        </p:spPr>
        <p:txBody>
          <a:bodyPr/>
          <a:lstStyle/>
          <a:p>
            <a:pPr rtl="1">
              <a:defRPr/>
            </a:pPr>
            <a:r>
              <a:t>מודל שפה מייצר תשובות ובקשות להפעלת כלים. סביבת הסוכן מבצעת את הקריאות ומחזירה תוצאות למודל להחלטת ההמשך. הכלים יכולים להיות מובנים או מחוברים באמצעות MCP. בסביבת ההדגמה זמינים גם חיבורי MCP לעבודה על קבצים שהועברו לסוכן. היכולות בפועל תלויות בכלים שחוברו ובהרשאות. גם מוצר צ׳אט יכול להפעיל כלים, ולכן ההבחנה אינה לפי צורת החלון.</a:t>
            </a:r>
          </a:p>
          <a:p>
            <a:pPr/>
          </a:p>
          <a:p>
            <a:pPr rtl="1">
              <a:defRPr/>
            </a:pPr>
            <a:r>
              <a:t>מקורות ותאריך בדיקה: 13.10.2026</a:t>
            </a:r>
          </a:p>
          <a:p>
            <a:pPr/>
            <a:r>
              <a:t>https://code.claude.com/docs/en/overview</a:t>
            </a:r>
          </a:p>
          <a:p>
            <a:pPr/>
            <a:r>
              <a:t>https://modelcontextprotocol.io/docs/learn/architecture</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9" name="Shape 89"/>
          <p:cNvSpPr/>
          <p:nvPr>
            <p:ph type="sldImg"/>
          </p:nvPr>
        </p:nvSpPr>
        <p:spPr>
          <a:prstGeom prst="rect">
            <a:avLst/>
          </a:prstGeom>
        </p:spPr>
        <p:txBody>
          <a:bodyPr/>
          <a:lstStyle/>
          <a:p>
            <a:pPr/>
          </a:p>
        </p:txBody>
      </p:sp>
      <p:sp>
        <p:nvSpPr>
          <p:cNvPr id="90" name="Shape 90"/>
          <p:cNvSpPr/>
          <p:nvPr>
            <p:ph type="body" sz="quarter" idx="1"/>
          </p:nvPr>
        </p:nvSpPr>
        <p:spPr>
          <a:prstGeom prst="rect">
            <a:avLst/>
          </a:prstGeom>
        </p:spPr>
        <p:txBody>
          <a:bodyPr/>
          <a:lstStyle/>
          <a:p>
            <a:pPr rtl="1">
              <a:defRPr/>
            </a:pPr>
            <a:r>
              <a:t>מודל שפה מייצר תשובות ובקשות להפעלת כלים. סביבת הסוכן מבצעת את הקריאות ומחזירה תוצאות למודל להחלטת ההמשך. הכלים יכולים להיות מובנים או מחוברים באמצעות MCP. בסביבת ההדגמה זמינים גם חיבורי MCP לעבודה על קבצים שהועברו לסוכן. היכולות בפועל תלויות בכלים שחוברו ובהרשאות. גם מוצר צ׳אט יכול להפעיל כלים, ולכן ההבחנה אינה לפי צורת החלון.</a:t>
            </a:r>
          </a:p>
          <a:p>
            <a:pPr/>
          </a:p>
          <a:p>
            <a:pPr rtl="1">
              <a:defRPr/>
            </a:pPr>
            <a:r>
              <a:t>מקורות ותאריך בדיקה: 13.10.2026</a:t>
            </a:r>
          </a:p>
          <a:p>
            <a:pPr/>
            <a:r>
              <a:t>https://code.claude.com/docs/en/overview</a:t>
            </a:r>
          </a:p>
          <a:p>
            <a:pPr/>
            <a:r>
              <a:t>https://modelcontextprotocol.io/docs/learn/architecture</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2" name="Shape 102"/>
          <p:cNvSpPr/>
          <p:nvPr>
            <p:ph type="sldImg"/>
          </p:nvPr>
        </p:nvSpPr>
        <p:spPr>
          <a:prstGeom prst="rect">
            <a:avLst/>
          </a:prstGeom>
        </p:spPr>
        <p:txBody>
          <a:bodyPr/>
          <a:lstStyle/>
          <a:p>
            <a:pPr/>
          </a:p>
        </p:txBody>
      </p:sp>
      <p:sp>
        <p:nvSpPr>
          <p:cNvPr id="103" name="Shape 103"/>
          <p:cNvSpPr/>
          <p:nvPr>
            <p:ph type="body" sz="quarter" idx="1"/>
          </p:nvPr>
        </p:nvSpPr>
        <p:spPr>
          <a:prstGeom prst="rect">
            <a:avLst/>
          </a:prstGeom>
        </p:spPr>
        <p:txBody>
          <a:bodyPr/>
          <a:lstStyle/>
          <a:p>
            <a:pPr/>
          </a:p>
          <a:p>
            <a:pPr/>
          </a:p>
          <a:p>
            <a:pPr rtl="1">
              <a:defRPr/>
            </a:pPr>
            <a:r>
              <a:t>מקורות ותאריך בדיקה: 13.10.2026</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6" name="Shape 116"/>
          <p:cNvSpPr/>
          <p:nvPr>
            <p:ph type="sldImg"/>
          </p:nvPr>
        </p:nvSpPr>
        <p:spPr>
          <a:prstGeom prst="rect">
            <a:avLst/>
          </a:prstGeom>
        </p:spPr>
        <p:txBody>
          <a:bodyPr/>
          <a:lstStyle/>
          <a:p>
            <a:pPr/>
          </a:p>
        </p:txBody>
      </p:sp>
      <p:sp>
        <p:nvSpPr>
          <p:cNvPr id="117" name="Shape 117"/>
          <p:cNvSpPr/>
          <p:nvPr>
            <p:ph type="body" sz="quarter" idx="1"/>
          </p:nvPr>
        </p:nvSpPr>
        <p:spPr>
          <a:prstGeom prst="rect">
            <a:avLst/>
          </a:prstGeom>
        </p:spPr>
        <p:txBody>
          <a:bodyPr/>
          <a:lstStyle/>
          <a:p>
            <a:pPr rtl="1">
              <a:defRPr/>
            </a:pPr>
            <a:r>
              <a:t>התשתיות מספקות בסיס ליישום עצמאי. הבחירה בכלים מאפשרת להרחיב אותו לפי הרעיון: מסמכים, תקשורת, תשלומים, AI ועוד. הסוכנים מסייעים לחבר את השירותים ולממש את ההתנהגות הרצויה.</a:t>
            </a:r>
          </a:p>
          <a:p>
            <a:pPr/>
          </a:p>
          <a:p>
            <a:pPr rtl="1">
              <a:defRPr/>
            </a:pPr>
            <a:r>
              <a:t>מקורות ותאריך בדיקה: 13.10.2026</a:t>
            </a:r>
          </a:p>
          <a:p>
            <a:pPr/>
            <a:r>
              <a:t>https://nextjs.org/docs/app/getting-started/installation</a:t>
            </a:r>
          </a:p>
          <a:p>
            <a:pPr/>
            <a:r>
              <a:t>https://supabase.com/docs</a:t>
            </a:r>
          </a:p>
          <a:p>
            <a:pPr/>
            <a:r>
              <a:t>https://vercel.com/docs/deployments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8" name="Shape 128"/>
          <p:cNvSpPr/>
          <p:nvPr>
            <p:ph type="sldImg"/>
          </p:nvPr>
        </p:nvSpPr>
        <p:spPr>
          <a:prstGeom prst="rect">
            <a:avLst/>
          </a:prstGeom>
        </p:spPr>
        <p:txBody>
          <a:bodyPr/>
          <a:lstStyle/>
          <a:p>
            <a:pPr/>
          </a:p>
        </p:txBody>
      </p:sp>
      <p:sp>
        <p:nvSpPr>
          <p:cNvPr id="129" name="Shape 129"/>
          <p:cNvSpPr/>
          <p:nvPr>
            <p:ph type="body" sz="quarter" idx="1"/>
          </p:nvPr>
        </p:nvSpPr>
        <p:spPr>
          <a:prstGeom prst="rect">
            <a:avLst/>
          </a:prstGeom>
        </p:spPr>
        <p:txBody>
          <a:bodyPr/>
          <a:lstStyle/>
          <a:p>
            <a:pPr rtl="1">
              <a:defRPr/>
            </a:pPr>
            <a:r>
              <a:t>הפרוטוקול MCP מאפשר לסביבת הסוכן להתחבר לשרתים המספקים כלים ומקורות מידע. הוא אינו מודל נוסף ואינו מעניק הרשאות אוטומטית. קריאת קבצים מקומיים יכולה להתבצע בכלי מובנה או בשרת MCP. בהדגמה יש גם חיבורי MCP לעבודה על קבצים שהסוכן קיבל.</a:t>
            </a:r>
          </a:p>
          <a:p>
            <a:pPr/>
          </a:p>
          <a:p>
            <a:pPr rtl="1">
              <a:defRPr/>
            </a:pPr>
            <a:r>
              <a:t>מקורות ותאריך בדיקה: 13.10.2026</a:t>
            </a:r>
          </a:p>
          <a:p>
            <a:pPr/>
            <a:r>
              <a:t>https://modelcontextprotocol.io/docs/learn/architecture</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2" name="Shape 142"/>
          <p:cNvSpPr/>
          <p:nvPr>
            <p:ph type="sldImg"/>
          </p:nvPr>
        </p:nvSpPr>
        <p:spPr>
          <a:prstGeom prst="rect">
            <a:avLst/>
          </a:prstGeom>
        </p:spPr>
        <p:txBody>
          <a:bodyPr/>
          <a:lstStyle/>
          <a:p>
            <a:pPr/>
          </a:p>
        </p:txBody>
      </p:sp>
      <p:sp>
        <p:nvSpPr>
          <p:cNvPr id="143" name="Shape 143"/>
          <p:cNvSpPr/>
          <p:nvPr>
            <p:ph type="body" sz="quarter" idx="1"/>
          </p:nvPr>
        </p:nvSpPr>
        <p:spPr>
          <a:prstGeom prst="rect">
            <a:avLst/>
          </a:prstGeom>
        </p:spPr>
        <p:txBody>
          <a:bodyPr/>
          <a:lstStyle/>
          <a:p>
            <a:pPr rtl="1">
              <a:defRPr/>
            </a:pPr>
            <a:r>
              <a:t>אפשר להמשיך לעבוד ביישום הסוכן או בטרמינל. VS Code הוא סביבת עבודה נוספת ונוחה. תוספי Claude Code ו־Codex מאפשרים לעבוד עם סוכנים שונים על אותה תיקייה. המעבר בין תוספים אינו מעביר אוטומטית היסטוריית שיחה. קובצי האפיון והמצב מאפשרים להעביר הקשר. תוספים נוספים מספקים תצוגת Markdown, עבודה עם נתונים וקבצים וכלי פיתוח. מתקינים גם Node.js ו־Git לפי דרישות הפרויקט.</a:t>
            </a:r>
          </a:p>
          <a:p>
            <a:pPr/>
          </a:p>
          <a:p>
            <a:pPr rtl="1">
              <a:defRPr/>
            </a:pPr>
            <a:r>
              <a:t>מקורות ותאריך בדיקה: 13.10.2026</a:t>
            </a:r>
          </a:p>
          <a:p>
            <a:pPr/>
            <a:r>
              <a:t>https://code.visualstudio.com/docs/editing/getting-started/editor-tutorial</a:t>
            </a:r>
          </a:p>
          <a:p>
            <a:pPr/>
            <a:r>
              <a:t>https://code.claude.com/docs/en/vs-code</a:t>
            </a:r>
          </a:p>
          <a:p>
            <a:pPr/>
            <a:r>
              <a:t>https://learn.chatgpt.com/docs/codex/ide</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6" name="Shape 156"/>
          <p:cNvSpPr/>
          <p:nvPr>
            <p:ph type="sldImg"/>
          </p:nvPr>
        </p:nvSpPr>
        <p:spPr>
          <a:prstGeom prst="rect">
            <a:avLst/>
          </a:prstGeom>
        </p:spPr>
        <p:txBody>
          <a:bodyPr/>
          <a:lstStyle/>
          <a:p>
            <a:pPr/>
          </a:p>
        </p:txBody>
      </p:sp>
      <p:sp>
        <p:nvSpPr>
          <p:cNvPr id="157" name="Shape 157"/>
          <p:cNvSpPr/>
          <p:nvPr>
            <p:ph type="body" sz="quarter" idx="1"/>
          </p:nvPr>
        </p:nvSpPr>
        <p:spPr>
          <a:prstGeom prst="rect">
            <a:avLst/>
          </a:prstGeom>
        </p:spPr>
        <p:txBody>
          <a:bodyPr/>
          <a:lstStyle/>
          <a:p>
            <a:pPr rtl="1">
              <a:defRPr/>
            </a:pPr>
            <a:r>
              <a:t>נשתמש ב־VS Code במהלך הקורס. מתקינים את יישום שולחן העבודה מהאתר הרשמי. ב־Windows מפעילים את קובץ ההתקנה וב־Mac מחלצים את ההורדה וגוררים ל־Applications. ב־Linux פועלים לפי הוראות ההפצה באתר.</a:t>
            </a:r>
          </a:p>
          <a:p>
            <a:pPr/>
          </a:p>
          <a:p>
            <a:pPr rtl="1">
              <a:defRPr/>
            </a:pPr>
            <a:r>
              <a:t>מקורות ותאריך בדיקה: 13.10.2026</a:t>
            </a:r>
          </a:p>
          <a:p>
            <a:pPr/>
            <a:r>
              <a:t>https://code.visualstudio.com/download</a:t>
            </a:r>
          </a:p>
          <a:p>
            <a:pPr/>
            <a:r>
              <a:t>https://code.visualstudio.com/docs/getstarted/overview</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0" name="Shape 170"/>
          <p:cNvSpPr/>
          <p:nvPr>
            <p:ph type="sldImg"/>
          </p:nvPr>
        </p:nvSpPr>
        <p:spPr>
          <a:prstGeom prst="rect">
            <a:avLst/>
          </a:prstGeom>
        </p:spPr>
        <p:txBody>
          <a:bodyPr/>
          <a:lstStyle/>
          <a:p>
            <a:pPr/>
          </a:p>
        </p:txBody>
      </p:sp>
      <p:sp>
        <p:nvSpPr>
          <p:cNvPr id="171" name="Shape 171"/>
          <p:cNvSpPr/>
          <p:nvPr>
            <p:ph type="body" sz="quarter" idx="1"/>
          </p:nvPr>
        </p:nvSpPr>
        <p:spPr>
          <a:prstGeom prst="rect">
            <a:avLst/>
          </a:prstGeom>
        </p:spPr>
        <p:txBody>
          <a:bodyPr/>
          <a:lstStyle/>
          <a:p>
            <a:pPr rtl="1">
              <a:defRPr/>
            </a:pPr>
            <a:r>
              <a:t>נשתמש במהלך הקורס גם בסביבת Antigravity של Google. באתר קיימים כמה מוצרים, ובשיעור זה הכוונה לעורך Antigravity IDE העצמאי. בוחרים את ההורדה למערכת ההפעלה ולסוג המעבד. משלימים את ההתקנה וההתחברות לפי המסכים המוצגים. התוספים בשקפים הבאים מודגמים ב־VS Code.</a:t>
            </a:r>
          </a:p>
          <a:p>
            <a:pPr/>
          </a:p>
          <a:p>
            <a:pPr rtl="1">
              <a:defRPr/>
            </a:pPr>
            <a:r>
              <a:t>מקורות ותאריך בדיקה: 13.10.2026</a:t>
            </a:r>
          </a:p>
          <a:p>
            <a:pPr/>
            <a:r>
              <a:t>https://antigravity.google/download</a:t>
            </a:r>
          </a:p>
          <a:p>
            <a:pPr/>
            <a:r>
              <a:t>https://antigravity.google/docs/getting-started</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3" name="Shape 183"/>
          <p:cNvSpPr/>
          <p:nvPr>
            <p:ph type="sldImg"/>
          </p:nvPr>
        </p:nvSpPr>
        <p:spPr>
          <a:prstGeom prst="rect">
            <a:avLst/>
          </a:prstGeom>
        </p:spPr>
        <p:txBody>
          <a:bodyPr/>
          <a:lstStyle/>
          <a:p>
            <a:pPr/>
          </a:p>
        </p:txBody>
      </p:sp>
      <p:sp>
        <p:nvSpPr>
          <p:cNvPr id="184" name="Shape 184"/>
          <p:cNvSpPr/>
          <p:nvPr>
            <p:ph type="body" sz="quarter" idx="1"/>
          </p:nvPr>
        </p:nvSpPr>
        <p:spPr>
          <a:prstGeom prst="rect">
            <a:avLst/>
          </a:prstGeom>
        </p:spPr>
        <p:txBody>
          <a:bodyPr/>
          <a:lstStyle/>
          <a:p>
            <a:pPr rtl="1">
              <a:defRPr/>
            </a:pPr>
            <a:r>
              <a:t>צילום מקור: מדריך Harvard CS205 משנת 2020, עמוד 5. הצילום מדגים תפריט Windows ותיק יחסית. הנתיב File &gt; Open Folder קיים גם בתיעוד Microsoft הנוכחי. ב־macOS התפריט נמצא בשורת התפריטים העליונה. מקשי Windows: Ctrl+K ואז Ctrl+O. ב־Mac: Cmd+K ואז Cmd+O.</a:t>
            </a:r>
          </a:p>
          <a:p>
            <a:pPr/>
          </a:p>
          <a:p>
            <a:pPr rtl="1">
              <a:defRPr/>
            </a:pPr>
            <a:r>
              <a:t>מקורות ותאריך בדיקה: 13.10.2026</a:t>
            </a:r>
          </a:p>
          <a:p>
            <a:pPr/>
            <a:r>
              <a:t>https://code.visualstudio.com/docs/editing/getting-started/editor-tutorial</a:t>
            </a:r>
          </a:p>
          <a:p>
            <a:pPr/>
            <a:r>
              <a:t>https://harvard-iacs.github.io/2021-CS205/pages/VS_Code_Install_Guide.pdf</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6" name="Shape 196"/>
          <p:cNvSpPr/>
          <p:nvPr>
            <p:ph type="sldImg"/>
          </p:nvPr>
        </p:nvSpPr>
        <p:spPr>
          <a:prstGeom prst="rect">
            <a:avLst/>
          </a:prstGeom>
        </p:spPr>
        <p:txBody>
          <a:bodyPr/>
          <a:lstStyle/>
          <a:p>
            <a:pPr/>
          </a:p>
        </p:txBody>
      </p:sp>
      <p:sp>
        <p:nvSpPr>
          <p:cNvPr id="197" name="Shape 197"/>
          <p:cNvSpPr/>
          <p:nvPr>
            <p:ph type="body" sz="quarter" idx="1"/>
          </p:nvPr>
        </p:nvSpPr>
        <p:spPr>
          <a:prstGeom prst="rect">
            <a:avLst/>
          </a:prstGeom>
        </p:spPr>
        <p:txBody>
          <a:bodyPr/>
          <a:lstStyle/>
          <a:p>
            <a:pPr rtl="1">
              <a:defRPr/>
            </a:pPr>
            <a:r>
              <a:t>צילום Microsoft מתוך מדריך העורך. השם vscode101 הוא שם הדוגמה במדריך. בכיתה שם התיקייה יהיה my-project. פתיחת התיקייה אינה גורמת לסוכן לקרוא אוטומטית את כל הקבצים.</a:t>
            </a:r>
          </a:p>
          <a:p>
            <a:pPr/>
          </a:p>
          <a:p>
            <a:pPr rtl="1">
              <a:defRPr/>
            </a:pPr>
            <a:r>
              <a:t>מקורות ותאריך בדיקה: 13.10.2026</a:t>
            </a:r>
          </a:p>
          <a:p>
            <a:pPr/>
            <a:r>
              <a:t>https://code.visualstudio.com/docs/editing/getting-started/editor-tutorial</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1" name="Shape 211"/>
          <p:cNvSpPr/>
          <p:nvPr>
            <p:ph type="sldImg"/>
          </p:nvPr>
        </p:nvSpPr>
        <p:spPr>
          <a:prstGeom prst="rect">
            <a:avLst/>
          </a:prstGeom>
        </p:spPr>
        <p:txBody>
          <a:bodyPr/>
          <a:lstStyle/>
          <a:p>
            <a:pPr/>
          </a:p>
        </p:txBody>
      </p:sp>
      <p:sp>
        <p:nvSpPr>
          <p:cNvPr id="212" name="Shape 212"/>
          <p:cNvSpPr/>
          <p:nvPr>
            <p:ph type="body" sz="quarter" idx="1"/>
          </p:nvPr>
        </p:nvSpPr>
        <p:spPr>
          <a:prstGeom prst="rect">
            <a:avLst/>
          </a:prstGeom>
        </p:spPr>
        <p:txBody>
          <a:bodyPr/>
          <a:lstStyle/>
          <a:p>
            <a:pPr rtl="1">
              <a:defRPr/>
            </a:pPr>
            <a:r>
              <a:t>צילום Microsoft מדגים את חלון התוספים. התלמידים מחפשים את אחד משני התוספים הרשמיים ומוודאים את המפרסם. אין צורך להתקין תוספי צד שלישי דומים. המזהים הרשמיים: anthropic.claude-code ו־openai.chatgpt. אחרי ההתקנה פותחים את חלונית הסוכן ומשלימים Sign in בחשבון המתאים.</a:t>
            </a:r>
          </a:p>
          <a:p>
            <a:pPr/>
          </a:p>
          <a:p>
            <a:pPr rtl="1">
              <a:defRPr/>
            </a:pPr>
            <a:r>
              <a:t>מקורות ותאריך בדיקה: 13.10.2026</a:t>
            </a:r>
          </a:p>
          <a:p>
            <a:pPr/>
            <a:r>
              <a:t>https://code.visualstudio.com/docs/editing/getting-started/editor-tutorial</a:t>
            </a:r>
          </a:p>
          <a:p>
            <a:pPr/>
            <a:r>
              <a:t>https://code.claude.com/docs/en/vs-code</a:t>
            </a:r>
          </a:p>
          <a:p>
            <a:pPr/>
            <a:r>
              <a:t>https://learn.chatgpt.com/docs/codex/ide</a:t>
            </a:r>
          </a:p>
          <a:p>
            <a:pPr/>
            <a:r>
              <a:t>https://marketplace.visualstudio.com/items?itemName=anthropic.claude-code</a:t>
            </a:r>
          </a:p>
          <a:p>
            <a:pPr/>
            <a:r>
              <a:t>https://marketplace.visualstudio.com/items?itemName=openai.chatgpt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3" name="Shape 223"/>
          <p:cNvSpPr/>
          <p:nvPr>
            <p:ph type="sldImg"/>
          </p:nvPr>
        </p:nvSpPr>
        <p:spPr>
          <a:prstGeom prst="rect">
            <a:avLst/>
          </a:prstGeom>
        </p:spPr>
        <p:txBody>
          <a:bodyPr/>
          <a:lstStyle/>
          <a:p>
            <a:pPr/>
          </a:p>
        </p:txBody>
      </p:sp>
      <p:sp>
        <p:nvSpPr>
          <p:cNvPr id="224" name="Shape 224"/>
          <p:cNvSpPr/>
          <p:nvPr>
            <p:ph type="body" sz="quarter" idx="1"/>
          </p:nvPr>
        </p:nvSpPr>
        <p:spPr>
          <a:prstGeom prst="rect">
            <a:avLst/>
          </a:prstGeom>
        </p:spPr>
        <p:txBody>
          <a:bodyPr/>
          <a:lstStyle/>
          <a:p>
            <a:pPr rtl="1">
              <a:defRPr/>
            </a:pPr>
            <a:r>
              <a:t>צילום Microsoft מדגים את חלון התוספים. התלמידים מחפשים את אחד משני התוספים הרשמיים ומוודאים את המפרסם. אין צורך להתקין תוספי צד שלישי דומים. המזהים הרשמיים: anthropic.claude-code ו־openai.chatgpt. אחרי ההתקנה פותחים את חלונית הסוכן ומשלימים Sign in בחשבון המתאים.</a:t>
            </a:r>
          </a:p>
          <a:p>
            <a:pPr/>
          </a:p>
          <a:p>
            <a:pPr rtl="1">
              <a:defRPr/>
            </a:pPr>
            <a:r>
              <a:t>מקורות ותאריך בדיקה: 13.10.2026</a:t>
            </a:r>
          </a:p>
          <a:p>
            <a:pPr/>
            <a:r>
              <a:t>https://code.visualstudio.com/docs/editing/getting-started/editor-tutorial</a:t>
            </a:r>
          </a:p>
          <a:p>
            <a:pPr/>
            <a:r>
              <a:t>https://code.claude.com/docs/en/vs-code</a:t>
            </a:r>
          </a:p>
          <a:p>
            <a:pPr/>
            <a:r>
              <a:t>https://learn.chatgpt.com/docs/codex/ide</a:t>
            </a:r>
          </a:p>
          <a:p>
            <a:pPr/>
            <a:r>
              <a:t>https://marketplace.visualstudio.com/items?itemName=anthropic.claude-code</a:t>
            </a:r>
          </a:p>
          <a:p>
            <a:pPr/>
            <a:r>
              <a:t>https://marketplace.visualstudio.com/items?itemName=openai.chatgpt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7" name="Shape 237"/>
          <p:cNvSpPr/>
          <p:nvPr>
            <p:ph type="sldImg"/>
          </p:nvPr>
        </p:nvSpPr>
        <p:spPr>
          <a:prstGeom prst="rect">
            <a:avLst/>
          </a:prstGeom>
        </p:spPr>
        <p:txBody>
          <a:bodyPr/>
          <a:lstStyle/>
          <a:p>
            <a:pPr/>
          </a:p>
        </p:txBody>
      </p:sp>
      <p:sp>
        <p:nvSpPr>
          <p:cNvPr id="238" name="Shape 238"/>
          <p:cNvSpPr/>
          <p:nvPr>
            <p:ph type="body" sz="quarter" idx="1"/>
          </p:nvPr>
        </p:nvSpPr>
        <p:spPr>
          <a:prstGeom prst="rect">
            <a:avLst/>
          </a:prstGeom>
        </p:spPr>
        <p:txBody>
          <a:bodyPr/>
          <a:lstStyle/>
          <a:p>
            <a:pPr rtl="1">
              <a:defRPr/>
            </a:pPr>
            <a:r>
              <a:t>ההדגמה ב־VS Code. פותחים Extensions, מחפשים את מזהה התוסף ritwickdey.LiveServer ומתקינים. פותחים תיקייה ולא רק קובץ יחיד. פותחים index.html, בוחרים Open with Live Server או Go Live. שמירת שינוי מרעננת את הדף. בפרויקט Next.js משתמשים בשרת הפיתוח של הפרויקט, npm run dev.</a:t>
            </a:r>
          </a:p>
          <a:p>
            <a:pPr/>
          </a:p>
          <a:p>
            <a:pPr rtl="1">
              <a:defRPr/>
            </a:pPr>
            <a:r>
              <a:t>מקורות ותאריך בדיקה: 13.10.2026</a:t>
            </a:r>
          </a:p>
          <a:p>
            <a:pPr/>
            <a:r>
              <a:t>https://marketplace.visualstudio.com/items?itemName=ritwickdey.LiveServer</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1" name="Shape 251"/>
          <p:cNvSpPr/>
          <p:nvPr>
            <p:ph type="sldImg"/>
          </p:nvPr>
        </p:nvSpPr>
        <p:spPr>
          <a:prstGeom prst="rect">
            <a:avLst/>
          </a:prstGeom>
        </p:spPr>
        <p:txBody>
          <a:bodyPr/>
          <a:lstStyle/>
          <a:p>
            <a:pPr/>
          </a:p>
        </p:txBody>
      </p:sp>
      <p:sp>
        <p:nvSpPr>
          <p:cNvPr id="252" name="Shape 252"/>
          <p:cNvSpPr/>
          <p:nvPr>
            <p:ph type="body" sz="quarter" idx="1"/>
          </p:nvPr>
        </p:nvSpPr>
        <p:spPr>
          <a:prstGeom prst="rect">
            <a:avLst/>
          </a:prstGeom>
        </p:spPr>
        <p:txBody>
          <a:bodyPr/>
          <a:lstStyle/>
          <a:p>
            <a:pPr rtl="1">
              <a:defRPr/>
            </a:pPr>
            <a:r>
              <a:t>ההדגמה ב־VS Code. מזהה התוסף cweijan.vscode-office. התוסף תומך בצפייה בסוגי קבצים שונים ובהם DOCX, XLSX, PPTX ו־PDF לפי תיעודו. אם הקובץ נפתח בעורך אחר, משתמשים בתפריט Reopen Editor With לבחירת הצופה המתאים. זמינות התוספים בעורכים אחרים תלויה בקטלוג ובגרסה שלהם.</a:t>
            </a:r>
          </a:p>
          <a:p>
            <a:pPr/>
          </a:p>
          <a:p>
            <a:pPr rtl="1">
              <a:defRPr/>
            </a:pPr>
            <a:r>
              <a:t>מקורות ותאריך בדיקה: 13.10.2026</a:t>
            </a:r>
          </a:p>
          <a:p>
            <a:pPr/>
            <a:r>
              <a:t>https://marketplace.visualstudio.com/items?itemName=cweijan.vscode-office</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9" name="Shape 259"/>
          <p:cNvSpPr/>
          <p:nvPr>
            <p:ph type="sldImg"/>
          </p:nvPr>
        </p:nvSpPr>
        <p:spPr>
          <a:prstGeom prst="rect">
            <a:avLst/>
          </a:prstGeom>
        </p:spPr>
        <p:txBody>
          <a:bodyPr/>
          <a:lstStyle/>
          <a:p>
            <a:pPr/>
          </a:p>
        </p:txBody>
      </p:sp>
      <p:sp>
        <p:nvSpPr>
          <p:cNvPr id="260" name="Shape 260"/>
          <p:cNvSpPr/>
          <p:nvPr>
            <p:ph type="body" sz="quarter" idx="1"/>
          </p:nvPr>
        </p:nvSpPr>
        <p:spPr>
          <a:prstGeom prst="rect">
            <a:avLst/>
          </a:prstGeom>
        </p:spPr>
        <p:txBody>
          <a:bodyPr/>
          <a:lstStyle/>
          <a:p>
            <a:pPr rtl="1">
              <a:defRPr/>
            </a:pPr>
            <a:r>
              <a:t>פרומפט להעתקה. מחליפים את הטקסט בסוגריים מרובעים בפרטים של הפרויקט. בהדבקה מאחדים את כל חלקי אותו פרומפט.</a:t>
            </a:r>
          </a:p>
          <a:p>
            <a:pPr/>
          </a:p>
          <a:p>
            <a:pPr rtl="1">
              <a:defRPr/>
            </a:pPr>
            <a:r>
              <a:t>הפרומפט המלא בשקף:</a:t>
            </a:r>
          </a:p>
          <a:p>
            <a:pPr rtl="1">
              <a:defRPr/>
            </a:pPr>
            <a:r>
              <a:t>פעל כסוכן פיתוח שמלווה אותי מהרעיון לגרסה ראשונה עובדת.</a:t>
            </a:r>
          </a:p>
          <a:p>
            <a:pPr rtl="1">
              <a:defRPr/>
            </a:pPr>
            <a:r>
              <a:t>המוצר שאני רוצה לבנות: [תיאור הרעיון וקהל היעד].</a:t>
            </a:r>
          </a:p>
          <a:p>
            <a:pPr rtl="1">
              <a:defRPr/>
            </a:pPr>
            <a:r>
              <a:t>הפעולה המרכזית שהמשתמש צריך לבצע: [תיאור הפעולה].</a:t>
            </a:r>
          </a:p>
          <a:p>
            <a:pPr rtl="1">
              <a:defRPr/>
            </a:pPr>
            <a:r>
              <a:t>התחל בהבנת הדרישה ובסקירת החומרים שסיפקתי בתיקייה.</a:t>
            </a:r>
          </a:p>
          <a:p>
            <a:pPr rtl="1">
              <a:defRPr/>
            </a:pPr>
            <a:r>
              <a:t>קרא הנחיות קיימות, קוד ומסמכים. שמור עבודה קיימת.</a:t>
            </a:r>
          </a:p>
          <a:p>
            <a:pPr rtl="1">
              <a:defRPr/>
            </a:pPr>
            <a:r>
              <a:t>הצג מה הבנת, מה כבר קיים ואילו פרטים דרושים להחלטה.</a:t>
            </a:r>
          </a:p>
          <a:p>
            <a:pPr rtl="1">
              <a:defRPr/>
            </a:pPr>
            <a:r>
              <a:t>שאל שאלות ממוקדות רק כשחסר מידע שמשנה את המוצר.</a:t>
            </a:r>
          </a:p>
          <a:p>
            <a:pPr rtl="1">
              <a:defRPr/>
            </a:pPr>
            <a:r>
              <a:t>הצע גרסה ראשונה ממוקדת, כולל מה יישאר לשלב הבא.</a:t>
            </a:r>
          </a:p>
          <a:p>
            <a:pPr rtl="1">
              <a:defRPr/>
            </a:pPr>
            <a:r>
              <a:t>הצע שימוש ב־Next.js, ב־Supabase וב־Vercel לפי הצורך.</a:t>
            </a:r>
          </a:p>
          <a:p>
            <a:pPr rtl="1">
              <a:defRPr/>
            </a:pPr>
            <a:r>
              <a:t>הסבר מה כל כלי ייתן למוצר ואילו חיבורים נוספים יקדמו אותו.</a:t>
            </a:r>
          </a:p>
          <a:p>
            <a:pPr rtl="1">
              <a:defRPr/>
            </a:pPr>
            <a:r>
              <a:t>בדוק אילו כלים וחיבורי MCP זמינים לך לעבודה על החומרים.</a:t>
            </a:r>
          </a:p>
          <a:p>
            <a:pPr/>
          </a:p>
          <a:p>
            <a:pPr rtl="1">
              <a:defRPr/>
            </a:pPr>
            <a:r>
              <a:t>מקורות ותאריך בדיקה: 13.10.2026</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8" name="Shape 268"/>
          <p:cNvSpPr/>
          <p:nvPr>
            <p:ph type="sldImg"/>
          </p:nvPr>
        </p:nvSpPr>
        <p:spPr>
          <a:prstGeom prst="rect">
            <a:avLst/>
          </a:prstGeom>
        </p:spPr>
        <p:txBody>
          <a:bodyPr/>
          <a:lstStyle/>
          <a:p>
            <a:pPr/>
          </a:p>
        </p:txBody>
      </p:sp>
      <p:sp>
        <p:nvSpPr>
          <p:cNvPr id="269" name="Shape 269"/>
          <p:cNvSpPr/>
          <p:nvPr>
            <p:ph type="body" sz="quarter" idx="1"/>
          </p:nvPr>
        </p:nvSpPr>
        <p:spPr>
          <a:prstGeom prst="rect">
            <a:avLst/>
          </a:prstGeom>
        </p:spPr>
        <p:txBody>
          <a:bodyPr/>
          <a:lstStyle/>
          <a:p>
            <a:pPr rtl="1">
              <a:defRPr/>
            </a:pPr>
            <a:r>
              <a:t>פרומפט להעתקה. מחליפים את הטקסט בסוגריים מרובעים בפרטים של הפרויקט. בהדבקה מאחדים את כל חלקי אותו פרומפט.</a:t>
            </a:r>
          </a:p>
          <a:p>
            <a:pPr/>
          </a:p>
          <a:p>
            <a:pPr rtl="1">
              <a:defRPr/>
            </a:pPr>
            <a:r>
              <a:t>הפרומפט המלא בשקף:</a:t>
            </a:r>
          </a:p>
          <a:p>
            <a:pPr rtl="1">
              <a:defRPr/>
            </a:pPr>
            <a:r>
              <a:t>פעל כסוכן פיתוח שמלווה אותי מהרעיון לגרסה ראשונה עובדת.</a:t>
            </a:r>
          </a:p>
          <a:p>
            <a:pPr rtl="1">
              <a:defRPr/>
            </a:pPr>
            <a:r>
              <a:t>המוצר שאני רוצה לבנות: [תיאור הרעיון וקהל היעד].</a:t>
            </a:r>
          </a:p>
          <a:p>
            <a:pPr rtl="1">
              <a:defRPr/>
            </a:pPr>
            <a:r>
              <a:t>הפעולה המרכזית שהמשתמש צריך לבצע: [תיאור הפעולה].</a:t>
            </a:r>
          </a:p>
          <a:p>
            <a:pPr rtl="1">
              <a:defRPr/>
            </a:pPr>
            <a:r>
              <a:t>התחל בהבנת הדרישה ובסקירת החומרים שסיפקתי בתיקייה.</a:t>
            </a:r>
          </a:p>
          <a:p>
            <a:pPr rtl="1">
              <a:defRPr/>
            </a:pPr>
            <a:r>
              <a:t>קרא הנחיות קיימות, קוד ומסמכים. שמור עבודה קיימת.</a:t>
            </a:r>
          </a:p>
          <a:p>
            <a:pPr rtl="1">
              <a:defRPr/>
            </a:pPr>
            <a:r>
              <a:t>הצג מה הבנת, מה כבר קיים ואילו פרטים דרושים להחלטה.</a:t>
            </a:r>
          </a:p>
          <a:p>
            <a:pPr rtl="1">
              <a:defRPr/>
            </a:pPr>
            <a:r>
              <a:t>שאל שאלות ממוקדות רק כשחסר מידע שמשנה את המוצר.</a:t>
            </a:r>
          </a:p>
          <a:p>
            <a:pPr rtl="1">
              <a:defRPr/>
            </a:pPr>
            <a:r>
              <a:t>הצע גרסה ראשונה ממוקדת, כולל מה יישאר לשלב הבא.</a:t>
            </a:r>
          </a:p>
          <a:p>
            <a:pPr rtl="1">
              <a:defRPr/>
            </a:pPr>
            <a:r>
              <a:t>הצע שימוש ב־Next.js, ב־Supabase וב־Vercel לפי הצורך.</a:t>
            </a:r>
          </a:p>
          <a:p>
            <a:pPr rtl="1">
              <a:defRPr/>
            </a:pPr>
            <a:r>
              <a:t>הסבר מה כל כלי ייתן למוצר ואילו חיבורים נוספים יקדמו אותו.</a:t>
            </a:r>
          </a:p>
          <a:p>
            <a:pPr rtl="1">
              <a:defRPr/>
            </a:pPr>
            <a:r>
              <a:t>בדוק אילו כלים וחיבורי MCP זמינים לך לעבודה על החומרים.</a:t>
            </a:r>
          </a:p>
          <a:p>
            <a:pPr/>
          </a:p>
          <a:p>
            <a:pPr rtl="1">
              <a:defRPr/>
            </a:pPr>
            <a:r>
              <a:t>מקורות ותאריך בדיקה: 13.10.2026</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5" name="Shape 275"/>
          <p:cNvSpPr/>
          <p:nvPr>
            <p:ph type="sldImg"/>
          </p:nvPr>
        </p:nvSpPr>
        <p:spPr>
          <a:prstGeom prst="rect">
            <a:avLst/>
          </a:prstGeom>
        </p:spPr>
        <p:txBody>
          <a:bodyPr/>
          <a:lstStyle/>
          <a:p>
            <a:pPr/>
          </a:p>
        </p:txBody>
      </p:sp>
      <p:sp>
        <p:nvSpPr>
          <p:cNvPr id="276" name="Shape 276"/>
          <p:cNvSpPr/>
          <p:nvPr>
            <p:ph type="body" sz="quarter" idx="1"/>
          </p:nvPr>
        </p:nvSpPr>
        <p:spPr>
          <a:prstGeom prst="rect">
            <a:avLst/>
          </a:prstGeom>
        </p:spPr>
        <p:txBody>
          <a:bodyPr/>
          <a:lstStyle/>
          <a:p>
            <a:pPr rtl="1">
              <a:defRPr/>
            </a:pPr>
            <a:r>
              <a:t>פרומפט להעתקה. מחליפים את הטקסט בסוגריים מרובעים בפרטים של הפרויקט. בהדבקה מאחדים את כל חלקי אותו פרומפט.</a:t>
            </a:r>
          </a:p>
          <a:p>
            <a:pPr/>
          </a:p>
          <a:p>
            <a:pPr rtl="1">
              <a:defRPr/>
            </a:pPr>
            <a:r>
              <a:t>הפרומפט המלא בשקף:</a:t>
            </a:r>
          </a:p>
          <a:p>
            <a:pPr rtl="1">
              <a:defRPr/>
            </a:pPr>
            <a:r>
              <a:t>כתוב בקובץ docs/spec.md את המטרה, קהל היעד וגבולות הגרסה.</a:t>
            </a:r>
          </a:p>
          <a:p>
            <a:pPr rtl="1">
              <a:defRPr/>
            </a:pPr>
            <a:r>
              <a:t>הוסף תרחישי שימוש, נתונים, הרשאות ותנאי קבלה מדידים.</a:t>
            </a:r>
          </a:p>
          <a:p>
            <a:pPr rtl="1">
              <a:defRPr/>
            </a:pPr>
            <a:r>
              <a:t>שמור החלטות והנמקות בקובץ docs/decisions.md.</a:t>
            </a:r>
          </a:p>
          <a:p>
            <a:pPr rtl="1">
              <a:defRPr/>
            </a:pPr>
            <a:r>
              <a:t>צור הוראות עבודה ב־AGENTS.md והתאם אותן לכלי שבו אנו עובדים.</a:t>
            </a:r>
          </a:p>
          <a:p>
            <a:pPr rtl="1">
              <a:defRPr/>
            </a:pPr>
            <a:r>
              <a:t>בשימוש ב־Claude Code הוסף CLAUDE.md שמפנה להנחיות המשותפות.</a:t>
            </a:r>
          </a:p>
          <a:p>
            <a:pPr rtl="1">
              <a:defRPr/>
            </a:pPr>
            <a:r>
              <a:t>תעד בקובץ README.md התקנה, הפעלה ופקודות בדיקה.</a:t>
            </a:r>
          </a:p>
          <a:p>
            <a:pPr rtl="1">
              <a:defRPr/>
            </a:pPr>
            <a:r>
              <a:t>חלק את העבודה למשימות קטנות ושמור אותן ב־docs/status.md.</a:t>
            </a:r>
          </a:p>
          <a:p>
            <a:pPr rtl="1">
              <a:defRPr/>
            </a:pPr>
            <a:r>
              <a:t>הצג לי את האפיון ואת התוכנית לקבלת החלטה לפני המימוש.</a:t>
            </a:r>
          </a:p>
          <a:p>
            <a:pPr rtl="1">
              <a:defRPr/>
            </a:pPr>
            <a:r>
              <a:t>לאחר אישור, בנה תרחיש שימוש שלם אחד עם נתוני דוגמה.</a:t>
            </a:r>
          </a:p>
          <a:p>
            <a:pPr rtl="1">
              <a:defRPr/>
            </a:pPr>
            <a:r>
              <a:t>כתוב בדיקות להתנהגות, הרץ אותן ובדוק את התוצאה בממשק.</a:t>
            </a:r>
          </a:p>
          <a:p>
            <a:pPr rtl="1">
              <a:defRPr/>
            </a:pPr>
            <a:r>
              <a:t>בסיום דווח מה עובד, מה נבדק בפועל ומה המשימה הבאה.</a:t>
            </a:r>
          </a:p>
          <a:p>
            <a:pPr/>
          </a:p>
          <a:p>
            <a:pPr rtl="1">
              <a:defRPr/>
            </a:pPr>
            <a:r>
              <a:t>מקורות ותאריך בדיקה: 13.10.2026</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8" name="Shape 288"/>
          <p:cNvSpPr/>
          <p:nvPr>
            <p:ph type="sldImg"/>
          </p:nvPr>
        </p:nvSpPr>
        <p:spPr>
          <a:prstGeom prst="rect">
            <a:avLst/>
          </a:prstGeom>
        </p:spPr>
        <p:txBody>
          <a:bodyPr/>
          <a:lstStyle/>
          <a:p>
            <a:pPr/>
          </a:p>
        </p:txBody>
      </p:sp>
      <p:sp>
        <p:nvSpPr>
          <p:cNvPr id="289" name="Shape 289"/>
          <p:cNvSpPr/>
          <p:nvPr>
            <p:ph type="body" sz="quarter" idx="1"/>
          </p:nvPr>
        </p:nvSpPr>
        <p:spPr>
          <a:prstGeom prst="rect">
            <a:avLst/>
          </a:prstGeom>
        </p:spPr>
        <p:txBody>
          <a:bodyPr/>
          <a:lstStyle/>
          <a:p>
            <a:pPr rtl="1">
              <a:defRPr/>
            </a:pPr>
            <a:r>
              <a:t>פרומפט להעתקה. מחליפים את הטקסט בסוגריים מרובעים בפרטים של הפרויקט. בהדבקה מאחדים את כל חלקי אותו פרומפט.</a:t>
            </a:r>
          </a:p>
          <a:p>
            <a:pPr/>
          </a:p>
          <a:p>
            <a:pPr rtl="1">
              <a:defRPr/>
            </a:pPr>
            <a:r>
              <a:t>הפרומפט המלא בשקף:</a:t>
            </a:r>
          </a:p>
          <a:p>
            <a:pPr rtl="1">
              <a:defRPr/>
            </a:pPr>
            <a:r>
              <a:t>כתוב בקובץ docs/spec.md את המטרה, קהל היעד וגבולות הגרסה.</a:t>
            </a:r>
          </a:p>
          <a:p>
            <a:pPr rtl="1">
              <a:defRPr/>
            </a:pPr>
            <a:r>
              <a:t>הוסף תרחישי שימוש, נתונים, הרשאות ותנאי קבלה מדידים.</a:t>
            </a:r>
          </a:p>
          <a:p>
            <a:pPr rtl="1">
              <a:defRPr/>
            </a:pPr>
            <a:r>
              <a:t>שמור החלטות והנמקות בקובץ docs/decisions.md.</a:t>
            </a:r>
          </a:p>
          <a:p>
            <a:pPr rtl="1">
              <a:defRPr/>
            </a:pPr>
            <a:r>
              <a:t>צור הוראות עבודה ב־AGENTS.md והתאם אותן לכלי שבו אנו עובדים.</a:t>
            </a:r>
          </a:p>
          <a:p>
            <a:pPr rtl="1">
              <a:defRPr/>
            </a:pPr>
            <a:r>
              <a:t>בשימוש ב־Claude Code הוסף CLAUDE.md שמפנה להנחיות המשותפות.</a:t>
            </a:r>
          </a:p>
          <a:p>
            <a:pPr rtl="1">
              <a:defRPr/>
            </a:pPr>
            <a:r>
              <a:t>תעד בקובץ README.md התקנה, הפעלה ופקודות בדיקה.</a:t>
            </a:r>
          </a:p>
          <a:p>
            <a:pPr rtl="1">
              <a:defRPr/>
            </a:pPr>
            <a:r>
              <a:t>חלק את העבודה למשימות קטנות ושמור אותן ב־docs/status.md.</a:t>
            </a:r>
          </a:p>
          <a:p>
            <a:pPr rtl="1">
              <a:defRPr/>
            </a:pPr>
            <a:r>
              <a:t>הצג לי את האפיון ואת התוכנית לקבלת החלטה לפני המימוש.</a:t>
            </a:r>
          </a:p>
          <a:p>
            <a:pPr rtl="1">
              <a:defRPr/>
            </a:pPr>
            <a:r>
              <a:t>לאחר אישור, בנה תרחיש שימוש שלם אחד עם נתוני דוגמה.</a:t>
            </a:r>
          </a:p>
          <a:p>
            <a:pPr rtl="1">
              <a:defRPr/>
            </a:pPr>
            <a:r>
              <a:t>כתוב בדיקות להתנהגות, הרץ אותן ובדוק את התוצאה בממשק.</a:t>
            </a:r>
          </a:p>
          <a:p>
            <a:pPr rtl="1">
              <a:defRPr/>
            </a:pPr>
            <a:r>
              <a:t>בסיום דווח מה עובד, מה נבדק בפועל ומה המשימה הבאה.</a:t>
            </a:r>
          </a:p>
          <a:p>
            <a:pPr/>
          </a:p>
          <a:p>
            <a:pPr rtl="1">
              <a:defRPr/>
            </a:pPr>
            <a:r>
              <a:t>מקורות ותאריך בדיקה: 13.10.2026</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95" name="Shape 295"/>
          <p:cNvSpPr/>
          <p:nvPr>
            <p:ph type="sldImg"/>
          </p:nvPr>
        </p:nvSpPr>
        <p:spPr>
          <a:prstGeom prst="rect">
            <a:avLst/>
          </a:prstGeom>
        </p:spPr>
        <p:txBody>
          <a:bodyPr/>
          <a:lstStyle/>
          <a:p>
            <a:pPr/>
          </a:p>
        </p:txBody>
      </p:sp>
      <p:sp>
        <p:nvSpPr>
          <p:cNvPr id="296" name="Shape 296"/>
          <p:cNvSpPr/>
          <p:nvPr>
            <p:ph type="body" sz="quarter" idx="1"/>
          </p:nvPr>
        </p:nvSpPr>
        <p:spPr>
          <a:prstGeom prst="rect">
            <a:avLst/>
          </a:prstGeom>
        </p:spPr>
        <p:txBody>
          <a:bodyPr/>
          <a:lstStyle/>
          <a:p>
            <a:pPr rtl="1">
              <a:defRPr/>
            </a:pPr>
            <a:r>
              <a:t>פרומפט להעתקה. מחליפים את הטקסט בסוגריים מרובעים בפרטים של הפרויקט. בהדבקה מאחדים את כל חלקי אותו פרומפט.</a:t>
            </a:r>
          </a:p>
          <a:p>
            <a:pPr/>
          </a:p>
          <a:p>
            <a:pPr rtl="1">
              <a:defRPr/>
            </a:pPr>
            <a:r>
              <a:t>הפרומפט המלא בשקף:</a:t>
            </a:r>
          </a:p>
          <a:p>
            <a:pPr rtl="1">
              <a:defRPr/>
            </a:pPr>
            <a:r>
              <a:t>כתוב בקובץ docs/spec.md את המטרה, קהל היעד וגבולות הגרסה.</a:t>
            </a:r>
          </a:p>
          <a:p>
            <a:pPr rtl="1">
              <a:defRPr/>
            </a:pPr>
            <a:r>
              <a:t>הוסף תרחישי שימוש, נתונים, הרשאות ותנאי קבלה מדידים.</a:t>
            </a:r>
          </a:p>
          <a:p>
            <a:pPr rtl="1">
              <a:defRPr/>
            </a:pPr>
            <a:r>
              <a:t>שמור החלטות והנמקות בקובץ docs/decisions.md.</a:t>
            </a:r>
          </a:p>
          <a:p>
            <a:pPr rtl="1">
              <a:defRPr/>
            </a:pPr>
            <a:r>
              <a:t>צור הוראות עבודה ב־AGENTS.md והתאם אותן לכלי שבו אנו עובדים.</a:t>
            </a:r>
          </a:p>
          <a:p>
            <a:pPr rtl="1">
              <a:defRPr/>
            </a:pPr>
            <a:r>
              <a:t>בשימוש ב־Claude Code הוסף CLAUDE.md שמפנה להנחיות המשותפות.</a:t>
            </a:r>
          </a:p>
          <a:p>
            <a:pPr rtl="1">
              <a:defRPr/>
            </a:pPr>
            <a:r>
              <a:t>תעד בקובץ README.md התקנה, הפעלה ופקודות בדיקה.</a:t>
            </a:r>
          </a:p>
          <a:p>
            <a:pPr rtl="1">
              <a:defRPr/>
            </a:pPr>
            <a:r>
              <a:t>חלק את העבודה למשימות קטנות ושמור אותן ב־docs/status.md.</a:t>
            </a:r>
          </a:p>
          <a:p>
            <a:pPr rtl="1">
              <a:defRPr/>
            </a:pPr>
            <a:r>
              <a:t>הצג לי את האפיון ואת התוכנית לקבלת החלטה לפני המימוש.</a:t>
            </a:r>
          </a:p>
          <a:p>
            <a:pPr rtl="1">
              <a:defRPr/>
            </a:pPr>
            <a:r>
              <a:t>לאחר אישור, בנה תרחיש שימוש שלם אחד עם נתוני דוגמה.</a:t>
            </a:r>
          </a:p>
          <a:p>
            <a:pPr rtl="1">
              <a:defRPr/>
            </a:pPr>
            <a:r>
              <a:t>כתוב בדיקות להתנהגות, הרץ אותן ובדוק את התוצאה בממשק.</a:t>
            </a:r>
          </a:p>
          <a:p>
            <a:pPr rtl="1">
              <a:defRPr/>
            </a:pPr>
            <a:r>
              <a:t>בסיום דווח מה עובד, מה נבדק בפועל ומה המשימה הבאה.</a:t>
            </a:r>
          </a:p>
          <a:p>
            <a:pPr/>
          </a:p>
          <a:p>
            <a:pPr rtl="1">
              <a:defRPr/>
            </a:pPr>
            <a:r>
              <a:t>מקורות ותאריך בדיקה: 13.10.2026</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6" name="Shape 306"/>
          <p:cNvSpPr/>
          <p:nvPr>
            <p:ph type="sldImg"/>
          </p:nvPr>
        </p:nvSpPr>
        <p:spPr>
          <a:prstGeom prst="rect">
            <a:avLst/>
          </a:prstGeom>
        </p:spPr>
        <p:txBody>
          <a:bodyPr/>
          <a:lstStyle/>
          <a:p>
            <a:pPr/>
          </a:p>
        </p:txBody>
      </p:sp>
      <p:sp>
        <p:nvSpPr>
          <p:cNvPr id="307" name="Shape 307"/>
          <p:cNvSpPr/>
          <p:nvPr>
            <p:ph type="body" sz="quarter" idx="1"/>
          </p:nvPr>
        </p:nvSpPr>
        <p:spPr>
          <a:prstGeom prst="rect">
            <a:avLst/>
          </a:prstGeom>
        </p:spPr>
        <p:txBody>
          <a:bodyPr/>
          <a:lstStyle/>
          <a:p>
            <a:pPr rtl="1">
              <a:defRPr/>
            </a:pPr>
            <a:r>
              <a:t>אפשר להריץ את הפקודות גם בטרמינל רגיל מחוץ לעורך. צילום Microsoft מציג את הטרמינל המשולב. הפקודות המוצגות מתאימות לפרויקט Node/npm שהוגדר בהתאם. יש לבדוק package.json ו־README. אם יש lockfile מתאים בפרויקט קיים אפשר להשתמש ב־npm ci. שלב scaffolding נעשה עם הסוכן לפי התיעוד העדכני של Next.js.</a:t>
            </a:r>
          </a:p>
          <a:p>
            <a:pPr/>
          </a:p>
          <a:p>
            <a:pPr rtl="1">
              <a:defRPr/>
            </a:pPr>
            <a:r>
              <a:t>מקורות ותאריך בדיקה: 13.10.2026</a:t>
            </a:r>
          </a:p>
          <a:p>
            <a:pPr/>
            <a:r>
              <a:t>https://nextjs.org/docs/app/getting-started/installation</a:t>
            </a:r>
          </a:p>
          <a:p>
            <a:pPr/>
            <a:r>
              <a:t>https://code.visualstudio.com/docs/editing/getting-started/editor-tutorial</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3" name="Shape 313"/>
          <p:cNvSpPr/>
          <p:nvPr>
            <p:ph type="sldImg"/>
          </p:nvPr>
        </p:nvSpPr>
        <p:spPr>
          <a:prstGeom prst="rect">
            <a:avLst/>
          </a:prstGeom>
        </p:spPr>
        <p:txBody>
          <a:bodyPr/>
          <a:lstStyle/>
          <a:p>
            <a:pPr/>
          </a:p>
        </p:txBody>
      </p:sp>
      <p:sp>
        <p:nvSpPr>
          <p:cNvPr id="314" name="Shape 314"/>
          <p:cNvSpPr/>
          <p:nvPr>
            <p:ph type="body" sz="quarter" idx="1"/>
          </p:nvPr>
        </p:nvSpPr>
        <p:spPr>
          <a:prstGeom prst="rect">
            <a:avLst/>
          </a:prstGeom>
        </p:spPr>
        <p:txBody>
          <a:bodyPr/>
          <a:lstStyle/>
          <a:p>
            <a:pPr/>
          </a:p>
          <a:p>
            <a:pPr/>
          </a:p>
          <a:p>
            <a:pPr rtl="1">
              <a:defRPr/>
            </a:pPr>
            <a:r>
              <a:t>מקורות ותאריך בדיקה: 13.10.2026</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27" name="Shape 327"/>
          <p:cNvSpPr/>
          <p:nvPr>
            <p:ph type="sldImg"/>
          </p:nvPr>
        </p:nvSpPr>
        <p:spPr>
          <a:prstGeom prst="rect">
            <a:avLst/>
          </a:prstGeom>
        </p:spPr>
        <p:txBody>
          <a:bodyPr/>
          <a:lstStyle/>
          <a:p>
            <a:pPr/>
          </a:p>
        </p:txBody>
      </p:sp>
      <p:sp>
        <p:nvSpPr>
          <p:cNvPr id="328" name="Shape 328"/>
          <p:cNvSpPr/>
          <p:nvPr>
            <p:ph type="body" sz="quarter" idx="1"/>
          </p:nvPr>
        </p:nvSpPr>
        <p:spPr>
          <a:prstGeom prst="rect">
            <a:avLst/>
          </a:prstGeom>
        </p:spPr>
        <p:txBody>
          <a:bodyPr/>
          <a:lstStyle/>
          <a:p>
            <a:pPr rtl="1">
              <a:defRPr/>
            </a:pPr>
            <a:r>
              <a:t>אין להניח שהסוכן יודע את החלטות היום הקודם. ההקשר נבנה מחדש מתוך קבצים, קוד ותוצאות בדיקה.</a:t>
            </a:r>
          </a:p>
          <a:p>
            <a:pPr/>
          </a:p>
          <a:p>
            <a:pPr rtl="1">
              <a:defRPr/>
            </a:pPr>
            <a:r>
              <a:t>מקורות ותאריך בדיקה: 13.10.2026</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42" name="Shape 342"/>
          <p:cNvSpPr/>
          <p:nvPr>
            <p:ph type="sldImg"/>
          </p:nvPr>
        </p:nvSpPr>
        <p:spPr>
          <a:prstGeom prst="rect">
            <a:avLst/>
          </a:prstGeom>
        </p:spPr>
        <p:txBody>
          <a:bodyPr/>
          <a:lstStyle/>
          <a:p>
            <a:pPr/>
          </a:p>
        </p:txBody>
      </p:sp>
      <p:sp>
        <p:nvSpPr>
          <p:cNvPr id="343" name="Shape 343"/>
          <p:cNvSpPr/>
          <p:nvPr>
            <p:ph type="body" sz="quarter" idx="1"/>
          </p:nvPr>
        </p:nvSpPr>
        <p:spPr>
          <a:prstGeom prst="rect">
            <a:avLst/>
          </a:prstGeom>
        </p:spPr>
        <p:txBody>
          <a:bodyPr/>
          <a:lstStyle/>
          <a:p>
            <a:pPr rtl="1">
              <a:defRPr/>
            </a:pPr>
            <a:r>
              <a:t>קובצי Markdown הם טקסט פשוט. זו שיטת ארגון ידע ולא הרחבת חלון הקונטקסט. הסוכן צריך לטעון את החומר הרלוונטי, והוא עדיין צורך קונטקסט. שמרו את קובץ ההנחיות קצר והפנו ממנו למסמכי נושא. אין צורך לשמור כל הודעת צ׳אט.</a:t>
            </a:r>
          </a:p>
          <a:p>
            <a:pPr/>
          </a:p>
          <a:p>
            <a:pPr rtl="1">
              <a:defRPr/>
            </a:pPr>
            <a:r>
              <a:t>מקורות ותאריך בדיקה: 13.10.2026</a:t>
            </a:r>
          </a:p>
          <a:p>
            <a:pPr/>
            <a:r>
              <a:t>https://code.claude.com/docs/en/memory</a:t>
            </a:r>
          </a:p>
          <a:p>
            <a:pPr/>
            <a:r>
              <a:t>https://learn.chatgpt.com/docs/agent-configuration/agents-md</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56" name="Shape 356"/>
          <p:cNvSpPr/>
          <p:nvPr>
            <p:ph type="sldImg"/>
          </p:nvPr>
        </p:nvSpPr>
        <p:spPr>
          <a:prstGeom prst="rect">
            <a:avLst/>
          </a:prstGeom>
        </p:spPr>
        <p:txBody>
          <a:bodyPr/>
          <a:lstStyle/>
          <a:p>
            <a:pPr/>
          </a:p>
        </p:txBody>
      </p:sp>
      <p:sp>
        <p:nvSpPr>
          <p:cNvPr id="357" name="Shape 357"/>
          <p:cNvSpPr/>
          <p:nvPr>
            <p:ph type="body" sz="quarter" idx="1"/>
          </p:nvPr>
        </p:nvSpPr>
        <p:spPr>
          <a:prstGeom prst="rect">
            <a:avLst/>
          </a:prstGeom>
        </p:spPr>
        <p:txBody>
          <a:bodyPr/>
          <a:lstStyle/>
          <a:p>
            <a:pPr/>
            <a:r>
              <a:t>README מיועד להבנת הפרויקט והפעלתו. AGENTS הוא קובץ הוראות לסוכנים ונטען ב־Codex לפי כללי ההיררכיה. CLAUDE הוא קובץ ההוראות של Claude Code. בגרסאות העדכניות Claude יכול לקרוא גם AGENTS לפי ההגדרות. AGENTS אינו קובץ הגדרת תת־סוכנים.</a:t>
            </a:r>
          </a:p>
          <a:p>
            <a:pPr/>
          </a:p>
          <a:p>
            <a:pPr rtl="1">
              <a:defRPr/>
            </a:pPr>
            <a:r>
              <a:t>מקורות ותאריך בדיקה: 13.10.2026</a:t>
            </a:r>
          </a:p>
          <a:p>
            <a:pPr/>
            <a:r>
              <a:t>https://learn.chatgpt.com/docs/agent-configuration/agents-md</a:t>
            </a:r>
          </a:p>
          <a:p>
            <a:pPr/>
            <a:r>
              <a:t>https://code.claude.com/docs/en/memory</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70" name="Shape 370"/>
          <p:cNvSpPr/>
          <p:nvPr>
            <p:ph type="sldImg"/>
          </p:nvPr>
        </p:nvSpPr>
        <p:spPr>
          <a:prstGeom prst="rect">
            <a:avLst/>
          </a:prstGeom>
        </p:spPr>
        <p:txBody>
          <a:bodyPr/>
          <a:lstStyle/>
          <a:p>
            <a:pPr/>
          </a:p>
        </p:txBody>
      </p:sp>
      <p:sp>
        <p:nvSpPr>
          <p:cNvPr id="371" name="Shape 371"/>
          <p:cNvSpPr/>
          <p:nvPr>
            <p:ph type="body" sz="quarter" idx="1"/>
          </p:nvPr>
        </p:nvSpPr>
        <p:spPr>
          <a:prstGeom prst="rect">
            <a:avLst/>
          </a:prstGeom>
        </p:spPr>
        <p:txBody>
          <a:bodyPr/>
          <a:lstStyle/>
          <a:p>
            <a:pPr rtl="1">
              <a:defRPr/>
            </a:pPr>
            <a:r>
              <a:t>החלוקה המוצעת היא מוסכמה לשיעור ולא פורמט רשמי של Spec-driven development. אפשר להרחיב אותה כאשר הפרויקט גדל. בתיקיות קוד ממשיות המבנה תלוי בבחירות הפרויקט.</a:t>
            </a:r>
          </a:p>
          <a:p>
            <a:pPr/>
          </a:p>
          <a:p>
            <a:pPr rtl="1">
              <a:defRPr/>
            </a:pPr>
            <a:r>
              <a:t>מקורות ותאריך בדיקה: 13.10.2026</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84" name="Shape 384"/>
          <p:cNvSpPr/>
          <p:nvPr>
            <p:ph type="sldImg"/>
          </p:nvPr>
        </p:nvSpPr>
        <p:spPr>
          <a:prstGeom prst="rect">
            <a:avLst/>
          </a:prstGeom>
        </p:spPr>
        <p:txBody>
          <a:bodyPr/>
          <a:lstStyle/>
          <a:p>
            <a:pPr/>
          </a:p>
        </p:txBody>
      </p:sp>
      <p:sp>
        <p:nvSpPr>
          <p:cNvPr id="385" name="Shape 385"/>
          <p:cNvSpPr/>
          <p:nvPr>
            <p:ph type="body" sz="quarter" idx="1"/>
          </p:nvPr>
        </p:nvSpPr>
        <p:spPr>
          <a:prstGeom prst="rect">
            <a:avLst/>
          </a:prstGeom>
        </p:spPr>
        <p:txBody>
          <a:bodyPr/>
          <a:lstStyle/>
          <a:p>
            <a:pPr rtl="1">
              <a:defRPr/>
            </a:pPr>
            <a:r>
              <a:t>דוגמה קצרה ל־AGENTS ולייבוא רשמי ב־CLAUDE. תמיכת AGENTS ב־Claude תלויה בגרסה ובהגדרות. הייבוא @AGENTS.md נמנע משכפול התוכן ומתועד כרגע. חשוב לבדוק שההנחיות אכן נטענו. השמות של פקודות הבדיקה חייבים להתאים ל־package.json.</a:t>
            </a:r>
          </a:p>
          <a:p>
            <a:pPr/>
          </a:p>
          <a:p>
            <a:pPr rtl="1">
              <a:defRPr/>
            </a:pPr>
            <a:r>
              <a:t>מקורות ותאריך בדיקה: 13.10.2026</a:t>
            </a:r>
          </a:p>
          <a:p>
            <a:pPr/>
            <a:r>
              <a:t>https://code.claude.com/docs/en/memory</a:t>
            </a:r>
          </a:p>
          <a:p>
            <a:pPr/>
            <a:r>
              <a:t>https://learn.chatgpt.com/docs/agent-configuration/agents-md</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98" name="Shape 398"/>
          <p:cNvSpPr/>
          <p:nvPr>
            <p:ph type="sldImg"/>
          </p:nvPr>
        </p:nvSpPr>
        <p:spPr>
          <a:prstGeom prst="rect">
            <a:avLst/>
          </a:prstGeom>
        </p:spPr>
        <p:txBody>
          <a:bodyPr/>
          <a:lstStyle/>
          <a:p>
            <a:pPr/>
          </a:p>
        </p:txBody>
      </p:sp>
      <p:sp>
        <p:nvSpPr>
          <p:cNvPr id="399" name="Shape 399"/>
          <p:cNvSpPr/>
          <p:nvPr>
            <p:ph type="body" sz="quarter" idx="1"/>
          </p:nvPr>
        </p:nvSpPr>
        <p:spPr>
          <a:prstGeom prst="rect">
            <a:avLst/>
          </a:prstGeom>
        </p:spPr>
        <p:txBody>
          <a:bodyPr/>
          <a:lstStyle/>
          <a:p>
            <a:pPr rtl="1">
              <a:defRPr/>
            </a:pPr>
            <a:r>
              <a:t>השיטה בשיעור: מתעדים את ההתנהגות הרצויה לפני המימוש ומעדכנים את האפיון כאשר מתקבלת החלטה עסקית חדשה. הקוד והבדיקות הם הראיות למצב בפועל. אם יש סתירה מבררים אותה ולא משנים מסמך רק כדי להתאים לבאג.</a:t>
            </a:r>
          </a:p>
          <a:p>
            <a:pPr/>
          </a:p>
          <a:p>
            <a:pPr rtl="1">
              <a:defRPr/>
            </a:pPr>
            <a:r>
              <a:t>מקורות ותאריך בדיקה: 13.10.2026</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10" name="Shape 410"/>
          <p:cNvSpPr/>
          <p:nvPr>
            <p:ph type="sldImg"/>
          </p:nvPr>
        </p:nvSpPr>
        <p:spPr>
          <a:prstGeom prst="rect">
            <a:avLst/>
          </a:prstGeom>
        </p:spPr>
        <p:txBody>
          <a:bodyPr/>
          <a:lstStyle/>
          <a:p>
            <a:pPr/>
          </a:p>
        </p:txBody>
      </p:sp>
      <p:sp>
        <p:nvSpPr>
          <p:cNvPr id="411" name="Shape 411"/>
          <p:cNvSpPr/>
          <p:nvPr>
            <p:ph type="body" sz="quarter" idx="1"/>
          </p:nvPr>
        </p:nvSpPr>
        <p:spPr>
          <a:prstGeom prst="rect">
            <a:avLst/>
          </a:prstGeom>
        </p:spPr>
        <p:txBody>
          <a:bodyPr/>
          <a:lstStyle/>
          <a:p>
            <a:pPr rtl="1">
              <a:defRPr/>
            </a:pPr>
            <a:r>
              <a:t>זו דוגמה קצרה מהחנות להמחשת תנאי קבלה. העיקר הוא לתרגם בקשה כללית להתנהגות ניתנת לבדיקה, בכל תחום.</a:t>
            </a:r>
          </a:p>
          <a:p>
            <a:pPr/>
          </a:p>
          <a:p>
            <a:pPr rtl="1">
              <a:defRPr/>
            </a:pPr>
            <a:r>
              <a:t>מקורות ותאריך בדיקה: 13.10.2026</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22" name="Shape 422"/>
          <p:cNvSpPr/>
          <p:nvPr>
            <p:ph type="sldImg"/>
          </p:nvPr>
        </p:nvSpPr>
        <p:spPr>
          <a:prstGeom prst="rect">
            <a:avLst/>
          </a:prstGeom>
        </p:spPr>
        <p:txBody>
          <a:bodyPr/>
          <a:lstStyle/>
          <a:p>
            <a:pPr/>
          </a:p>
        </p:txBody>
      </p:sp>
      <p:sp>
        <p:nvSpPr>
          <p:cNvPr id="423" name="Shape 423"/>
          <p:cNvSpPr/>
          <p:nvPr>
            <p:ph type="body" sz="quarter" idx="1"/>
          </p:nvPr>
        </p:nvSpPr>
        <p:spPr>
          <a:prstGeom prst="rect">
            <a:avLst/>
          </a:prstGeom>
        </p:spPr>
        <p:txBody>
          <a:bodyPr/>
          <a:lstStyle/>
          <a:p>
            <a:pPr/>
            <a:r>
              <a:t>TDD הוא Test-driven development. בוחרים התנהגות קטנה, כותבים בדיקה שמכשילה אותה, מוודאים שהכישלון נובע מההתנהגות החסרה, מממשים מינימום ומבצעים refactor כשהבדיקות עוברות. תקלה בייבוא, בהתקנה או בחיבור למסד אינה הוכחה שהבדיקה בדקה את הדרישה.</a:t>
            </a:r>
          </a:p>
          <a:p>
            <a:pPr/>
          </a:p>
          <a:p>
            <a:pPr rtl="1">
              <a:defRPr/>
            </a:pPr>
            <a:r>
              <a:t>מקורות ותאריך בדיקה: 13.10.2026</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36" name="Shape 436"/>
          <p:cNvSpPr/>
          <p:nvPr>
            <p:ph type="sldImg"/>
          </p:nvPr>
        </p:nvSpPr>
        <p:spPr>
          <a:prstGeom prst="rect">
            <a:avLst/>
          </a:prstGeom>
        </p:spPr>
        <p:txBody>
          <a:bodyPr/>
          <a:lstStyle/>
          <a:p>
            <a:pPr/>
          </a:p>
        </p:txBody>
      </p:sp>
      <p:sp>
        <p:nvSpPr>
          <p:cNvPr id="437" name="Shape 437"/>
          <p:cNvSpPr/>
          <p:nvPr>
            <p:ph type="body" sz="quarter" idx="1"/>
          </p:nvPr>
        </p:nvSpPr>
        <p:spPr>
          <a:prstGeom prst="rect">
            <a:avLst/>
          </a:prstGeom>
        </p:spPr>
        <p:txBody>
          <a:bodyPr/>
          <a:lstStyle/>
          <a:p>
            <a:pPr rtl="1">
              <a:defRPr/>
            </a:pPr>
            <a:r>
              <a:t>בדיקה טובה נגזרת מתנאי הקבלה. היא אינה רק העתק של מבנה המימוש. דורשים תוצאות ממשיות, ומבדילים בין בדיקה שעברה לבין בדיקה שלא הורצה.</a:t>
            </a:r>
          </a:p>
          <a:p>
            <a:pPr/>
          </a:p>
          <a:p>
            <a:pPr rtl="1">
              <a:defRPr/>
            </a:pPr>
            <a:r>
              <a:t>מקורות ותאריך בדיקה: 13.10.2026</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43" name="Shape 443"/>
          <p:cNvSpPr/>
          <p:nvPr>
            <p:ph type="sldImg"/>
          </p:nvPr>
        </p:nvSpPr>
        <p:spPr>
          <a:prstGeom prst="rect">
            <a:avLst/>
          </a:prstGeom>
        </p:spPr>
        <p:txBody>
          <a:bodyPr/>
          <a:lstStyle/>
          <a:p>
            <a:pPr/>
          </a:p>
        </p:txBody>
      </p:sp>
      <p:sp>
        <p:nvSpPr>
          <p:cNvPr id="444" name="Shape 444"/>
          <p:cNvSpPr/>
          <p:nvPr>
            <p:ph type="body" sz="quarter" idx="1"/>
          </p:nvPr>
        </p:nvSpPr>
        <p:spPr>
          <a:prstGeom prst="rect">
            <a:avLst/>
          </a:prstGeom>
        </p:spPr>
        <p:txBody>
          <a:bodyPr/>
          <a:lstStyle/>
          <a:p>
            <a:pPr rtl="1">
              <a:defRPr/>
            </a:pPr>
            <a:r>
              <a:t>פרומפט להעתקה. מחליפים את הטקסט בסוגריים מרובעים בפרטים של הפרויקט. בהדבקה מאחדים את כל חלקי אותו פרומפט.</a:t>
            </a:r>
          </a:p>
          <a:p>
            <a:pPr/>
          </a:p>
          <a:p>
            <a:pPr rtl="1">
              <a:defRPr/>
            </a:pPr>
            <a:r>
              <a:t>הפרומפט המלא בשקף:</a:t>
            </a:r>
          </a:p>
          <a:p>
            <a:pPr rtl="1">
              <a:defRPr/>
            </a:pPr>
            <a:r>
              <a:t>פעל כסוכן פיתוח בפרויקט הנוכחי והשלם את המשימה הבאה:</a:t>
            </a:r>
          </a:p>
          <a:p>
            <a:pPr rtl="1">
              <a:defRPr/>
            </a:pPr>
            <a:r>
              <a:t>השינוי המבוקש: [תיאור ההתנהגות הרצויה].</a:t>
            </a:r>
          </a:p>
          <a:p>
            <a:pPr rtl="1">
              <a:defRPr/>
            </a:pPr>
            <a:r>
              <a:t>תנאי הקבלה: [תוצאה צפויה, גבולות ומקרי כישלון].</a:t>
            </a:r>
          </a:p>
          <a:p>
            <a:pPr rtl="1">
              <a:defRPr/>
            </a:pPr>
            <a:r>
              <a:t>קרא את הנחיות הסוכן, את README.md ואת docs/spec.md.</a:t>
            </a:r>
          </a:p>
          <a:p>
            <a:pPr rtl="1">
              <a:defRPr/>
            </a:pPr>
            <a:r>
              <a:t>עיין גם ב־docs/decisions.md וב־docs/status.md ובקוד הרלוונטי.</a:t>
            </a:r>
          </a:p>
          <a:p>
            <a:pPr rtl="1">
              <a:defRPr/>
            </a:pPr>
            <a:r>
              <a:t>התיעוד הוא מקור האמת לדרישות, ולא היסטוריית הצ׳אט.</a:t>
            </a:r>
          </a:p>
          <a:p>
            <a:pPr rtl="1">
              <a:defRPr/>
            </a:pPr>
            <a:r>
              <a:t>אם הדרישה החדשה סותרת את האפיון, הצג את הסתירה וברר אותה.</a:t>
            </a:r>
          </a:p>
          <a:p>
            <a:pPr rtl="1">
              <a:defRPr/>
            </a:pPr>
            <a:r>
              <a:t>תעד החלטה שאושרה ועדכן את האפיון לפני המימוש.</a:t>
            </a:r>
          </a:p>
          <a:p>
            <a:pPr rtl="1">
              <a:defRPr/>
            </a:pPr>
            <a:r>
              <a:t>סכם את ההתנהגות שיש להוסיף ואת הדרך שבה תבדוק אותה.</a:t>
            </a:r>
          </a:p>
          <a:p>
            <a:pPr rtl="1">
              <a:defRPr/>
            </a:pPr>
            <a:r>
              <a:t>חלק את המשימה לשינויים קטנים שאפשר לבדוק בנפרד.</a:t>
            </a:r>
          </a:p>
          <a:p>
            <a:pPr rtl="1">
              <a:defRPr/>
            </a:pPr>
            <a:r>
              <a:t>שמור על מוסכמות הפרויקט ועל שינויים קיימים שאינם חלק מהמשימה.</a:t>
            </a:r>
          </a:p>
          <a:p>
            <a:pPr/>
          </a:p>
          <a:p>
            <a:pPr rtl="1">
              <a:defRPr/>
            </a:pPr>
            <a:r>
              <a:t>מקורות ותאריך בדיקה: 13.10.2026</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50" name="Shape 450"/>
          <p:cNvSpPr/>
          <p:nvPr>
            <p:ph type="sldImg"/>
          </p:nvPr>
        </p:nvSpPr>
        <p:spPr>
          <a:prstGeom prst="rect">
            <a:avLst/>
          </a:prstGeom>
        </p:spPr>
        <p:txBody>
          <a:bodyPr/>
          <a:lstStyle/>
          <a:p>
            <a:pPr/>
          </a:p>
        </p:txBody>
      </p:sp>
      <p:sp>
        <p:nvSpPr>
          <p:cNvPr id="451" name="Shape 451"/>
          <p:cNvSpPr/>
          <p:nvPr>
            <p:ph type="body" sz="quarter" idx="1"/>
          </p:nvPr>
        </p:nvSpPr>
        <p:spPr>
          <a:prstGeom prst="rect">
            <a:avLst/>
          </a:prstGeom>
        </p:spPr>
        <p:txBody>
          <a:bodyPr/>
          <a:lstStyle/>
          <a:p>
            <a:pPr rtl="1">
              <a:defRPr/>
            </a:pPr>
            <a:r>
              <a:t>פרומפט להעתקה. מחליפים את הטקסט בסוגריים מרובעים בפרטים של הפרויקט. בהדבקה מאחדים את כל חלקי אותו פרומפט.</a:t>
            </a:r>
          </a:p>
          <a:p>
            <a:pPr/>
          </a:p>
          <a:p>
            <a:pPr rtl="1">
              <a:defRPr/>
            </a:pPr>
            <a:r>
              <a:t>הפרומפט המלא בשקף:</a:t>
            </a:r>
          </a:p>
          <a:p>
            <a:pPr rtl="1">
              <a:defRPr/>
            </a:pPr>
            <a:r>
              <a:t>לכל שינוי התנהגותי, כתוב תחילה בדיקה שנגזרת מתנאי הקבלה.</a:t>
            </a:r>
          </a:p>
          <a:p>
            <a:pPr rtl="1">
              <a:defRPr/>
            </a:pPr>
            <a:r>
              <a:t>הרץ אותה וודא שהיא נכשלת בגלל ההתנהגות החסרה.</a:t>
            </a:r>
          </a:p>
          <a:p>
            <a:pPr rtl="1">
              <a:defRPr/>
            </a:pPr>
            <a:r>
              <a:t>ממש את השינוי הדרוש, הרץ שוב וודא שהבדיקה עוברת.</a:t>
            </a:r>
          </a:p>
          <a:p>
            <a:pPr rtl="1">
              <a:defRPr/>
            </a:pPr>
            <a:r>
              <a:t>שפר את הקוד והריץ בדיקות נוספות שעלולות להיות מושפעות.</a:t>
            </a:r>
          </a:p>
          <a:p>
            <a:pPr rtl="1">
              <a:defRPr/>
            </a:pPr>
            <a:r>
              <a:t>אל תמחק ואל תחליש בדיקה כדי להציג הצלחה.</a:t>
            </a:r>
          </a:p>
          <a:p>
            <a:pPr rtl="1">
              <a:defRPr/>
            </a:pPr>
            <a:r>
              <a:t>הפעל תת־סוכן לסקירה עצמאית אם אפשר להגדיר לו משימה מועילה.</a:t>
            </a:r>
          </a:p>
          <a:p>
            <a:pPr rtl="1">
              <a:defRPr/>
            </a:pPr>
            <a:r>
              <a:t>העבר לו את האפיון, הקבצים הרלוונטיים וגבולות הסקירה.</a:t>
            </a:r>
          </a:p>
          <a:p>
            <a:pPr rtl="1">
              <a:defRPr/>
            </a:pPr>
            <a:r>
              <a:t>בדוק את הממצאים ואמת את התוצאה לאחר שילוב התיקונים.</a:t>
            </a:r>
          </a:p>
          <a:p>
            <a:pPr rtl="1">
              <a:defRPr/>
            </a:pPr>
            <a:r>
              <a:t>עדכן את מסמכי הפרויקט כך שישקפו את המצב בסיום.</a:t>
            </a:r>
          </a:p>
          <a:p>
            <a:pPr rtl="1">
              <a:defRPr/>
            </a:pPr>
            <a:r>
              <a:t>החזר סיכום: שינויים, פקודות ותוצאות בדיקה, פערים והצעד הבא.</a:t>
            </a:r>
          </a:p>
          <a:p>
            <a:pPr rtl="1">
              <a:defRPr/>
            </a:pPr>
            <a:r>
              <a:t>אם בדיקה לא הורצה, ציין זאת ואת הסיבה במפורש.</a:t>
            </a:r>
          </a:p>
          <a:p>
            <a:pPr/>
          </a:p>
          <a:p>
            <a:pPr rtl="1">
              <a:defRPr/>
            </a:pPr>
            <a:r>
              <a:t>מקורות ותאריך בדיקה: 13.10.2026</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57" name="Shape 457"/>
          <p:cNvSpPr/>
          <p:nvPr>
            <p:ph type="sldImg"/>
          </p:nvPr>
        </p:nvSpPr>
        <p:spPr>
          <a:prstGeom prst="rect">
            <a:avLst/>
          </a:prstGeom>
        </p:spPr>
        <p:txBody>
          <a:bodyPr/>
          <a:lstStyle/>
          <a:p>
            <a:pPr/>
          </a:p>
        </p:txBody>
      </p:sp>
      <p:sp>
        <p:nvSpPr>
          <p:cNvPr id="458" name="Shape 458"/>
          <p:cNvSpPr/>
          <p:nvPr>
            <p:ph type="body" sz="quarter" idx="1"/>
          </p:nvPr>
        </p:nvSpPr>
        <p:spPr>
          <a:prstGeom prst="rect">
            <a:avLst/>
          </a:prstGeom>
        </p:spPr>
        <p:txBody>
          <a:bodyPr/>
          <a:lstStyle/>
          <a:p>
            <a:pPr/>
          </a:p>
          <a:p>
            <a:pPr/>
          </a:p>
          <a:p>
            <a:pPr rtl="1">
              <a:defRPr/>
            </a:pPr>
            <a:r>
              <a:t>מקורות ותאריך בדיקה: 13.10.2026</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70" name="Shape 470"/>
          <p:cNvSpPr/>
          <p:nvPr>
            <p:ph type="sldImg"/>
          </p:nvPr>
        </p:nvSpPr>
        <p:spPr>
          <a:prstGeom prst="rect">
            <a:avLst/>
          </a:prstGeom>
        </p:spPr>
        <p:txBody>
          <a:bodyPr/>
          <a:lstStyle/>
          <a:p>
            <a:pPr/>
          </a:p>
        </p:txBody>
      </p:sp>
      <p:sp>
        <p:nvSpPr>
          <p:cNvPr id="471" name="Shape 471"/>
          <p:cNvSpPr/>
          <p:nvPr>
            <p:ph type="body" sz="quarter" idx="1"/>
          </p:nvPr>
        </p:nvSpPr>
        <p:spPr>
          <a:prstGeom prst="rect">
            <a:avLst/>
          </a:prstGeom>
        </p:spPr>
        <p:txBody>
          <a:bodyPr/>
          <a:lstStyle/>
          <a:p>
            <a:pPr rtl="1">
              <a:defRPr/>
            </a:pPr>
            <a:r>
              <a:t>תת־סוכן עובד על משימה מואצלת בהקשר נפרד ומחזיר ממצאים. אין להניח שהוא יודע את כל השיחה. מעבירים אליו את המידע הנחוץ. פיצול מוסיף זמן, עלות ותיאום, ולכן במשימה קצרה עדיף לעיתים לעבוד עם סוכן אחד.</a:t>
            </a:r>
          </a:p>
          <a:p>
            <a:pPr/>
          </a:p>
          <a:p>
            <a:pPr rtl="1">
              <a:defRPr/>
            </a:pPr>
            <a:r>
              <a:t>מקורות ותאריך בדיקה: 13.10.2026</a:t>
            </a:r>
          </a:p>
          <a:p>
            <a:pPr/>
            <a:r>
              <a:t>https://code.claude.com/docs/en/sub-agents</a:t>
            </a:r>
          </a:p>
          <a:p>
            <a:pPr/>
            <a:r>
              <a:t>https://learn.chatgpt.com/docs/agent-configuration/subagents</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81" name="Shape 481"/>
          <p:cNvSpPr/>
          <p:nvPr>
            <p:ph type="sldImg"/>
          </p:nvPr>
        </p:nvSpPr>
        <p:spPr>
          <a:prstGeom prst="rect">
            <a:avLst/>
          </a:prstGeom>
        </p:spPr>
        <p:txBody>
          <a:bodyPr/>
          <a:lstStyle/>
          <a:p>
            <a:pPr/>
          </a:p>
        </p:txBody>
      </p:sp>
      <p:sp>
        <p:nvSpPr>
          <p:cNvPr id="482" name="Shape 482"/>
          <p:cNvSpPr/>
          <p:nvPr>
            <p:ph type="body" sz="quarter" idx="1"/>
          </p:nvPr>
        </p:nvSpPr>
        <p:spPr>
          <a:prstGeom prst="rect">
            <a:avLst/>
          </a:prstGeom>
        </p:spPr>
        <p:txBody>
          <a:bodyPr/>
          <a:lstStyle/>
          <a:p>
            <a:pPr rtl="1">
              <a:defRPr/>
            </a:pPr>
            <a:r>
              <a:t>הקובץ נשמר בנתיב .claude/agents/spec-reviewer.md. שם ותיאור ב־YAML frontmatter, ולאחריהם הוראות Markdown. הכלים Read, Grep, Glob מאפשרים סקירה ללא כלי עריכה או הרצת shell. מבקשים מהסוכן הראשי להשתמש ב־spec-reviewer. בגרסאות שבהן נוצרה תיקיית agents חדשה, מתחילים שיחה חדשה כדי לוודא טעינה.</a:t>
            </a:r>
          </a:p>
          <a:p>
            <a:pPr/>
          </a:p>
          <a:p>
            <a:pPr rtl="1">
              <a:defRPr/>
            </a:pPr>
            <a:r>
              <a:t>מקורות ותאריך בדיקה: 13.10.2026</a:t>
            </a:r>
          </a:p>
          <a:p>
            <a:pPr/>
            <a:r>
              <a:t>https://code.claude.com/docs/en/sub-agents</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91" name="Shape 491"/>
          <p:cNvSpPr/>
          <p:nvPr>
            <p:ph type="sldImg"/>
          </p:nvPr>
        </p:nvSpPr>
        <p:spPr>
          <a:prstGeom prst="rect">
            <a:avLst/>
          </a:prstGeom>
        </p:spPr>
        <p:txBody>
          <a:bodyPr/>
          <a:lstStyle/>
          <a:p>
            <a:pPr/>
          </a:p>
        </p:txBody>
      </p:sp>
      <p:sp>
        <p:nvSpPr>
          <p:cNvPr id="492" name="Shape 492"/>
          <p:cNvSpPr/>
          <p:nvPr>
            <p:ph type="body" sz="quarter" idx="1"/>
          </p:nvPr>
        </p:nvSpPr>
        <p:spPr>
          <a:prstGeom prst="rect">
            <a:avLst/>
          </a:prstGeom>
        </p:spPr>
        <p:txBody>
          <a:bodyPr/>
          <a:lstStyle/>
          <a:p>
            <a:pPr rtl="1">
              <a:defRPr/>
            </a:pPr>
            <a:r>
              <a:t>זהו הפורמט לפי התיעוד שנבדק ב־13.10.2026. בקובץ TOML של הסוכן name, description ו־developer_instructions הם שדות נדרשים. sandbox_mode הוא הגבלה נוספת. זמינות התכונה ומסלולי ההגדרה תלויים בגרסת הכלי. אין להעתיק קובץ YAML של Claude כקובץ הגדרה של Codex.</a:t>
            </a:r>
          </a:p>
          <a:p>
            <a:pPr/>
          </a:p>
          <a:p>
            <a:pPr rtl="1">
              <a:defRPr/>
            </a:pPr>
            <a:r>
              <a:t>מקורות ותאריך בדיקה: 13.10.2026</a:t>
            </a:r>
          </a:p>
          <a:p>
            <a:pPr/>
            <a:r>
              <a:t>https://learn.chatgpt.com/docs/agent-configuration/subagents</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05" name="Shape 505"/>
          <p:cNvSpPr/>
          <p:nvPr>
            <p:ph type="sldImg"/>
          </p:nvPr>
        </p:nvSpPr>
        <p:spPr>
          <a:prstGeom prst="rect">
            <a:avLst/>
          </a:prstGeom>
        </p:spPr>
        <p:txBody>
          <a:bodyPr/>
          <a:lstStyle/>
          <a:p>
            <a:pPr/>
          </a:p>
        </p:txBody>
      </p:sp>
      <p:sp>
        <p:nvSpPr>
          <p:cNvPr id="506" name="Shape 506"/>
          <p:cNvSpPr/>
          <p:nvPr>
            <p:ph type="body" sz="quarter" idx="1"/>
          </p:nvPr>
        </p:nvSpPr>
        <p:spPr>
          <a:prstGeom prst="rect">
            <a:avLst/>
          </a:prstGeom>
        </p:spPr>
        <p:txBody>
          <a:bodyPr/>
          <a:lstStyle/>
          <a:p>
            <a:pPr rtl="1">
              <a:defRPr/>
            </a:pPr>
            <a:r>
              <a:t>דוגמה כללית לחלוקת עבודה: מימוש, סקירה ובדיקת התאמה לאפיון. בוחרים משימות עצמאיות ונמנעים מעריכה חופפת ללא תיאום.</a:t>
            </a:r>
          </a:p>
          <a:p>
            <a:pPr/>
          </a:p>
          <a:p>
            <a:pPr rtl="1">
              <a:defRPr/>
            </a:pPr>
            <a:r>
              <a:t>מקורות ותאריך בדיקה: 13.10.2026</a:t>
            </a:r>
          </a:p>
          <a:p>
            <a:pPr/>
            <a:r>
              <a:t>https://code.claude.com/docs/en/sub-agents</a:t>
            </a:r>
          </a:p>
          <a:p>
            <a:pPr/>
            <a:r>
              <a:t>https://learn.chatgpt.com/docs/agent-configuration/subagents</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12" name="Shape 512"/>
          <p:cNvSpPr/>
          <p:nvPr>
            <p:ph type="sldImg"/>
          </p:nvPr>
        </p:nvSpPr>
        <p:spPr>
          <a:prstGeom prst="rect">
            <a:avLst/>
          </a:prstGeom>
        </p:spPr>
        <p:txBody>
          <a:bodyPr/>
          <a:lstStyle/>
          <a:p>
            <a:pPr/>
          </a:p>
        </p:txBody>
      </p:sp>
      <p:sp>
        <p:nvSpPr>
          <p:cNvPr id="513" name="Shape 513"/>
          <p:cNvSpPr/>
          <p:nvPr>
            <p:ph type="body" sz="quarter" idx="1"/>
          </p:nvPr>
        </p:nvSpPr>
        <p:spPr>
          <a:prstGeom prst="rect">
            <a:avLst/>
          </a:prstGeom>
        </p:spPr>
        <p:txBody>
          <a:bodyPr/>
          <a:lstStyle/>
          <a:p>
            <a:pPr rtl="1">
              <a:defRPr/>
            </a:pPr>
            <a:r>
              <a:t>פרומפט להעתקה. מחליפים את הטקסט בסוגריים מרובעים בפרטים של הפרויקט. בהדבקה מאחדים את כל חלקי אותו פרומפט.</a:t>
            </a:r>
          </a:p>
          <a:p>
            <a:pPr/>
          </a:p>
          <a:p>
            <a:pPr rtl="1">
              <a:defRPr/>
            </a:pPr>
            <a:r>
              <a:t>הפרומפט המלא בשקף:</a:t>
            </a:r>
          </a:p>
          <a:p>
            <a:pPr rtl="1">
              <a:defRPr/>
            </a:pPr>
            <a:r>
              <a:t>הפעל תת־סוכן לסקירת השינוי הנוכחי מול האפיון.</a:t>
            </a:r>
          </a:p>
          <a:p>
            <a:pPr rtl="1">
              <a:defRPr/>
            </a:pPr>
            <a:r>
              <a:t>מסור לו את ההנחיות הבאות ואת נתיבי הקבצים שהשתנו:</a:t>
            </a:r>
          </a:p>
          <a:p>
            <a:pPr rtl="1">
              <a:defRPr/>
            </a:pPr>
            <a:r>
              <a:t>תפקידך לבדוק התאמה לדרישות, בלי לערוך קבצים.</a:t>
            </a:r>
          </a:p>
          <a:p>
            <a:pPr rtl="1">
              <a:defRPr/>
            </a:pPr>
            <a:r>
              <a:t>קרא את docs/spec.md ואת החלטות הפרויקט הרלוונטיות.</a:t>
            </a:r>
          </a:p>
          <a:p>
            <a:pPr rtl="1">
              <a:defRPr/>
            </a:pPr>
            <a:r>
              <a:t>בדוק את הקוד ואת הבדיקות עבור [המשימה ותנאי הקבלה].</a:t>
            </a:r>
          </a:p>
          <a:p>
            <a:pPr rtl="1">
              <a:defRPr/>
            </a:pPr>
            <a:r>
              <a:t>חפש התנהגות חסרה, מקרי קצה ופערים בבדיקות או בהרשאות.</a:t>
            </a:r>
          </a:p>
          <a:p>
            <a:pPr rtl="1">
              <a:defRPr/>
            </a:pPr>
            <a:r>
              <a:t>לכל ממצא, ציין קובץ, מיקום, דרישה והסבר להשפעה.</a:t>
            </a:r>
          </a:p>
          <a:p>
            <a:pPr rtl="1">
              <a:defRPr/>
            </a:pPr>
            <a:r>
              <a:t>הבחן בין תקלה מוכחת, חשד ושאלה שמצריכה החלטה.</a:t>
            </a:r>
          </a:p>
          <a:p>
            <a:pPr rtl="1">
              <a:defRPr/>
            </a:pPr>
            <a:r>
              <a:t>החזר ממצאים לפי חשיבות וציין גם מה לא יכולת לבדוק.</a:t>
            </a:r>
          </a:p>
          <a:p>
            <a:pPr rtl="1">
              <a:defRPr/>
            </a:pPr>
            <a:r>
              <a:t>לאחר קבלת הסקירה, בדוק את הממצאים כסוכן הראשי.</a:t>
            </a:r>
          </a:p>
          <a:p>
            <a:pPr rtl="1">
              <a:defRPr/>
            </a:pPr>
            <a:r>
              <a:t>תקן פערים מאומתים, הרץ בדיקות ודווח על התוצאה המשולבת.</a:t>
            </a:r>
          </a:p>
          <a:p>
            <a:pPr/>
          </a:p>
          <a:p>
            <a:pPr rtl="1">
              <a:defRPr/>
            </a:pPr>
            <a:r>
              <a:t>מקורות ותאריך בדיקה: 13.10.2026</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24" name="Shape 524"/>
          <p:cNvSpPr/>
          <p:nvPr>
            <p:ph type="sldImg"/>
          </p:nvPr>
        </p:nvSpPr>
        <p:spPr>
          <a:prstGeom prst="rect">
            <a:avLst/>
          </a:prstGeom>
        </p:spPr>
        <p:txBody>
          <a:bodyPr/>
          <a:lstStyle/>
          <a:p>
            <a:pPr/>
          </a:p>
        </p:txBody>
      </p:sp>
      <p:sp>
        <p:nvSpPr>
          <p:cNvPr id="525" name="Shape 525"/>
          <p:cNvSpPr/>
          <p:nvPr>
            <p:ph type="body" sz="quarter" idx="1"/>
          </p:nvPr>
        </p:nvSpPr>
        <p:spPr>
          <a:prstGeom prst="rect">
            <a:avLst/>
          </a:prstGeom>
        </p:spPr>
        <p:txBody>
          <a:bodyPr/>
          <a:lstStyle/>
          <a:p>
            <a:pPr rtl="1">
              <a:defRPr/>
            </a:pPr>
            <a:r>
              <a:t>סוכן יכול לבצע פעולות ממשיות באמצעות הכלים הזמינים לו. הרשאות לכלי אינן תחליף להגדרת גבולות המשימה. סביבת בדיקה, סקירת שינויים וניהול סודות נדרשים בהתאם לפרויקט.</a:t>
            </a:r>
          </a:p>
          <a:p>
            <a:pPr/>
          </a:p>
          <a:p>
            <a:pPr rtl="1">
              <a:defRPr/>
            </a:pPr>
            <a:r>
              <a:t>מקורות ותאריך בדיקה: 13.10.2026</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37" name="Shape 537"/>
          <p:cNvSpPr/>
          <p:nvPr>
            <p:ph type="sldImg"/>
          </p:nvPr>
        </p:nvSpPr>
        <p:spPr>
          <a:prstGeom prst="rect">
            <a:avLst/>
          </a:prstGeom>
        </p:spPr>
        <p:txBody>
          <a:bodyPr/>
          <a:lstStyle/>
          <a:p>
            <a:pPr/>
          </a:p>
        </p:txBody>
      </p:sp>
      <p:sp>
        <p:nvSpPr>
          <p:cNvPr id="538" name="Shape 538"/>
          <p:cNvSpPr/>
          <p:nvPr>
            <p:ph type="body" sz="quarter" idx="1"/>
          </p:nvPr>
        </p:nvSpPr>
        <p:spPr>
          <a:prstGeom prst="rect">
            <a:avLst/>
          </a:prstGeom>
        </p:spPr>
        <p:txBody>
          <a:bodyPr/>
          <a:lstStyle/>
          <a:p>
            <a:pPr rtl="1">
              <a:defRPr/>
            </a:pPr>
            <a:r>
              <a:t>דוגמת תהליך Git פשוטה. Commit הוא נקודת ציון בגרסאות ואינו גיבוי מרוחק בפני עצמו. בפרויקט משותף עדיף לבטל באמצעות revert מתאים מאשר לשכתב היסטוריה. אין לבצע פקודות הרסניות בלי להבין מה יאבד.</a:t>
            </a:r>
          </a:p>
          <a:p>
            <a:pPr/>
          </a:p>
          <a:p>
            <a:pPr rtl="1">
              <a:defRPr/>
            </a:pPr>
            <a:r>
              <a:t>מקורות ותאריך בדיקה: 13.10.2026</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51" name="Shape 551"/>
          <p:cNvSpPr/>
          <p:nvPr>
            <p:ph type="sldImg"/>
          </p:nvPr>
        </p:nvSpPr>
        <p:spPr>
          <a:prstGeom prst="rect">
            <a:avLst/>
          </a:prstGeom>
        </p:spPr>
        <p:txBody>
          <a:bodyPr/>
          <a:lstStyle/>
          <a:p>
            <a:pPr/>
          </a:p>
        </p:txBody>
      </p:sp>
      <p:sp>
        <p:nvSpPr>
          <p:cNvPr id="552" name="Shape 552"/>
          <p:cNvSpPr/>
          <p:nvPr>
            <p:ph type="body" sz="quarter" idx="1"/>
          </p:nvPr>
        </p:nvSpPr>
        <p:spPr>
          <a:prstGeom prst="rect">
            <a:avLst/>
          </a:prstGeom>
        </p:spPr>
        <p:txBody>
          <a:bodyPr/>
          <a:lstStyle/>
          <a:p>
            <a:pPr rtl="1">
              <a:defRPr/>
            </a:pPr>
            <a:r>
              <a:t>זו תמצית טכנית, ולא חזרה לשיעור השיווק והפרסום שנדחה. פריסה אינה מבטיחה שמיגרציות מסד ירוצו או שמדיניות ההרשאות נכונה. סביבת preview עלולה לגשת למסד production אם הוגדרה כך. מגדירים נתוני בדיקה וסביבה נפרדת בהתאם לצורך.</a:t>
            </a:r>
          </a:p>
          <a:p>
            <a:pPr/>
          </a:p>
          <a:p>
            <a:pPr rtl="1">
              <a:defRPr/>
            </a:pPr>
            <a:r>
              <a:t>מקורות ותאריך בדיקה: 13.10.2026</a:t>
            </a:r>
          </a:p>
          <a:p>
            <a:pPr/>
            <a:r>
              <a:t>https://vercel.com/docs/deployments</a:t>
            </a:r>
          </a:p>
          <a:p>
            <a:pPr/>
            <a:r>
              <a:t>https://supabase.com/docs</a:t>
            </a: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65" name="Shape 565"/>
          <p:cNvSpPr/>
          <p:nvPr>
            <p:ph type="sldImg"/>
          </p:nvPr>
        </p:nvSpPr>
        <p:spPr>
          <a:prstGeom prst="rect">
            <a:avLst/>
          </a:prstGeom>
        </p:spPr>
        <p:txBody>
          <a:bodyPr/>
          <a:lstStyle/>
          <a:p>
            <a:pPr/>
          </a:p>
        </p:txBody>
      </p:sp>
      <p:sp>
        <p:nvSpPr>
          <p:cNvPr id="566" name="Shape 566"/>
          <p:cNvSpPr/>
          <p:nvPr>
            <p:ph type="body" sz="quarter" idx="1"/>
          </p:nvPr>
        </p:nvSpPr>
        <p:spPr>
          <a:prstGeom prst="rect">
            <a:avLst/>
          </a:prstGeom>
        </p:spPr>
        <p:txBody>
          <a:bodyPr/>
          <a:lstStyle/>
          <a:p>
            <a:pPr rtl="1">
              <a:defRPr/>
            </a:pPr>
            <a:r>
              <a:t>דוגמה למבנה של status, ולא דיווח על משימה שבוצעה. מציינים רק בדיקות שבאמת הורצו ומפנים לקבצים הרלוונטיים.</a:t>
            </a:r>
          </a:p>
          <a:p>
            <a:pPr/>
          </a:p>
          <a:p>
            <a:pPr rtl="1">
              <a:defRPr/>
            </a:pPr>
            <a:r>
              <a:t>מקורות ותאריך בדיקה: 13.10.2026</a:t>
            </a: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72" name="Shape 572"/>
          <p:cNvSpPr/>
          <p:nvPr>
            <p:ph type="sldImg"/>
          </p:nvPr>
        </p:nvSpPr>
        <p:spPr>
          <a:prstGeom prst="rect">
            <a:avLst/>
          </a:prstGeom>
        </p:spPr>
        <p:txBody>
          <a:bodyPr/>
          <a:lstStyle/>
          <a:p>
            <a:pPr/>
          </a:p>
        </p:txBody>
      </p:sp>
      <p:sp>
        <p:nvSpPr>
          <p:cNvPr id="573" name="Shape 573"/>
          <p:cNvSpPr/>
          <p:nvPr>
            <p:ph type="body" sz="quarter" idx="1"/>
          </p:nvPr>
        </p:nvSpPr>
        <p:spPr>
          <a:prstGeom prst="rect">
            <a:avLst/>
          </a:prstGeom>
        </p:spPr>
        <p:txBody>
          <a:bodyPr/>
          <a:lstStyle/>
          <a:p>
            <a:pPr rtl="1">
              <a:defRPr/>
            </a:pPr>
            <a:r>
              <a:t>פרומפט להעתקה. מחליפים את הטקסט בסוגריים מרובעים בפרטים של הפרויקט. בהדבקה מאחדים את כל חלקי אותו פרומפט.</a:t>
            </a:r>
          </a:p>
          <a:p>
            <a:pPr/>
          </a:p>
          <a:p>
            <a:pPr rtl="1">
              <a:defRPr/>
            </a:pPr>
            <a:r>
              <a:t>הפרומפט המלא בשקף:</a:t>
            </a:r>
          </a:p>
          <a:p>
            <a:pPr rtl="1">
              <a:defRPr/>
            </a:pPr>
            <a:r>
              <a:t>המשך את הפרויקט מתוך הקבצים, ללא הנחה שיש לך שיחה קודמת.</a:t>
            </a:r>
          </a:p>
          <a:p>
            <a:pPr rtl="1">
              <a:defRPr/>
            </a:pPr>
            <a:r>
              <a:t>קרא את הנחיות הסוכן, README.md ואת מסמכי האפיון וההחלטות.</a:t>
            </a:r>
          </a:p>
          <a:p>
            <a:pPr rtl="1">
              <a:defRPr/>
            </a:pPr>
            <a:r>
              <a:t>קרא את docs/status.md ובדוק את מצב הקוד והבדיקות הרלוונטיות.</a:t>
            </a:r>
          </a:p>
          <a:p>
            <a:pPr rtl="1">
              <a:defRPr/>
            </a:pPr>
            <a:r>
              <a:t>סכם בקצרה את מטרת המוצר, מה הושלם ומה נשאר פתוח.</a:t>
            </a:r>
          </a:p>
          <a:p>
            <a:pPr rtl="1">
              <a:defRPr/>
            </a:pPr>
            <a:r>
              <a:t>הבחן בין מידע מתועד לבין הנחות ודברים שטרם אומתו.</a:t>
            </a:r>
          </a:p>
          <a:p>
            <a:pPr rtl="1">
              <a:defRPr/>
            </a:pPr>
            <a:r>
              <a:t>אם הקוד והתיעוד סותרים זה את זה, הצג את הפער לפני שינוי הדרישה.</a:t>
            </a:r>
          </a:p>
          <a:p>
            <a:pPr rtl="1">
              <a:defRPr/>
            </a:pPr>
            <a:r>
              <a:t>בחר את המשימה הבאה מתוך התוכנית והסבר למה היא הבאה בתור.</a:t>
            </a:r>
          </a:p>
          <a:p>
            <a:pPr rtl="1">
              <a:defRPr/>
            </a:pPr>
            <a:r>
              <a:t>אם חסרה החלטה שמשנה את המוצר, שאל שאלה ממוקדת.</a:t>
            </a:r>
          </a:p>
          <a:p>
            <a:pPr rtl="1">
              <a:defRPr/>
            </a:pPr>
            <a:r>
              <a:t>אחרת, בצע את המשימה בשיטת TDD לפי תנאי הקבלה באפיון.</a:t>
            </a:r>
          </a:p>
          <a:p>
            <a:pPr rtl="1">
              <a:defRPr/>
            </a:pPr>
            <a:r>
              <a:t>בסיום עדכן את המצב, ההחלטות והתיעוד הרלוונטי.</a:t>
            </a:r>
          </a:p>
          <a:p>
            <a:pPr rtl="1">
              <a:defRPr/>
            </a:pPr>
            <a:r>
              <a:t>דווח מה השתנה, מה נבדק בפועל והיכן הסוכן הבא צריך להמשיך.</a:t>
            </a:r>
          </a:p>
          <a:p>
            <a:pPr/>
          </a:p>
          <a:p>
            <a:pPr rtl="1">
              <a:defRPr/>
            </a:pPr>
            <a:r>
              <a:t>מקורות ותאריך בדיקה: 13.10.2026</a:t>
            </a: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86" name="Shape 586"/>
          <p:cNvSpPr/>
          <p:nvPr>
            <p:ph type="sldImg"/>
          </p:nvPr>
        </p:nvSpPr>
        <p:spPr>
          <a:prstGeom prst="rect">
            <a:avLst/>
          </a:prstGeom>
        </p:spPr>
        <p:txBody>
          <a:bodyPr/>
          <a:lstStyle/>
          <a:p>
            <a:pPr/>
          </a:p>
        </p:txBody>
      </p:sp>
      <p:sp>
        <p:nvSpPr>
          <p:cNvPr id="587" name="Shape 587"/>
          <p:cNvSpPr/>
          <p:nvPr>
            <p:ph type="body" sz="quarter" idx="1"/>
          </p:nvPr>
        </p:nvSpPr>
        <p:spPr>
          <a:prstGeom prst="rect">
            <a:avLst/>
          </a:prstGeom>
        </p:spPr>
        <p:txBody>
          <a:bodyPr/>
          <a:lstStyle/>
          <a:p>
            <a:pPr rtl="1">
              <a:defRPr/>
            </a:pPr>
            <a:r>
              <a:t>בוחרים שינוי קטן בפרויקט כלשהו. אפשר לתרגל עם תיקיית אפיון בלבד. החנות היא אפשרות לדוגמה בלבד. המבחן הוא יכולת להעביר את ההקשר באמצעות הקבצים.</a:t>
            </a:r>
          </a:p>
          <a:p>
            <a:pPr/>
          </a:p>
          <a:p>
            <a:pPr rtl="1">
              <a:defRPr/>
            </a:pPr>
            <a:r>
              <a:t>מקורות ותאריך בדיקה: 13.10.2026</a:t>
            </a: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99" name="Shape 599"/>
          <p:cNvSpPr/>
          <p:nvPr>
            <p:ph type="sldImg"/>
          </p:nvPr>
        </p:nvSpPr>
        <p:spPr>
          <a:prstGeom prst="rect">
            <a:avLst/>
          </a:prstGeom>
        </p:spPr>
        <p:txBody>
          <a:bodyPr/>
          <a:lstStyle/>
          <a:p>
            <a:pPr/>
          </a:p>
        </p:txBody>
      </p:sp>
      <p:sp>
        <p:nvSpPr>
          <p:cNvPr id="600" name="Shape 600"/>
          <p:cNvSpPr/>
          <p:nvPr>
            <p:ph type="body" sz="quarter" idx="1"/>
          </p:nvPr>
        </p:nvSpPr>
        <p:spPr>
          <a:prstGeom prst="rect">
            <a:avLst/>
          </a:prstGeom>
        </p:spPr>
        <p:txBody>
          <a:bodyPr/>
          <a:lstStyle/>
          <a:p>
            <a:pPr rtl="1">
              <a:defRPr/>
            </a:pPr>
            <a:r>
              <a:t>שאלת סיום לכיתה: אם נאבד את חלון הצ׳אט, האם נוכל להפעיל את הפרויקט, להבין את הדרישות ולהמשיך לפתח? הקבצים המתועדים חייבים לשקף את מצב הפרויקט בפועל.</a:t>
            </a:r>
          </a:p>
          <a:p>
            <a:pPr/>
          </a:p>
          <a:p>
            <a:pPr rtl="1">
              <a:defRPr/>
            </a:pPr>
            <a:r>
              <a:t>מקורות ותאריך בדיקה: 13.10.2026</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Slide master 1">
    <p:spTree>
      <p:nvGrpSpPr>
        <p:cNvPr id="1" name=""/>
        <p:cNvGrpSpPr/>
        <p:nvPr/>
      </p:nvGrpSpPr>
      <p:grpSpPr>
        <a:xfrm>
          <a:off x="0" y="0"/>
          <a:ext cx="0" cy="0"/>
          <a:chOff x="0" y="0"/>
          <a:chExt cx="0" cy="0"/>
        </a:xfrm>
      </p:grpSpPr>
      <p:sp>
        <p:nvSpPr>
          <p:cNvPr id="1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DEFAULT">
    <p:bg>
      <p:bgPr>
        <a:solidFill>
          <a:srgbClr val="FFFFFF"/>
        </a:solidFill>
      </p:bgPr>
    </p:bg>
    <p:spTree>
      <p:nvGrpSpPr>
        <p:cNvPr id="1" name=""/>
        <p:cNvGrpSpPr/>
        <p:nvPr/>
      </p:nvGrpSpPr>
      <p:grpSpPr>
        <a:xfrm>
          <a:off x="0" y="0"/>
          <a:ext cx="0" cy="0"/>
          <a:chOff x="0" y="0"/>
          <a:chExt cx="0" cy="0"/>
        </a:xfrm>
      </p:grpSpPr>
      <p:sp>
        <p:nvSpPr>
          <p:cNvPr id="2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000000"/>
        </a:solidFill>
      </p:bgPr>
    </p:bg>
    <p:spTree>
      <p:nvGrpSpPr>
        <p:cNvPr id="1" name=""/>
        <p:cNvGrpSpPr/>
        <p:nvPr/>
      </p:nvGrpSpPr>
      <p:grpSpPr>
        <a:xfrm>
          <a:off x="0" y="0"/>
          <a:ext cx="0" cy="0"/>
          <a:chOff x="0" y="0"/>
          <a:chExt cx="0" cy="0"/>
        </a:xfrm>
      </p:grpSpPr>
      <p:sp>
        <p:nvSpPr>
          <p:cNvPr id="2" name="Google Shape;11;p2"/>
          <p:cNvSpPr/>
          <p:nvPr/>
        </p:nvSpPr>
        <p:spPr>
          <a:xfrm>
            <a:off x="0" y="0"/>
            <a:ext cx="9144000" cy="5143500"/>
          </a:xfrm>
          <a:prstGeom prst="rect">
            <a:avLst/>
          </a:prstGeom>
          <a:solidFill>
            <a:srgbClr val="F6F4F4"/>
          </a:solidFill>
          <a:ln w="12700">
            <a:miter lim="400000"/>
          </a:ln>
        </p:spPr>
        <p:txBody>
          <a:bodyPr lIns="0" tIns="0" rIns="0" bIns="0" anchor="ctr"/>
          <a:lstStyle/>
          <a:p>
            <a:pPr/>
          </a:p>
        </p:txBody>
      </p:sp>
      <p:sp>
        <p:nvSpPr>
          <p:cNvPr id="3" name="Google Shape;12;p2"/>
          <p:cNvSpPr/>
          <p:nvPr/>
        </p:nvSpPr>
        <p:spPr>
          <a:xfrm>
            <a:off x="0" y="0"/>
            <a:ext cx="9144000" cy="5143500"/>
          </a:xfrm>
          <a:prstGeom prst="rect">
            <a:avLst/>
          </a:prstGeom>
          <a:solidFill>
            <a:srgbClr val="FFFFFF"/>
          </a:solidFill>
          <a:ln w="12700">
            <a:miter lim="400000"/>
          </a:ln>
        </p:spPr>
        <p:txBody>
          <a:bodyPr lIns="0" tIns="0" rIns="0" bIns="0" anchor="ctr"/>
          <a:lstStyle/>
          <a:p>
            <a:pPr/>
          </a:p>
        </p:txBody>
      </p:sp>
      <p:sp>
        <p:nvSpPr>
          <p:cNvPr id="4" name="Title Text"/>
          <p:cNvSpPr txBox="1"/>
          <p:nvPr>
            <p:ph type="title"/>
          </p:nvPr>
        </p:nvSpPr>
        <p:spPr>
          <a:xfrm>
            <a:off x="457200" y="69056"/>
            <a:ext cx="8229600" cy="1131094"/>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p>
            <a:pPr/>
            <a:r>
              <a:t>Title Text</a:t>
            </a:r>
          </a:p>
        </p:txBody>
      </p:sp>
      <p:sp>
        <p:nvSpPr>
          <p:cNvPr id="5" name="Body Level One…"/>
          <p:cNvSpPr txBox="1"/>
          <p:nvPr>
            <p:ph type="body" idx="1"/>
          </p:nvPr>
        </p:nvSpPr>
        <p:spPr>
          <a:xfrm>
            <a:off x="457200" y="1200150"/>
            <a:ext cx="8229600" cy="3943350"/>
          </a:xfrm>
          <a:prstGeom prst="rect">
            <a:avLst/>
          </a:prstGeom>
          <a:ln w="12700">
            <a:miter lim="400000"/>
          </a:ln>
          <a:extLst>
            <a:ext uri="{C572A759-6A51-4108-AA02-DFA0A04FC94B}">
              <ma14:wrappingTextBoxFlag xmlns:ma14="http://schemas.microsoft.com/office/mac/drawingml/2011/main" val="1"/>
            </a:ext>
          </a:extLst>
        </p:spPr>
        <p:txBody>
          <a:bodyPr lIns="45719" rIns="45719"/>
          <a:lstStyle/>
          <a:p>
            <a:pPr/>
            <a:r>
              <a:t>Body Level One</a:t>
            </a:r>
          </a:p>
          <a:p>
            <a:pPr lvl="1"/>
            <a:r>
              <a:t>Body Level Two</a:t>
            </a:r>
          </a:p>
          <a:p>
            <a:pPr lvl="2"/>
            <a:r>
              <a:t>Body Level Three</a:t>
            </a:r>
          </a:p>
          <a:p>
            <a:pPr lvl="3"/>
            <a:r>
              <a:t>Body Level Four</a:t>
            </a:r>
          </a:p>
          <a:p>
            <a:pPr lvl="4"/>
            <a:r>
              <a:t>Body Level Five</a:t>
            </a:r>
          </a:p>
        </p:txBody>
      </p:sp>
      <p:sp>
        <p:nvSpPr>
          <p:cNvPr id="6" name="Slide Number"/>
          <p:cNvSpPr txBox="1"/>
          <p:nvPr>
            <p:ph type="sldNum" sz="quarter" idx="2"/>
          </p:nvPr>
        </p:nvSpPr>
        <p:spPr>
          <a:xfrm>
            <a:off x="4419600" y="4627562"/>
            <a:ext cx="2133600" cy="279401"/>
          </a:xfrm>
          <a:prstGeom prst="rect">
            <a:avLst/>
          </a:prstGeom>
          <a:ln w="12700">
            <a:miter lim="400000"/>
          </a:ln>
        </p:spPr>
        <p:txBody>
          <a:bodyPr wrap="none" lIns="45719" rIns="45719" anchor="ctr">
            <a:spAutoFit/>
          </a:bodyPr>
          <a:lstStyle>
            <a:lvl1pPr algn="r">
              <a:defRPr sz="1200">
                <a:latin typeface="+mj-lt"/>
                <a:ea typeface="+mj-ea"/>
                <a:cs typeface="+mj-cs"/>
                <a:sym typeface="Helvetica"/>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Lst>
  <p:transition xmlns:p14="http://schemas.microsoft.com/office/powerpoint/2010/main" spd="med" advClick="1"/>
  <p:txStyles>
    <p:titleStyle>
      <a:lvl1pPr marL="0" marR="0" indent="0" algn="l" defTabSz="914400" rtl="0" latinLnBrk="0">
        <a:lnSpc>
          <a:spcPct val="100000"/>
        </a:lnSpc>
        <a:spcBef>
          <a:spcPts val="0"/>
        </a:spcBef>
        <a:spcAft>
          <a:spcPts val="0"/>
        </a:spcAft>
        <a:buClrTx/>
        <a:buSzTx/>
        <a:buFontTx/>
        <a:buNone/>
        <a:tabLst/>
        <a:defRPr b="0" baseline="0" cap="none" i="0" spc="0" strike="noStrike" sz="1400" u="none">
          <a:solidFill>
            <a:srgbClr val="000000"/>
          </a:solidFill>
          <a:uFillTx/>
          <a:latin typeface="Arial"/>
          <a:ea typeface="Arial"/>
          <a:cs typeface="Arial"/>
          <a:sym typeface="Arial"/>
        </a:defRPr>
      </a:lvl1pPr>
      <a:lvl2pPr marL="0" marR="0" indent="0" algn="l" defTabSz="914400" rtl="0" latinLnBrk="0">
        <a:lnSpc>
          <a:spcPct val="100000"/>
        </a:lnSpc>
        <a:spcBef>
          <a:spcPts val="0"/>
        </a:spcBef>
        <a:spcAft>
          <a:spcPts val="0"/>
        </a:spcAft>
        <a:buClrTx/>
        <a:buSzTx/>
        <a:buFontTx/>
        <a:buNone/>
        <a:tabLst/>
        <a:defRPr b="0" baseline="0" cap="none" i="0" spc="0" strike="noStrike" sz="1400" u="none">
          <a:solidFill>
            <a:srgbClr val="000000"/>
          </a:solidFill>
          <a:uFillTx/>
          <a:latin typeface="Arial"/>
          <a:ea typeface="Arial"/>
          <a:cs typeface="Arial"/>
          <a:sym typeface="Arial"/>
        </a:defRPr>
      </a:lvl2pPr>
      <a:lvl3pPr marL="0" marR="0" indent="0" algn="l" defTabSz="914400" rtl="0" latinLnBrk="0">
        <a:lnSpc>
          <a:spcPct val="100000"/>
        </a:lnSpc>
        <a:spcBef>
          <a:spcPts val="0"/>
        </a:spcBef>
        <a:spcAft>
          <a:spcPts val="0"/>
        </a:spcAft>
        <a:buClrTx/>
        <a:buSzTx/>
        <a:buFontTx/>
        <a:buNone/>
        <a:tabLst/>
        <a:defRPr b="0" baseline="0" cap="none" i="0" spc="0" strike="noStrike" sz="1400" u="none">
          <a:solidFill>
            <a:srgbClr val="000000"/>
          </a:solidFill>
          <a:uFillTx/>
          <a:latin typeface="Arial"/>
          <a:ea typeface="Arial"/>
          <a:cs typeface="Arial"/>
          <a:sym typeface="Arial"/>
        </a:defRPr>
      </a:lvl3pPr>
      <a:lvl4pPr marL="0" marR="0" indent="0" algn="l" defTabSz="914400" rtl="0" latinLnBrk="0">
        <a:lnSpc>
          <a:spcPct val="100000"/>
        </a:lnSpc>
        <a:spcBef>
          <a:spcPts val="0"/>
        </a:spcBef>
        <a:spcAft>
          <a:spcPts val="0"/>
        </a:spcAft>
        <a:buClrTx/>
        <a:buSzTx/>
        <a:buFontTx/>
        <a:buNone/>
        <a:tabLst/>
        <a:defRPr b="0" baseline="0" cap="none" i="0" spc="0" strike="noStrike" sz="1400" u="none">
          <a:solidFill>
            <a:srgbClr val="000000"/>
          </a:solidFill>
          <a:uFillTx/>
          <a:latin typeface="Arial"/>
          <a:ea typeface="Arial"/>
          <a:cs typeface="Arial"/>
          <a:sym typeface="Arial"/>
        </a:defRPr>
      </a:lvl4pPr>
      <a:lvl5pPr marL="0" marR="0" indent="0" algn="l" defTabSz="914400" rtl="0" latinLnBrk="0">
        <a:lnSpc>
          <a:spcPct val="100000"/>
        </a:lnSpc>
        <a:spcBef>
          <a:spcPts val="0"/>
        </a:spcBef>
        <a:spcAft>
          <a:spcPts val="0"/>
        </a:spcAft>
        <a:buClrTx/>
        <a:buSzTx/>
        <a:buFontTx/>
        <a:buNone/>
        <a:tabLst/>
        <a:defRPr b="0" baseline="0" cap="none" i="0" spc="0" strike="noStrike" sz="1400" u="none">
          <a:solidFill>
            <a:srgbClr val="000000"/>
          </a:solidFill>
          <a:uFillTx/>
          <a:latin typeface="Arial"/>
          <a:ea typeface="Arial"/>
          <a:cs typeface="Arial"/>
          <a:sym typeface="Arial"/>
        </a:defRPr>
      </a:lvl5pPr>
      <a:lvl6pPr marL="0" marR="0" indent="0" algn="l" defTabSz="914400" rtl="0" latinLnBrk="0">
        <a:lnSpc>
          <a:spcPct val="100000"/>
        </a:lnSpc>
        <a:spcBef>
          <a:spcPts val="0"/>
        </a:spcBef>
        <a:spcAft>
          <a:spcPts val="0"/>
        </a:spcAft>
        <a:buClrTx/>
        <a:buSzTx/>
        <a:buFontTx/>
        <a:buNone/>
        <a:tabLst/>
        <a:defRPr b="0" baseline="0" cap="none" i="0" spc="0" strike="noStrike" sz="1400" u="none">
          <a:solidFill>
            <a:srgbClr val="000000"/>
          </a:solidFill>
          <a:uFillTx/>
          <a:latin typeface="Arial"/>
          <a:ea typeface="Arial"/>
          <a:cs typeface="Arial"/>
          <a:sym typeface="Arial"/>
        </a:defRPr>
      </a:lvl6pPr>
      <a:lvl7pPr marL="0" marR="0" indent="0" algn="l" defTabSz="914400" rtl="0" latinLnBrk="0">
        <a:lnSpc>
          <a:spcPct val="100000"/>
        </a:lnSpc>
        <a:spcBef>
          <a:spcPts val="0"/>
        </a:spcBef>
        <a:spcAft>
          <a:spcPts val="0"/>
        </a:spcAft>
        <a:buClrTx/>
        <a:buSzTx/>
        <a:buFontTx/>
        <a:buNone/>
        <a:tabLst/>
        <a:defRPr b="0" baseline="0" cap="none" i="0" spc="0" strike="noStrike" sz="1400" u="none">
          <a:solidFill>
            <a:srgbClr val="000000"/>
          </a:solidFill>
          <a:uFillTx/>
          <a:latin typeface="Arial"/>
          <a:ea typeface="Arial"/>
          <a:cs typeface="Arial"/>
          <a:sym typeface="Arial"/>
        </a:defRPr>
      </a:lvl7pPr>
      <a:lvl8pPr marL="0" marR="0" indent="0" algn="l" defTabSz="914400" rtl="0" latinLnBrk="0">
        <a:lnSpc>
          <a:spcPct val="100000"/>
        </a:lnSpc>
        <a:spcBef>
          <a:spcPts val="0"/>
        </a:spcBef>
        <a:spcAft>
          <a:spcPts val="0"/>
        </a:spcAft>
        <a:buClrTx/>
        <a:buSzTx/>
        <a:buFontTx/>
        <a:buNone/>
        <a:tabLst/>
        <a:defRPr b="0" baseline="0" cap="none" i="0" spc="0" strike="noStrike" sz="1400" u="none">
          <a:solidFill>
            <a:srgbClr val="000000"/>
          </a:solidFill>
          <a:uFillTx/>
          <a:latin typeface="Arial"/>
          <a:ea typeface="Arial"/>
          <a:cs typeface="Arial"/>
          <a:sym typeface="Arial"/>
        </a:defRPr>
      </a:lvl8pPr>
      <a:lvl9pPr marL="0" marR="0" indent="0" algn="l" defTabSz="914400" rtl="0" latinLnBrk="0">
        <a:lnSpc>
          <a:spcPct val="100000"/>
        </a:lnSpc>
        <a:spcBef>
          <a:spcPts val="0"/>
        </a:spcBef>
        <a:spcAft>
          <a:spcPts val="0"/>
        </a:spcAft>
        <a:buClrTx/>
        <a:buSzTx/>
        <a:buFontTx/>
        <a:buNone/>
        <a:tabLst/>
        <a:defRPr b="0" baseline="0" cap="none" i="0" spc="0" strike="noStrike" sz="1400" u="none">
          <a:solidFill>
            <a:srgbClr val="000000"/>
          </a:solidFill>
          <a:uFillTx/>
          <a:latin typeface="Arial"/>
          <a:ea typeface="Arial"/>
          <a:cs typeface="Arial"/>
          <a:sym typeface="Arial"/>
        </a:defRPr>
      </a:lvl9pPr>
    </p:titleStyle>
    <p:bodyStyle>
      <a:lvl1pPr marL="0" marR="0" indent="0" algn="l" defTabSz="914400" rtl="0" latinLnBrk="0">
        <a:lnSpc>
          <a:spcPct val="100000"/>
        </a:lnSpc>
        <a:spcBef>
          <a:spcPts val="0"/>
        </a:spcBef>
        <a:spcAft>
          <a:spcPts val="0"/>
        </a:spcAft>
        <a:buClrTx/>
        <a:buSzTx/>
        <a:buFontTx/>
        <a:buNone/>
        <a:tabLst/>
        <a:defRPr b="0" baseline="0" cap="none" i="0" spc="0" strike="noStrike" sz="1400" u="none">
          <a:solidFill>
            <a:srgbClr val="000000"/>
          </a:solidFill>
          <a:uFillTx/>
          <a:latin typeface="Arial"/>
          <a:ea typeface="Arial"/>
          <a:cs typeface="Arial"/>
          <a:sym typeface="Arial"/>
        </a:defRPr>
      </a:lvl1pPr>
      <a:lvl2pPr marL="0" marR="0" indent="0" algn="l" defTabSz="914400" rtl="0" latinLnBrk="0">
        <a:lnSpc>
          <a:spcPct val="100000"/>
        </a:lnSpc>
        <a:spcBef>
          <a:spcPts val="0"/>
        </a:spcBef>
        <a:spcAft>
          <a:spcPts val="0"/>
        </a:spcAft>
        <a:buClrTx/>
        <a:buSzTx/>
        <a:buFontTx/>
        <a:buNone/>
        <a:tabLst/>
        <a:defRPr b="0" baseline="0" cap="none" i="0" spc="0" strike="noStrike" sz="1400" u="none">
          <a:solidFill>
            <a:srgbClr val="000000"/>
          </a:solidFill>
          <a:uFillTx/>
          <a:latin typeface="Arial"/>
          <a:ea typeface="Arial"/>
          <a:cs typeface="Arial"/>
          <a:sym typeface="Arial"/>
        </a:defRPr>
      </a:lvl2pPr>
      <a:lvl3pPr marL="0" marR="0" indent="0" algn="l" defTabSz="914400" rtl="0" latinLnBrk="0">
        <a:lnSpc>
          <a:spcPct val="100000"/>
        </a:lnSpc>
        <a:spcBef>
          <a:spcPts val="0"/>
        </a:spcBef>
        <a:spcAft>
          <a:spcPts val="0"/>
        </a:spcAft>
        <a:buClrTx/>
        <a:buSzTx/>
        <a:buFontTx/>
        <a:buNone/>
        <a:tabLst/>
        <a:defRPr b="0" baseline="0" cap="none" i="0" spc="0" strike="noStrike" sz="1400" u="none">
          <a:solidFill>
            <a:srgbClr val="000000"/>
          </a:solidFill>
          <a:uFillTx/>
          <a:latin typeface="Arial"/>
          <a:ea typeface="Arial"/>
          <a:cs typeface="Arial"/>
          <a:sym typeface="Arial"/>
        </a:defRPr>
      </a:lvl3pPr>
      <a:lvl4pPr marL="0" marR="0" indent="0" algn="l" defTabSz="914400" rtl="0" latinLnBrk="0">
        <a:lnSpc>
          <a:spcPct val="100000"/>
        </a:lnSpc>
        <a:spcBef>
          <a:spcPts val="0"/>
        </a:spcBef>
        <a:spcAft>
          <a:spcPts val="0"/>
        </a:spcAft>
        <a:buClrTx/>
        <a:buSzTx/>
        <a:buFontTx/>
        <a:buNone/>
        <a:tabLst/>
        <a:defRPr b="0" baseline="0" cap="none" i="0" spc="0" strike="noStrike" sz="1400" u="none">
          <a:solidFill>
            <a:srgbClr val="000000"/>
          </a:solidFill>
          <a:uFillTx/>
          <a:latin typeface="Arial"/>
          <a:ea typeface="Arial"/>
          <a:cs typeface="Arial"/>
          <a:sym typeface="Arial"/>
        </a:defRPr>
      </a:lvl4pPr>
      <a:lvl5pPr marL="0" marR="0" indent="0" algn="l" defTabSz="914400" rtl="0" latinLnBrk="0">
        <a:lnSpc>
          <a:spcPct val="100000"/>
        </a:lnSpc>
        <a:spcBef>
          <a:spcPts val="0"/>
        </a:spcBef>
        <a:spcAft>
          <a:spcPts val="0"/>
        </a:spcAft>
        <a:buClrTx/>
        <a:buSzTx/>
        <a:buFontTx/>
        <a:buNone/>
        <a:tabLst/>
        <a:defRPr b="0" baseline="0" cap="none" i="0" spc="0" strike="noStrike" sz="1400" u="none">
          <a:solidFill>
            <a:srgbClr val="000000"/>
          </a:solidFill>
          <a:uFillTx/>
          <a:latin typeface="Arial"/>
          <a:ea typeface="Arial"/>
          <a:cs typeface="Arial"/>
          <a:sym typeface="Arial"/>
        </a:defRPr>
      </a:lvl5pPr>
      <a:lvl6pPr marL="0" marR="0" indent="0" algn="l" defTabSz="914400" rtl="0" latinLnBrk="0">
        <a:lnSpc>
          <a:spcPct val="100000"/>
        </a:lnSpc>
        <a:spcBef>
          <a:spcPts val="0"/>
        </a:spcBef>
        <a:spcAft>
          <a:spcPts val="0"/>
        </a:spcAft>
        <a:buClrTx/>
        <a:buSzTx/>
        <a:buFontTx/>
        <a:buNone/>
        <a:tabLst/>
        <a:defRPr b="0" baseline="0" cap="none" i="0" spc="0" strike="noStrike" sz="1400" u="none">
          <a:solidFill>
            <a:srgbClr val="000000"/>
          </a:solidFill>
          <a:uFillTx/>
          <a:latin typeface="Arial"/>
          <a:ea typeface="Arial"/>
          <a:cs typeface="Arial"/>
          <a:sym typeface="Arial"/>
        </a:defRPr>
      </a:lvl6pPr>
      <a:lvl7pPr marL="0" marR="0" indent="0" algn="l" defTabSz="914400" rtl="0" latinLnBrk="0">
        <a:lnSpc>
          <a:spcPct val="100000"/>
        </a:lnSpc>
        <a:spcBef>
          <a:spcPts val="0"/>
        </a:spcBef>
        <a:spcAft>
          <a:spcPts val="0"/>
        </a:spcAft>
        <a:buClrTx/>
        <a:buSzTx/>
        <a:buFontTx/>
        <a:buNone/>
        <a:tabLst/>
        <a:defRPr b="0" baseline="0" cap="none" i="0" spc="0" strike="noStrike" sz="1400" u="none">
          <a:solidFill>
            <a:srgbClr val="000000"/>
          </a:solidFill>
          <a:uFillTx/>
          <a:latin typeface="Arial"/>
          <a:ea typeface="Arial"/>
          <a:cs typeface="Arial"/>
          <a:sym typeface="Arial"/>
        </a:defRPr>
      </a:lvl7pPr>
      <a:lvl8pPr marL="0" marR="0" indent="0" algn="l" defTabSz="914400" rtl="0" latinLnBrk="0">
        <a:lnSpc>
          <a:spcPct val="100000"/>
        </a:lnSpc>
        <a:spcBef>
          <a:spcPts val="0"/>
        </a:spcBef>
        <a:spcAft>
          <a:spcPts val="0"/>
        </a:spcAft>
        <a:buClrTx/>
        <a:buSzTx/>
        <a:buFontTx/>
        <a:buNone/>
        <a:tabLst/>
        <a:defRPr b="0" baseline="0" cap="none" i="0" spc="0" strike="noStrike" sz="1400" u="none">
          <a:solidFill>
            <a:srgbClr val="000000"/>
          </a:solidFill>
          <a:uFillTx/>
          <a:latin typeface="Arial"/>
          <a:ea typeface="Arial"/>
          <a:cs typeface="Arial"/>
          <a:sym typeface="Arial"/>
        </a:defRPr>
      </a:lvl8pPr>
      <a:lvl9pPr marL="0" marR="0" indent="0" algn="l" defTabSz="914400" rtl="0" latinLnBrk="0">
        <a:lnSpc>
          <a:spcPct val="100000"/>
        </a:lnSpc>
        <a:spcBef>
          <a:spcPts val="0"/>
        </a:spcBef>
        <a:spcAft>
          <a:spcPts val="0"/>
        </a:spcAft>
        <a:buClrTx/>
        <a:buSzTx/>
        <a:buFontTx/>
        <a:buNone/>
        <a:tabLst/>
        <a:defRPr b="0" baseline="0" cap="none" i="0" spc="0" strike="noStrike" sz="1400" u="none">
          <a:solidFill>
            <a:srgbClr val="000000"/>
          </a:solidFill>
          <a:uFillTx/>
          <a:latin typeface="Arial"/>
          <a:ea typeface="Arial"/>
          <a:cs typeface="Arial"/>
          <a:sym typeface="Arial"/>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1pPr>
      <a:lvl2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2pPr>
      <a:lvl3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3pPr>
      <a:lvl4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4pPr>
      <a:lvl5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5pPr>
      <a:lvl6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6pPr>
      <a:lvl7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7pPr>
      <a:lvl8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8pPr>
      <a:lvl9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6.png"/></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7.png"/></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s>

</file>

<file path=ppt/slides/_rels/slide1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3.png"/></Relationships>

</file>

<file path=ppt/slides/_rels/slide2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4.png"/></Relationships>

</file>

<file path=ppt/slides/_rels/slide2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5.png"/></Relationships>

</file>

<file path=ppt/slides/_rels/slide2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16.png"/></Relationships>

</file>

<file path=ppt/slides/_rels/slide3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17.png"/></Relationships>

</file>

<file path=ppt/slides/_rels/slide4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18.png"/></Relationships>

</file>

<file path=ppt/slides/_rels/slide4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 Id="rId3"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FFF"/>
        </a:solidFill>
      </p:bgPr>
    </p:bg>
    <p:spTree>
      <p:nvGrpSpPr>
        <p:cNvPr id="1" name=""/>
        <p:cNvGrpSpPr/>
        <p:nvPr/>
      </p:nvGrpSpPr>
      <p:grpSpPr>
        <a:xfrm>
          <a:off x="0" y="0"/>
          <a:ext cx="0" cy="0"/>
          <a:chOff x="0" y="0"/>
          <a:chExt cx="0" cy="0"/>
        </a:xfrm>
      </p:grpSpPr>
      <p:sp>
        <p:nvSpPr>
          <p:cNvPr id="29" name="Rectangle"/>
          <p:cNvSpPr/>
          <p:nvPr/>
        </p:nvSpPr>
        <p:spPr>
          <a:xfrm>
            <a:off x="5715000" y="0"/>
            <a:ext cx="3429000" cy="5143500"/>
          </a:xfrm>
          <a:prstGeom prst="rect">
            <a:avLst/>
          </a:prstGeom>
          <a:solidFill>
            <a:srgbClr val="F4D4F7"/>
          </a:solidFill>
          <a:ln w="12700">
            <a:miter lim="400000"/>
          </a:ln>
        </p:spPr>
        <p:txBody>
          <a:bodyPr lIns="0" tIns="0" rIns="0" bIns="0"/>
          <a:lstStyle/>
          <a:p>
            <a:pPr/>
          </a:p>
        </p:txBody>
      </p:sp>
      <p:pic>
        <p:nvPicPr>
          <p:cNvPr id="30" name="image.png" descr="image.png"/>
          <p:cNvPicPr>
            <a:picLocks noChangeAspect="1"/>
          </p:cNvPicPr>
          <p:nvPr/>
        </p:nvPicPr>
        <p:blipFill>
          <a:blip r:embed="rId3">
            <a:extLst/>
          </a:blip>
          <a:stretch>
            <a:fillRect/>
          </a:stretch>
        </p:blipFill>
        <p:spPr>
          <a:xfrm>
            <a:off x="6048375" y="1095375"/>
            <a:ext cx="2762250" cy="2762250"/>
          </a:xfrm>
          <a:prstGeom prst="rect">
            <a:avLst/>
          </a:prstGeom>
          <a:ln w="12700">
            <a:miter lim="400000"/>
          </a:ln>
        </p:spPr>
      </p:pic>
      <p:sp>
        <p:nvSpPr>
          <p:cNvPr id="31" name="text"/>
          <p:cNvSpPr txBox="1"/>
          <p:nvPr/>
        </p:nvSpPr>
        <p:spPr>
          <a:xfrm>
            <a:off x="523875" y="1571625"/>
            <a:ext cx="4762500" cy="508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rtl="1">
              <a:defRPr b="1" sz="3300">
                <a:solidFill>
                  <a:srgbClr val="D75BE2"/>
                </a:solidFill>
                <a:latin typeface="Inter"/>
                <a:ea typeface="Inter"/>
                <a:cs typeface="Inter"/>
                <a:sym typeface="Inter"/>
              </a:defRPr>
            </a:pPr>
            <a:r>
              <a:rPr>
                <a:latin typeface="Arial"/>
                <a:ea typeface="Arial"/>
                <a:cs typeface="Arial"/>
                <a:sym typeface="Arial"/>
              </a:rPr>
              <a:t>פיתוח עם סוכני</a:t>
            </a:r>
            <a:r>
              <a:t>-</a:t>
            </a:r>
            <a:r>
              <a:rPr>
                <a:latin typeface="Arial"/>
                <a:ea typeface="Arial"/>
                <a:cs typeface="Arial"/>
                <a:sym typeface="Arial"/>
              </a:rPr>
              <a:t>קוד</a:t>
            </a:r>
          </a:p>
        </p:txBody>
      </p:sp>
      <p:sp>
        <p:nvSpPr>
          <p:cNvPr id="32" name="text"/>
          <p:cNvSpPr txBox="1"/>
          <p:nvPr/>
        </p:nvSpPr>
        <p:spPr>
          <a:xfrm>
            <a:off x="523875" y="2809875"/>
            <a:ext cx="4762500" cy="56627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rtl="1">
              <a:defRPr>
                <a:solidFill>
                  <a:srgbClr val="272525"/>
                </a:solidFill>
                <a:latin typeface="Inter"/>
                <a:ea typeface="Inter"/>
                <a:cs typeface="Inter"/>
                <a:sym typeface="Inter"/>
              </a:defRPr>
            </a:pPr>
            <a:r>
              <a:rPr>
                <a:latin typeface="Arial"/>
                <a:ea typeface="Arial"/>
                <a:cs typeface="Arial"/>
                <a:sym typeface="Arial"/>
              </a:rPr>
              <a:t>פיתוח ב־</a:t>
            </a:r>
            <a:r>
              <a:t>Vibe Coding </a:t>
            </a:r>
            <a:r>
              <a:rPr>
                <a:latin typeface="Arial"/>
                <a:ea typeface="Arial"/>
                <a:cs typeface="Arial"/>
                <a:sym typeface="Arial"/>
              </a:rPr>
              <a:t>עם </a:t>
            </a:r>
            <a:r>
              <a:t>Claude Code</a:t>
            </a:r>
          </a:p>
          <a:p>
            <a:pPr algn="ctr" rtl="1">
              <a:defRPr>
                <a:solidFill>
                  <a:srgbClr val="272525"/>
                </a:solidFill>
                <a:latin typeface="Inter"/>
                <a:ea typeface="Inter"/>
                <a:cs typeface="Inter"/>
                <a:sym typeface="Inter"/>
              </a:defRPr>
            </a:pPr>
            <a:r>
              <a:rPr>
                <a:latin typeface="Arial"/>
                <a:ea typeface="Arial"/>
                <a:cs typeface="Arial"/>
                <a:sym typeface="Arial"/>
              </a:rPr>
              <a:t>ועם </a:t>
            </a:r>
            <a:r>
              <a:t>ChatGPT / Codex</a:t>
            </a:r>
          </a:p>
        </p:txBody>
      </p:sp>
      <p:sp>
        <p:nvSpPr>
          <p:cNvPr id="33" name="text"/>
          <p:cNvSpPr txBox="1"/>
          <p:nvPr/>
        </p:nvSpPr>
        <p:spPr>
          <a:xfrm>
            <a:off x="619125" y="3762375"/>
            <a:ext cx="4572000" cy="241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rtl="1">
              <a:defRPr sz="1600">
                <a:solidFill>
                  <a:srgbClr val="272525"/>
                </a:solidFill>
                <a:latin typeface="Inter"/>
                <a:ea typeface="Inter"/>
                <a:cs typeface="Inter"/>
                <a:sym typeface="Inter"/>
              </a:defRPr>
            </a:pPr>
            <a:r>
              <a:rPr>
                <a:latin typeface="Arial"/>
                <a:ea typeface="Arial"/>
                <a:cs typeface="Arial"/>
                <a:sym typeface="Arial"/>
              </a:rPr>
              <a:t>אפיון</a:t>
            </a:r>
            <a:r>
              <a:t>, </a:t>
            </a:r>
            <a:r>
              <a:rPr>
                <a:latin typeface="Arial"/>
                <a:ea typeface="Arial"/>
                <a:cs typeface="Arial"/>
                <a:sym typeface="Arial"/>
              </a:rPr>
              <a:t>תיעוד ובדיקות שמאפשרים להמשיך גם מחר</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FFF"/>
        </a:solidFill>
      </p:bgPr>
    </p:bg>
    <p:spTree>
      <p:nvGrpSpPr>
        <p:cNvPr id="1" name=""/>
        <p:cNvGrpSpPr/>
        <p:nvPr/>
      </p:nvGrpSpPr>
      <p:grpSpPr>
        <a:xfrm>
          <a:off x="0" y="0"/>
          <a:ext cx="0" cy="0"/>
          <a:chOff x="0" y="0"/>
          <a:chExt cx="0" cy="0"/>
        </a:xfrm>
      </p:grpSpPr>
      <p:sp>
        <p:nvSpPr>
          <p:cNvPr id="37" name="text"/>
          <p:cNvSpPr txBox="1"/>
          <p:nvPr/>
        </p:nvSpPr>
        <p:spPr>
          <a:xfrm>
            <a:off x="457200" y="323850"/>
            <a:ext cx="8229600" cy="39476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defRPr b="1" sz="2800">
                <a:solidFill>
                  <a:srgbClr val="D75BE2"/>
                </a:solidFill>
              </a:defRPr>
            </a:lvl1pPr>
          </a:lstStyle>
          <a:p>
            <a:pPr>
              <a:defRPr>
                <a:latin typeface="Inter"/>
                <a:ea typeface="Inter"/>
                <a:cs typeface="Inter"/>
                <a:sym typeface="Inter"/>
              </a:defRPr>
            </a:pPr>
            <a:r>
              <a:rPr>
                <a:latin typeface="Arial"/>
                <a:ea typeface="Arial"/>
                <a:cs typeface="Arial"/>
                <a:sym typeface="Arial"/>
              </a:rPr>
              <a:t>חלון הקונטקסט של הסוכן</a:t>
            </a:r>
          </a:p>
        </p:txBody>
      </p:sp>
      <p:sp>
        <p:nvSpPr>
          <p:cNvPr id="38" name="text"/>
          <p:cNvSpPr txBox="1"/>
          <p:nvPr/>
        </p:nvSpPr>
        <p:spPr>
          <a:xfrm>
            <a:off x="5905500" y="4876800"/>
            <a:ext cx="2781300" cy="127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800">
                <a:solidFill>
                  <a:srgbClr val="705B73"/>
                </a:solidFill>
                <a:latin typeface="Inter"/>
                <a:ea typeface="Inter"/>
                <a:cs typeface="Inter"/>
                <a:sym typeface="Inter"/>
              </a:defRPr>
            </a:pPr>
            <a:r>
              <a:rPr>
                <a:latin typeface="Arial"/>
                <a:ea typeface="Arial"/>
                <a:cs typeface="Arial"/>
                <a:sym typeface="Arial"/>
              </a:rPr>
              <a:t>שיעור</a:t>
            </a:r>
            <a:r>
              <a:t>: </a:t>
            </a:r>
            <a:r>
              <a:rPr>
                <a:latin typeface="Arial"/>
                <a:ea typeface="Arial"/>
                <a:cs typeface="Arial"/>
                <a:sym typeface="Arial"/>
              </a:rPr>
              <a:t>פיתוח עם סוכני־קוד</a:t>
            </a:r>
          </a:p>
        </p:txBody>
      </p:sp>
      <p:sp>
        <p:nvSpPr>
          <p:cNvPr id="39" name="code"/>
          <p:cNvSpPr txBox="1"/>
          <p:nvPr/>
        </p:nvSpPr>
        <p:spPr>
          <a:xfrm>
            <a:off x="457200" y="4876800"/>
            <a:ext cx="333375" cy="127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defRPr sz="800">
                <a:solidFill>
                  <a:srgbClr val="705B73"/>
                </a:solidFill>
                <a:latin typeface="Inter"/>
                <a:ea typeface="Inter"/>
                <a:cs typeface="Inter"/>
                <a:sym typeface="Inter"/>
              </a:defRPr>
            </a:lvl1pPr>
          </a:lstStyle>
          <a:p>
            <a:pPr/>
            <a:r>
              <a:t>2</a:t>
            </a:r>
          </a:p>
        </p:txBody>
      </p:sp>
      <p:sp>
        <p:nvSpPr>
          <p:cNvPr id="40" name="Rectangle"/>
          <p:cNvSpPr/>
          <p:nvPr/>
        </p:nvSpPr>
        <p:spPr>
          <a:xfrm>
            <a:off x="457200" y="4305300"/>
            <a:ext cx="8229600" cy="466725"/>
          </a:xfrm>
          <a:prstGeom prst="rect">
            <a:avLst/>
          </a:prstGeom>
          <a:solidFill>
            <a:srgbClr val="F4D4F7"/>
          </a:solidFill>
          <a:ln w="12700">
            <a:miter lim="400000"/>
          </a:ln>
        </p:spPr>
        <p:txBody>
          <a:bodyPr lIns="0" tIns="0" rIns="0" bIns="0"/>
          <a:lstStyle/>
          <a:p>
            <a:pPr/>
          </a:p>
        </p:txBody>
      </p:sp>
      <p:sp>
        <p:nvSpPr>
          <p:cNvPr id="41" name="לדוגמא - לסוכן Claude Opus 5.5"/>
          <p:cNvSpPr txBox="1"/>
          <p:nvPr/>
        </p:nvSpPr>
        <p:spPr>
          <a:xfrm>
            <a:off x="3029073" y="837218"/>
            <a:ext cx="3085853" cy="259223"/>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rtl="1">
              <a:defRPr/>
            </a:lvl1pPr>
          </a:lstStyle>
          <a:p>
            <a:pPr/>
            <a:r>
              <a:t>לדוגמא - לסוכן Claude Opus 5.5</a:t>
            </a:r>
          </a:p>
        </p:txBody>
      </p:sp>
      <p:sp>
        <p:nvSpPr>
          <p:cNvPr id="42" name="יש קונטקסט בגודל 1M טוקנים"/>
          <p:cNvSpPr txBox="1"/>
          <p:nvPr/>
        </p:nvSpPr>
        <p:spPr>
          <a:xfrm>
            <a:off x="3235572" y="1315997"/>
            <a:ext cx="2672855" cy="259223"/>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gn="r" rtl="1">
              <a:defRPr/>
            </a:lvl1pPr>
          </a:lstStyle>
          <a:p>
            <a:pPr/>
            <a:r>
              <a:t>יש קונטקסט בגודל 1M טוקנים</a:t>
            </a:r>
          </a:p>
        </p:txBody>
      </p:sp>
      <p:sp>
        <p:nvSpPr>
          <p:cNvPr id="43" name="אחרי ~1M טוקנים - הסוכן מבצע Compactization:…"/>
          <p:cNvSpPr txBox="1"/>
          <p:nvPr/>
        </p:nvSpPr>
        <p:spPr>
          <a:xfrm>
            <a:off x="1333950" y="1922900"/>
            <a:ext cx="4567734" cy="792622"/>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p>
            <a:pPr algn="r" rtl="1">
              <a:defRPr/>
            </a:pPr>
            <a:r>
              <a:t>אחרי ~1M טוקנים - הסוכן מבצע Compactization:</a:t>
            </a:r>
          </a:p>
          <a:p>
            <a:pPr algn="r" rtl="1">
              <a:defRPr/>
            </a:pPr>
          </a:p>
          <a:p>
            <a:pPr algn="r" rtl="1">
              <a:defRPr/>
            </a:pPr>
            <a:r>
              <a:t>סיכום ומחיקה חלקית של הקונטקסט.</a:t>
            </a:r>
          </a:p>
        </p:txBody>
      </p:sp>
      <p:sp>
        <p:nvSpPr>
          <p:cNvPr id="44" name="השיטה להתגבר על כך:…"/>
          <p:cNvSpPr txBox="1"/>
          <p:nvPr/>
        </p:nvSpPr>
        <p:spPr>
          <a:xfrm>
            <a:off x="2879902" y="3063202"/>
            <a:ext cx="3021782" cy="525923"/>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p>
            <a:pPr algn="r" rtl="1">
              <a:defRPr/>
            </a:pPr>
            <a:r>
              <a:t>השיטה להתגבר על כך:</a:t>
            </a:r>
          </a:p>
          <a:p>
            <a:pPr algn="r" rtl="1">
              <a:defRPr/>
            </a:pPr>
            <a:r>
              <a:t>קבצים בתיקיה שישמשו כContext</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FFF"/>
        </a:solidFill>
      </p:bgPr>
    </p:bg>
    <p:spTree>
      <p:nvGrpSpPr>
        <p:cNvPr id="1" name=""/>
        <p:cNvGrpSpPr/>
        <p:nvPr/>
      </p:nvGrpSpPr>
      <p:grpSpPr>
        <a:xfrm>
          <a:off x="0" y="0"/>
          <a:ext cx="0" cy="0"/>
          <a:chOff x="0" y="0"/>
          <a:chExt cx="0" cy="0"/>
        </a:xfrm>
      </p:grpSpPr>
      <p:sp>
        <p:nvSpPr>
          <p:cNvPr id="48" name="text"/>
          <p:cNvSpPr txBox="1"/>
          <p:nvPr/>
        </p:nvSpPr>
        <p:spPr>
          <a:xfrm>
            <a:off x="457200" y="323850"/>
            <a:ext cx="8229600" cy="431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b="1" sz="2800">
                <a:solidFill>
                  <a:srgbClr val="D75BE2"/>
                </a:solidFill>
                <a:latin typeface="Inter"/>
                <a:ea typeface="Inter"/>
                <a:cs typeface="Inter"/>
                <a:sym typeface="Inter"/>
              </a:defRPr>
            </a:pPr>
            <a:r>
              <a:rPr>
                <a:latin typeface="Arial"/>
                <a:ea typeface="Arial"/>
                <a:cs typeface="Arial"/>
                <a:sym typeface="Arial"/>
              </a:rPr>
              <a:t>סוכן ותיקייה</a:t>
            </a:r>
            <a:r>
              <a:t>: </a:t>
            </a:r>
            <a:r>
              <a:rPr>
                <a:latin typeface="Arial"/>
                <a:ea typeface="Arial"/>
                <a:cs typeface="Arial"/>
                <a:sym typeface="Arial"/>
              </a:rPr>
              <a:t>מתחילים בקלוד</a:t>
            </a:r>
          </a:p>
        </p:txBody>
      </p:sp>
      <p:sp>
        <p:nvSpPr>
          <p:cNvPr id="49" name="text"/>
          <p:cNvSpPr txBox="1"/>
          <p:nvPr/>
        </p:nvSpPr>
        <p:spPr>
          <a:xfrm>
            <a:off x="5905500" y="4876800"/>
            <a:ext cx="2781300" cy="127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800">
                <a:solidFill>
                  <a:srgbClr val="705B73"/>
                </a:solidFill>
                <a:latin typeface="Inter"/>
                <a:ea typeface="Inter"/>
                <a:cs typeface="Inter"/>
                <a:sym typeface="Inter"/>
              </a:defRPr>
            </a:pPr>
            <a:r>
              <a:rPr>
                <a:latin typeface="Arial"/>
                <a:ea typeface="Arial"/>
                <a:cs typeface="Arial"/>
                <a:sym typeface="Arial"/>
              </a:rPr>
              <a:t>שיעור</a:t>
            </a:r>
            <a:r>
              <a:t>: </a:t>
            </a:r>
            <a:r>
              <a:rPr>
                <a:latin typeface="Arial"/>
                <a:ea typeface="Arial"/>
                <a:cs typeface="Arial"/>
                <a:sym typeface="Arial"/>
              </a:rPr>
              <a:t>פיתוח עם סוכני־קוד</a:t>
            </a:r>
          </a:p>
        </p:txBody>
      </p:sp>
      <p:sp>
        <p:nvSpPr>
          <p:cNvPr id="50" name="code"/>
          <p:cNvSpPr txBox="1"/>
          <p:nvPr/>
        </p:nvSpPr>
        <p:spPr>
          <a:xfrm>
            <a:off x="457200" y="4876800"/>
            <a:ext cx="333375" cy="127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defRPr sz="800">
                <a:solidFill>
                  <a:srgbClr val="705B73"/>
                </a:solidFill>
                <a:latin typeface="Inter"/>
                <a:ea typeface="Inter"/>
                <a:cs typeface="Inter"/>
                <a:sym typeface="Inter"/>
              </a:defRPr>
            </a:lvl1pPr>
          </a:lstStyle>
          <a:p>
            <a:pPr/>
            <a:r>
              <a:t>3</a:t>
            </a:r>
          </a:p>
        </p:txBody>
      </p:sp>
      <p:pic>
        <p:nvPicPr>
          <p:cNvPr id="51" name="image2.png" descr="image2.png"/>
          <p:cNvPicPr>
            <a:picLocks noChangeAspect="1"/>
          </p:cNvPicPr>
          <p:nvPr/>
        </p:nvPicPr>
        <p:blipFill>
          <a:blip r:embed="rId3">
            <a:extLst/>
          </a:blip>
          <a:stretch>
            <a:fillRect/>
          </a:stretch>
        </p:blipFill>
        <p:spPr>
          <a:xfrm>
            <a:off x="1268266" y="971550"/>
            <a:ext cx="6607467" cy="3143250"/>
          </a:xfrm>
          <a:prstGeom prst="rect">
            <a:avLst/>
          </a:prstGeom>
          <a:ln w="12700">
            <a:miter lim="400000"/>
          </a:ln>
        </p:spPr>
      </p:pic>
      <p:sp>
        <p:nvSpPr>
          <p:cNvPr id="52" name="Rectangle"/>
          <p:cNvSpPr/>
          <p:nvPr/>
        </p:nvSpPr>
        <p:spPr>
          <a:xfrm>
            <a:off x="457200" y="4305300"/>
            <a:ext cx="8229600" cy="466725"/>
          </a:xfrm>
          <a:prstGeom prst="rect">
            <a:avLst/>
          </a:prstGeom>
          <a:solidFill>
            <a:srgbClr val="F4D4F7"/>
          </a:solidFill>
          <a:ln w="12700">
            <a:miter lim="400000"/>
          </a:ln>
        </p:spPr>
        <p:txBody>
          <a:bodyPr lIns="0" tIns="0" rIns="0" bIns="0"/>
          <a:lstStyle/>
          <a:p>
            <a:pPr/>
          </a:p>
        </p:txBody>
      </p:sp>
      <p:sp>
        <p:nvSpPr>
          <p:cNvPr id="53" name="text"/>
          <p:cNvSpPr txBox="1"/>
          <p:nvPr/>
        </p:nvSpPr>
        <p:spPr>
          <a:xfrm>
            <a:off x="619125" y="4400550"/>
            <a:ext cx="7905750" cy="2286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b="1" sz="1500">
                <a:solidFill>
                  <a:srgbClr val="272525"/>
                </a:solidFill>
                <a:latin typeface="Inter"/>
                <a:ea typeface="Inter"/>
                <a:cs typeface="Inter"/>
                <a:sym typeface="Inter"/>
              </a:defRPr>
            </a:pPr>
            <a:r>
              <a:rPr>
                <a:latin typeface="Arial"/>
                <a:ea typeface="Arial"/>
                <a:cs typeface="Arial"/>
                <a:sym typeface="Arial"/>
              </a:rPr>
              <a:t>בתפריט </a:t>
            </a:r>
            <a:r>
              <a:t>+ </a:t>
            </a:r>
            <a:r>
              <a:rPr>
                <a:latin typeface="Arial"/>
                <a:ea typeface="Arial"/>
                <a:cs typeface="Arial"/>
                <a:sym typeface="Arial"/>
              </a:rPr>
              <a:t>בוחרים </a:t>
            </a:r>
            <a:r>
              <a:t>Add folder </a:t>
            </a:r>
            <a:r>
              <a:rPr>
                <a:latin typeface="Arial"/>
                <a:ea typeface="Arial"/>
                <a:cs typeface="Arial"/>
                <a:sym typeface="Arial"/>
              </a:rPr>
              <a:t>ומחברים את תיקיית הפרויקט</a:t>
            </a:r>
            <a:r>
              <a:t>. </a:t>
            </a:r>
            <a:r>
              <a:rPr>
                <a:latin typeface="Arial"/>
                <a:ea typeface="Arial"/>
                <a:cs typeface="Arial"/>
                <a:sym typeface="Arial"/>
              </a:rPr>
              <a:t>אפשר גם בלי </a:t>
            </a:r>
            <a:r>
              <a:t>VS Code.</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FFF"/>
        </a:solidFill>
      </p:bgPr>
    </p:bg>
    <p:spTree>
      <p:nvGrpSpPr>
        <p:cNvPr id="1" name=""/>
        <p:cNvGrpSpPr/>
        <p:nvPr/>
      </p:nvGrpSpPr>
      <p:grpSpPr>
        <a:xfrm>
          <a:off x="0" y="0"/>
          <a:ext cx="0" cy="0"/>
          <a:chOff x="0" y="0"/>
          <a:chExt cx="0" cy="0"/>
        </a:xfrm>
      </p:grpSpPr>
      <p:sp>
        <p:nvSpPr>
          <p:cNvPr id="57" name="text"/>
          <p:cNvSpPr txBox="1"/>
          <p:nvPr/>
        </p:nvSpPr>
        <p:spPr>
          <a:xfrm>
            <a:off x="457200" y="323850"/>
            <a:ext cx="8229600" cy="39476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defRPr b="1" sz="2800">
                <a:solidFill>
                  <a:srgbClr val="D75BE2"/>
                </a:solidFill>
              </a:defRPr>
            </a:lvl1pPr>
          </a:lstStyle>
          <a:p>
            <a:pPr>
              <a:defRPr>
                <a:latin typeface="Inter"/>
                <a:ea typeface="Inter"/>
                <a:cs typeface="Inter"/>
                <a:sym typeface="Inter"/>
              </a:defRPr>
            </a:pPr>
            <a:r>
              <a:rPr>
                <a:latin typeface="Arial"/>
                <a:ea typeface="Arial"/>
                <a:cs typeface="Arial"/>
                <a:sym typeface="Arial"/>
              </a:rPr>
              <a:t>אותה תיקייה, כמה סוכנים</a:t>
            </a:r>
          </a:p>
        </p:txBody>
      </p:sp>
      <p:sp>
        <p:nvSpPr>
          <p:cNvPr id="58" name="text"/>
          <p:cNvSpPr txBox="1"/>
          <p:nvPr/>
        </p:nvSpPr>
        <p:spPr>
          <a:xfrm>
            <a:off x="5905500" y="4876800"/>
            <a:ext cx="2781300" cy="127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800">
                <a:solidFill>
                  <a:srgbClr val="705B73"/>
                </a:solidFill>
                <a:latin typeface="Inter"/>
                <a:ea typeface="Inter"/>
                <a:cs typeface="Inter"/>
                <a:sym typeface="Inter"/>
              </a:defRPr>
            </a:pPr>
            <a:r>
              <a:rPr>
                <a:latin typeface="Arial"/>
                <a:ea typeface="Arial"/>
                <a:cs typeface="Arial"/>
                <a:sym typeface="Arial"/>
              </a:rPr>
              <a:t>שיעור</a:t>
            </a:r>
            <a:r>
              <a:t>: </a:t>
            </a:r>
            <a:r>
              <a:rPr>
                <a:latin typeface="Arial"/>
                <a:ea typeface="Arial"/>
                <a:cs typeface="Arial"/>
                <a:sym typeface="Arial"/>
              </a:rPr>
              <a:t>פיתוח עם סוכני־קוד</a:t>
            </a:r>
          </a:p>
        </p:txBody>
      </p:sp>
      <p:sp>
        <p:nvSpPr>
          <p:cNvPr id="59" name="code"/>
          <p:cNvSpPr txBox="1"/>
          <p:nvPr/>
        </p:nvSpPr>
        <p:spPr>
          <a:xfrm>
            <a:off x="457200" y="4876800"/>
            <a:ext cx="333375" cy="127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defRPr sz="800">
                <a:solidFill>
                  <a:srgbClr val="705B73"/>
                </a:solidFill>
                <a:latin typeface="Inter"/>
                <a:ea typeface="Inter"/>
                <a:cs typeface="Inter"/>
                <a:sym typeface="Inter"/>
              </a:defRPr>
            </a:lvl1pPr>
          </a:lstStyle>
          <a:p>
            <a:pPr/>
            <a:r>
              <a:t>4</a:t>
            </a:r>
          </a:p>
        </p:txBody>
      </p:sp>
      <p:sp>
        <p:nvSpPr>
          <p:cNvPr id="60" name="text"/>
          <p:cNvSpPr txBox="1"/>
          <p:nvPr/>
        </p:nvSpPr>
        <p:spPr>
          <a:xfrm>
            <a:off x="457200" y="1968500"/>
            <a:ext cx="8229600" cy="80116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b="1" sz="2800">
                <a:solidFill>
                  <a:srgbClr val="D75BE2"/>
                </a:solidFill>
                <a:latin typeface="Inter"/>
                <a:ea typeface="Inter"/>
                <a:cs typeface="Inter"/>
                <a:sym typeface="Inter"/>
              </a:defRPr>
            </a:pPr>
            <a:r>
              <a:rPr>
                <a:latin typeface="Arial"/>
                <a:ea typeface="Arial"/>
                <a:cs typeface="Arial"/>
                <a:sym typeface="Arial"/>
              </a:rPr>
              <a:t>אפשר לעבוד על אותה תיקיית פרויקט</a:t>
            </a:r>
            <a:endParaRPr>
              <a:latin typeface="Arial"/>
              <a:ea typeface="Arial"/>
              <a:cs typeface="Arial"/>
              <a:sym typeface="Arial"/>
            </a:endParaRPr>
          </a:p>
          <a:p>
            <a:pPr algn="ctr" rtl="1">
              <a:defRPr b="1" sz="2800">
                <a:solidFill>
                  <a:srgbClr val="D75BE2"/>
                </a:solidFill>
                <a:latin typeface="Inter"/>
                <a:ea typeface="Inter"/>
                <a:cs typeface="Inter"/>
                <a:sym typeface="Inter"/>
              </a:defRPr>
            </a:pPr>
            <a:r>
              <a:rPr>
                <a:latin typeface="Arial"/>
                <a:ea typeface="Arial"/>
                <a:cs typeface="Arial"/>
                <a:sym typeface="Arial"/>
              </a:rPr>
              <a:t>גם עם הסוכן Codex</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FFF"/>
        </a:solidFill>
      </p:bgPr>
    </p:bg>
    <p:spTree>
      <p:nvGrpSpPr>
        <p:cNvPr id="1" name=""/>
        <p:cNvGrpSpPr/>
        <p:nvPr/>
      </p:nvGrpSpPr>
      <p:grpSpPr>
        <a:xfrm>
          <a:off x="0" y="0"/>
          <a:ext cx="0" cy="0"/>
          <a:chOff x="0" y="0"/>
          <a:chExt cx="0" cy="0"/>
        </a:xfrm>
      </p:grpSpPr>
      <p:sp>
        <p:nvSpPr>
          <p:cNvPr id="64" name="text"/>
          <p:cNvSpPr txBox="1"/>
          <p:nvPr/>
        </p:nvSpPr>
        <p:spPr>
          <a:xfrm>
            <a:off x="457200" y="323850"/>
            <a:ext cx="8229600" cy="431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b="1" sz="2800">
                <a:solidFill>
                  <a:srgbClr val="D75BE2"/>
                </a:solidFill>
                <a:latin typeface="Inter"/>
                <a:ea typeface="Inter"/>
                <a:cs typeface="Inter"/>
                <a:sym typeface="Inter"/>
              </a:defRPr>
            </a:pPr>
            <a:r>
              <a:rPr>
                <a:latin typeface="Arial"/>
                <a:ea typeface="Arial"/>
                <a:cs typeface="Arial"/>
                <a:sym typeface="Arial"/>
              </a:rPr>
              <a:t>מה ההבדל בין מודל שפה לסוכן</a:t>
            </a:r>
            <a:r>
              <a:t>?</a:t>
            </a:r>
          </a:p>
        </p:txBody>
      </p:sp>
      <p:sp>
        <p:nvSpPr>
          <p:cNvPr id="65" name="text"/>
          <p:cNvSpPr txBox="1"/>
          <p:nvPr/>
        </p:nvSpPr>
        <p:spPr>
          <a:xfrm>
            <a:off x="5905500" y="4876800"/>
            <a:ext cx="2781300" cy="127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800">
                <a:solidFill>
                  <a:srgbClr val="705B73"/>
                </a:solidFill>
                <a:latin typeface="Inter"/>
                <a:ea typeface="Inter"/>
                <a:cs typeface="Inter"/>
                <a:sym typeface="Inter"/>
              </a:defRPr>
            </a:pPr>
            <a:r>
              <a:rPr>
                <a:latin typeface="Arial"/>
                <a:ea typeface="Arial"/>
                <a:cs typeface="Arial"/>
                <a:sym typeface="Arial"/>
              </a:rPr>
              <a:t>שיעור</a:t>
            </a:r>
            <a:r>
              <a:t>: </a:t>
            </a:r>
            <a:r>
              <a:rPr>
                <a:latin typeface="Arial"/>
                <a:ea typeface="Arial"/>
                <a:cs typeface="Arial"/>
                <a:sym typeface="Arial"/>
              </a:rPr>
              <a:t>פיתוח עם סוכני־קוד</a:t>
            </a:r>
          </a:p>
        </p:txBody>
      </p:sp>
      <p:sp>
        <p:nvSpPr>
          <p:cNvPr id="66" name="code"/>
          <p:cNvSpPr txBox="1"/>
          <p:nvPr/>
        </p:nvSpPr>
        <p:spPr>
          <a:xfrm>
            <a:off x="457200" y="4876800"/>
            <a:ext cx="333375" cy="127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defRPr sz="800">
                <a:solidFill>
                  <a:srgbClr val="705B73"/>
                </a:solidFill>
                <a:latin typeface="Inter"/>
                <a:ea typeface="Inter"/>
                <a:cs typeface="Inter"/>
                <a:sym typeface="Inter"/>
              </a:defRPr>
            </a:lvl1pPr>
          </a:lstStyle>
          <a:p>
            <a:pPr/>
            <a:r>
              <a:t>5</a:t>
            </a:r>
          </a:p>
        </p:txBody>
      </p:sp>
      <p:sp>
        <p:nvSpPr>
          <p:cNvPr id="67" name="text"/>
          <p:cNvSpPr txBox="1"/>
          <p:nvPr/>
        </p:nvSpPr>
        <p:spPr>
          <a:xfrm>
            <a:off x="457200" y="1238250"/>
            <a:ext cx="8229600" cy="2794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b="1">
                <a:solidFill>
                  <a:srgbClr val="272525"/>
                </a:solidFill>
                <a:latin typeface="Inter"/>
                <a:ea typeface="Inter"/>
                <a:cs typeface="Inter"/>
                <a:sym typeface="Inter"/>
              </a:defRPr>
            </a:pPr>
            <a:r>
              <a:rPr>
                <a:latin typeface="Arial"/>
                <a:ea typeface="Arial"/>
                <a:cs typeface="Arial"/>
                <a:sym typeface="Arial"/>
              </a:rPr>
              <a:t>מודל שפה</a:t>
            </a:r>
            <a:r>
              <a:t>: LLM</a:t>
            </a:r>
          </a:p>
        </p:txBody>
      </p:sp>
      <p:sp>
        <p:nvSpPr>
          <p:cNvPr id="68" name="text"/>
          <p:cNvSpPr txBox="1"/>
          <p:nvPr/>
        </p:nvSpPr>
        <p:spPr>
          <a:xfrm>
            <a:off x="457200" y="1571625"/>
            <a:ext cx="8229600" cy="241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1600">
                <a:solidFill>
                  <a:srgbClr val="272525"/>
                </a:solidFill>
                <a:latin typeface="Inter"/>
                <a:ea typeface="Inter"/>
                <a:cs typeface="Inter"/>
                <a:sym typeface="Inter"/>
              </a:defRPr>
            </a:pPr>
            <a:r>
              <a:rPr>
                <a:latin typeface="Arial"/>
                <a:ea typeface="Arial"/>
                <a:cs typeface="Arial"/>
                <a:sym typeface="Arial"/>
              </a:rPr>
              <a:t>מבין הקשר ומייצר תשובה או קוד</a:t>
            </a:r>
            <a:r>
              <a:t>. </a:t>
            </a:r>
            <a:r>
              <a:rPr>
                <a:latin typeface="Arial"/>
                <a:ea typeface="Arial"/>
                <a:cs typeface="Arial"/>
                <a:sym typeface="Arial"/>
              </a:rPr>
              <a:t>לבדו הוא אינו קורא או משנה את התיקייה</a:t>
            </a:r>
            <a:r>
              <a:t>.</a:t>
            </a:r>
          </a:p>
        </p:txBody>
      </p:sp>
      <p:sp>
        <p:nvSpPr>
          <p:cNvPr id="69" name="text"/>
          <p:cNvSpPr txBox="1"/>
          <p:nvPr/>
        </p:nvSpPr>
        <p:spPr>
          <a:xfrm>
            <a:off x="457200" y="2219325"/>
            <a:ext cx="8229600" cy="2794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b="1">
                <a:solidFill>
                  <a:srgbClr val="272525"/>
                </a:solidFill>
                <a:latin typeface="Inter"/>
                <a:ea typeface="Inter"/>
                <a:cs typeface="Inter"/>
                <a:sym typeface="Inter"/>
              </a:defRPr>
            </a:pPr>
            <a:r>
              <a:rPr>
                <a:latin typeface="Arial"/>
                <a:ea typeface="Arial"/>
                <a:cs typeface="Arial"/>
                <a:sym typeface="Arial"/>
              </a:rPr>
              <a:t>סוכן</a:t>
            </a:r>
            <a:r>
              <a:t>: </a:t>
            </a:r>
            <a:r>
              <a:rPr>
                <a:latin typeface="Arial"/>
                <a:ea typeface="Arial"/>
                <a:cs typeface="Arial"/>
                <a:sym typeface="Arial"/>
              </a:rPr>
              <a:t>מודל בתוך סביבת עבודה</a:t>
            </a:r>
          </a:p>
        </p:txBody>
      </p:sp>
      <p:sp>
        <p:nvSpPr>
          <p:cNvPr id="70" name="text"/>
          <p:cNvSpPr txBox="1"/>
          <p:nvPr/>
        </p:nvSpPr>
        <p:spPr>
          <a:xfrm>
            <a:off x="457200" y="2552700"/>
            <a:ext cx="8229600" cy="241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1600">
                <a:solidFill>
                  <a:srgbClr val="272525"/>
                </a:solidFill>
                <a:latin typeface="Inter"/>
                <a:ea typeface="Inter"/>
                <a:cs typeface="Inter"/>
                <a:sym typeface="Inter"/>
              </a:defRPr>
            </a:pPr>
            <a:r>
              <a:rPr>
                <a:latin typeface="Arial"/>
                <a:ea typeface="Arial"/>
                <a:cs typeface="Arial"/>
                <a:sym typeface="Arial"/>
              </a:rPr>
              <a:t>בוחר כלי</a:t>
            </a:r>
            <a:r>
              <a:t>, </a:t>
            </a:r>
            <a:r>
              <a:rPr>
                <a:latin typeface="Arial"/>
                <a:ea typeface="Arial"/>
                <a:cs typeface="Arial"/>
                <a:sym typeface="Arial"/>
              </a:rPr>
              <a:t>מפעיל אותו דרך הסביבה</a:t>
            </a:r>
            <a:r>
              <a:t>, </a:t>
            </a:r>
            <a:r>
              <a:rPr>
                <a:latin typeface="Arial"/>
                <a:ea typeface="Arial"/>
                <a:cs typeface="Arial"/>
                <a:sym typeface="Arial"/>
              </a:rPr>
              <a:t>קורא את התוצאה ומחליט איך להמשיך</a:t>
            </a:r>
            <a:r>
              <a:t>.</a:t>
            </a:r>
          </a:p>
        </p:txBody>
      </p:sp>
      <p:sp>
        <p:nvSpPr>
          <p:cNvPr id="71" name="text"/>
          <p:cNvSpPr txBox="1"/>
          <p:nvPr/>
        </p:nvSpPr>
        <p:spPr>
          <a:xfrm>
            <a:off x="457200" y="3200400"/>
            <a:ext cx="8229600" cy="25922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defRPr b="1">
                <a:solidFill>
                  <a:srgbClr val="272525"/>
                </a:solidFill>
              </a:defRPr>
            </a:lvl1pPr>
          </a:lstStyle>
          <a:p>
            <a:pPr>
              <a:defRPr>
                <a:latin typeface="Inter"/>
                <a:ea typeface="Inter"/>
                <a:cs typeface="Inter"/>
                <a:sym typeface="Inter"/>
              </a:defRPr>
            </a:pPr>
            <a:r>
              <a:rPr>
                <a:latin typeface="Arial"/>
                <a:ea typeface="Arial"/>
                <a:cs typeface="Arial"/>
                <a:sym typeface="Arial"/>
              </a:rPr>
              <a:t>הכלים שעומדים לרשותו</a:t>
            </a:r>
          </a:p>
        </p:txBody>
      </p:sp>
      <p:sp>
        <p:nvSpPr>
          <p:cNvPr id="72" name="text"/>
          <p:cNvSpPr txBox="1"/>
          <p:nvPr/>
        </p:nvSpPr>
        <p:spPr>
          <a:xfrm>
            <a:off x="457200" y="3533775"/>
            <a:ext cx="8229600" cy="241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1600">
                <a:solidFill>
                  <a:srgbClr val="272525"/>
                </a:solidFill>
                <a:latin typeface="Inter"/>
                <a:ea typeface="Inter"/>
                <a:cs typeface="Inter"/>
                <a:sym typeface="Inter"/>
              </a:defRPr>
            </a:pPr>
            <a:r>
              <a:rPr>
                <a:latin typeface="Arial"/>
                <a:ea typeface="Arial"/>
                <a:cs typeface="Arial"/>
                <a:sym typeface="Arial"/>
              </a:rPr>
              <a:t>קבצים ותיקיות</a:t>
            </a:r>
            <a:r>
              <a:t>, </a:t>
            </a:r>
            <a:r>
              <a:rPr>
                <a:latin typeface="Arial"/>
                <a:ea typeface="Arial"/>
                <a:cs typeface="Arial"/>
                <a:sym typeface="Arial"/>
              </a:rPr>
              <a:t>טרמינל ובדיקות</a:t>
            </a:r>
            <a:r>
              <a:t>, </a:t>
            </a:r>
            <a:r>
              <a:rPr>
                <a:latin typeface="Arial"/>
                <a:ea typeface="Arial"/>
                <a:cs typeface="Arial"/>
                <a:sym typeface="Arial"/>
              </a:rPr>
              <a:t>וגם חיבורי </a:t>
            </a:r>
            <a:r>
              <a:t>MCP </a:t>
            </a:r>
            <a:r>
              <a:rPr>
                <a:latin typeface="Arial"/>
                <a:ea typeface="Arial"/>
                <a:cs typeface="Arial"/>
                <a:sym typeface="Arial"/>
              </a:rPr>
              <a:t>לקבצים ולשירותים</a:t>
            </a:r>
            <a:r>
              <a:t>.</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FFF"/>
        </a:solidFill>
      </p:bgPr>
    </p:bg>
    <p:spTree>
      <p:nvGrpSpPr>
        <p:cNvPr id="1" name=""/>
        <p:cNvGrpSpPr/>
        <p:nvPr/>
      </p:nvGrpSpPr>
      <p:grpSpPr>
        <a:xfrm>
          <a:off x="0" y="0"/>
          <a:ext cx="0" cy="0"/>
          <a:chOff x="0" y="0"/>
          <a:chExt cx="0" cy="0"/>
        </a:xfrm>
      </p:grpSpPr>
      <p:sp>
        <p:nvSpPr>
          <p:cNvPr id="76" name="text"/>
          <p:cNvSpPr txBox="1"/>
          <p:nvPr/>
        </p:nvSpPr>
        <p:spPr>
          <a:xfrm>
            <a:off x="457200" y="323850"/>
            <a:ext cx="8229600" cy="39476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defRPr b="1" sz="2800">
                <a:solidFill>
                  <a:srgbClr val="D75BE2"/>
                </a:solidFill>
              </a:defRPr>
            </a:lvl1pPr>
          </a:lstStyle>
          <a:p>
            <a:pPr>
              <a:defRPr>
                <a:latin typeface="Inter"/>
                <a:ea typeface="Inter"/>
                <a:cs typeface="Inter"/>
                <a:sym typeface="Inter"/>
              </a:defRPr>
            </a:pPr>
            <a:r>
              <a:rPr>
                <a:latin typeface="Arial"/>
                <a:ea typeface="Arial"/>
                <a:cs typeface="Arial"/>
                <a:sym typeface="Arial"/>
              </a:rPr>
              <a:t>חיבור קבצים לסוכן דרך Files</a:t>
            </a:r>
          </a:p>
        </p:txBody>
      </p:sp>
      <p:sp>
        <p:nvSpPr>
          <p:cNvPr id="77" name="text"/>
          <p:cNvSpPr txBox="1"/>
          <p:nvPr/>
        </p:nvSpPr>
        <p:spPr>
          <a:xfrm>
            <a:off x="5905500" y="4876800"/>
            <a:ext cx="2781300" cy="127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800">
                <a:solidFill>
                  <a:srgbClr val="705B73"/>
                </a:solidFill>
                <a:latin typeface="Inter"/>
                <a:ea typeface="Inter"/>
                <a:cs typeface="Inter"/>
                <a:sym typeface="Inter"/>
              </a:defRPr>
            </a:pPr>
            <a:r>
              <a:rPr>
                <a:latin typeface="Arial"/>
                <a:ea typeface="Arial"/>
                <a:cs typeface="Arial"/>
                <a:sym typeface="Arial"/>
              </a:rPr>
              <a:t>שיעור</a:t>
            </a:r>
            <a:r>
              <a:t>: </a:t>
            </a:r>
            <a:r>
              <a:rPr>
                <a:latin typeface="Arial"/>
                <a:ea typeface="Arial"/>
                <a:cs typeface="Arial"/>
                <a:sym typeface="Arial"/>
              </a:rPr>
              <a:t>פיתוח עם סוכני־קוד</a:t>
            </a:r>
          </a:p>
        </p:txBody>
      </p:sp>
      <p:sp>
        <p:nvSpPr>
          <p:cNvPr id="78" name="code"/>
          <p:cNvSpPr txBox="1"/>
          <p:nvPr/>
        </p:nvSpPr>
        <p:spPr>
          <a:xfrm>
            <a:off x="457200" y="4876800"/>
            <a:ext cx="333375" cy="127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defRPr sz="800">
                <a:solidFill>
                  <a:srgbClr val="705B73"/>
                </a:solidFill>
                <a:latin typeface="Inter"/>
                <a:ea typeface="Inter"/>
                <a:cs typeface="Inter"/>
                <a:sym typeface="Inter"/>
              </a:defRPr>
            </a:lvl1pPr>
          </a:lstStyle>
          <a:p>
            <a:pPr/>
            <a:r>
              <a:t>6</a:t>
            </a:r>
          </a:p>
        </p:txBody>
      </p:sp>
      <p:pic>
        <p:nvPicPr>
          <p:cNvPr id="79" name="pasted-movie.png" descr="pasted-movie.png"/>
          <p:cNvPicPr>
            <a:picLocks noChangeAspect="1"/>
          </p:cNvPicPr>
          <p:nvPr/>
        </p:nvPicPr>
        <p:blipFill>
          <a:blip r:embed="rId3">
            <a:extLst/>
          </a:blip>
          <a:stretch>
            <a:fillRect/>
          </a:stretch>
        </p:blipFill>
        <p:spPr>
          <a:xfrm>
            <a:off x="457200" y="1143000"/>
            <a:ext cx="4273336" cy="3551982"/>
          </a:xfrm>
          <a:prstGeom prst="rect">
            <a:avLst/>
          </a:prstGeom>
          <a:ln w="12700">
            <a:miter lim="400000"/>
          </a:ln>
        </p:spPr>
      </p:pic>
      <p:sp>
        <p:nvSpPr>
          <p:cNvPr id="80" name="Line"/>
          <p:cNvSpPr/>
          <p:nvPr/>
        </p:nvSpPr>
        <p:spPr>
          <a:xfrm flipV="1">
            <a:off x="1543106" y="3271935"/>
            <a:ext cx="1270001" cy="1270001"/>
          </a:xfrm>
          <a:prstGeom prst="line">
            <a:avLst/>
          </a:prstGeom>
          <a:ln w="25400">
            <a:solidFill>
              <a:schemeClr val="accent1"/>
            </a:solidFill>
            <a:tailEnd type="triangle"/>
          </a:ln>
          <a:effectLst>
            <a:outerShdw sx="100000" sy="100000" kx="0" ky="0" algn="b" rotWithShape="0" blurRad="38100" dist="20000" dir="5400000">
              <a:srgbClr val="000000">
                <a:alpha val="38000"/>
              </a:srgbClr>
            </a:outerShdw>
          </a:effectLst>
        </p:spPr>
        <p:txBody>
          <a:bodyPr lIns="0" tIns="0" rIns="0" bIns="0"/>
          <a:lstStyle/>
          <a:p>
            <a:pPr/>
          </a:p>
        </p:txBody>
      </p:sp>
      <p:sp>
        <p:nvSpPr>
          <p:cNvPr id="81" name="+ נלחץ…"/>
          <p:cNvSpPr txBox="1"/>
          <p:nvPr/>
        </p:nvSpPr>
        <p:spPr>
          <a:xfrm>
            <a:off x="1334999" y="3905449"/>
            <a:ext cx="882229" cy="525922"/>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p>
            <a:pPr/>
            <a:r>
              <a:t>+ נלחץ</a:t>
            </a:r>
          </a:p>
          <a:p>
            <a:pPr/>
            <a:r>
              <a:t>ואז files  </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FFF"/>
        </a:solidFill>
      </p:bgPr>
    </p:bg>
    <p:spTree>
      <p:nvGrpSpPr>
        <p:cNvPr id="1" name=""/>
        <p:cNvGrpSpPr/>
        <p:nvPr/>
      </p:nvGrpSpPr>
      <p:grpSpPr>
        <a:xfrm>
          <a:off x="0" y="0"/>
          <a:ext cx="0" cy="0"/>
          <a:chOff x="0" y="0"/>
          <a:chExt cx="0" cy="0"/>
        </a:xfrm>
      </p:grpSpPr>
      <p:sp>
        <p:nvSpPr>
          <p:cNvPr id="85" name="text"/>
          <p:cNvSpPr txBox="1"/>
          <p:nvPr/>
        </p:nvSpPr>
        <p:spPr>
          <a:xfrm>
            <a:off x="457200" y="323850"/>
            <a:ext cx="8229600" cy="39476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defRPr b="1" sz="2800">
                <a:solidFill>
                  <a:srgbClr val="D75BE2"/>
                </a:solidFill>
              </a:defRPr>
            </a:lvl1pPr>
          </a:lstStyle>
          <a:p>
            <a:pPr>
              <a:defRPr>
                <a:latin typeface="Inter"/>
                <a:ea typeface="Inter"/>
                <a:cs typeface="Inter"/>
                <a:sym typeface="Inter"/>
              </a:defRPr>
            </a:pPr>
            <a:r>
              <a:rPr>
                <a:latin typeface="Arial"/>
                <a:ea typeface="Arial"/>
                <a:cs typeface="Arial"/>
                <a:sym typeface="Arial"/>
              </a:rPr>
              <a:t>תיקיית העבודה בתוך הסוכן</a:t>
            </a:r>
          </a:p>
        </p:txBody>
      </p:sp>
      <p:sp>
        <p:nvSpPr>
          <p:cNvPr id="86" name="text"/>
          <p:cNvSpPr txBox="1"/>
          <p:nvPr/>
        </p:nvSpPr>
        <p:spPr>
          <a:xfrm>
            <a:off x="5905500" y="4876800"/>
            <a:ext cx="2781300" cy="127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800">
                <a:solidFill>
                  <a:srgbClr val="705B73"/>
                </a:solidFill>
                <a:latin typeface="Inter"/>
                <a:ea typeface="Inter"/>
                <a:cs typeface="Inter"/>
                <a:sym typeface="Inter"/>
              </a:defRPr>
            </a:pPr>
            <a:r>
              <a:rPr>
                <a:latin typeface="Arial"/>
                <a:ea typeface="Arial"/>
                <a:cs typeface="Arial"/>
                <a:sym typeface="Arial"/>
              </a:rPr>
              <a:t>שיעור</a:t>
            </a:r>
            <a:r>
              <a:t>: </a:t>
            </a:r>
            <a:r>
              <a:rPr>
                <a:latin typeface="Arial"/>
                <a:ea typeface="Arial"/>
                <a:cs typeface="Arial"/>
                <a:sym typeface="Arial"/>
              </a:rPr>
              <a:t>פיתוח עם סוכני־קוד</a:t>
            </a:r>
          </a:p>
        </p:txBody>
      </p:sp>
      <p:sp>
        <p:nvSpPr>
          <p:cNvPr id="87" name="code"/>
          <p:cNvSpPr txBox="1"/>
          <p:nvPr/>
        </p:nvSpPr>
        <p:spPr>
          <a:xfrm>
            <a:off x="457200" y="4876800"/>
            <a:ext cx="333375" cy="127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defRPr sz="800">
                <a:solidFill>
                  <a:srgbClr val="705B73"/>
                </a:solidFill>
                <a:latin typeface="Inter"/>
                <a:ea typeface="Inter"/>
                <a:cs typeface="Inter"/>
                <a:sym typeface="Inter"/>
              </a:defRPr>
            </a:lvl1pPr>
          </a:lstStyle>
          <a:p>
            <a:pPr/>
            <a:r>
              <a:t>7</a:t>
            </a:r>
          </a:p>
        </p:txBody>
      </p:sp>
      <p:pic>
        <p:nvPicPr>
          <p:cNvPr id="88" name="pasted-movie.png" descr="pasted-movie.png"/>
          <p:cNvPicPr>
            <a:picLocks noChangeAspect="1"/>
          </p:cNvPicPr>
          <p:nvPr/>
        </p:nvPicPr>
        <p:blipFill>
          <a:blip r:embed="rId3">
            <a:extLst/>
          </a:blip>
          <a:stretch>
            <a:fillRect/>
          </a:stretch>
        </p:blipFill>
        <p:spPr>
          <a:xfrm>
            <a:off x="457200" y="1016000"/>
            <a:ext cx="1841566" cy="3619500"/>
          </a:xfrm>
          <a:prstGeom prst="rect">
            <a:avLst/>
          </a:prstGeom>
          <a:ln w="12700">
            <a:miter lim="400000"/>
          </a:ln>
        </p:spPr>
      </p:pic>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FFF"/>
        </a:solidFill>
      </p:bgPr>
    </p:bg>
    <p:spTree>
      <p:nvGrpSpPr>
        <p:cNvPr id="1" name=""/>
        <p:cNvGrpSpPr/>
        <p:nvPr/>
      </p:nvGrpSpPr>
      <p:grpSpPr>
        <a:xfrm>
          <a:off x="0" y="0"/>
          <a:ext cx="0" cy="0"/>
          <a:chOff x="0" y="0"/>
          <a:chExt cx="0" cy="0"/>
        </a:xfrm>
      </p:grpSpPr>
      <p:sp>
        <p:nvSpPr>
          <p:cNvPr id="92" name="text"/>
          <p:cNvSpPr txBox="1"/>
          <p:nvPr/>
        </p:nvSpPr>
        <p:spPr>
          <a:xfrm>
            <a:off x="457200" y="323850"/>
            <a:ext cx="8229600" cy="39476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defRPr b="1" sz="2800">
                <a:solidFill>
                  <a:srgbClr val="D75BE2"/>
                </a:solidFill>
              </a:defRPr>
            </a:lvl1pPr>
          </a:lstStyle>
          <a:p>
            <a:pPr>
              <a:defRPr>
                <a:latin typeface="Inter"/>
                <a:ea typeface="Inter"/>
                <a:cs typeface="Inter"/>
                <a:sym typeface="Inter"/>
              </a:defRPr>
            </a:pPr>
            <a:r>
              <a:rPr>
                <a:latin typeface="Arial"/>
                <a:ea typeface="Arial"/>
                <a:cs typeface="Arial"/>
                <a:sym typeface="Arial"/>
              </a:rPr>
              <a:t>מה נוכל לבצע בסוף השיעור</a:t>
            </a:r>
          </a:p>
        </p:txBody>
      </p:sp>
      <p:sp>
        <p:nvSpPr>
          <p:cNvPr id="93" name="text"/>
          <p:cNvSpPr txBox="1"/>
          <p:nvPr/>
        </p:nvSpPr>
        <p:spPr>
          <a:xfrm>
            <a:off x="5905500" y="4876800"/>
            <a:ext cx="2781300" cy="127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800">
                <a:solidFill>
                  <a:srgbClr val="705B73"/>
                </a:solidFill>
                <a:latin typeface="Inter"/>
                <a:ea typeface="Inter"/>
                <a:cs typeface="Inter"/>
                <a:sym typeface="Inter"/>
              </a:defRPr>
            </a:pPr>
            <a:r>
              <a:rPr>
                <a:latin typeface="Arial"/>
                <a:ea typeface="Arial"/>
                <a:cs typeface="Arial"/>
                <a:sym typeface="Arial"/>
              </a:rPr>
              <a:t>שיעור</a:t>
            </a:r>
            <a:r>
              <a:t>: </a:t>
            </a:r>
            <a:r>
              <a:rPr>
                <a:latin typeface="Arial"/>
                <a:ea typeface="Arial"/>
                <a:cs typeface="Arial"/>
                <a:sym typeface="Arial"/>
              </a:rPr>
              <a:t>פיתוח עם סוכני־קוד</a:t>
            </a:r>
          </a:p>
        </p:txBody>
      </p:sp>
      <p:sp>
        <p:nvSpPr>
          <p:cNvPr id="94" name="code"/>
          <p:cNvSpPr txBox="1"/>
          <p:nvPr/>
        </p:nvSpPr>
        <p:spPr>
          <a:xfrm>
            <a:off x="457200" y="4876800"/>
            <a:ext cx="333375" cy="127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defRPr sz="800">
                <a:solidFill>
                  <a:srgbClr val="705B73"/>
                </a:solidFill>
                <a:latin typeface="Inter"/>
                <a:ea typeface="Inter"/>
                <a:cs typeface="Inter"/>
                <a:sym typeface="Inter"/>
              </a:defRPr>
            </a:lvl1pPr>
          </a:lstStyle>
          <a:p>
            <a:pPr/>
            <a:r>
              <a:t>8</a:t>
            </a:r>
          </a:p>
        </p:txBody>
      </p:sp>
      <p:pic>
        <p:nvPicPr>
          <p:cNvPr id="95" name="image3.png" descr="image3.png"/>
          <p:cNvPicPr>
            <a:picLocks noChangeAspect="1"/>
          </p:cNvPicPr>
          <p:nvPr/>
        </p:nvPicPr>
        <p:blipFill>
          <a:blip r:embed="rId3">
            <a:extLst/>
          </a:blip>
          <a:stretch>
            <a:fillRect/>
          </a:stretch>
        </p:blipFill>
        <p:spPr>
          <a:xfrm>
            <a:off x="718892" y="1333500"/>
            <a:ext cx="2000740" cy="3000375"/>
          </a:xfrm>
          <a:prstGeom prst="rect">
            <a:avLst/>
          </a:prstGeom>
          <a:ln w="12700">
            <a:miter lim="400000"/>
          </a:ln>
        </p:spPr>
      </p:pic>
      <p:sp>
        <p:nvSpPr>
          <p:cNvPr id="96" name="text"/>
          <p:cNvSpPr txBox="1"/>
          <p:nvPr/>
        </p:nvSpPr>
        <p:spPr>
          <a:xfrm>
            <a:off x="3429000" y="1333500"/>
            <a:ext cx="5238750" cy="25922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defRPr b="1">
                <a:solidFill>
                  <a:srgbClr val="272525"/>
                </a:solidFill>
              </a:defRPr>
            </a:lvl1pPr>
          </a:lstStyle>
          <a:p>
            <a:pPr>
              <a:defRPr>
                <a:latin typeface="Inter"/>
                <a:ea typeface="Inter"/>
                <a:cs typeface="Inter"/>
                <a:sym typeface="Inter"/>
              </a:defRPr>
            </a:pPr>
            <a:r>
              <a:rPr>
                <a:latin typeface="Arial"/>
                <a:ea typeface="Arial"/>
                <a:cs typeface="Arial"/>
                <a:sym typeface="Arial"/>
              </a:rPr>
              <a:t>להתחיל פרויקט</a:t>
            </a:r>
          </a:p>
        </p:txBody>
      </p:sp>
      <p:sp>
        <p:nvSpPr>
          <p:cNvPr id="97" name="text"/>
          <p:cNvSpPr txBox="1"/>
          <p:nvPr/>
        </p:nvSpPr>
        <p:spPr>
          <a:xfrm>
            <a:off x="3429000" y="1666875"/>
            <a:ext cx="5238750" cy="241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1600">
                <a:solidFill>
                  <a:srgbClr val="272525"/>
                </a:solidFill>
                <a:latin typeface="Inter"/>
                <a:ea typeface="Inter"/>
                <a:cs typeface="Inter"/>
                <a:sym typeface="Inter"/>
              </a:defRPr>
            </a:pPr>
            <a:r>
              <a:rPr>
                <a:latin typeface="Arial"/>
                <a:ea typeface="Arial"/>
                <a:cs typeface="Arial"/>
                <a:sym typeface="Arial"/>
              </a:rPr>
              <a:t>לפתוח תיקייה</a:t>
            </a:r>
            <a:r>
              <a:t>, </a:t>
            </a:r>
            <a:r>
              <a:rPr>
                <a:latin typeface="Arial"/>
                <a:ea typeface="Arial"/>
                <a:cs typeface="Arial"/>
                <a:sym typeface="Arial"/>
              </a:rPr>
              <a:t>לחבר סוכן ולהפעיל את הפרויקט מקומית</a:t>
            </a:r>
            <a:r>
              <a:t>.</a:t>
            </a:r>
          </a:p>
        </p:txBody>
      </p:sp>
      <p:sp>
        <p:nvSpPr>
          <p:cNvPr id="98" name="text"/>
          <p:cNvSpPr txBox="1"/>
          <p:nvPr/>
        </p:nvSpPr>
        <p:spPr>
          <a:xfrm>
            <a:off x="3429000" y="2390775"/>
            <a:ext cx="5238750" cy="25922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defRPr b="1">
                <a:solidFill>
                  <a:srgbClr val="272525"/>
                </a:solidFill>
              </a:defRPr>
            </a:lvl1pPr>
          </a:lstStyle>
          <a:p>
            <a:pPr>
              <a:defRPr>
                <a:latin typeface="Inter"/>
                <a:ea typeface="Inter"/>
                <a:cs typeface="Inter"/>
                <a:sym typeface="Inter"/>
              </a:defRPr>
            </a:pPr>
            <a:r>
              <a:rPr>
                <a:latin typeface="Arial"/>
                <a:ea typeface="Arial"/>
                <a:cs typeface="Arial"/>
                <a:sym typeface="Arial"/>
              </a:rPr>
              <a:t>לפתח פיצ׳ר שאפשר לבדוק</a:t>
            </a:r>
          </a:p>
        </p:txBody>
      </p:sp>
      <p:sp>
        <p:nvSpPr>
          <p:cNvPr id="99" name="text"/>
          <p:cNvSpPr txBox="1"/>
          <p:nvPr/>
        </p:nvSpPr>
        <p:spPr>
          <a:xfrm>
            <a:off x="3429000" y="2724150"/>
            <a:ext cx="5238750" cy="241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1600">
                <a:solidFill>
                  <a:srgbClr val="272525"/>
                </a:solidFill>
                <a:latin typeface="Inter"/>
                <a:ea typeface="Inter"/>
                <a:cs typeface="Inter"/>
                <a:sym typeface="Inter"/>
              </a:defRPr>
            </a:pPr>
            <a:r>
              <a:rPr>
                <a:latin typeface="Arial"/>
                <a:ea typeface="Arial"/>
                <a:cs typeface="Arial"/>
                <a:sym typeface="Arial"/>
              </a:rPr>
              <a:t>לנסח תנאי קבלה למשימה ולעבוד במחזור של בדיקה ומימוש</a:t>
            </a:r>
            <a:r>
              <a:t>.</a:t>
            </a:r>
          </a:p>
        </p:txBody>
      </p:sp>
      <p:sp>
        <p:nvSpPr>
          <p:cNvPr id="100" name="text"/>
          <p:cNvSpPr txBox="1"/>
          <p:nvPr/>
        </p:nvSpPr>
        <p:spPr>
          <a:xfrm>
            <a:off x="3429000" y="3448050"/>
            <a:ext cx="5238750" cy="25922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defRPr b="1">
                <a:solidFill>
                  <a:srgbClr val="272525"/>
                </a:solidFill>
              </a:defRPr>
            </a:lvl1pPr>
          </a:lstStyle>
          <a:p>
            <a:pPr>
              <a:defRPr>
                <a:latin typeface="Inter"/>
                <a:ea typeface="Inter"/>
                <a:cs typeface="Inter"/>
                <a:sym typeface="Inter"/>
              </a:defRPr>
            </a:pPr>
            <a:r>
              <a:rPr>
                <a:latin typeface="Arial"/>
                <a:ea typeface="Arial"/>
                <a:cs typeface="Arial"/>
                <a:sym typeface="Arial"/>
              </a:rPr>
              <a:t>להמשיך בשיחה חדשה</a:t>
            </a:r>
          </a:p>
        </p:txBody>
      </p:sp>
      <p:sp>
        <p:nvSpPr>
          <p:cNvPr id="101" name="text"/>
          <p:cNvSpPr txBox="1"/>
          <p:nvPr/>
        </p:nvSpPr>
        <p:spPr>
          <a:xfrm>
            <a:off x="3429000" y="3781425"/>
            <a:ext cx="5238750" cy="241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1600">
                <a:solidFill>
                  <a:srgbClr val="272525"/>
                </a:solidFill>
                <a:latin typeface="Inter"/>
                <a:ea typeface="Inter"/>
                <a:cs typeface="Inter"/>
                <a:sym typeface="Inter"/>
              </a:defRPr>
            </a:pPr>
            <a:r>
              <a:rPr>
                <a:latin typeface="Arial"/>
                <a:ea typeface="Arial"/>
                <a:cs typeface="Arial"/>
                <a:sym typeface="Arial"/>
              </a:rPr>
              <a:t>להעביר לסוכן הבא אפיון</a:t>
            </a:r>
            <a:r>
              <a:t>, </a:t>
            </a:r>
            <a:r>
              <a:rPr>
                <a:latin typeface="Arial"/>
                <a:ea typeface="Arial"/>
                <a:cs typeface="Arial"/>
                <a:sym typeface="Arial"/>
              </a:rPr>
              <a:t>החלטות ומצב עבודה מעודכן</a:t>
            </a:r>
            <a:r>
              <a:t>.</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FFF"/>
        </a:solidFill>
      </p:bgPr>
    </p:bg>
    <p:spTree>
      <p:nvGrpSpPr>
        <p:cNvPr id="1" name=""/>
        <p:cNvGrpSpPr/>
        <p:nvPr/>
      </p:nvGrpSpPr>
      <p:grpSpPr>
        <a:xfrm>
          <a:off x="0" y="0"/>
          <a:ext cx="0" cy="0"/>
          <a:chOff x="0" y="0"/>
          <a:chExt cx="0" cy="0"/>
        </a:xfrm>
      </p:grpSpPr>
      <p:sp>
        <p:nvSpPr>
          <p:cNvPr id="105" name="text"/>
          <p:cNvSpPr txBox="1"/>
          <p:nvPr/>
        </p:nvSpPr>
        <p:spPr>
          <a:xfrm>
            <a:off x="457200" y="323850"/>
            <a:ext cx="8229600" cy="39476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defRPr b="1" sz="2800">
                <a:solidFill>
                  <a:srgbClr val="D75BE2"/>
                </a:solidFill>
              </a:defRPr>
            </a:lvl1pPr>
          </a:lstStyle>
          <a:p>
            <a:pPr>
              <a:defRPr>
                <a:latin typeface="Inter"/>
                <a:ea typeface="Inter"/>
                <a:cs typeface="Inter"/>
                <a:sym typeface="Inter"/>
              </a:defRPr>
            </a:pPr>
            <a:r>
              <a:rPr>
                <a:latin typeface="Arial"/>
                <a:ea typeface="Arial"/>
                <a:cs typeface="Arial"/>
                <a:sym typeface="Arial"/>
              </a:rPr>
              <a:t>תשתיות לפיתוח עצמאי</a:t>
            </a:r>
          </a:p>
        </p:txBody>
      </p:sp>
      <p:sp>
        <p:nvSpPr>
          <p:cNvPr id="106" name="text"/>
          <p:cNvSpPr txBox="1"/>
          <p:nvPr/>
        </p:nvSpPr>
        <p:spPr>
          <a:xfrm>
            <a:off x="5905500" y="4876800"/>
            <a:ext cx="2781300" cy="127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800">
                <a:solidFill>
                  <a:srgbClr val="705B73"/>
                </a:solidFill>
                <a:latin typeface="Inter"/>
                <a:ea typeface="Inter"/>
                <a:cs typeface="Inter"/>
                <a:sym typeface="Inter"/>
              </a:defRPr>
            </a:pPr>
            <a:r>
              <a:rPr>
                <a:latin typeface="Arial"/>
                <a:ea typeface="Arial"/>
                <a:cs typeface="Arial"/>
                <a:sym typeface="Arial"/>
              </a:rPr>
              <a:t>שיעור</a:t>
            </a:r>
            <a:r>
              <a:t>: </a:t>
            </a:r>
            <a:r>
              <a:rPr>
                <a:latin typeface="Arial"/>
                <a:ea typeface="Arial"/>
                <a:cs typeface="Arial"/>
                <a:sym typeface="Arial"/>
              </a:rPr>
              <a:t>פיתוח עם סוכני־קוד</a:t>
            </a:r>
          </a:p>
        </p:txBody>
      </p:sp>
      <p:sp>
        <p:nvSpPr>
          <p:cNvPr id="107" name="code"/>
          <p:cNvSpPr txBox="1"/>
          <p:nvPr/>
        </p:nvSpPr>
        <p:spPr>
          <a:xfrm>
            <a:off x="457200" y="4876800"/>
            <a:ext cx="333375" cy="127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defRPr sz="800">
                <a:solidFill>
                  <a:srgbClr val="705B73"/>
                </a:solidFill>
                <a:latin typeface="Inter"/>
                <a:ea typeface="Inter"/>
                <a:cs typeface="Inter"/>
                <a:sym typeface="Inter"/>
              </a:defRPr>
            </a:lvl1pPr>
          </a:lstStyle>
          <a:p>
            <a:pPr/>
            <a:r>
              <a:t>9</a:t>
            </a:r>
          </a:p>
        </p:txBody>
      </p:sp>
      <p:sp>
        <p:nvSpPr>
          <p:cNvPr id="108" name="text"/>
          <p:cNvSpPr txBox="1"/>
          <p:nvPr/>
        </p:nvSpPr>
        <p:spPr>
          <a:xfrm>
            <a:off x="457200" y="1162050"/>
            <a:ext cx="8229600" cy="2794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b="1">
                <a:solidFill>
                  <a:srgbClr val="272525"/>
                </a:solidFill>
                <a:latin typeface="Inter"/>
                <a:ea typeface="Inter"/>
                <a:cs typeface="Inter"/>
                <a:sym typeface="Inter"/>
              </a:defRPr>
            </a:pPr>
            <a:r>
              <a:rPr>
                <a:latin typeface="Arial"/>
                <a:ea typeface="Arial"/>
                <a:cs typeface="Arial"/>
                <a:sym typeface="Arial"/>
              </a:rPr>
              <a:t>שכבת היישום</a:t>
            </a:r>
            <a:r>
              <a:t>: Next.js</a:t>
            </a:r>
          </a:p>
        </p:txBody>
      </p:sp>
      <p:sp>
        <p:nvSpPr>
          <p:cNvPr id="109" name="text"/>
          <p:cNvSpPr txBox="1"/>
          <p:nvPr/>
        </p:nvSpPr>
        <p:spPr>
          <a:xfrm>
            <a:off x="457200" y="1495425"/>
            <a:ext cx="8229600" cy="241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1600">
                <a:solidFill>
                  <a:srgbClr val="272525"/>
                </a:solidFill>
                <a:latin typeface="Inter"/>
                <a:ea typeface="Inter"/>
                <a:cs typeface="Inter"/>
                <a:sym typeface="Inter"/>
              </a:defRPr>
            </a:pPr>
            <a:r>
              <a:rPr>
                <a:latin typeface="Arial"/>
                <a:ea typeface="Arial"/>
                <a:cs typeface="Arial"/>
                <a:sym typeface="Arial"/>
              </a:rPr>
              <a:t>ממשק המשתמש ולוגיקת השרת של היישום</a:t>
            </a:r>
            <a:r>
              <a:t>.</a:t>
            </a:r>
          </a:p>
        </p:txBody>
      </p:sp>
      <p:sp>
        <p:nvSpPr>
          <p:cNvPr id="110" name="text"/>
          <p:cNvSpPr txBox="1"/>
          <p:nvPr/>
        </p:nvSpPr>
        <p:spPr>
          <a:xfrm>
            <a:off x="457200" y="2095500"/>
            <a:ext cx="8229600" cy="2794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b="1">
                <a:solidFill>
                  <a:srgbClr val="272525"/>
                </a:solidFill>
                <a:latin typeface="Inter"/>
                <a:ea typeface="Inter"/>
                <a:cs typeface="Inter"/>
                <a:sym typeface="Inter"/>
              </a:defRPr>
            </a:pPr>
            <a:r>
              <a:rPr>
                <a:latin typeface="Arial"/>
                <a:ea typeface="Arial"/>
                <a:cs typeface="Arial"/>
                <a:sym typeface="Arial"/>
              </a:rPr>
              <a:t>שכבת הנתונים</a:t>
            </a:r>
            <a:r>
              <a:t>: Supabase</a:t>
            </a:r>
          </a:p>
        </p:txBody>
      </p:sp>
      <p:sp>
        <p:nvSpPr>
          <p:cNvPr id="111" name="text"/>
          <p:cNvSpPr txBox="1"/>
          <p:nvPr/>
        </p:nvSpPr>
        <p:spPr>
          <a:xfrm>
            <a:off x="457200" y="2428875"/>
            <a:ext cx="8229600" cy="241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1600">
                <a:solidFill>
                  <a:srgbClr val="272525"/>
                </a:solidFill>
                <a:latin typeface="Inter"/>
                <a:ea typeface="Inter"/>
                <a:cs typeface="Inter"/>
                <a:sym typeface="Inter"/>
              </a:defRPr>
            </a:pPr>
            <a:r>
              <a:rPr>
                <a:latin typeface="Arial"/>
                <a:ea typeface="Arial"/>
                <a:cs typeface="Arial"/>
                <a:sym typeface="Arial"/>
              </a:rPr>
              <a:t>מסד </a:t>
            </a:r>
            <a:r>
              <a:t>PostgreSQL, </a:t>
            </a:r>
            <a:r>
              <a:rPr>
                <a:latin typeface="Arial"/>
                <a:ea typeface="Arial"/>
                <a:cs typeface="Arial"/>
                <a:sym typeface="Arial"/>
              </a:rPr>
              <a:t>התחברות משתמשים</a:t>
            </a:r>
            <a:r>
              <a:t>, </a:t>
            </a:r>
            <a:r>
              <a:rPr>
                <a:latin typeface="Arial"/>
                <a:ea typeface="Arial"/>
                <a:cs typeface="Arial"/>
                <a:sym typeface="Arial"/>
              </a:rPr>
              <a:t>הרשאות ואחסון קבצים</a:t>
            </a:r>
            <a:r>
              <a:t>.</a:t>
            </a:r>
          </a:p>
        </p:txBody>
      </p:sp>
      <p:sp>
        <p:nvSpPr>
          <p:cNvPr id="112" name="text"/>
          <p:cNvSpPr txBox="1"/>
          <p:nvPr/>
        </p:nvSpPr>
        <p:spPr>
          <a:xfrm>
            <a:off x="457200" y="3028950"/>
            <a:ext cx="8229600" cy="2794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b="1">
                <a:solidFill>
                  <a:srgbClr val="272525"/>
                </a:solidFill>
                <a:latin typeface="Inter"/>
                <a:ea typeface="Inter"/>
                <a:cs typeface="Inter"/>
                <a:sym typeface="Inter"/>
              </a:defRPr>
            </a:pPr>
            <a:r>
              <a:rPr>
                <a:latin typeface="Arial"/>
                <a:ea typeface="Arial"/>
                <a:cs typeface="Arial"/>
                <a:sym typeface="Arial"/>
              </a:rPr>
              <a:t>פריסה והרצה</a:t>
            </a:r>
            <a:r>
              <a:t>: Vercel</a:t>
            </a:r>
          </a:p>
        </p:txBody>
      </p:sp>
      <p:sp>
        <p:nvSpPr>
          <p:cNvPr id="113" name="text"/>
          <p:cNvSpPr txBox="1"/>
          <p:nvPr/>
        </p:nvSpPr>
        <p:spPr>
          <a:xfrm>
            <a:off x="457200" y="3362325"/>
            <a:ext cx="8229600" cy="241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1600">
                <a:solidFill>
                  <a:srgbClr val="272525"/>
                </a:solidFill>
                <a:latin typeface="Inter"/>
                <a:ea typeface="Inter"/>
                <a:cs typeface="Inter"/>
                <a:sym typeface="Inter"/>
              </a:defRPr>
            </a:pPr>
            <a:r>
              <a:rPr>
                <a:latin typeface="Arial"/>
                <a:ea typeface="Arial"/>
                <a:cs typeface="Arial"/>
                <a:sym typeface="Arial"/>
              </a:rPr>
              <a:t>אירוח היישום</a:t>
            </a:r>
            <a:r>
              <a:t>, </a:t>
            </a:r>
            <a:r>
              <a:rPr>
                <a:latin typeface="Arial"/>
                <a:ea typeface="Arial"/>
                <a:cs typeface="Arial"/>
                <a:sym typeface="Arial"/>
              </a:rPr>
              <a:t>גרסאות תצוגה מקדימה ופריסה מתוך מאגר הקוד</a:t>
            </a:r>
            <a:r>
              <a:t>.</a:t>
            </a:r>
          </a:p>
        </p:txBody>
      </p:sp>
      <p:sp>
        <p:nvSpPr>
          <p:cNvPr id="114" name="Rectangle"/>
          <p:cNvSpPr/>
          <p:nvPr/>
        </p:nvSpPr>
        <p:spPr>
          <a:xfrm>
            <a:off x="457200" y="4248150"/>
            <a:ext cx="8229600" cy="466725"/>
          </a:xfrm>
          <a:prstGeom prst="rect">
            <a:avLst/>
          </a:prstGeom>
          <a:solidFill>
            <a:srgbClr val="F4D4F7"/>
          </a:solidFill>
          <a:ln w="12700">
            <a:miter lim="400000"/>
          </a:ln>
        </p:spPr>
        <p:txBody>
          <a:bodyPr lIns="0" tIns="0" rIns="0" bIns="0"/>
          <a:lstStyle/>
          <a:p>
            <a:pPr/>
          </a:p>
        </p:txBody>
      </p:sp>
      <p:sp>
        <p:nvSpPr>
          <p:cNvPr id="115" name="text"/>
          <p:cNvSpPr txBox="1"/>
          <p:nvPr/>
        </p:nvSpPr>
        <p:spPr>
          <a:xfrm>
            <a:off x="619125" y="4343400"/>
            <a:ext cx="7905750" cy="2286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b="1" sz="1500">
                <a:solidFill>
                  <a:srgbClr val="272525"/>
                </a:solidFill>
                <a:latin typeface="Inter"/>
                <a:ea typeface="Inter"/>
                <a:cs typeface="Inter"/>
                <a:sym typeface="Inter"/>
              </a:defRPr>
            </a:pPr>
            <a:r>
              <a:rPr>
                <a:latin typeface="Arial"/>
                <a:ea typeface="Arial"/>
                <a:cs typeface="Arial"/>
                <a:sym typeface="Arial"/>
              </a:rPr>
              <a:t>כשאתם בוחרים את הכלים ומחברים אותם באמצעות סוכנים</a:t>
            </a:r>
            <a:r>
              <a:t>, </a:t>
            </a:r>
            <a:r>
              <a:rPr>
                <a:latin typeface="Arial"/>
                <a:ea typeface="Arial"/>
                <a:cs typeface="Arial"/>
                <a:sym typeface="Arial"/>
              </a:rPr>
              <a:t>השמיים הם הגבול</a:t>
            </a:r>
            <a:r>
              <a:t>.</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FFF"/>
        </a:solidFill>
      </p:bgPr>
    </p:bg>
    <p:spTree>
      <p:nvGrpSpPr>
        <p:cNvPr id="1" name=""/>
        <p:cNvGrpSpPr/>
        <p:nvPr/>
      </p:nvGrpSpPr>
      <p:grpSpPr>
        <a:xfrm>
          <a:off x="0" y="0"/>
          <a:ext cx="0" cy="0"/>
          <a:chOff x="0" y="0"/>
          <a:chExt cx="0" cy="0"/>
        </a:xfrm>
      </p:grpSpPr>
      <p:sp>
        <p:nvSpPr>
          <p:cNvPr id="119" name="text"/>
          <p:cNvSpPr txBox="1"/>
          <p:nvPr/>
        </p:nvSpPr>
        <p:spPr>
          <a:xfrm>
            <a:off x="457200" y="323850"/>
            <a:ext cx="8229600" cy="431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b="1" sz="2800">
                <a:solidFill>
                  <a:srgbClr val="D75BE2"/>
                </a:solidFill>
                <a:latin typeface="Inter"/>
                <a:ea typeface="Inter"/>
                <a:cs typeface="Inter"/>
                <a:sym typeface="Inter"/>
              </a:defRPr>
            </a:pPr>
            <a:r>
              <a:rPr>
                <a:latin typeface="Arial"/>
                <a:ea typeface="Arial"/>
                <a:cs typeface="Arial"/>
                <a:sym typeface="Arial"/>
              </a:rPr>
              <a:t>כלים מקומיים וחיבורי </a:t>
            </a:r>
            <a:r>
              <a:t>MCP</a:t>
            </a:r>
          </a:p>
        </p:txBody>
      </p:sp>
      <p:sp>
        <p:nvSpPr>
          <p:cNvPr id="120" name="text"/>
          <p:cNvSpPr txBox="1"/>
          <p:nvPr/>
        </p:nvSpPr>
        <p:spPr>
          <a:xfrm>
            <a:off x="5905500" y="4876800"/>
            <a:ext cx="2781300" cy="127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800">
                <a:solidFill>
                  <a:srgbClr val="705B73"/>
                </a:solidFill>
                <a:latin typeface="Inter"/>
                <a:ea typeface="Inter"/>
                <a:cs typeface="Inter"/>
                <a:sym typeface="Inter"/>
              </a:defRPr>
            </a:pPr>
            <a:r>
              <a:rPr>
                <a:latin typeface="Arial"/>
                <a:ea typeface="Arial"/>
                <a:cs typeface="Arial"/>
                <a:sym typeface="Arial"/>
              </a:rPr>
              <a:t>שיעור</a:t>
            </a:r>
            <a:r>
              <a:t>: </a:t>
            </a:r>
            <a:r>
              <a:rPr>
                <a:latin typeface="Arial"/>
                <a:ea typeface="Arial"/>
                <a:cs typeface="Arial"/>
                <a:sym typeface="Arial"/>
              </a:rPr>
              <a:t>פיתוח עם סוכני־קוד</a:t>
            </a:r>
          </a:p>
        </p:txBody>
      </p:sp>
      <p:sp>
        <p:nvSpPr>
          <p:cNvPr id="121" name="code"/>
          <p:cNvSpPr txBox="1"/>
          <p:nvPr/>
        </p:nvSpPr>
        <p:spPr>
          <a:xfrm>
            <a:off x="457200" y="4876800"/>
            <a:ext cx="333375" cy="127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defRPr sz="800">
                <a:solidFill>
                  <a:srgbClr val="705B73"/>
                </a:solidFill>
                <a:latin typeface="Inter"/>
                <a:ea typeface="Inter"/>
                <a:cs typeface="Inter"/>
                <a:sym typeface="Inter"/>
              </a:defRPr>
            </a:lvl1pPr>
          </a:lstStyle>
          <a:p>
            <a:pPr/>
            <a:r>
              <a:t>10</a:t>
            </a:r>
          </a:p>
        </p:txBody>
      </p:sp>
      <p:sp>
        <p:nvSpPr>
          <p:cNvPr id="122" name="text"/>
          <p:cNvSpPr txBox="1"/>
          <p:nvPr/>
        </p:nvSpPr>
        <p:spPr>
          <a:xfrm>
            <a:off x="457200" y="1238250"/>
            <a:ext cx="8229600" cy="25922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defRPr b="1">
                <a:solidFill>
                  <a:srgbClr val="272525"/>
                </a:solidFill>
              </a:defRPr>
            </a:lvl1pPr>
          </a:lstStyle>
          <a:p>
            <a:pPr>
              <a:defRPr>
                <a:latin typeface="Inter"/>
                <a:ea typeface="Inter"/>
                <a:cs typeface="Inter"/>
                <a:sym typeface="Inter"/>
              </a:defRPr>
            </a:pPr>
            <a:r>
              <a:rPr>
                <a:latin typeface="Arial"/>
                <a:ea typeface="Arial"/>
                <a:cs typeface="Arial"/>
                <a:sym typeface="Arial"/>
              </a:rPr>
              <a:t>עבודה בתיקייה</a:t>
            </a:r>
          </a:p>
        </p:txBody>
      </p:sp>
      <p:sp>
        <p:nvSpPr>
          <p:cNvPr id="123" name="text"/>
          <p:cNvSpPr txBox="1"/>
          <p:nvPr/>
        </p:nvSpPr>
        <p:spPr>
          <a:xfrm>
            <a:off x="457200" y="1571625"/>
            <a:ext cx="8229600" cy="241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1600">
                <a:solidFill>
                  <a:srgbClr val="272525"/>
                </a:solidFill>
                <a:latin typeface="Inter"/>
                <a:ea typeface="Inter"/>
                <a:cs typeface="Inter"/>
                <a:sym typeface="Inter"/>
              </a:defRPr>
            </a:pPr>
            <a:r>
              <a:rPr>
                <a:latin typeface="Arial"/>
                <a:ea typeface="Arial"/>
                <a:cs typeface="Arial"/>
                <a:sym typeface="Arial"/>
              </a:rPr>
              <a:t>הסוכן מחפש</a:t>
            </a:r>
            <a:r>
              <a:t>, </a:t>
            </a:r>
            <a:r>
              <a:rPr>
                <a:latin typeface="Arial"/>
                <a:ea typeface="Arial"/>
                <a:cs typeface="Arial"/>
                <a:sym typeface="Arial"/>
              </a:rPr>
              <a:t>קורא</a:t>
            </a:r>
            <a:r>
              <a:t>, </a:t>
            </a:r>
            <a:r>
              <a:rPr>
                <a:latin typeface="Arial"/>
                <a:ea typeface="Arial"/>
                <a:cs typeface="Arial"/>
                <a:sym typeface="Arial"/>
              </a:rPr>
              <a:t>יוצר ועורך קבצים</a:t>
            </a:r>
            <a:r>
              <a:t>. </a:t>
            </a:r>
            <a:r>
              <a:rPr>
                <a:latin typeface="Arial"/>
                <a:ea typeface="Arial"/>
                <a:cs typeface="Arial"/>
                <a:sym typeface="Arial"/>
              </a:rPr>
              <a:t>הוא יכול להריץ פקודות ובדיקות</a:t>
            </a:r>
            <a:r>
              <a:t>.</a:t>
            </a:r>
          </a:p>
        </p:txBody>
      </p:sp>
      <p:sp>
        <p:nvSpPr>
          <p:cNvPr id="124" name="text"/>
          <p:cNvSpPr txBox="1"/>
          <p:nvPr/>
        </p:nvSpPr>
        <p:spPr>
          <a:xfrm>
            <a:off x="457200" y="2219325"/>
            <a:ext cx="8229600" cy="2794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b="1">
                <a:solidFill>
                  <a:srgbClr val="272525"/>
                </a:solidFill>
                <a:latin typeface="Inter"/>
                <a:ea typeface="Inter"/>
                <a:cs typeface="Inter"/>
                <a:sym typeface="Inter"/>
              </a:defRPr>
            </a:pPr>
            <a:r>
              <a:rPr>
                <a:latin typeface="Arial"/>
                <a:ea typeface="Arial"/>
                <a:cs typeface="Arial"/>
                <a:sym typeface="Arial"/>
              </a:rPr>
              <a:t>חיבורי </a:t>
            </a:r>
            <a:r>
              <a:t>MCP</a:t>
            </a:r>
          </a:p>
        </p:txBody>
      </p:sp>
      <p:sp>
        <p:nvSpPr>
          <p:cNvPr id="125" name="text"/>
          <p:cNvSpPr txBox="1"/>
          <p:nvPr/>
        </p:nvSpPr>
        <p:spPr>
          <a:xfrm>
            <a:off x="457200" y="2552700"/>
            <a:ext cx="8229600" cy="241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1600">
                <a:solidFill>
                  <a:srgbClr val="272525"/>
                </a:solidFill>
                <a:latin typeface="Inter"/>
                <a:ea typeface="Inter"/>
                <a:cs typeface="Inter"/>
                <a:sym typeface="Inter"/>
              </a:defRPr>
            </a:pPr>
            <a:r>
              <a:rPr>
                <a:latin typeface="Arial"/>
                <a:ea typeface="Arial"/>
                <a:cs typeface="Arial"/>
                <a:sym typeface="Arial"/>
              </a:rPr>
              <a:t>מחברים כלים נוספים לעבודה על מסמכים וקבצים</a:t>
            </a:r>
            <a:r>
              <a:t>, </a:t>
            </a:r>
            <a:r>
              <a:rPr>
                <a:latin typeface="Arial"/>
                <a:ea typeface="Arial"/>
                <a:cs typeface="Arial"/>
                <a:sym typeface="Arial"/>
              </a:rPr>
              <a:t>מסדי נתונים ושירותים</a:t>
            </a:r>
            <a:r>
              <a:t>.</a:t>
            </a:r>
          </a:p>
        </p:txBody>
      </p:sp>
      <p:sp>
        <p:nvSpPr>
          <p:cNvPr id="126" name="text"/>
          <p:cNvSpPr txBox="1"/>
          <p:nvPr/>
        </p:nvSpPr>
        <p:spPr>
          <a:xfrm>
            <a:off x="457200" y="3200400"/>
            <a:ext cx="8229600" cy="25922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defRPr b="1">
                <a:solidFill>
                  <a:srgbClr val="272525"/>
                </a:solidFill>
              </a:defRPr>
            </a:lvl1pPr>
          </a:lstStyle>
          <a:p>
            <a:pPr>
              <a:defRPr>
                <a:latin typeface="Inter"/>
                <a:ea typeface="Inter"/>
                <a:cs typeface="Inter"/>
                <a:sym typeface="Inter"/>
              </a:defRPr>
            </a:pPr>
            <a:r>
              <a:rPr>
                <a:latin typeface="Arial"/>
                <a:ea typeface="Arial"/>
                <a:cs typeface="Arial"/>
                <a:sym typeface="Arial"/>
              </a:rPr>
              <a:t>בדיקת היכולת בפועל</a:t>
            </a:r>
          </a:p>
        </p:txBody>
      </p:sp>
      <p:sp>
        <p:nvSpPr>
          <p:cNvPr id="127" name="text"/>
          <p:cNvSpPr txBox="1"/>
          <p:nvPr/>
        </p:nvSpPr>
        <p:spPr>
          <a:xfrm>
            <a:off x="457200" y="3533775"/>
            <a:ext cx="8229600" cy="241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1600">
                <a:solidFill>
                  <a:srgbClr val="272525"/>
                </a:solidFill>
                <a:latin typeface="Inter"/>
                <a:ea typeface="Inter"/>
                <a:cs typeface="Inter"/>
                <a:sym typeface="Inter"/>
              </a:defRPr>
            </a:pPr>
            <a:r>
              <a:rPr>
                <a:latin typeface="Arial"/>
                <a:ea typeface="Arial"/>
                <a:cs typeface="Arial"/>
                <a:sym typeface="Arial"/>
              </a:rPr>
              <a:t>מוודאים איזה כלי מחובר</a:t>
            </a:r>
            <a:r>
              <a:t>, </a:t>
            </a:r>
            <a:r>
              <a:rPr>
                <a:latin typeface="Arial"/>
                <a:ea typeface="Arial"/>
                <a:cs typeface="Arial"/>
                <a:sym typeface="Arial"/>
              </a:rPr>
              <a:t>לאילו קבצים הוא ניגש ואיזו פעולה הוא מאפשר</a:t>
            </a:r>
            <a:r>
              <a:t>.</a:t>
            </a: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FFF"/>
        </a:solidFill>
      </p:bgPr>
    </p:bg>
    <p:spTree>
      <p:nvGrpSpPr>
        <p:cNvPr id="1" name=""/>
        <p:cNvGrpSpPr/>
        <p:nvPr/>
      </p:nvGrpSpPr>
      <p:grpSpPr>
        <a:xfrm>
          <a:off x="0" y="0"/>
          <a:ext cx="0" cy="0"/>
          <a:chOff x="0" y="0"/>
          <a:chExt cx="0" cy="0"/>
        </a:xfrm>
      </p:grpSpPr>
      <p:sp>
        <p:nvSpPr>
          <p:cNvPr id="131" name="text"/>
          <p:cNvSpPr txBox="1"/>
          <p:nvPr/>
        </p:nvSpPr>
        <p:spPr>
          <a:xfrm>
            <a:off x="457200" y="323850"/>
            <a:ext cx="8229600" cy="431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b="1" sz="2800">
                <a:solidFill>
                  <a:srgbClr val="D75BE2"/>
                </a:solidFill>
                <a:latin typeface="Inter"/>
                <a:ea typeface="Inter"/>
                <a:cs typeface="Inter"/>
                <a:sym typeface="Inter"/>
              </a:defRPr>
            </a:pPr>
            <a:r>
              <a:rPr>
                <a:latin typeface="Arial"/>
                <a:ea typeface="Arial"/>
                <a:cs typeface="Arial"/>
                <a:sym typeface="Arial"/>
              </a:rPr>
              <a:t>מה מוסיף לנו העורך </a:t>
            </a:r>
            <a:r>
              <a:t>VS Code?</a:t>
            </a:r>
          </a:p>
        </p:txBody>
      </p:sp>
      <p:sp>
        <p:nvSpPr>
          <p:cNvPr id="132" name="text"/>
          <p:cNvSpPr txBox="1"/>
          <p:nvPr/>
        </p:nvSpPr>
        <p:spPr>
          <a:xfrm>
            <a:off x="5905500" y="4876800"/>
            <a:ext cx="2781300" cy="127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800">
                <a:solidFill>
                  <a:srgbClr val="705B73"/>
                </a:solidFill>
                <a:latin typeface="Inter"/>
                <a:ea typeface="Inter"/>
                <a:cs typeface="Inter"/>
                <a:sym typeface="Inter"/>
              </a:defRPr>
            </a:pPr>
            <a:r>
              <a:rPr>
                <a:latin typeface="Arial"/>
                <a:ea typeface="Arial"/>
                <a:cs typeface="Arial"/>
                <a:sym typeface="Arial"/>
              </a:rPr>
              <a:t>שיעור</a:t>
            </a:r>
            <a:r>
              <a:t>: </a:t>
            </a:r>
            <a:r>
              <a:rPr>
                <a:latin typeface="Arial"/>
                <a:ea typeface="Arial"/>
                <a:cs typeface="Arial"/>
                <a:sym typeface="Arial"/>
              </a:rPr>
              <a:t>פיתוח עם סוכני־קוד</a:t>
            </a:r>
          </a:p>
        </p:txBody>
      </p:sp>
      <p:sp>
        <p:nvSpPr>
          <p:cNvPr id="133" name="code"/>
          <p:cNvSpPr txBox="1"/>
          <p:nvPr/>
        </p:nvSpPr>
        <p:spPr>
          <a:xfrm>
            <a:off x="457200" y="4876800"/>
            <a:ext cx="333375" cy="127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defRPr sz="800">
                <a:solidFill>
                  <a:srgbClr val="705B73"/>
                </a:solidFill>
                <a:latin typeface="Inter"/>
                <a:ea typeface="Inter"/>
                <a:cs typeface="Inter"/>
                <a:sym typeface="Inter"/>
              </a:defRPr>
            </a:lvl1pPr>
          </a:lstStyle>
          <a:p>
            <a:pPr/>
            <a:r>
              <a:t>11</a:t>
            </a:r>
          </a:p>
        </p:txBody>
      </p:sp>
      <p:sp>
        <p:nvSpPr>
          <p:cNvPr id="134" name="text"/>
          <p:cNvSpPr txBox="1"/>
          <p:nvPr/>
        </p:nvSpPr>
        <p:spPr>
          <a:xfrm>
            <a:off x="457200" y="1190625"/>
            <a:ext cx="8229600" cy="25922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defRPr b="1">
                <a:solidFill>
                  <a:srgbClr val="272525"/>
                </a:solidFill>
              </a:defRPr>
            </a:lvl1pPr>
          </a:lstStyle>
          <a:p>
            <a:pPr>
              <a:defRPr>
                <a:latin typeface="Inter"/>
                <a:ea typeface="Inter"/>
                <a:cs typeface="Inter"/>
                <a:sym typeface="Inter"/>
              </a:defRPr>
            </a:pPr>
            <a:r>
              <a:rPr>
                <a:latin typeface="Arial"/>
                <a:ea typeface="Arial"/>
                <a:cs typeface="Arial"/>
                <a:sym typeface="Arial"/>
              </a:rPr>
              <a:t>מעבר נוח בין סוכנים</a:t>
            </a:r>
          </a:p>
        </p:txBody>
      </p:sp>
      <p:sp>
        <p:nvSpPr>
          <p:cNvPr id="135" name="text"/>
          <p:cNvSpPr txBox="1"/>
          <p:nvPr/>
        </p:nvSpPr>
        <p:spPr>
          <a:xfrm>
            <a:off x="457200" y="1524000"/>
            <a:ext cx="8229600" cy="241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1600">
                <a:solidFill>
                  <a:srgbClr val="272525"/>
                </a:solidFill>
                <a:latin typeface="Inter"/>
                <a:ea typeface="Inter"/>
                <a:cs typeface="Inter"/>
                <a:sym typeface="Inter"/>
              </a:defRPr>
            </a:pPr>
            <a:r>
              <a:rPr>
                <a:latin typeface="Arial"/>
                <a:ea typeface="Arial"/>
                <a:cs typeface="Arial"/>
                <a:sym typeface="Arial"/>
              </a:rPr>
              <a:t>פותחים את אותה תיקייה עם תוספים כמו </a:t>
            </a:r>
            <a:r>
              <a:t>Claude Code </a:t>
            </a:r>
            <a:r>
              <a:rPr>
                <a:latin typeface="Arial"/>
                <a:ea typeface="Arial"/>
                <a:cs typeface="Arial"/>
                <a:sym typeface="Arial"/>
              </a:rPr>
              <a:t>ו־</a:t>
            </a:r>
            <a:r>
              <a:t>Codex.</a:t>
            </a:r>
          </a:p>
        </p:txBody>
      </p:sp>
      <p:sp>
        <p:nvSpPr>
          <p:cNvPr id="136" name="text"/>
          <p:cNvSpPr txBox="1"/>
          <p:nvPr/>
        </p:nvSpPr>
        <p:spPr>
          <a:xfrm>
            <a:off x="457200" y="2152650"/>
            <a:ext cx="8229600" cy="25922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defRPr b="1">
                <a:solidFill>
                  <a:srgbClr val="272525"/>
                </a:solidFill>
              </a:defRPr>
            </a:lvl1pPr>
          </a:lstStyle>
          <a:p>
            <a:pPr>
              <a:defRPr>
                <a:latin typeface="Inter"/>
                <a:ea typeface="Inter"/>
                <a:cs typeface="Inter"/>
                <a:sym typeface="Inter"/>
              </a:defRPr>
            </a:pPr>
            <a:r>
              <a:rPr>
                <a:latin typeface="Arial"/>
                <a:ea typeface="Arial"/>
                <a:cs typeface="Arial"/>
                <a:sym typeface="Arial"/>
              </a:rPr>
              <a:t>כלים לעבודה עם קבצים</a:t>
            </a:r>
          </a:p>
        </p:txBody>
      </p:sp>
      <p:sp>
        <p:nvSpPr>
          <p:cNvPr id="137" name="text"/>
          <p:cNvSpPr txBox="1"/>
          <p:nvPr/>
        </p:nvSpPr>
        <p:spPr>
          <a:xfrm>
            <a:off x="457200" y="2486025"/>
            <a:ext cx="8229600" cy="241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1600">
                <a:solidFill>
                  <a:srgbClr val="272525"/>
                </a:solidFill>
                <a:latin typeface="Inter"/>
                <a:ea typeface="Inter"/>
                <a:cs typeface="Inter"/>
                <a:sym typeface="Inter"/>
              </a:defRPr>
            </a:pPr>
            <a:r>
              <a:rPr>
                <a:latin typeface="Arial"/>
                <a:ea typeface="Arial"/>
                <a:cs typeface="Arial"/>
                <a:sym typeface="Arial"/>
              </a:rPr>
              <a:t>תוספים לתצוגת </a:t>
            </a:r>
            <a:r>
              <a:t>Markdown, </a:t>
            </a:r>
            <a:r>
              <a:rPr>
                <a:latin typeface="Arial"/>
                <a:ea typeface="Arial"/>
                <a:cs typeface="Arial"/>
                <a:sym typeface="Arial"/>
              </a:rPr>
              <a:t>לעבודה עם נתונים</a:t>
            </a:r>
            <a:r>
              <a:t>, </a:t>
            </a:r>
            <a:r>
              <a:rPr>
                <a:latin typeface="Arial"/>
                <a:ea typeface="Arial"/>
                <a:cs typeface="Arial"/>
                <a:sym typeface="Arial"/>
              </a:rPr>
              <a:t>לעיצוב קוד ולהשוואת שינויים</a:t>
            </a:r>
            <a:r>
              <a:t>.</a:t>
            </a:r>
          </a:p>
        </p:txBody>
      </p:sp>
      <p:sp>
        <p:nvSpPr>
          <p:cNvPr id="138" name="text"/>
          <p:cNvSpPr txBox="1"/>
          <p:nvPr/>
        </p:nvSpPr>
        <p:spPr>
          <a:xfrm>
            <a:off x="457200" y="3114675"/>
            <a:ext cx="8229600" cy="25922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defRPr b="1">
                <a:solidFill>
                  <a:srgbClr val="272525"/>
                </a:solidFill>
              </a:defRPr>
            </a:lvl1pPr>
          </a:lstStyle>
          <a:p>
            <a:pPr>
              <a:defRPr>
                <a:latin typeface="Inter"/>
                <a:ea typeface="Inter"/>
                <a:cs typeface="Inter"/>
                <a:sym typeface="Inter"/>
              </a:defRPr>
            </a:pPr>
            <a:r>
              <a:rPr>
                <a:latin typeface="Arial"/>
                <a:ea typeface="Arial"/>
                <a:cs typeface="Arial"/>
                <a:sym typeface="Arial"/>
              </a:rPr>
              <a:t>סביבת עבודה מרוכזת</a:t>
            </a:r>
          </a:p>
        </p:txBody>
      </p:sp>
      <p:sp>
        <p:nvSpPr>
          <p:cNvPr id="139" name="text"/>
          <p:cNvSpPr txBox="1"/>
          <p:nvPr/>
        </p:nvSpPr>
        <p:spPr>
          <a:xfrm>
            <a:off x="457200" y="3448050"/>
            <a:ext cx="8229600" cy="241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1600">
                <a:solidFill>
                  <a:srgbClr val="272525"/>
                </a:solidFill>
                <a:latin typeface="Inter"/>
                <a:ea typeface="Inter"/>
                <a:cs typeface="Inter"/>
                <a:sym typeface="Inter"/>
              </a:defRPr>
            </a:pPr>
            <a:r>
              <a:rPr>
                <a:latin typeface="Arial"/>
                <a:ea typeface="Arial"/>
                <a:cs typeface="Arial"/>
                <a:sym typeface="Arial"/>
              </a:rPr>
              <a:t>קבצים</a:t>
            </a:r>
            <a:r>
              <a:t>, </a:t>
            </a:r>
            <a:r>
              <a:rPr>
                <a:latin typeface="Arial"/>
                <a:ea typeface="Arial"/>
                <a:cs typeface="Arial"/>
                <a:sym typeface="Arial"/>
              </a:rPr>
              <a:t>חלונית הסוכן</a:t>
            </a:r>
            <a:r>
              <a:t>, </a:t>
            </a:r>
            <a:r>
              <a:rPr>
                <a:latin typeface="Arial"/>
                <a:ea typeface="Arial"/>
                <a:cs typeface="Arial"/>
                <a:sym typeface="Arial"/>
              </a:rPr>
              <a:t>טרמינל ובקרת גרסאות באותו חלון</a:t>
            </a:r>
            <a:r>
              <a:t>.</a:t>
            </a:r>
          </a:p>
        </p:txBody>
      </p:sp>
      <p:sp>
        <p:nvSpPr>
          <p:cNvPr id="140" name="Rectangle"/>
          <p:cNvSpPr/>
          <p:nvPr/>
        </p:nvSpPr>
        <p:spPr>
          <a:xfrm>
            <a:off x="457200" y="4248150"/>
            <a:ext cx="8229600" cy="466725"/>
          </a:xfrm>
          <a:prstGeom prst="rect">
            <a:avLst/>
          </a:prstGeom>
          <a:solidFill>
            <a:srgbClr val="F4D4F7"/>
          </a:solidFill>
          <a:ln w="12700">
            <a:miter lim="400000"/>
          </a:ln>
        </p:spPr>
        <p:txBody>
          <a:bodyPr lIns="0" tIns="0" rIns="0" bIns="0"/>
          <a:lstStyle/>
          <a:p>
            <a:pPr/>
          </a:p>
        </p:txBody>
      </p:sp>
      <p:sp>
        <p:nvSpPr>
          <p:cNvPr id="141" name="text"/>
          <p:cNvSpPr txBox="1"/>
          <p:nvPr/>
        </p:nvSpPr>
        <p:spPr>
          <a:xfrm>
            <a:off x="619125" y="4343400"/>
            <a:ext cx="7905750" cy="2286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b="1" sz="1500">
                <a:solidFill>
                  <a:srgbClr val="272525"/>
                </a:solidFill>
                <a:latin typeface="Inter"/>
                <a:ea typeface="Inter"/>
                <a:cs typeface="Inter"/>
                <a:sym typeface="Inter"/>
              </a:defRPr>
            </a:pPr>
            <a:r>
              <a:rPr>
                <a:latin typeface="Arial"/>
                <a:ea typeface="Arial"/>
                <a:cs typeface="Arial"/>
                <a:sym typeface="Arial"/>
              </a:rPr>
              <a:t>בוחרים את הסביבה שנוחה לנו</a:t>
            </a:r>
            <a:r>
              <a:t>. </a:t>
            </a:r>
            <a:r>
              <a:rPr>
                <a:latin typeface="Arial"/>
                <a:ea typeface="Arial"/>
                <a:cs typeface="Arial"/>
                <a:sym typeface="Arial"/>
              </a:rPr>
              <a:t>הידע והתוצרים נשארים בתיקייה</a:t>
            </a:r>
            <a:r>
              <a:t>.</a:t>
            </a: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FFF"/>
        </a:solidFill>
      </p:bgPr>
    </p:bg>
    <p:spTree>
      <p:nvGrpSpPr>
        <p:cNvPr id="1" name=""/>
        <p:cNvGrpSpPr/>
        <p:nvPr/>
      </p:nvGrpSpPr>
      <p:grpSpPr>
        <a:xfrm>
          <a:off x="0" y="0"/>
          <a:ext cx="0" cy="0"/>
          <a:chOff x="0" y="0"/>
          <a:chExt cx="0" cy="0"/>
        </a:xfrm>
      </p:grpSpPr>
      <p:sp>
        <p:nvSpPr>
          <p:cNvPr id="145" name="text"/>
          <p:cNvSpPr txBox="1"/>
          <p:nvPr/>
        </p:nvSpPr>
        <p:spPr>
          <a:xfrm>
            <a:off x="457200" y="323850"/>
            <a:ext cx="8229600" cy="431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b="1" sz="2800">
                <a:solidFill>
                  <a:srgbClr val="D75BE2"/>
                </a:solidFill>
                <a:latin typeface="Inter"/>
                <a:ea typeface="Inter"/>
                <a:cs typeface="Inter"/>
                <a:sym typeface="Inter"/>
              </a:defRPr>
            </a:pPr>
            <a:r>
              <a:rPr>
                <a:latin typeface="Arial"/>
                <a:ea typeface="Arial"/>
                <a:cs typeface="Arial"/>
                <a:sym typeface="Arial"/>
              </a:rPr>
              <a:t>התקנת העורך </a:t>
            </a:r>
            <a:r>
              <a:t>VS Code</a:t>
            </a:r>
          </a:p>
        </p:txBody>
      </p:sp>
      <p:sp>
        <p:nvSpPr>
          <p:cNvPr id="146" name="text"/>
          <p:cNvSpPr txBox="1"/>
          <p:nvPr/>
        </p:nvSpPr>
        <p:spPr>
          <a:xfrm>
            <a:off x="5905500" y="4876800"/>
            <a:ext cx="2781300" cy="127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800">
                <a:solidFill>
                  <a:srgbClr val="705B73"/>
                </a:solidFill>
                <a:latin typeface="Inter"/>
                <a:ea typeface="Inter"/>
                <a:cs typeface="Inter"/>
                <a:sym typeface="Inter"/>
              </a:defRPr>
            </a:pPr>
            <a:r>
              <a:rPr>
                <a:latin typeface="Arial"/>
                <a:ea typeface="Arial"/>
                <a:cs typeface="Arial"/>
                <a:sym typeface="Arial"/>
              </a:rPr>
              <a:t>שיעור</a:t>
            </a:r>
            <a:r>
              <a:t>: </a:t>
            </a:r>
            <a:r>
              <a:rPr>
                <a:latin typeface="Arial"/>
                <a:ea typeface="Arial"/>
                <a:cs typeface="Arial"/>
                <a:sym typeface="Arial"/>
              </a:rPr>
              <a:t>פיתוח עם סוכני־קוד</a:t>
            </a:r>
          </a:p>
        </p:txBody>
      </p:sp>
      <p:sp>
        <p:nvSpPr>
          <p:cNvPr id="147" name="code"/>
          <p:cNvSpPr txBox="1"/>
          <p:nvPr/>
        </p:nvSpPr>
        <p:spPr>
          <a:xfrm>
            <a:off x="457200" y="4876800"/>
            <a:ext cx="333375" cy="127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defRPr sz="800">
                <a:solidFill>
                  <a:srgbClr val="705B73"/>
                </a:solidFill>
                <a:latin typeface="Inter"/>
                <a:ea typeface="Inter"/>
                <a:cs typeface="Inter"/>
                <a:sym typeface="Inter"/>
              </a:defRPr>
            </a:lvl1pPr>
          </a:lstStyle>
          <a:p>
            <a:pPr/>
            <a:r>
              <a:t>12</a:t>
            </a:r>
          </a:p>
        </p:txBody>
      </p:sp>
      <p:sp>
        <p:nvSpPr>
          <p:cNvPr id="148" name="text"/>
          <p:cNvSpPr txBox="1"/>
          <p:nvPr/>
        </p:nvSpPr>
        <p:spPr>
          <a:xfrm>
            <a:off x="457200" y="1200150"/>
            <a:ext cx="8229600" cy="25922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defRPr b="1">
                <a:solidFill>
                  <a:srgbClr val="272525"/>
                </a:solidFill>
              </a:defRPr>
            </a:lvl1pPr>
          </a:lstStyle>
          <a:p>
            <a:pPr>
              <a:defRPr>
                <a:latin typeface="Inter"/>
                <a:ea typeface="Inter"/>
                <a:cs typeface="Inter"/>
                <a:sym typeface="Inter"/>
              </a:defRPr>
            </a:pPr>
            <a:r>
              <a:rPr>
                <a:latin typeface="Arial"/>
                <a:ea typeface="Arial"/>
                <a:cs typeface="Arial"/>
                <a:sym typeface="Arial"/>
              </a:rPr>
              <a:t>הורדה</a:t>
            </a:r>
          </a:p>
        </p:txBody>
      </p:sp>
      <p:sp>
        <p:nvSpPr>
          <p:cNvPr id="149" name="text"/>
          <p:cNvSpPr txBox="1"/>
          <p:nvPr/>
        </p:nvSpPr>
        <p:spPr>
          <a:xfrm>
            <a:off x="457200" y="1533525"/>
            <a:ext cx="8229600" cy="241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1600">
                <a:solidFill>
                  <a:srgbClr val="272525"/>
                </a:solidFill>
                <a:latin typeface="Inter"/>
                <a:ea typeface="Inter"/>
                <a:cs typeface="Inter"/>
                <a:sym typeface="Inter"/>
              </a:defRPr>
            </a:pPr>
            <a:r>
              <a:rPr>
                <a:latin typeface="Arial"/>
                <a:ea typeface="Arial"/>
                <a:cs typeface="Arial"/>
                <a:sym typeface="Arial"/>
              </a:rPr>
              <a:t>נכנסים לאתר </a:t>
            </a:r>
            <a:r>
              <a:t>code.visualstudio.com/download </a:t>
            </a:r>
            <a:r>
              <a:rPr>
                <a:latin typeface="Arial"/>
                <a:ea typeface="Arial"/>
                <a:cs typeface="Arial"/>
                <a:sym typeface="Arial"/>
              </a:rPr>
              <a:t>ובוחרים את מערכת ההפעלה</a:t>
            </a:r>
            <a:r>
              <a:t>.</a:t>
            </a:r>
          </a:p>
        </p:txBody>
      </p:sp>
      <p:sp>
        <p:nvSpPr>
          <p:cNvPr id="150" name="text"/>
          <p:cNvSpPr txBox="1"/>
          <p:nvPr/>
        </p:nvSpPr>
        <p:spPr>
          <a:xfrm>
            <a:off x="457200" y="2181225"/>
            <a:ext cx="8229600" cy="25922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defRPr b="1">
                <a:solidFill>
                  <a:srgbClr val="272525"/>
                </a:solidFill>
              </a:defRPr>
            </a:lvl1pPr>
          </a:lstStyle>
          <a:p>
            <a:pPr>
              <a:defRPr>
                <a:latin typeface="Inter"/>
                <a:ea typeface="Inter"/>
                <a:cs typeface="Inter"/>
                <a:sym typeface="Inter"/>
              </a:defRPr>
            </a:pPr>
            <a:r>
              <a:rPr>
                <a:latin typeface="Arial"/>
                <a:ea typeface="Arial"/>
                <a:cs typeface="Arial"/>
                <a:sym typeface="Arial"/>
              </a:rPr>
              <a:t>התקנה</a:t>
            </a:r>
          </a:p>
        </p:txBody>
      </p:sp>
      <p:sp>
        <p:nvSpPr>
          <p:cNvPr id="151" name="text"/>
          <p:cNvSpPr txBox="1"/>
          <p:nvPr/>
        </p:nvSpPr>
        <p:spPr>
          <a:xfrm>
            <a:off x="457200" y="2514600"/>
            <a:ext cx="8229600" cy="241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1600">
                <a:solidFill>
                  <a:srgbClr val="272525"/>
                </a:solidFill>
                <a:latin typeface="Inter"/>
                <a:ea typeface="Inter"/>
                <a:cs typeface="Inter"/>
                <a:sym typeface="Inter"/>
              </a:defRPr>
            </a:pPr>
            <a:r>
              <a:rPr>
                <a:latin typeface="Arial"/>
                <a:ea typeface="Arial"/>
                <a:cs typeface="Arial"/>
                <a:sym typeface="Arial"/>
              </a:rPr>
              <a:t>ב־</a:t>
            </a:r>
            <a:r>
              <a:t>Windows </a:t>
            </a:r>
            <a:r>
              <a:rPr>
                <a:latin typeface="Arial"/>
                <a:ea typeface="Arial"/>
                <a:cs typeface="Arial"/>
                <a:sym typeface="Arial"/>
              </a:rPr>
              <a:t>מפעילים את המתקין</a:t>
            </a:r>
            <a:r>
              <a:t>. </a:t>
            </a:r>
            <a:r>
              <a:rPr>
                <a:latin typeface="Arial"/>
                <a:ea typeface="Arial"/>
                <a:cs typeface="Arial"/>
                <a:sym typeface="Arial"/>
              </a:rPr>
              <a:t>ב־</a:t>
            </a:r>
            <a:r>
              <a:t>Mac </a:t>
            </a:r>
            <a:r>
              <a:rPr>
                <a:latin typeface="Arial"/>
                <a:ea typeface="Arial"/>
                <a:cs typeface="Arial"/>
                <a:sym typeface="Arial"/>
              </a:rPr>
              <a:t>מעבירים את היישום לתיקיית </a:t>
            </a:r>
            <a:r>
              <a:t>Applications.</a:t>
            </a:r>
          </a:p>
        </p:txBody>
      </p:sp>
      <p:sp>
        <p:nvSpPr>
          <p:cNvPr id="152" name="text"/>
          <p:cNvSpPr txBox="1"/>
          <p:nvPr/>
        </p:nvSpPr>
        <p:spPr>
          <a:xfrm>
            <a:off x="457200" y="3162300"/>
            <a:ext cx="8229600" cy="25922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defRPr b="1">
                <a:solidFill>
                  <a:srgbClr val="272525"/>
                </a:solidFill>
              </a:defRPr>
            </a:lvl1pPr>
          </a:lstStyle>
          <a:p>
            <a:pPr>
              <a:defRPr>
                <a:latin typeface="Inter"/>
                <a:ea typeface="Inter"/>
                <a:cs typeface="Inter"/>
                <a:sym typeface="Inter"/>
              </a:defRPr>
            </a:pPr>
            <a:r>
              <a:rPr>
                <a:latin typeface="Arial"/>
                <a:ea typeface="Arial"/>
                <a:cs typeface="Arial"/>
                <a:sym typeface="Arial"/>
              </a:rPr>
              <a:t>פתיחה ראשונה</a:t>
            </a:r>
          </a:p>
        </p:txBody>
      </p:sp>
      <p:sp>
        <p:nvSpPr>
          <p:cNvPr id="153" name="text"/>
          <p:cNvSpPr txBox="1"/>
          <p:nvPr/>
        </p:nvSpPr>
        <p:spPr>
          <a:xfrm>
            <a:off x="457200" y="3495675"/>
            <a:ext cx="8229600" cy="241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1600">
                <a:solidFill>
                  <a:srgbClr val="272525"/>
                </a:solidFill>
                <a:latin typeface="Inter"/>
                <a:ea typeface="Inter"/>
                <a:cs typeface="Inter"/>
                <a:sym typeface="Inter"/>
              </a:defRPr>
            </a:pPr>
            <a:r>
              <a:rPr>
                <a:latin typeface="Arial"/>
                <a:ea typeface="Arial"/>
                <a:cs typeface="Arial"/>
                <a:sym typeface="Arial"/>
              </a:rPr>
              <a:t>מפעילים את העורך ופותחים את תיקיית הקורס דרך </a:t>
            </a:r>
            <a:r>
              <a:t>File </a:t>
            </a:r>
            <a:r>
              <a:rPr>
                <a:latin typeface="Arial"/>
                <a:ea typeface="Arial"/>
                <a:cs typeface="Arial"/>
                <a:sym typeface="Arial"/>
              </a:rPr>
              <a:t>ואז </a:t>
            </a:r>
            <a:r>
              <a:t>Open Folder.</a:t>
            </a:r>
          </a:p>
        </p:txBody>
      </p:sp>
      <p:sp>
        <p:nvSpPr>
          <p:cNvPr id="154" name="Rectangle"/>
          <p:cNvSpPr/>
          <p:nvPr/>
        </p:nvSpPr>
        <p:spPr>
          <a:xfrm>
            <a:off x="457200" y="4248150"/>
            <a:ext cx="8229600" cy="466725"/>
          </a:xfrm>
          <a:prstGeom prst="rect">
            <a:avLst/>
          </a:prstGeom>
          <a:solidFill>
            <a:srgbClr val="F4D4F7"/>
          </a:solidFill>
          <a:ln w="12700">
            <a:miter lim="400000"/>
          </a:ln>
        </p:spPr>
        <p:txBody>
          <a:bodyPr lIns="0" tIns="0" rIns="0" bIns="0"/>
          <a:lstStyle/>
          <a:p>
            <a:pPr/>
          </a:p>
        </p:txBody>
      </p:sp>
      <p:sp>
        <p:nvSpPr>
          <p:cNvPr id="155" name="text"/>
          <p:cNvSpPr txBox="1"/>
          <p:nvPr/>
        </p:nvSpPr>
        <p:spPr>
          <a:xfrm>
            <a:off x="619125" y="4343400"/>
            <a:ext cx="7905750" cy="2286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b="1" sz="1500">
                <a:solidFill>
                  <a:srgbClr val="272525"/>
                </a:solidFill>
                <a:latin typeface="Inter"/>
                <a:ea typeface="Inter"/>
                <a:cs typeface="Inter"/>
                <a:sym typeface="Inter"/>
              </a:defRPr>
            </a:pPr>
            <a:r>
              <a:rPr>
                <a:latin typeface="Arial"/>
                <a:ea typeface="Arial"/>
                <a:cs typeface="Arial"/>
                <a:sym typeface="Arial"/>
              </a:rPr>
              <a:t>במהלך הקורס נשתמש בעורך לעבודה עם סוכנים</a:t>
            </a:r>
            <a:r>
              <a:t>, </a:t>
            </a:r>
            <a:r>
              <a:rPr>
                <a:latin typeface="Arial"/>
                <a:ea typeface="Arial"/>
                <a:cs typeface="Arial"/>
                <a:sym typeface="Arial"/>
              </a:rPr>
              <a:t>קבצים ותוספים</a:t>
            </a:r>
            <a:r>
              <a:t>.</a:t>
            </a:r>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FFF"/>
        </a:solidFill>
      </p:bgPr>
    </p:bg>
    <p:spTree>
      <p:nvGrpSpPr>
        <p:cNvPr id="1" name=""/>
        <p:cNvGrpSpPr/>
        <p:nvPr/>
      </p:nvGrpSpPr>
      <p:grpSpPr>
        <a:xfrm>
          <a:off x="0" y="0"/>
          <a:ext cx="0" cy="0"/>
          <a:chOff x="0" y="0"/>
          <a:chExt cx="0" cy="0"/>
        </a:xfrm>
      </p:grpSpPr>
      <p:sp>
        <p:nvSpPr>
          <p:cNvPr id="159" name="text"/>
          <p:cNvSpPr txBox="1"/>
          <p:nvPr/>
        </p:nvSpPr>
        <p:spPr>
          <a:xfrm>
            <a:off x="457200" y="323850"/>
            <a:ext cx="8229600" cy="431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b="1" sz="2800">
                <a:solidFill>
                  <a:srgbClr val="D75BE2"/>
                </a:solidFill>
                <a:latin typeface="Inter"/>
                <a:ea typeface="Inter"/>
                <a:cs typeface="Inter"/>
                <a:sym typeface="Inter"/>
              </a:defRPr>
            </a:pPr>
            <a:r>
              <a:rPr>
                <a:latin typeface="Arial"/>
                <a:ea typeface="Arial"/>
                <a:cs typeface="Arial"/>
                <a:sym typeface="Arial"/>
              </a:rPr>
              <a:t>התקנת סביבת </a:t>
            </a:r>
            <a:r>
              <a:t>Antigravity</a:t>
            </a:r>
          </a:p>
        </p:txBody>
      </p:sp>
      <p:sp>
        <p:nvSpPr>
          <p:cNvPr id="160" name="text"/>
          <p:cNvSpPr txBox="1"/>
          <p:nvPr/>
        </p:nvSpPr>
        <p:spPr>
          <a:xfrm>
            <a:off x="5905500" y="4876800"/>
            <a:ext cx="2781300" cy="127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800">
                <a:solidFill>
                  <a:srgbClr val="705B73"/>
                </a:solidFill>
                <a:latin typeface="Inter"/>
                <a:ea typeface="Inter"/>
                <a:cs typeface="Inter"/>
                <a:sym typeface="Inter"/>
              </a:defRPr>
            </a:pPr>
            <a:r>
              <a:rPr>
                <a:latin typeface="Arial"/>
                <a:ea typeface="Arial"/>
                <a:cs typeface="Arial"/>
                <a:sym typeface="Arial"/>
              </a:rPr>
              <a:t>שיעור</a:t>
            </a:r>
            <a:r>
              <a:t>: </a:t>
            </a:r>
            <a:r>
              <a:rPr>
                <a:latin typeface="Arial"/>
                <a:ea typeface="Arial"/>
                <a:cs typeface="Arial"/>
                <a:sym typeface="Arial"/>
              </a:rPr>
              <a:t>פיתוח עם סוכני־קוד</a:t>
            </a:r>
          </a:p>
        </p:txBody>
      </p:sp>
      <p:sp>
        <p:nvSpPr>
          <p:cNvPr id="161" name="code"/>
          <p:cNvSpPr txBox="1"/>
          <p:nvPr/>
        </p:nvSpPr>
        <p:spPr>
          <a:xfrm>
            <a:off x="457200" y="4876800"/>
            <a:ext cx="333375" cy="127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defRPr sz="800">
                <a:solidFill>
                  <a:srgbClr val="705B73"/>
                </a:solidFill>
                <a:latin typeface="Inter"/>
                <a:ea typeface="Inter"/>
                <a:cs typeface="Inter"/>
                <a:sym typeface="Inter"/>
              </a:defRPr>
            </a:lvl1pPr>
          </a:lstStyle>
          <a:p>
            <a:pPr/>
            <a:r>
              <a:t>13</a:t>
            </a:r>
          </a:p>
        </p:txBody>
      </p:sp>
      <p:sp>
        <p:nvSpPr>
          <p:cNvPr id="162" name="text"/>
          <p:cNvSpPr txBox="1"/>
          <p:nvPr/>
        </p:nvSpPr>
        <p:spPr>
          <a:xfrm>
            <a:off x="457200" y="1200150"/>
            <a:ext cx="8229600" cy="25922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defRPr b="1">
                <a:solidFill>
                  <a:srgbClr val="272525"/>
                </a:solidFill>
              </a:defRPr>
            </a:lvl1pPr>
          </a:lstStyle>
          <a:p>
            <a:pPr>
              <a:defRPr>
                <a:latin typeface="Inter"/>
                <a:ea typeface="Inter"/>
                <a:cs typeface="Inter"/>
                <a:sym typeface="Inter"/>
              </a:defRPr>
            </a:pPr>
            <a:r>
              <a:rPr>
                <a:latin typeface="Arial"/>
                <a:ea typeface="Arial"/>
                <a:cs typeface="Arial"/>
                <a:sym typeface="Arial"/>
              </a:rPr>
              <a:t>הורדה</a:t>
            </a:r>
          </a:p>
        </p:txBody>
      </p:sp>
      <p:sp>
        <p:nvSpPr>
          <p:cNvPr id="163" name="text"/>
          <p:cNvSpPr txBox="1"/>
          <p:nvPr/>
        </p:nvSpPr>
        <p:spPr>
          <a:xfrm>
            <a:off x="457200" y="1533525"/>
            <a:ext cx="8229600" cy="241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1600">
                <a:solidFill>
                  <a:srgbClr val="272525"/>
                </a:solidFill>
                <a:latin typeface="Inter"/>
                <a:ea typeface="Inter"/>
                <a:cs typeface="Inter"/>
                <a:sym typeface="Inter"/>
              </a:defRPr>
            </a:pPr>
            <a:r>
              <a:rPr>
                <a:latin typeface="Arial"/>
                <a:ea typeface="Arial"/>
                <a:cs typeface="Arial"/>
                <a:sym typeface="Arial"/>
              </a:rPr>
              <a:t>נכנסים לאתר </a:t>
            </a:r>
            <a:r>
              <a:t>antigravity.google/download </a:t>
            </a:r>
            <a:r>
              <a:rPr>
                <a:latin typeface="Arial"/>
                <a:ea typeface="Arial"/>
                <a:cs typeface="Arial"/>
                <a:sym typeface="Arial"/>
              </a:rPr>
              <a:t>ובוחרים </a:t>
            </a:r>
            <a:r>
              <a:t>Antigravity IDE.</a:t>
            </a:r>
          </a:p>
        </p:txBody>
      </p:sp>
      <p:sp>
        <p:nvSpPr>
          <p:cNvPr id="164" name="text"/>
          <p:cNvSpPr txBox="1"/>
          <p:nvPr/>
        </p:nvSpPr>
        <p:spPr>
          <a:xfrm>
            <a:off x="457200" y="2181225"/>
            <a:ext cx="8229600" cy="25922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defRPr b="1">
                <a:solidFill>
                  <a:srgbClr val="272525"/>
                </a:solidFill>
              </a:defRPr>
            </a:lvl1pPr>
          </a:lstStyle>
          <a:p>
            <a:pPr>
              <a:defRPr>
                <a:latin typeface="Inter"/>
                <a:ea typeface="Inter"/>
                <a:cs typeface="Inter"/>
                <a:sym typeface="Inter"/>
              </a:defRPr>
            </a:pPr>
            <a:r>
              <a:rPr>
                <a:latin typeface="Arial"/>
                <a:ea typeface="Arial"/>
                <a:cs typeface="Arial"/>
                <a:sym typeface="Arial"/>
              </a:rPr>
              <a:t>התקנה והתחברות</a:t>
            </a:r>
          </a:p>
        </p:txBody>
      </p:sp>
      <p:sp>
        <p:nvSpPr>
          <p:cNvPr id="165" name="text"/>
          <p:cNvSpPr txBox="1"/>
          <p:nvPr/>
        </p:nvSpPr>
        <p:spPr>
          <a:xfrm>
            <a:off x="457200" y="2514600"/>
            <a:ext cx="8229600" cy="241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1600">
                <a:solidFill>
                  <a:srgbClr val="272525"/>
                </a:solidFill>
                <a:latin typeface="Inter"/>
                <a:ea typeface="Inter"/>
                <a:cs typeface="Inter"/>
                <a:sym typeface="Inter"/>
              </a:defRPr>
            </a:pPr>
            <a:r>
              <a:rPr>
                <a:latin typeface="Arial"/>
                <a:ea typeface="Arial"/>
                <a:cs typeface="Arial"/>
                <a:sym typeface="Arial"/>
              </a:rPr>
              <a:t>מורידים את הגרסה המתאימה למחשב</a:t>
            </a:r>
            <a:r>
              <a:t>, </a:t>
            </a:r>
            <a:r>
              <a:rPr>
                <a:latin typeface="Arial"/>
                <a:ea typeface="Arial"/>
                <a:cs typeface="Arial"/>
                <a:sym typeface="Arial"/>
              </a:rPr>
              <a:t>מתקינים ומתחברים לפי ההנחיות</a:t>
            </a:r>
            <a:r>
              <a:t>.</a:t>
            </a:r>
          </a:p>
        </p:txBody>
      </p:sp>
      <p:sp>
        <p:nvSpPr>
          <p:cNvPr id="166" name="text"/>
          <p:cNvSpPr txBox="1"/>
          <p:nvPr/>
        </p:nvSpPr>
        <p:spPr>
          <a:xfrm>
            <a:off x="457200" y="3162300"/>
            <a:ext cx="8229600" cy="25922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defRPr b="1">
                <a:solidFill>
                  <a:srgbClr val="272525"/>
                </a:solidFill>
              </a:defRPr>
            </a:lvl1pPr>
          </a:lstStyle>
          <a:p>
            <a:pPr>
              <a:defRPr>
                <a:latin typeface="Inter"/>
                <a:ea typeface="Inter"/>
                <a:cs typeface="Inter"/>
                <a:sym typeface="Inter"/>
              </a:defRPr>
            </a:pPr>
            <a:r>
              <a:rPr>
                <a:latin typeface="Arial"/>
                <a:ea typeface="Arial"/>
                <a:cs typeface="Arial"/>
                <a:sym typeface="Arial"/>
              </a:rPr>
              <a:t>תיקיית העבודה</a:t>
            </a:r>
          </a:p>
        </p:txBody>
      </p:sp>
      <p:sp>
        <p:nvSpPr>
          <p:cNvPr id="167" name="text"/>
          <p:cNvSpPr txBox="1"/>
          <p:nvPr/>
        </p:nvSpPr>
        <p:spPr>
          <a:xfrm>
            <a:off x="457200" y="3495675"/>
            <a:ext cx="8229600" cy="241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1600">
                <a:solidFill>
                  <a:srgbClr val="272525"/>
                </a:solidFill>
                <a:latin typeface="Inter"/>
                <a:ea typeface="Inter"/>
                <a:cs typeface="Inter"/>
                <a:sym typeface="Inter"/>
              </a:defRPr>
            </a:pPr>
            <a:r>
              <a:rPr>
                <a:latin typeface="Arial"/>
                <a:ea typeface="Arial"/>
                <a:cs typeface="Arial"/>
                <a:sym typeface="Arial"/>
              </a:rPr>
              <a:t>פותחים את אותה תיקיית פרויקט ומתחילים לעבוד עם הסוכן מתוך העורך</a:t>
            </a:r>
            <a:r>
              <a:t>.</a:t>
            </a:r>
          </a:p>
        </p:txBody>
      </p:sp>
      <p:sp>
        <p:nvSpPr>
          <p:cNvPr id="168" name="Rectangle"/>
          <p:cNvSpPr/>
          <p:nvPr/>
        </p:nvSpPr>
        <p:spPr>
          <a:xfrm>
            <a:off x="457200" y="4248150"/>
            <a:ext cx="8229600" cy="466725"/>
          </a:xfrm>
          <a:prstGeom prst="rect">
            <a:avLst/>
          </a:prstGeom>
          <a:solidFill>
            <a:srgbClr val="F4D4F7"/>
          </a:solidFill>
          <a:ln w="12700">
            <a:miter lim="400000"/>
          </a:ln>
        </p:spPr>
        <p:txBody>
          <a:bodyPr lIns="0" tIns="0" rIns="0" bIns="0"/>
          <a:lstStyle/>
          <a:p>
            <a:pPr/>
          </a:p>
        </p:txBody>
      </p:sp>
      <p:sp>
        <p:nvSpPr>
          <p:cNvPr id="169" name="text"/>
          <p:cNvSpPr txBox="1"/>
          <p:nvPr/>
        </p:nvSpPr>
        <p:spPr>
          <a:xfrm>
            <a:off x="619125" y="4343400"/>
            <a:ext cx="7905750" cy="2286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b="1" sz="1500">
                <a:solidFill>
                  <a:srgbClr val="272525"/>
                </a:solidFill>
                <a:latin typeface="Inter"/>
                <a:ea typeface="Inter"/>
                <a:cs typeface="Inter"/>
                <a:sym typeface="Inter"/>
              </a:defRPr>
            </a:pPr>
            <a:r>
              <a:rPr>
                <a:latin typeface="Arial"/>
                <a:ea typeface="Arial"/>
                <a:cs typeface="Arial"/>
                <a:sym typeface="Arial"/>
              </a:rPr>
              <a:t>נתנסה בשתי הסביבות במהלך הקורס</a:t>
            </a:r>
            <a:r>
              <a:t>, </a:t>
            </a:r>
            <a:r>
              <a:rPr>
                <a:latin typeface="Arial"/>
                <a:ea typeface="Arial"/>
                <a:cs typeface="Arial"/>
                <a:sym typeface="Arial"/>
              </a:rPr>
              <a:t>עם אותם קבצים ותיעוד</a:t>
            </a:r>
            <a:r>
              <a:t>.</a:t>
            </a:r>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FFF"/>
        </a:solidFill>
      </p:bgPr>
    </p:bg>
    <p:spTree>
      <p:nvGrpSpPr>
        <p:cNvPr id="1" name=""/>
        <p:cNvGrpSpPr/>
        <p:nvPr/>
      </p:nvGrpSpPr>
      <p:grpSpPr>
        <a:xfrm>
          <a:off x="0" y="0"/>
          <a:ext cx="0" cy="0"/>
          <a:chOff x="0" y="0"/>
          <a:chExt cx="0" cy="0"/>
        </a:xfrm>
      </p:grpSpPr>
      <p:sp>
        <p:nvSpPr>
          <p:cNvPr id="173" name="text"/>
          <p:cNvSpPr txBox="1"/>
          <p:nvPr/>
        </p:nvSpPr>
        <p:spPr>
          <a:xfrm>
            <a:off x="457200" y="323850"/>
            <a:ext cx="8229600" cy="431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b="1" sz="2800">
                <a:solidFill>
                  <a:srgbClr val="D75BE2"/>
                </a:solidFill>
                <a:latin typeface="Inter"/>
                <a:ea typeface="Inter"/>
                <a:cs typeface="Inter"/>
                <a:sym typeface="Inter"/>
              </a:defRPr>
            </a:pPr>
            <a:r>
              <a:rPr>
                <a:latin typeface="Arial"/>
                <a:ea typeface="Arial"/>
                <a:cs typeface="Arial"/>
                <a:sym typeface="Arial"/>
              </a:rPr>
              <a:t>פתיחת התיקייה ב־</a:t>
            </a:r>
            <a:r>
              <a:t>VS Code</a:t>
            </a:r>
          </a:p>
        </p:txBody>
      </p:sp>
      <p:sp>
        <p:nvSpPr>
          <p:cNvPr id="174" name="text"/>
          <p:cNvSpPr txBox="1"/>
          <p:nvPr/>
        </p:nvSpPr>
        <p:spPr>
          <a:xfrm>
            <a:off x="5905500" y="4876800"/>
            <a:ext cx="2781300" cy="127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800">
                <a:solidFill>
                  <a:srgbClr val="705B73"/>
                </a:solidFill>
                <a:latin typeface="Inter"/>
                <a:ea typeface="Inter"/>
                <a:cs typeface="Inter"/>
                <a:sym typeface="Inter"/>
              </a:defRPr>
            </a:pPr>
            <a:r>
              <a:rPr>
                <a:latin typeface="Arial"/>
                <a:ea typeface="Arial"/>
                <a:cs typeface="Arial"/>
                <a:sym typeface="Arial"/>
              </a:rPr>
              <a:t>שיעור</a:t>
            </a:r>
            <a:r>
              <a:t>: </a:t>
            </a:r>
            <a:r>
              <a:rPr>
                <a:latin typeface="Arial"/>
                <a:ea typeface="Arial"/>
                <a:cs typeface="Arial"/>
                <a:sym typeface="Arial"/>
              </a:rPr>
              <a:t>פיתוח עם סוכני־קוד</a:t>
            </a:r>
          </a:p>
        </p:txBody>
      </p:sp>
      <p:sp>
        <p:nvSpPr>
          <p:cNvPr id="175" name="code"/>
          <p:cNvSpPr txBox="1"/>
          <p:nvPr/>
        </p:nvSpPr>
        <p:spPr>
          <a:xfrm>
            <a:off x="457200" y="4876800"/>
            <a:ext cx="333375" cy="127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defRPr sz="800">
                <a:solidFill>
                  <a:srgbClr val="705B73"/>
                </a:solidFill>
                <a:latin typeface="Inter"/>
                <a:ea typeface="Inter"/>
                <a:cs typeface="Inter"/>
                <a:sym typeface="Inter"/>
              </a:defRPr>
            </a:lvl1pPr>
          </a:lstStyle>
          <a:p>
            <a:pPr/>
            <a:r>
              <a:t>14</a:t>
            </a:r>
          </a:p>
        </p:txBody>
      </p:sp>
      <p:sp>
        <p:nvSpPr>
          <p:cNvPr id="176" name="text"/>
          <p:cNvSpPr txBox="1"/>
          <p:nvPr/>
        </p:nvSpPr>
        <p:spPr>
          <a:xfrm>
            <a:off x="457200" y="1047750"/>
            <a:ext cx="8229600" cy="2794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b="1">
                <a:solidFill>
                  <a:srgbClr val="272525"/>
                </a:solidFill>
                <a:latin typeface="Inter"/>
                <a:ea typeface="Inter"/>
                <a:cs typeface="Inter"/>
                <a:sym typeface="Inter"/>
              </a:defRPr>
            </a:pPr>
            <a:r>
              <a:rPr>
                <a:latin typeface="Arial"/>
                <a:ea typeface="Arial"/>
                <a:cs typeface="Arial"/>
                <a:sym typeface="Arial"/>
              </a:rPr>
              <a:t>בתפריט </a:t>
            </a:r>
            <a:r>
              <a:t>File </a:t>
            </a:r>
            <a:r>
              <a:rPr>
                <a:latin typeface="Arial"/>
                <a:ea typeface="Arial"/>
                <a:cs typeface="Arial"/>
                <a:sym typeface="Arial"/>
              </a:rPr>
              <a:t>בוחרים </a:t>
            </a:r>
            <a:r>
              <a:t>Open Folder…</a:t>
            </a:r>
          </a:p>
        </p:txBody>
      </p:sp>
      <p:pic>
        <p:nvPicPr>
          <p:cNvPr id="177" name="image4.png" descr="image4.png"/>
          <p:cNvPicPr>
            <a:picLocks noChangeAspect="1"/>
          </p:cNvPicPr>
          <p:nvPr/>
        </p:nvPicPr>
        <p:blipFill>
          <a:blip r:embed="rId3">
            <a:extLst/>
          </a:blip>
          <a:srcRect l="0" t="0" r="60000" b="60000"/>
          <a:stretch>
            <a:fillRect/>
          </a:stretch>
        </p:blipFill>
        <p:spPr>
          <a:xfrm>
            <a:off x="457199" y="1582861"/>
            <a:ext cx="5191127" cy="2806454"/>
          </a:xfrm>
          <a:prstGeom prst="rect">
            <a:avLst/>
          </a:prstGeom>
          <a:ln w="12700">
            <a:miter lim="400000"/>
          </a:ln>
        </p:spPr>
      </p:pic>
      <p:sp>
        <p:nvSpPr>
          <p:cNvPr id="178" name="text"/>
          <p:cNvSpPr txBox="1"/>
          <p:nvPr/>
        </p:nvSpPr>
        <p:spPr>
          <a:xfrm>
            <a:off x="6048375" y="1628775"/>
            <a:ext cx="2619375" cy="25922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defRPr b="1">
                <a:solidFill>
                  <a:srgbClr val="272525"/>
                </a:solidFill>
              </a:defRPr>
            </a:lvl1pPr>
          </a:lstStyle>
          <a:p>
            <a:pPr>
              <a:defRPr>
                <a:latin typeface="Inter"/>
                <a:ea typeface="Inter"/>
                <a:cs typeface="Inter"/>
                <a:sym typeface="Inter"/>
              </a:defRPr>
            </a:pPr>
            <a:r>
              <a:rPr>
                <a:latin typeface="Arial"/>
                <a:ea typeface="Arial"/>
                <a:cs typeface="Arial"/>
                <a:sym typeface="Arial"/>
              </a:rPr>
              <a:t>בוחרים את התיקייה</a:t>
            </a:r>
          </a:p>
        </p:txBody>
      </p:sp>
      <p:sp>
        <p:nvSpPr>
          <p:cNvPr id="179" name="text"/>
          <p:cNvSpPr txBox="1"/>
          <p:nvPr/>
        </p:nvSpPr>
        <p:spPr>
          <a:xfrm>
            <a:off x="6048375" y="1962150"/>
            <a:ext cx="2619375" cy="46343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1500">
                <a:solidFill>
                  <a:srgbClr val="272525"/>
                </a:solidFill>
                <a:latin typeface="Inter"/>
                <a:ea typeface="Inter"/>
                <a:cs typeface="Inter"/>
                <a:sym typeface="Inter"/>
              </a:defRPr>
            </a:pPr>
            <a:r>
              <a:rPr>
                <a:latin typeface="Arial"/>
                <a:ea typeface="Arial"/>
                <a:cs typeface="Arial"/>
                <a:sym typeface="Arial"/>
              </a:rPr>
              <a:t>פותחים את </a:t>
            </a:r>
            <a:r>
              <a:t>my-project </a:t>
            </a:r>
            <a:r>
              <a:rPr>
                <a:latin typeface="Arial"/>
                <a:ea typeface="Arial"/>
                <a:cs typeface="Arial"/>
                <a:sym typeface="Arial"/>
              </a:rPr>
              <a:t>כולה</a:t>
            </a:r>
            <a:r>
              <a:t>, </a:t>
            </a:r>
            <a:r>
              <a:rPr>
                <a:latin typeface="Arial"/>
                <a:ea typeface="Arial"/>
                <a:cs typeface="Arial"/>
                <a:sym typeface="Arial"/>
              </a:rPr>
              <a:t>כדי שהסוכן יראה את הפרויקט</a:t>
            </a:r>
            <a:r>
              <a:t>.</a:t>
            </a:r>
          </a:p>
        </p:txBody>
      </p:sp>
      <p:sp>
        <p:nvSpPr>
          <p:cNvPr id="180" name="text"/>
          <p:cNvSpPr txBox="1"/>
          <p:nvPr/>
        </p:nvSpPr>
        <p:spPr>
          <a:xfrm>
            <a:off x="6048375" y="2990850"/>
            <a:ext cx="2619375" cy="25922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defRPr b="1">
                <a:solidFill>
                  <a:srgbClr val="272525"/>
                </a:solidFill>
              </a:defRPr>
            </a:lvl1pPr>
          </a:lstStyle>
          <a:p>
            <a:pPr>
              <a:defRPr>
                <a:latin typeface="Inter"/>
                <a:ea typeface="Inter"/>
                <a:cs typeface="Inter"/>
                <a:sym typeface="Inter"/>
              </a:defRPr>
            </a:pPr>
            <a:r>
              <a:rPr>
                <a:latin typeface="Arial"/>
                <a:ea typeface="Arial"/>
                <a:cs typeface="Arial"/>
                <a:sym typeface="Arial"/>
              </a:rPr>
              <a:t>בודקים אמון בתיקייה</a:t>
            </a:r>
          </a:p>
        </p:txBody>
      </p:sp>
      <p:sp>
        <p:nvSpPr>
          <p:cNvPr id="181" name="text"/>
          <p:cNvSpPr txBox="1"/>
          <p:nvPr/>
        </p:nvSpPr>
        <p:spPr>
          <a:xfrm>
            <a:off x="6048375" y="3324225"/>
            <a:ext cx="2619375" cy="4445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1500">
                <a:solidFill>
                  <a:srgbClr val="272525"/>
                </a:solidFill>
                <a:latin typeface="Inter"/>
                <a:ea typeface="Inter"/>
                <a:cs typeface="Inter"/>
                <a:sym typeface="Inter"/>
              </a:defRPr>
            </a:pPr>
            <a:r>
              <a:rPr>
                <a:latin typeface="Arial"/>
                <a:ea typeface="Arial"/>
                <a:cs typeface="Arial"/>
                <a:sym typeface="Arial"/>
              </a:rPr>
              <a:t>מאשרים אמון רק בתיקייה שיצרנו או שמקורה מוכר לנו</a:t>
            </a:r>
            <a:r>
              <a:t>.</a:t>
            </a:r>
          </a:p>
        </p:txBody>
      </p:sp>
      <p:sp>
        <p:nvSpPr>
          <p:cNvPr id="182" name="text"/>
          <p:cNvSpPr txBox="1"/>
          <p:nvPr/>
        </p:nvSpPr>
        <p:spPr>
          <a:xfrm>
            <a:off x="457200" y="4514850"/>
            <a:ext cx="8229600" cy="1651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1100">
                <a:solidFill>
                  <a:srgbClr val="705B73"/>
                </a:solidFill>
                <a:latin typeface="Inter"/>
                <a:ea typeface="Inter"/>
                <a:cs typeface="Inter"/>
                <a:sym typeface="Inter"/>
              </a:defRPr>
            </a:pPr>
            <a:r>
              <a:rPr>
                <a:latin typeface="Arial"/>
                <a:ea typeface="Arial"/>
                <a:cs typeface="Arial"/>
                <a:sym typeface="Arial"/>
              </a:rPr>
              <a:t>צילום הדרכה ב־</a:t>
            </a:r>
            <a:r>
              <a:t>Windows </a:t>
            </a:r>
            <a:r>
              <a:rPr>
                <a:latin typeface="Arial"/>
                <a:ea typeface="Arial"/>
                <a:cs typeface="Arial"/>
                <a:sym typeface="Arial"/>
              </a:rPr>
              <a:t>מגרסה קודמת</a:t>
            </a:r>
            <a:r>
              <a:t>. </a:t>
            </a:r>
            <a:r>
              <a:rPr>
                <a:latin typeface="Arial"/>
                <a:ea typeface="Arial"/>
                <a:cs typeface="Arial"/>
                <a:sym typeface="Arial"/>
              </a:rPr>
              <a:t>ב־</a:t>
            </a:r>
            <a:r>
              <a:t>Mac </a:t>
            </a:r>
            <a:r>
              <a:rPr>
                <a:latin typeface="Arial"/>
                <a:ea typeface="Arial"/>
                <a:cs typeface="Arial"/>
                <a:sym typeface="Arial"/>
              </a:rPr>
              <a:t>התפריט נמצא בראש המסך</a:t>
            </a:r>
            <a:r>
              <a:t>.</a:t>
            </a:r>
          </a:p>
        </p:txBody>
      </p:sp>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FFF"/>
        </a:solidFill>
      </p:bgPr>
    </p:bg>
    <p:spTree>
      <p:nvGrpSpPr>
        <p:cNvPr id="1" name=""/>
        <p:cNvGrpSpPr/>
        <p:nvPr/>
      </p:nvGrpSpPr>
      <p:grpSpPr>
        <a:xfrm>
          <a:off x="0" y="0"/>
          <a:ext cx="0" cy="0"/>
          <a:chOff x="0" y="0"/>
          <a:chExt cx="0" cy="0"/>
        </a:xfrm>
      </p:grpSpPr>
      <p:sp>
        <p:nvSpPr>
          <p:cNvPr id="186" name="text"/>
          <p:cNvSpPr txBox="1"/>
          <p:nvPr/>
        </p:nvSpPr>
        <p:spPr>
          <a:xfrm>
            <a:off x="457200" y="323850"/>
            <a:ext cx="8229600" cy="39476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defRPr b="1" sz="2800">
                <a:solidFill>
                  <a:srgbClr val="D75BE2"/>
                </a:solidFill>
              </a:defRPr>
            </a:lvl1pPr>
          </a:lstStyle>
          <a:p>
            <a:pPr>
              <a:defRPr>
                <a:latin typeface="Inter"/>
                <a:ea typeface="Inter"/>
                <a:cs typeface="Inter"/>
                <a:sym typeface="Inter"/>
              </a:defRPr>
            </a:pPr>
            <a:r>
              <a:rPr>
                <a:latin typeface="Arial"/>
                <a:ea typeface="Arial"/>
                <a:cs typeface="Arial"/>
                <a:sym typeface="Arial"/>
              </a:rPr>
              <a:t>היכרות עם חלון הקבצים</a:t>
            </a:r>
          </a:p>
        </p:txBody>
      </p:sp>
      <p:sp>
        <p:nvSpPr>
          <p:cNvPr id="187" name="text"/>
          <p:cNvSpPr txBox="1"/>
          <p:nvPr/>
        </p:nvSpPr>
        <p:spPr>
          <a:xfrm>
            <a:off x="5905500" y="4876800"/>
            <a:ext cx="2781300" cy="127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800">
                <a:solidFill>
                  <a:srgbClr val="705B73"/>
                </a:solidFill>
                <a:latin typeface="Inter"/>
                <a:ea typeface="Inter"/>
                <a:cs typeface="Inter"/>
                <a:sym typeface="Inter"/>
              </a:defRPr>
            </a:pPr>
            <a:r>
              <a:rPr>
                <a:latin typeface="Arial"/>
                <a:ea typeface="Arial"/>
                <a:cs typeface="Arial"/>
                <a:sym typeface="Arial"/>
              </a:rPr>
              <a:t>שיעור</a:t>
            </a:r>
            <a:r>
              <a:t>: </a:t>
            </a:r>
            <a:r>
              <a:rPr>
                <a:latin typeface="Arial"/>
                <a:ea typeface="Arial"/>
                <a:cs typeface="Arial"/>
                <a:sym typeface="Arial"/>
              </a:rPr>
              <a:t>פיתוח עם סוכני־קוד</a:t>
            </a:r>
          </a:p>
        </p:txBody>
      </p:sp>
      <p:sp>
        <p:nvSpPr>
          <p:cNvPr id="188" name="code"/>
          <p:cNvSpPr txBox="1"/>
          <p:nvPr/>
        </p:nvSpPr>
        <p:spPr>
          <a:xfrm>
            <a:off x="457200" y="4876800"/>
            <a:ext cx="333375" cy="127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defRPr sz="800">
                <a:solidFill>
                  <a:srgbClr val="705B73"/>
                </a:solidFill>
                <a:latin typeface="Inter"/>
                <a:ea typeface="Inter"/>
                <a:cs typeface="Inter"/>
                <a:sym typeface="Inter"/>
              </a:defRPr>
            </a:lvl1pPr>
          </a:lstStyle>
          <a:p>
            <a:pPr/>
            <a:r>
              <a:t>15</a:t>
            </a:r>
          </a:p>
        </p:txBody>
      </p:sp>
      <p:pic>
        <p:nvPicPr>
          <p:cNvPr id="189" name="image5.png" descr="image5.png"/>
          <p:cNvPicPr>
            <a:picLocks noChangeAspect="1"/>
          </p:cNvPicPr>
          <p:nvPr/>
        </p:nvPicPr>
        <p:blipFill>
          <a:blip r:embed="rId3">
            <a:extLst/>
          </a:blip>
          <a:stretch>
            <a:fillRect/>
          </a:stretch>
        </p:blipFill>
        <p:spPr>
          <a:xfrm>
            <a:off x="987982" y="1333500"/>
            <a:ext cx="3939062" cy="2952750"/>
          </a:xfrm>
          <a:prstGeom prst="rect">
            <a:avLst/>
          </a:prstGeom>
          <a:ln w="12700">
            <a:miter lim="400000"/>
          </a:ln>
        </p:spPr>
      </p:pic>
      <p:sp>
        <p:nvSpPr>
          <p:cNvPr id="190" name="text"/>
          <p:cNvSpPr txBox="1"/>
          <p:nvPr/>
        </p:nvSpPr>
        <p:spPr>
          <a:xfrm>
            <a:off x="5953125" y="1285875"/>
            <a:ext cx="2733675" cy="2794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b="1">
                <a:solidFill>
                  <a:srgbClr val="272525"/>
                </a:solidFill>
                <a:latin typeface="Inter"/>
                <a:ea typeface="Inter"/>
                <a:cs typeface="Inter"/>
                <a:sym typeface="Inter"/>
              </a:defRPr>
            </a:pPr>
            <a:r>
              <a:rPr>
                <a:latin typeface="Arial"/>
                <a:ea typeface="Arial"/>
                <a:cs typeface="Arial"/>
                <a:sym typeface="Arial"/>
              </a:rPr>
              <a:t>חלון הקבצים</a:t>
            </a:r>
            <a:r>
              <a:t>: Explorer</a:t>
            </a:r>
          </a:p>
        </p:txBody>
      </p:sp>
      <p:sp>
        <p:nvSpPr>
          <p:cNvPr id="191" name="text"/>
          <p:cNvSpPr txBox="1"/>
          <p:nvPr/>
        </p:nvSpPr>
        <p:spPr>
          <a:xfrm>
            <a:off x="5953125" y="1619250"/>
            <a:ext cx="2733675" cy="4445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1500">
                <a:solidFill>
                  <a:srgbClr val="272525"/>
                </a:solidFill>
                <a:latin typeface="Inter"/>
                <a:ea typeface="Inter"/>
                <a:cs typeface="Inter"/>
                <a:sym typeface="Inter"/>
              </a:defRPr>
            </a:pPr>
            <a:r>
              <a:rPr>
                <a:latin typeface="Arial"/>
                <a:ea typeface="Arial"/>
                <a:cs typeface="Arial"/>
                <a:sym typeface="Arial"/>
              </a:rPr>
              <a:t>כאן רואים את תיקיית הפרויקט ואת הקבצים שבתוכה</a:t>
            </a:r>
            <a:r>
              <a:t>.</a:t>
            </a:r>
          </a:p>
        </p:txBody>
      </p:sp>
      <p:sp>
        <p:nvSpPr>
          <p:cNvPr id="192" name="text"/>
          <p:cNvSpPr txBox="1"/>
          <p:nvPr/>
        </p:nvSpPr>
        <p:spPr>
          <a:xfrm>
            <a:off x="5953125" y="2362200"/>
            <a:ext cx="2733675" cy="2794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b="1">
                <a:solidFill>
                  <a:srgbClr val="272525"/>
                </a:solidFill>
                <a:latin typeface="Inter"/>
                <a:ea typeface="Inter"/>
                <a:cs typeface="Inter"/>
                <a:sym typeface="Inter"/>
              </a:defRPr>
            </a:pPr>
            <a:r>
              <a:rPr>
                <a:latin typeface="Arial"/>
                <a:ea typeface="Arial"/>
                <a:cs typeface="Arial"/>
                <a:sym typeface="Arial"/>
              </a:rPr>
              <a:t>הקובץ </a:t>
            </a:r>
            <a:r>
              <a:t>README.md</a:t>
            </a:r>
          </a:p>
        </p:txBody>
      </p:sp>
      <p:sp>
        <p:nvSpPr>
          <p:cNvPr id="193" name="text"/>
          <p:cNvSpPr txBox="1"/>
          <p:nvPr/>
        </p:nvSpPr>
        <p:spPr>
          <a:xfrm>
            <a:off x="5953125" y="2695575"/>
            <a:ext cx="2733675" cy="4445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1500">
                <a:solidFill>
                  <a:srgbClr val="272525"/>
                </a:solidFill>
                <a:latin typeface="Inter"/>
                <a:ea typeface="Inter"/>
                <a:cs typeface="Inter"/>
                <a:sym typeface="Inter"/>
              </a:defRPr>
            </a:pPr>
            <a:r>
              <a:rPr>
                <a:latin typeface="Arial"/>
                <a:ea typeface="Arial"/>
                <a:cs typeface="Arial"/>
                <a:sym typeface="Arial"/>
              </a:rPr>
              <a:t>נכתוב מה הפרויקט עושה ואיך מפעילים אותו</a:t>
            </a:r>
            <a:r>
              <a:t>.</a:t>
            </a:r>
          </a:p>
        </p:txBody>
      </p:sp>
      <p:sp>
        <p:nvSpPr>
          <p:cNvPr id="194" name="text"/>
          <p:cNvSpPr txBox="1"/>
          <p:nvPr/>
        </p:nvSpPr>
        <p:spPr>
          <a:xfrm>
            <a:off x="5953125" y="3438525"/>
            <a:ext cx="2733675" cy="25922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defRPr b="1">
                <a:solidFill>
                  <a:srgbClr val="272525"/>
                </a:solidFill>
              </a:defRPr>
            </a:lvl1pPr>
          </a:lstStyle>
          <a:p>
            <a:pPr>
              <a:defRPr>
                <a:latin typeface="Inter"/>
                <a:ea typeface="Inter"/>
                <a:cs typeface="Inter"/>
                <a:sym typeface="Inter"/>
              </a:defRPr>
            </a:pPr>
            <a:r>
              <a:rPr>
                <a:latin typeface="Arial"/>
                <a:ea typeface="Arial"/>
                <a:cs typeface="Arial"/>
                <a:sym typeface="Arial"/>
              </a:rPr>
              <a:t>תיקייה שלמה</a:t>
            </a:r>
          </a:p>
        </p:txBody>
      </p:sp>
      <p:sp>
        <p:nvSpPr>
          <p:cNvPr id="195" name="text"/>
          <p:cNvSpPr txBox="1"/>
          <p:nvPr/>
        </p:nvSpPr>
        <p:spPr>
          <a:xfrm>
            <a:off x="5953125" y="3771900"/>
            <a:ext cx="2733675" cy="4445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1500">
                <a:solidFill>
                  <a:srgbClr val="272525"/>
                </a:solidFill>
                <a:latin typeface="Inter"/>
                <a:ea typeface="Inter"/>
                <a:cs typeface="Inter"/>
                <a:sym typeface="Inter"/>
              </a:defRPr>
            </a:pPr>
            <a:r>
              <a:rPr>
                <a:latin typeface="Arial"/>
                <a:ea typeface="Arial"/>
                <a:cs typeface="Arial"/>
                <a:sym typeface="Arial"/>
              </a:rPr>
              <a:t>קבצים נלווים מאפשרים לסוכן להבין את מבנה הפרויקט</a:t>
            </a:r>
            <a:r>
              <a:t>.</a:t>
            </a:r>
          </a:p>
        </p:txBody>
      </p:sp>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FFF"/>
        </a:solidFill>
      </p:bgPr>
    </p:bg>
    <p:spTree>
      <p:nvGrpSpPr>
        <p:cNvPr id="1" name=""/>
        <p:cNvGrpSpPr/>
        <p:nvPr/>
      </p:nvGrpSpPr>
      <p:grpSpPr>
        <a:xfrm>
          <a:off x="0" y="0"/>
          <a:ext cx="0" cy="0"/>
          <a:chOff x="0" y="0"/>
          <a:chExt cx="0" cy="0"/>
        </a:xfrm>
      </p:grpSpPr>
      <p:sp>
        <p:nvSpPr>
          <p:cNvPr id="199" name="text"/>
          <p:cNvSpPr txBox="1"/>
          <p:nvPr/>
        </p:nvSpPr>
        <p:spPr>
          <a:xfrm>
            <a:off x="457200" y="323850"/>
            <a:ext cx="8229600" cy="39476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defRPr b="1" sz="2800">
                <a:solidFill>
                  <a:srgbClr val="D75BE2"/>
                </a:solidFill>
              </a:defRPr>
            </a:lvl1pPr>
          </a:lstStyle>
          <a:p>
            <a:pPr>
              <a:defRPr>
                <a:latin typeface="Inter"/>
                <a:ea typeface="Inter"/>
                <a:cs typeface="Inter"/>
                <a:sym typeface="Inter"/>
              </a:defRPr>
            </a:pPr>
            <a:r>
              <a:rPr>
                <a:latin typeface="Arial"/>
                <a:ea typeface="Arial"/>
                <a:cs typeface="Arial"/>
                <a:sym typeface="Arial"/>
              </a:rPr>
              <a:t>התקנת תוסף הסוכן</a:t>
            </a:r>
          </a:p>
        </p:txBody>
      </p:sp>
      <p:sp>
        <p:nvSpPr>
          <p:cNvPr id="200" name="text"/>
          <p:cNvSpPr txBox="1"/>
          <p:nvPr/>
        </p:nvSpPr>
        <p:spPr>
          <a:xfrm>
            <a:off x="5905500" y="4876800"/>
            <a:ext cx="2781300" cy="127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800">
                <a:solidFill>
                  <a:srgbClr val="705B73"/>
                </a:solidFill>
                <a:latin typeface="Inter"/>
                <a:ea typeface="Inter"/>
                <a:cs typeface="Inter"/>
                <a:sym typeface="Inter"/>
              </a:defRPr>
            </a:pPr>
            <a:r>
              <a:rPr>
                <a:latin typeface="Arial"/>
                <a:ea typeface="Arial"/>
                <a:cs typeface="Arial"/>
                <a:sym typeface="Arial"/>
              </a:rPr>
              <a:t>שיעור</a:t>
            </a:r>
            <a:r>
              <a:t>: </a:t>
            </a:r>
            <a:r>
              <a:rPr>
                <a:latin typeface="Arial"/>
                <a:ea typeface="Arial"/>
                <a:cs typeface="Arial"/>
                <a:sym typeface="Arial"/>
              </a:rPr>
              <a:t>פיתוח עם סוכני־קוד</a:t>
            </a:r>
          </a:p>
        </p:txBody>
      </p:sp>
      <p:sp>
        <p:nvSpPr>
          <p:cNvPr id="201" name="code"/>
          <p:cNvSpPr txBox="1"/>
          <p:nvPr/>
        </p:nvSpPr>
        <p:spPr>
          <a:xfrm>
            <a:off x="457200" y="4876800"/>
            <a:ext cx="333375" cy="127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800">
                <a:solidFill>
                  <a:srgbClr val="705B73"/>
                </a:solidFill>
                <a:latin typeface="Inter"/>
                <a:ea typeface="Inter"/>
                <a:cs typeface="Inter"/>
                <a:sym typeface="Inter"/>
              </a:defRPr>
            </a:lvl1pPr>
          </a:lstStyle>
          <a:p>
            <a:pPr/>
            <a:r>
              <a:t>12</a:t>
            </a:r>
          </a:p>
        </p:txBody>
      </p:sp>
      <p:pic>
        <p:nvPicPr>
          <p:cNvPr id="202" name="image6.png" descr="image6.png"/>
          <p:cNvPicPr>
            <a:picLocks noChangeAspect="1"/>
          </p:cNvPicPr>
          <p:nvPr/>
        </p:nvPicPr>
        <p:blipFill>
          <a:blip r:embed="rId3">
            <a:extLst/>
          </a:blip>
          <a:stretch>
            <a:fillRect/>
          </a:stretch>
        </p:blipFill>
        <p:spPr>
          <a:xfrm>
            <a:off x="457200" y="1917600"/>
            <a:ext cx="4762500" cy="1727400"/>
          </a:xfrm>
          <a:prstGeom prst="rect">
            <a:avLst/>
          </a:prstGeom>
          <a:ln w="12700">
            <a:miter lim="400000"/>
          </a:ln>
        </p:spPr>
      </p:pic>
      <p:sp>
        <p:nvSpPr>
          <p:cNvPr id="203" name="text"/>
          <p:cNvSpPr txBox="1"/>
          <p:nvPr/>
        </p:nvSpPr>
        <p:spPr>
          <a:xfrm>
            <a:off x="5667375" y="1238250"/>
            <a:ext cx="3019425" cy="2794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b="1">
                <a:solidFill>
                  <a:srgbClr val="272525"/>
                </a:solidFill>
                <a:latin typeface="Inter"/>
                <a:ea typeface="Inter"/>
                <a:cs typeface="Inter"/>
                <a:sym typeface="Inter"/>
              </a:defRPr>
            </a:pPr>
            <a:r>
              <a:rPr>
                <a:latin typeface="Arial"/>
                <a:ea typeface="Arial"/>
                <a:cs typeface="Arial"/>
                <a:sym typeface="Arial"/>
              </a:rPr>
              <a:t>פותחים את </a:t>
            </a:r>
            <a:r>
              <a:t>Extensions</a:t>
            </a:r>
          </a:p>
        </p:txBody>
      </p:sp>
      <p:sp>
        <p:nvSpPr>
          <p:cNvPr id="204" name="text"/>
          <p:cNvSpPr txBox="1"/>
          <p:nvPr/>
        </p:nvSpPr>
        <p:spPr>
          <a:xfrm>
            <a:off x="5667375" y="1571625"/>
            <a:ext cx="3019425" cy="46343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1500">
                <a:solidFill>
                  <a:srgbClr val="272525"/>
                </a:solidFill>
                <a:latin typeface="Inter"/>
                <a:ea typeface="Inter"/>
                <a:cs typeface="Inter"/>
                <a:sym typeface="Inter"/>
              </a:defRPr>
            </a:pPr>
            <a:r>
              <a:rPr>
                <a:latin typeface="Arial"/>
                <a:ea typeface="Arial"/>
                <a:cs typeface="Arial"/>
                <a:sym typeface="Arial"/>
              </a:rPr>
              <a:t>ב־</a:t>
            </a:r>
            <a:r>
              <a:t>Windows: Ctrl+Shift+X</a:t>
            </a:r>
          </a:p>
          <a:p>
            <a:pPr algn="r" rtl="1">
              <a:defRPr sz="1500">
                <a:solidFill>
                  <a:srgbClr val="272525"/>
                </a:solidFill>
                <a:latin typeface="Inter"/>
                <a:ea typeface="Inter"/>
                <a:cs typeface="Inter"/>
                <a:sym typeface="Inter"/>
              </a:defRPr>
            </a:pPr>
            <a:r>
              <a:rPr>
                <a:latin typeface="Arial"/>
                <a:ea typeface="Arial"/>
                <a:cs typeface="Arial"/>
                <a:sym typeface="Arial"/>
              </a:rPr>
              <a:t>ב־</a:t>
            </a:r>
            <a:r>
              <a:t>Mac: Cmd+Shift+X</a:t>
            </a:r>
          </a:p>
        </p:txBody>
      </p:sp>
      <p:sp>
        <p:nvSpPr>
          <p:cNvPr id="205" name="text"/>
          <p:cNvSpPr txBox="1"/>
          <p:nvPr/>
        </p:nvSpPr>
        <p:spPr>
          <a:xfrm>
            <a:off x="5667375" y="2314575"/>
            <a:ext cx="3019425" cy="25922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defRPr b="1">
                <a:solidFill>
                  <a:srgbClr val="272525"/>
                </a:solidFill>
              </a:defRPr>
            </a:lvl1pPr>
          </a:lstStyle>
          <a:p>
            <a:pPr>
              <a:defRPr>
                <a:latin typeface="Inter"/>
                <a:ea typeface="Inter"/>
                <a:cs typeface="Inter"/>
                <a:sym typeface="Inter"/>
              </a:defRPr>
            </a:pPr>
            <a:r>
              <a:rPr>
                <a:latin typeface="Arial"/>
                <a:ea typeface="Arial"/>
                <a:cs typeface="Arial"/>
                <a:sym typeface="Arial"/>
              </a:rPr>
              <a:t>בוחרים תוסף רשמי</a:t>
            </a:r>
          </a:p>
        </p:txBody>
      </p:sp>
      <p:sp>
        <p:nvSpPr>
          <p:cNvPr id="206" name="text"/>
          <p:cNvSpPr txBox="1"/>
          <p:nvPr/>
        </p:nvSpPr>
        <p:spPr>
          <a:xfrm>
            <a:off x="5667375" y="2647950"/>
            <a:ext cx="3019425" cy="46343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1500">
                <a:solidFill>
                  <a:srgbClr val="272525"/>
                </a:solidFill>
                <a:latin typeface="Inter"/>
                <a:ea typeface="Inter"/>
                <a:cs typeface="Inter"/>
                <a:sym typeface="Inter"/>
              </a:defRPr>
            </a:pPr>
            <a:r>
              <a:rPr>
                <a:latin typeface="Arial"/>
                <a:ea typeface="Arial"/>
                <a:cs typeface="Arial"/>
                <a:sym typeface="Arial"/>
              </a:rPr>
              <a:t>הכלי </a:t>
            </a:r>
            <a:r>
              <a:t>Claude Code </a:t>
            </a:r>
            <a:r>
              <a:rPr>
                <a:latin typeface="Arial"/>
                <a:ea typeface="Arial"/>
                <a:cs typeface="Arial"/>
                <a:sym typeface="Arial"/>
              </a:rPr>
              <a:t>מאת </a:t>
            </a:r>
            <a:r>
              <a:t>Anthropic</a:t>
            </a:r>
          </a:p>
          <a:p>
            <a:pPr algn="r" rtl="1">
              <a:defRPr sz="1500">
                <a:solidFill>
                  <a:srgbClr val="272525"/>
                </a:solidFill>
                <a:latin typeface="Inter"/>
                <a:ea typeface="Inter"/>
                <a:cs typeface="Inter"/>
                <a:sym typeface="Inter"/>
              </a:defRPr>
            </a:pPr>
            <a:r>
              <a:rPr>
                <a:latin typeface="Arial"/>
                <a:ea typeface="Arial"/>
                <a:cs typeface="Arial"/>
                <a:sym typeface="Arial"/>
              </a:rPr>
              <a:t>הכלי </a:t>
            </a:r>
            <a:r>
              <a:t>Codex </a:t>
            </a:r>
            <a:r>
              <a:rPr>
                <a:latin typeface="Arial"/>
                <a:ea typeface="Arial"/>
                <a:cs typeface="Arial"/>
                <a:sym typeface="Arial"/>
              </a:rPr>
              <a:t>מאת </a:t>
            </a:r>
            <a:r>
              <a:t>OpenAI</a:t>
            </a:r>
          </a:p>
        </p:txBody>
      </p:sp>
      <p:sp>
        <p:nvSpPr>
          <p:cNvPr id="207" name="text"/>
          <p:cNvSpPr txBox="1"/>
          <p:nvPr/>
        </p:nvSpPr>
        <p:spPr>
          <a:xfrm>
            <a:off x="5667375" y="3390900"/>
            <a:ext cx="3019425" cy="25922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defRPr b="1">
                <a:solidFill>
                  <a:srgbClr val="272525"/>
                </a:solidFill>
              </a:defRPr>
            </a:lvl1pPr>
          </a:lstStyle>
          <a:p>
            <a:pPr>
              <a:defRPr>
                <a:latin typeface="Inter"/>
                <a:ea typeface="Inter"/>
                <a:cs typeface="Inter"/>
                <a:sym typeface="Inter"/>
              </a:defRPr>
            </a:pPr>
            <a:r>
              <a:rPr>
                <a:latin typeface="Arial"/>
                <a:ea typeface="Arial"/>
                <a:cs typeface="Arial"/>
                <a:sym typeface="Arial"/>
              </a:rPr>
              <a:t>מתחברים לחשבון</a:t>
            </a:r>
          </a:p>
        </p:txBody>
      </p:sp>
      <p:sp>
        <p:nvSpPr>
          <p:cNvPr id="208" name="text"/>
          <p:cNvSpPr txBox="1"/>
          <p:nvPr/>
        </p:nvSpPr>
        <p:spPr>
          <a:xfrm>
            <a:off x="5667375" y="3724275"/>
            <a:ext cx="3019425" cy="46343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1500">
                <a:solidFill>
                  <a:srgbClr val="272525"/>
                </a:solidFill>
                <a:latin typeface="Inter"/>
                <a:ea typeface="Inter"/>
                <a:cs typeface="Inter"/>
                <a:sym typeface="Inter"/>
              </a:defRPr>
            </a:pPr>
            <a:r>
              <a:rPr>
                <a:latin typeface="Arial"/>
                <a:ea typeface="Arial"/>
                <a:cs typeface="Arial"/>
                <a:sym typeface="Arial"/>
              </a:rPr>
              <a:t>לוחצים </a:t>
            </a:r>
            <a:r>
              <a:t>Install, </a:t>
            </a:r>
            <a:r>
              <a:rPr>
                <a:latin typeface="Arial"/>
                <a:ea typeface="Arial"/>
                <a:cs typeface="Arial"/>
                <a:sym typeface="Arial"/>
              </a:rPr>
              <a:t>פותחים את הסוכן ומשלימים </a:t>
            </a:r>
            <a:r>
              <a:t>Sign in.</a:t>
            </a:r>
          </a:p>
        </p:txBody>
      </p:sp>
      <p:pic>
        <p:nvPicPr>
          <p:cNvPr id="209" name="pasted-movie.png" descr="pasted-movie.png"/>
          <p:cNvPicPr>
            <a:picLocks noChangeAspect="1"/>
          </p:cNvPicPr>
          <p:nvPr/>
        </p:nvPicPr>
        <p:blipFill>
          <a:blip r:embed="rId4">
            <a:extLst/>
          </a:blip>
          <a:stretch>
            <a:fillRect/>
          </a:stretch>
        </p:blipFill>
        <p:spPr>
          <a:xfrm>
            <a:off x="446421" y="3796605"/>
            <a:ext cx="6576399" cy="696442"/>
          </a:xfrm>
          <a:prstGeom prst="rect">
            <a:avLst/>
          </a:prstGeom>
          <a:ln w="12700">
            <a:miter lim="400000"/>
          </a:ln>
        </p:spPr>
      </p:pic>
      <p:pic>
        <p:nvPicPr>
          <p:cNvPr id="210" name="pasted-movie.png" descr="pasted-movie.png"/>
          <p:cNvPicPr>
            <a:picLocks noChangeAspect="1"/>
          </p:cNvPicPr>
          <p:nvPr/>
        </p:nvPicPr>
        <p:blipFill>
          <a:blip r:embed="rId5">
            <a:extLst/>
          </a:blip>
          <a:stretch>
            <a:fillRect/>
          </a:stretch>
        </p:blipFill>
        <p:spPr>
          <a:xfrm>
            <a:off x="439215" y="4497280"/>
            <a:ext cx="5160755" cy="655831"/>
          </a:xfrm>
          <a:prstGeom prst="rect">
            <a:avLst/>
          </a:prstGeom>
          <a:ln w="12700">
            <a:miter lim="400000"/>
          </a:ln>
        </p:spPr>
      </p:pic>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FFF"/>
        </a:solidFill>
      </p:bgPr>
    </p:bg>
    <p:spTree>
      <p:nvGrpSpPr>
        <p:cNvPr id="1" name=""/>
        <p:cNvGrpSpPr/>
        <p:nvPr/>
      </p:nvGrpSpPr>
      <p:grpSpPr>
        <a:xfrm>
          <a:off x="0" y="0"/>
          <a:ext cx="0" cy="0"/>
          <a:chOff x="0" y="0"/>
          <a:chExt cx="0" cy="0"/>
        </a:xfrm>
      </p:grpSpPr>
      <p:sp>
        <p:nvSpPr>
          <p:cNvPr id="214" name="text"/>
          <p:cNvSpPr txBox="1"/>
          <p:nvPr/>
        </p:nvSpPr>
        <p:spPr>
          <a:xfrm>
            <a:off x="457200" y="323850"/>
            <a:ext cx="8229600" cy="39476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defRPr b="1" sz="2800">
                <a:solidFill>
                  <a:srgbClr val="D75BE2"/>
                </a:solidFill>
              </a:defRPr>
            </a:lvl1pPr>
          </a:lstStyle>
          <a:p>
            <a:pPr/>
            <a:r>
              <a:t>תוספים מומלצים:</a:t>
            </a:r>
          </a:p>
        </p:txBody>
      </p:sp>
      <p:sp>
        <p:nvSpPr>
          <p:cNvPr id="215" name="text"/>
          <p:cNvSpPr txBox="1"/>
          <p:nvPr/>
        </p:nvSpPr>
        <p:spPr>
          <a:xfrm>
            <a:off x="5905500" y="4876800"/>
            <a:ext cx="2781300" cy="127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800">
                <a:solidFill>
                  <a:srgbClr val="705B73"/>
                </a:solidFill>
                <a:latin typeface="Inter"/>
                <a:ea typeface="Inter"/>
                <a:cs typeface="Inter"/>
                <a:sym typeface="Inter"/>
              </a:defRPr>
            </a:pPr>
            <a:r>
              <a:rPr>
                <a:latin typeface="Arial"/>
                <a:ea typeface="Arial"/>
                <a:cs typeface="Arial"/>
                <a:sym typeface="Arial"/>
              </a:rPr>
              <a:t>שיעור</a:t>
            </a:r>
            <a:r>
              <a:t>: </a:t>
            </a:r>
            <a:r>
              <a:rPr>
                <a:latin typeface="Arial"/>
                <a:ea typeface="Arial"/>
                <a:cs typeface="Arial"/>
                <a:sym typeface="Arial"/>
              </a:rPr>
              <a:t>פיתוח עם סוכני־קוד</a:t>
            </a:r>
          </a:p>
        </p:txBody>
      </p:sp>
      <p:sp>
        <p:nvSpPr>
          <p:cNvPr id="216" name="code"/>
          <p:cNvSpPr txBox="1"/>
          <p:nvPr/>
        </p:nvSpPr>
        <p:spPr>
          <a:xfrm>
            <a:off x="457200" y="4876800"/>
            <a:ext cx="333375" cy="127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defRPr sz="800">
                <a:solidFill>
                  <a:srgbClr val="705B73"/>
                </a:solidFill>
                <a:latin typeface="Inter"/>
                <a:ea typeface="Inter"/>
                <a:cs typeface="Inter"/>
                <a:sym typeface="Inter"/>
              </a:defRPr>
            </a:lvl1pPr>
          </a:lstStyle>
          <a:p>
            <a:pPr/>
            <a:r>
              <a:t>17</a:t>
            </a:r>
          </a:p>
        </p:txBody>
      </p:sp>
      <p:sp>
        <p:nvSpPr>
          <p:cNvPr id="217" name="text"/>
          <p:cNvSpPr txBox="1"/>
          <p:nvPr/>
        </p:nvSpPr>
        <p:spPr>
          <a:xfrm>
            <a:off x="5667375" y="3390900"/>
            <a:ext cx="3019425" cy="25922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defRPr b="1">
                <a:solidFill>
                  <a:srgbClr val="272525"/>
                </a:solidFill>
              </a:defRPr>
            </a:lvl1pPr>
          </a:lstStyle>
          <a:p>
            <a:pPr>
              <a:defRPr>
                <a:latin typeface="Inter"/>
                <a:ea typeface="Inter"/>
                <a:cs typeface="Inter"/>
                <a:sym typeface="Inter"/>
              </a:defRPr>
            </a:pPr>
            <a:r>
              <a:rPr>
                <a:latin typeface="Arial"/>
                <a:ea typeface="Arial"/>
                <a:cs typeface="Arial"/>
                <a:sym typeface="Arial"/>
              </a:rPr>
              <a:t>מתחברים לחשבון</a:t>
            </a:r>
          </a:p>
        </p:txBody>
      </p:sp>
      <p:sp>
        <p:nvSpPr>
          <p:cNvPr id="218" name="text"/>
          <p:cNvSpPr txBox="1"/>
          <p:nvPr/>
        </p:nvSpPr>
        <p:spPr>
          <a:xfrm>
            <a:off x="5667375" y="3724275"/>
            <a:ext cx="3019425" cy="46343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1500">
                <a:solidFill>
                  <a:srgbClr val="272525"/>
                </a:solidFill>
                <a:latin typeface="Inter"/>
                <a:ea typeface="Inter"/>
                <a:cs typeface="Inter"/>
                <a:sym typeface="Inter"/>
              </a:defRPr>
            </a:pPr>
            <a:r>
              <a:rPr>
                <a:latin typeface="Arial"/>
                <a:ea typeface="Arial"/>
                <a:cs typeface="Arial"/>
                <a:sym typeface="Arial"/>
              </a:rPr>
              <a:t>לוחצים </a:t>
            </a:r>
            <a:r>
              <a:t>Install, </a:t>
            </a:r>
            <a:r>
              <a:rPr>
                <a:latin typeface="Arial"/>
                <a:ea typeface="Arial"/>
                <a:cs typeface="Arial"/>
                <a:sym typeface="Arial"/>
              </a:rPr>
              <a:t>פותחים את הסוכן ומשלימים </a:t>
            </a:r>
            <a:r>
              <a:t>Sign in.</a:t>
            </a:r>
          </a:p>
        </p:txBody>
      </p:sp>
      <p:pic>
        <p:nvPicPr>
          <p:cNvPr id="219" name="pasted-movie.png" descr="pasted-movie.png"/>
          <p:cNvPicPr>
            <a:picLocks noChangeAspect="1"/>
          </p:cNvPicPr>
          <p:nvPr/>
        </p:nvPicPr>
        <p:blipFill>
          <a:blip r:embed="rId3">
            <a:extLst/>
          </a:blip>
          <a:srcRect l="1747" t="0" r="0" b="0"/>
          <a:stretch>
            <a:fillRect/>
          </a:stretch>
        </p:blipFill>
        <p:spPr>
          <a:xfrm>
            <a:off x="406278" y="1902110"/>
            <a:ext cx="6461444" cy="696442"/>
          </a:xfrm>
          <a:prstGeom prst="rect">
            <a:avLst/>
          </a:prstGeom>
          <a:ln w="12700">
            <a:miter lim="400000"/>
          </a:ln>
        </p:spPr>
      </p:pic>
      <p:pic>
        <p:nvPicPr>
          <p:cNvPr id="220" name="pasted-movie.png" descr="pasted-movie.png"/>
          <p:cNvPicPr>
            <a:picLocks noChangeAspect="1"/>
          </p:cNvPicPr>
          <p:nvPr/>
        </p:nvPicPr>
        <p:blipFill>
          <a:blip r:embed="rId4">
            <a:extLst/>
          </a:blip>
          <a:stretch>
            <a:fillRect/>
          </a:stretch>
        </p:blipFill>
        <p:spPr>
          <a:xfrm>
            <a:off x="405498" y="2672779"/>
            <a:ext cx="5160755" cy="655831"/>
          </a:xfrm>
          <a:prstGeom prst="rect">
            <a:avLst/>
          </a:prstGeom>
          <a:ln w="12700">
            <a:miter lim="400000"/>
          </a:ln>
        </p:spPr>
      </p:pic>
      <p:pic>
        <p:nvPicPr>
          <p:cNvPr id="221" name="pasted-movie.png" descr="pasted-movie.png"/>
          <p:cNvPicPr>
            <a:picLocks noChangeAspect="1"/>
          </p:cNvPicPr>
          <p:nvPr/>
        </p:nvPicPr>
        <p:blipFill>
          <a:blip r:embed="rId5">
            <a:extLst/>
          </a:blip>
          <a:stretch>
            <a:fillRect/>
          </a:stretch>
        </p:blipFill>
        <p:spPr>
          <a:xfrm>
            <a:off x="374649" y="780907"/>
            <a:ext cx="8394701" cy="1041401"/>
          </a:xfrm>
          <a:prstGeom prst="rect">
            <a:avLst/>
          </a:prstGeom>
          <a:ln w="12700">
            <a:miter lim="400000"/>
          </a:ln>
        </p:spPr>
      </p:pic>
      <p:pic>
        <p:nvPicPr>
          <p:cNvPr id="222" name="pasted-movie.png" descr="pasted-movie.png"/>
          <p:cNvPicPr>
            <a:picLocks noChangeAspect="1"/>
          </p:cNvPicPr>
          <p:nvPr/>
        </p:nvPicPr>
        <p:blipFill>
          <a:blip r:embed="rId6">
            <a:extLst/>
          </a:blip>
          <a:stretch>
            <a:fillRect/>
          </a:stretch>
        </p:blipFill>
        <p:spPr>
          <a:xfrm>
            <a:off x="400050" y="3402762"/>
            <a:ext cx="8343901" cy="939801"/>
          </a:xfrm>
          <a:prstGeom prst="rect">
            <a:avLst/>
          </a:prstGeom>
          <a:ln w="12700">
            <a:miter lim="400000"/>
          </a:ln>
        </p:spPr>
      </p:pic>
    </p:spTree>
  </p:cSld>
  <p:clrMapOvr>
    <a:masterClrMapping/>
  </p:clrMapOvr>
  <p:transition xmlns:p14="http://schemas.microsoft.com/office/powerpoint/2010/main" spd="med" advClick="1"/>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FFF"/>
        </a:solidFill>
      </p:bgPr>
    </p:bg>
    <p:spTree>
      <p:nvGrpSpPr>
        <p:cNvPr id="1" name=""/>
        <p:cNvGrpSpPr/>
        <p:nvPr/>
      </p:nvGrpSpPr>
      <p:grpSpPr>
        <a:xfrm>
          <a:off x="0" y="0"/>
          <a:ext cx="0" cy="0"/>
          <a:chOff x="0" y="0"/>
          <a:chExt cx="0" cy="0"/>
        </a:xfrm>
      </p:grpSpPr>
      <p:sp>
        <p:nvSpPr>
          <p:cNvPr id="226" name="text"/>
          <p:cNvSpPr txBox="1"/>
          <p:nvPr/>
        </p:nvSpPr>
        <p:spPr>
          <a:xfrm>
            <a:off x="457200" y="323850"/>
            <a:ext cx="8229600" cy="431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b="1" sz="2800">
                <a:solidFill>
                  <a:srgbClr val="D75BE2"/>
                </a:solidFill>
                <a:latin typeface="Inter"/>
                <a:ea typeface="Inter"/>
                <a:cs typeface="Inter"/>
                <a:sym typeface="Inter"/>
              </a:defRPr>
            </a:pPr>
            <a:r>
              <a:rPr>
                <a:latin typeface="Arial"/>
                <a:ea typeface="Arial"/>
                <a:cs typeface="Arial"/>
                <a:sym typeface="Arial"/>
              </a:rPr>
              <a:t>צפייה חיה ב־</a:t>
            </a:r>
            <a:r>
              <a:t>HTML </a:t>
            </a:r>
            <a:r>
              <a:rPr>
                <a:latin typeface="Arial"/>
                <a:ea typeface="Arial"/>
                <a:cs typeface="Arial"/>
                <a:sym typeface="Arial"/>
              </a:rPr>
              <a:t>עם </a:t>
            </a:r>
            <a:r>
              <a:t>Live Server</a:t>
            </a:r>
          </a:p>
        </p:txBody>
      </p:sp>
      <p:sp>
        <p:nvSpPr>
          <p:cNvPr id="227" name="text"/>
          <p:cNvSpPr txBox="1"/>
          <p:nvPr/>
        </p:nvSpPr>
        <p:spPr>
          <a:xfrm>
            <a:off x="5905500" y="4876800"/>
            <a:ext cx="2781300" cy="127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800">
                <a:solidFill>
                  <a:srgbClr val="705B73"/>
                </a:solidFill>
                <a:latin typeface="Inter"/>
                <a:ea typeface="Inter"/>
                <a:cs typeface="Inter"/>
                <a:sym typeface="Inter"/>
              </a:defRPr>
            </a:pPr>
            <a:r>
              <a:rPr>
                <a:latin typeface="Arial"/>
                <a:ea typeface="Arial"/>
                <a:cs typeface="Arial"/>
                <a:sym typeface="Arial"/>
              </a:rPr>
              <a:t>שיעור</a:t>
            </a:r>
            <a:r>
              <a:t>: </a:t>
            </a:r>
            <a:r>
              <a:rPr>
                <a:latin typeface="Arial"/>
                <a:ea typeface="Arial"/>
                <a:cs typeface="Arial"/>
                <a:sym typeface="Arial"/>
              </a:rPr>
              <a:t>פיתוח עם סוכני־קוד</a:t>
            </a:r>
          </a:p>
        </p:txBody>
      </p:sp>
      <p:sp>
        <p:nvSpPr>
          <p:cNvPr id="228" name="code"/>
          <p:cNvSpPr txBox="1"/>
          <p:nvPr/>
        </p:nvSpPr>
        <p:spPr>
          <a:xfrm>
            <a:off x="457200" y="4876800"/>
            <a:ext cx="333375" cy="127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defRPr sz="800">
                <a:solidFill>
                  <a:srgbClr val="705B73"/>
                </a:solidFill>
                <a:latin typeface="Inter"/>
                <a:ea typeface="Inter"/>
                <a:cs typeface="Inter"/>
                <a:sym typeface="Inter"/>
              </a:defRPr>
            </a:lvl1pPr>
          </a:lstStyle>
          <a:p>
            <a:pPr/>
            <a:r>
              <a:t>18</a:t>
            </a:r>
          </a:p>
        </p:txBody>
      </p:sp>
      <p:sp>
        <p:nvSpPr>
          <p:cNvPr id="229" name="text"/>
          <p:cNvSpPr txBox="1"/>
          <p:nvPr/>
        </p:nvSpPr>
        <p:spPr>
          <a:xfrm>
            <a:off x="457200" y="1200150"/>
            <a:ext cx="8229600" cy="25922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defRPr b="1">
                <a:solidFill>
                  <a:srgbClr val="272525"/>
                </a:solidFill>
              </a:defRPr>
            </a:lvl1pPr>
          </a:lstStyle>
          <a:p>
            <a:pPr>
              <a:defRPr>
                <a:latin typeface="Inter"/>
                <a:ea typeface="Inter"/>
                <a:cs typeface="Inter"/>
                <a:sym typeface="Inter"/>
              </a:defRPr>
            </a:pPr>
            <a:r>
              <a:rPr>
                <a:latin typeface="Arial"/>
                <a:ea typeface="Arial"/>
                <a:cs typeface="Arial"/>
                <a:sym typeface="Arial"/>
              </a:rPr>
              <a:t>התקנת התוסף</a:t>
            </a:r>
          </a:p>
        </p:txBody>
      </p:sp>
      <p:sp>
        <p:nvSpPr>
          <p:cNvPr id="230" name="text"/>
          <p:cNvSpPr txBox="1"/>
          <p:nvPr/>
        </p:nvSpPr>
        <p:spPr>
          <a:xfrm>
            <a:off x="457200" y="1533525"/>
            <a:ext cx="8229600" cy="241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1600">
                <a:solidFill>
                  <a:srgbClr val="272525"/>
                </a:solidFill>
                <a:latin typeface="Inter"/>
                <a:ea typeface="Inter"/>
                <a:cs typeface="Inter"/>
                <a:sym typeface="Inter"/>
              </a:defRPr>
            </a:pPr>
            <a:r>
              <a:rPr>
                <a:latin typeface="Arial"/>
                <a:ea typeface="Arial"/>
                <a:cs typeface="Arial"/>
                <a:sym typeface="Arial"/>
              </a:rPr>
              <a:t>בחלון </a:t>
            </a:r>
            <a:r>
              <a:t>Extensions </a:t>
            </a:r>
            <a:r>
              <a:rPr>
                <a:latin typeface="Arial"/>
                <a:ea typeface="Arial"/>
                <a:cs typeface="Arial"/>
                <a:sym typeface="Arial"/>
              </a:rPr>
              <a:t>מחפשים </a:t>
            </a:r>
            <a:r>
              <a:t>Live Server </a:t>
            </a:r>
            <a:r>
              <a:rPr>
                <a:latin typeface="Arial"/>
                <a:ea typeface="Arial"/>
                <a:cs typeface="Arial"/>
                <a:sym typeface="Arial"/>
              </a:rPr>
              <a:t>מאת </a:t>
            </a:r>
            <a:r>
              <a:t>Ritwick Dey </a:t>
            </a:r>
            <a:r>
              <a:rPr>
                <a:latin typeface="Arial"/>
                <a:ea typeface="Arial"/>
                <a:cs typeface="Arial"/>
                <a:sym typeface="Arial"/>
              </a:rPr>
              <a:t>ולוחצים </a:t>
            </a:r>
            <a:r>
              <a:t>Install.</a:t>
            </a:r>
          </a:p>
        </p:txBody>
      </p:sp>
      <p:sp>
        <p:nvSpPr>
          <p:cNvPr id="231" name="text"/>
          <p:cNvSpPr txBox="1"/>
          <p:nvPr/>
        </p:nvSpPr>
        <p:spPr>
          <a:xfrm>
            <a:off x="457200" y="2181225"/>
            <a:ext cx="8229600" cy="25922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defRPr b="1">
                <a:solidFill>
                  <a:srgbClr val="272525"/>
                </a:solidFill>
              </a:defRPr>
            </a:lvl1pPr>
          </a:lstStyle>
          <a:p>
            <a:pPr>
              <a:defRPr>
                <a:latin typeface="Inter"/>
                <a:ea typeface="Inter"/>
                <a:cs typeface="Inter"/>
                <a:sym typeface="Inter"/>
              </a:defRPr>
            </a:pPr>
            <a:r>
              <a:rPr>
                <a:latin typeface="Arial"/>
                <a:ea typeface="Arial"/>
                <a:cs typeface="Arial"/>
                <a:sym typeface="Arial"/>
              </a:rPr>
              <a:t>צפייה בדף</a:t>
            </a:r>
          </a:p>
        </p:txBody>
      </p:sp>
      <p:sp>
        <p:nvSpPr>
          <p:cNvPr id="232" name="text"/>
          <p:cNvSpPr txBox="1"/>
          <p:nvPr/>
        </p:nvSpPr>
        <p:spPr>
          <a:xfrm>
            <a:off x="457200" y="2514600"/>
            <a:ext cx="8229600" cy="241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1600">
                <a:solidFill>
                  <a:srgbClr val="272525"/>
                </a:solidFill>
                <a:latin typeface="Inter"/>
                <a:ea typeface="Inter"/>
                <a:cs typeface="Inter"/>
                <a:sym typeface="Inter"/>
              </a:defRPr>
            </a:pPr>
            <a:r>
              <a:rPr>
                <a:latin typeface="Arial"/>
                <a:ea typeface="Arial"/>
                <a:cs typeface="Arial"/>
                <a:sym typeface="Arial"/>
              </a:rPr>
              <a:t>פותחים </a:t>
            </a:r>
            <a:r>
              <a:t>index.html </a:t>
            </a:r>
            <a:r>
              <a:rPr>
                <a:latin typeface="Arial"/>
                <a:ea typeface="Arial"/>
                <a:cs typeface="Arial"/>
                <a:sym typeface="Arial"/>
              </a:rPr>
              <a:t>בתיקיית הפרויקט ובוחרים </a:t>
            </a:r>
            <a:r>
              <a:t>Open with Live Server.</a:t>
            </a:r>
          </a:p>
        </p:txBody>
      </p:sp>
      <p:sp>
        <p:nvSpPr>
          <p:cNvPr id="233" name="text"/>
          <p:cNvSpPr txBox="1"/>
          <p:nvPr/>
        </p:nvSpPr>
        <p:spPr>
          <a:xfrm>
            <a:off x="457200" y="3162300"/>
            <a:ext cx="8229600" cy="25922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defRPr b="1">
                <a:solidFill>
                  <a:srgbClr val="272525"/>
                </a:solidFill>
              </a:defRPr>
            </a:lvl1pPr>
          </a:lstStyle>
          <a:p>
            <a:pPr>
              <a:defRPr>
                <a:latin typeface="Inter"/>
                <a:ea typeface="Inter"/>
                <a:cs typeface="Inter"/>
                <a:sym typeface="Inter"/>
              </a:defRPr>
            </a:pPr>
            <a:r>
              <a:rPr>
                <a:latin typeface="Arial"/>
                <a:ea typeface="Arial"/>
                <a:cs typeface="Arial"/>
                <a:sym typeface="Arial"/>
              </a:rPr>
              <a:t>בדיקה קצרה</a:t>
            </a:r>
          </a:p>
        </p:txBody>
      </p:sp>
      <p:sp>
        <p:nvSpPr>
          <p:cNvPr id="234" name="text"/>
          <p:cNvSpPr txBox="1"/>
          <p:nvPr/>
        </p:nvSpPr>
        <p:spPr>
          <a:xfrm>
            <a:off x="457200" y="3495675"/>
            <a:ext cx="8229600" cy="241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1600">
                <a:solidFill>
                  <a:srgbClr val="272525"/>
                </a:solidFill>
                <a:latin typeface="Inter"/>
                <a:ea typeface="Inter"/>
                <a:cs typeface="Inter"/>
                <a:sym typeface="Inter"/>
              </a:defRPr>
            </a:pPr>
            <a:r>
              <a:rPr>
                <a:latin typeface="Arial"/>
                <a:ea typeface="Arial"/>
                <a:cs typeface="Arial"/>
                <a:sym typeface="Arial"/>
              </a:rPr>
              <a:t>משנים כותרת ושומרים</a:t>
            </a:r>
            <a:r>
              <a:t>. </a:t>
            </a:r>
            <a:r>
              <a:rPr>
                <a:latin typeface="Arial"/>
                <a:ea typeface="Arial"/>
                <a:cs typeface="Arial"/>
                <a:sym typeface="Arial"/>
              </a:rPr>
              <a:t>רואים את העדכון בדפדפן דרך השרת המקומי</a:t>
            </a:r>
            <a:r>
              <a:t>.</a:t>
            </a:r>
          </a:p>
        </p:txBody>
      </p:sp>
      <p:sp>
        <p:nvSpPr>
          <p:cNvPr id="235" name="Rectangle"/>
          <p:cNvSpPr/>
          <p:nvPr/>
        </p:nvSpPr>
        <p:spPr>
          <a:xfrm>
            <a:off x="457200" y="4248150"/>
            <a:ext cx="8229600" cy="466725"/>
          </a:xfrm>
          <a:prstGeom prst="rect">
            <a:avLst/>
          </a:prstGeom>
          <a:solidFill>
            <a:srgbClr val="F4D4F7"/>
          </a:solidFill>
          <a:ln w="12700">
            <a:miter lim="400000"/>
          </a:ln>
        </p:spPr>
        <p:txBody>
          <a:bodyPr lIns="0" tIns="0" rIns="0" bIns="0"/>
          <a:lstStyle/>
          <a:p>
            <a:pPr/>
          </a:p>
        </p:txBody>
      </p:sp>
      <p:sp>
        <p:nvSpPr>
          <p:cNvPr id="236" name="text"/>
          <p:cNvSpPr txBox="1"/>
          <p:nvPr/>
        </p:nvSpPr>
        <p:spPr>
          <a:xfrm>
            <a:off x="619125" y="4343400"/>
            <a:ext cx="7905750" cy="2286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b="1" sz="1500">
                <a:solidFill>
                  <a:srgbClr val="272525"/>
                </a:solidFill>
                <a:latin typeface="Inter"/>
                <a:ea typeface="Inter"/>
                <a:cs typeface="Inter"/>
                <a:sym typeface="Inter"/>
              </a:defRPr>
            </a:pPr>
            <a:r>
              <a:rPr>
                <a:latin typeface="Arial"/>
                <a:ea typeface="Arial"/>
                <a:cs typeface="Arial"/>
                <a:sym typeface="Arial"/>
              </a:rPr>
              <a:t>לתצוגת </a:t>
            </a:r>
            <a:r>
              <a:t>HTML </a:t>
            </a:r>
            <a:r>
              <a:rPr>
                <a:latin typeface="Arial"/>
                <a:ea typeface="Arial"/>
                <a:cs typeface="Arial"/>
                <a:sym typeface="Arial"/>
              </a:rPr>
              <a:t>משתמשים ב־</a:t>
            </a:r>
            <a:r>
              <a:t>Live Server. </a:t>
            </a:r>
            <a:r>
              <a:rPr>
                <a:latin typeface="Arial"/>
                <a:ea typeface="Arial"/>
                <a:cs typeface="Arial"/>
                <a:sym typeface="Arial"/>
              </a:rPr>
              <a:t>לפרויקט </a:t>
            </a:r>
            <a:r>
              <a:t>Next.js </a:t>
            </a:r>
            <a:r>
              <a:rPr>
                <a:latin typeface="Arial"/>
                <a:ea typeface="Arial"/>
                <a:cs typeface="Arial"/>
                <a:sym typeface="Arial"/>
              </a:rPr>
              <a:t>מפעילים </a:t>
            </a:r>
            <a:r>
              <a:t>npm run dev.</a:t>
            </a:r>
          </a:p>
        </p:txBody>
      </p:sp>
    </p:spTree>
  </p:cSld>
  <p:clrMapOvr>
    <a:masterClrMapping/>
  </p:clrMapOvr>
  <p:transition xmlns:p14="http://schemas.microsoft.com/office/powerpoint/2010/main" spd="med" advClick="1"/>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FFF"/>
        </a:solidFill>
      </p:bgPr>
    </p:bg>
    <p:spTree>
      <p:nvGrpSpPr>
        <p:cNvPr id="1" name=""/>
        <p:cNvGrpSpPr/>
        <p:nvPr/>
      </p:nvGrpSpPr>
      <p:grpSpPr>
        <a:xfrm>
          <a:off x="0" y="0"/>
          <a:ext cx="0" cy="0"/>
          <a:chOff x="0" y="0"/>
          <a:chExt cx="0" cy="0"/>
        </a:xfrm>
      </p:grpSpPr>
      <p:sp>
        <p:nvSpPr>
          <p:cNvPr id="240" name="text"/>
          <p:cNvSpPr txBox="1"/>
          <p:nvPr/>
        </p:nvSpPr>
        <p:spPr>
          <a:xfrm>
            <a:off x="457200" y="323850"/>
            <a:ext cx="8229600" cy="431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b="1" sz="2800">
                <a:solidFill>
                  <a:srgbClr val="D75BE2"/>
                </a:solidFill>
                <a:latin typeface="Inter"/>
                <a:ea typeface="Inter"/>
                <a:cs typeface="Inter"/>
                <a:sym typeface="Inter"/>
              </a:defRPr>
            </a:pPr>
            <a:r>
              <a:rPr>
                <a:latin typeface="Arial"/>
                <a:ea typeface="Arial"/>
                <a:cs typeface="Arial"/>
                <a:sym typeface="Arial"/>
              </a:rPr>
              <a:t>צפייה במסמכים עם </a:t>
            </a:r>
            <a:r>
              <a:t>Office Viewer</a:t>
            </a:r>
          </a:p>
        </p:txBody>
      </p:sp>
      <p:sp>
        <p:nvSpPr>
          <p:cNvPr id="241" name="text"/>
          <p:cNvSpPr txBox="1"/>
          <p:nvPr/>
        </p:nvSpPr>
        <p:spPr>
          <a:xfrm>
            <a:off x="5905500" y="4876800"/>
            <a:ext cx="2781300" cy="127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800">
                <a:solidFill>
                  <a:srgbClr val="705B73"/>
                </a:solidFill>
                <a:latin typeface="Inter"/>
                <a:ea typeface="Inter"/>
                <a:cs typeface="Inter"/>
                <a:sym typeface="Inter"/>
              </a:defRPr>
            </a:pPr>
            <a:r>
              <a:rPr>
                <a:latin typeface="Arial"/>
                <a:ea typeface="Arial"/>
                <a:cs typeface="Arial"/>
                <a:sym typeface="Arial"/>
              </a:rPr>
              <a:t>שיעור</a:t>
            </a:r>
            <a:r>
              <a:t>: </a:t>
            </a:r>
            <a:r>
              <a:rPr>
                <a:latin typeface="Arial"/>
                <a:ea typeface="Arial"/>
                <a:cs typeface="Arial"/>
                <a:sym typeface="Arial"/>
              </a:rPr>
              <a:t>פיתוח עם סוכני־קוד</a:t>
            </a:r>
          </a:p>
        </p:txBody>
      </p:sp>
      <p:sp>
        <p:nvSpPr>
          <p:cNvPr id="242" name="code"/>
          <p:cNvSpPr txBox="1"/>
          <p:nvPr/>
        </p:nvSpPr>
        <p:spPr>
          <a:xfrm>
            <a:off x="457200" y="4876800"/>
            <a:ext cx="333375" cy="127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defRPr sz="800">
                <a:solidFill>
                  <a:srgbClr val="705B73"/>
                </a:solidFill>
                <a:latin typeface="Inter"/>
                <a:ea typeface="Inter"/>
                <a:cs typeface="Inter"/>
                <a:sym typeface="Inter"/>
              </a:defRPr>
            </a:lvl1pPr>
          </a:lstStyle>
          <a:p>
            <a:pPr/>
            <a:r>
              <a:t>19</a:t>
            </a:r>
          </a:p>
        </p:txBody>
      </p:sp>
      <p:sp>
        <p:nvSpPr>
          <p:cNvPr id="243" name="text"/>
          <p:cNvSpPr txBox="1"/>
          <p:nvPr/>
        </p:nvSpPr>
        <p:spPr>
          <a:xfrm>
            <a:off x="457200" y="1200150"/>
            <a:ext cx="8229600" cy="25922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defRPr b="1">
                <a:solidFill>
                  <a:srgbClr val="272525"/>
                </a:solidFill>
              </a:defRPr>
            </a:lvl1pPr>
          </a:lstStyle>
          <a:p>
            <a:pPr>
              <a:defRPr>
                <a:latin typeface="Inter"/>
                <a:ea typeface="Inter"/>
                <a:cs typeface="Inter"/>
                <a:sym typeface="Inter"/>
              </a:defRPr>
            </a:pPr>
            <a:r>
              <a:rPr>
                <a:latin typeface="Arial"/>
                <a:ea typeface="Arial"/>
                <a:cs typeface="Arial"/>
                <a:sym typeface="Arial"/>
              </a:rPr>
              <a:t>התקנת התוסף</a:t>
            </a:r>
          </a:p>
        </p:txBody>
      </p:sp>
      <p:sp>
        <p:nvSpPr>
          <p:cNvPr id="244" name="text"/>
          <p:cNvSpPr txBox="1"/>
          <p:nvPr/>
        </p:nvSpPr>
        <p:spPr>
          <a:xfrm>
            <a:off x="457200" y="1533525"/>
            <a:ext cx="8229600" cy="241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1600">
                <a:solidFill>
                  <a:srgbClr val="272525"/>
                </a:solidFill>
                <a:latin typeface="Inter"/>
                <a:ea typeface="Inter"/>
                <a:cs typeface="Inter"/>
                <a:sym typeface="Inter"/>
              </a:defRPr>
            </a:pPr>
            <a:r>
              <a:rPr>
                <a:latin typeface="Arial"/>
                <a:ea typeface="Arial"/>
                <a:cs typeface="Arial"/>
                <a:sym typeface="Arial"/>
              </a:rPr>
              <a:t>בחלון </a:t>
            </a:r>
            <a:r>
              <a:t>Extensions </a:t>
            </a:r>
            <a:r>
              <a:rPr>
                <a:latin typeface="Arial"/>
                <a:ea typeface="Arial"/>
                <a:cs typeface="Arial"/>
                <a:sym typeface="Arial"/>
              </a:rPr>
              <a:t>מחפשים </a:t>
            </a:r>
            <a:r>
              <a:t>Office Viewer </a:t>
            </a:r>
            <a:r>
              <a:rPr>
                <a:latin typeface="Arial"/>
                <a:ea typeface="Arial"/>
                <a:cs typeface="Arial"/>
                <a:sym typeface="Arial"/>
              </a:rPr>
              <a:t>מאת </a:t>
            </a:r>
            <a:r>
              <a:t>cweijan </a:t>
            </a:r>
            <a:r>
              <a:rPr>
                <a:latin typeface="Arial"/>
                <a:ea typeface="Arial"/>
                <a:cs typeface="Arial"/>
                <a:sym typeface="Arial"/>
              </a:rPr>
              <a:t>ולוחצים </a:t>
            </a:r>
            <a:r>
              <a:t>Install.</a:t>
            </a:r>
          </a:p>
        </p:txBody>
      </p:sp>
      <p:sp>
        <p:nvSpPr>
          <p:cNvPr id="245" name="text"/>
          <p:cNvSpPr txBox="1"/>
          <p:nvPr/>
        </p:nvSpPr>
        <p:spPr>
          <a:xfrm>
            <a:off x="457200" y="2181225"/>
            <a:ext cx="8229600" cy="25922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defRPr b="1">
                <a:solidFill>
                  <a:srgbClr val="272525"/>
                </a:solidFill>
              </a:defRPr>
            </a:lvl1pPr>
          </a:lstStyle>
          <a:p>
            <a:pPr>
              <a:defRPr>
                <a:latin typeface="Inter"/>
                <a:ea typeface="Inter"/>
                <a:cs typeface="Inter"/>
                <a:sym typeface="Inter"/>
              </a:defRPr>
            </a:pPr>
            <a:r>
              <a:rPr>
                <a:latin typeface="Arial"/>
                <a:ea typeface="Arial"/>
                <a:cs typeface="Arial"/>
                <a:sym typeface="Arial"/>
              </a:rPr>
              <a:t>פתיחת תוצרי הסוכן</a:t>
            </a:r>
          </a:p>
        </p:txBody>
      </p:sp>
      <p:sp>
        <p:nvSpPr>
          <p:cNvPr id="246" name="text"/>
          <p:cNvSpPr txBox="1"/>
          <p:nvPr/>
        </p:nvSpPr>
        <p:spPr>
          <a:xfrm>
            <a:off x="457200" y="2514600"/>
            <a:ext cx="8229600" cy="241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1600">
                <a:solidFill>
                  <a:srgbClr val="272525"/>
                </a:solidFill>
                <a:latin typeface="Inter"/>
                <a:ea typeface="Inter"/>
                <a:cs typeface="Inter"/>
                <a:sym typeface="Inter"/>
              </a:defRPr>
            </a:pPr>
            <a:r>
              <a:rPr>
                <a:latin typeface="Arial"/>
                <a:ea typeface="Arial"/>
                <a:cs typeface="Arial"/>
                <a:sym typeface="Arial"/>
              </a:rPr>
              <a:t>פותחים קובץ </a:t>
            </a:r>
            <a:r>
              <a:t>DOCX, XLSX, PPTX </a:t>
            </a:r>
            <a:r>
              <a:rPr>
                <a:latin typeface="Arial"/>
                <a:ea typeface="Arial"/>
                <a:cs typeface="Arial"/>
                <a:sym typeface="Arial"/>
              </a:rPr>
              <a:t>או </a:t>
            </a:r>
            <a:r>
              <a:t>PDF </a:t>
            </a:r>
            <a:r>
              <a:rPr>
                <a:latin typeface="Arial"/>
                <a:ea typeface="Arial"/>
                <a:cs typeface="Arial"/>
                <a:sym typeface="Arial"/>
              </a:rPr>
              <a:t>מתוך תיקיית הפרויקט</a:t>
            </a:r>
            <a:r>
              <a:t>.</a:t>
            </a:r>
          </a:p>
        </p:txBody>
      </p:sp>
      <p:sp>
        <p:nvSpPr>
          <p:cNvPr id="247" name="text"/>
          <p:cNvSpPr txBox="1"/>
          <p:nvPr/>
        </p:nvSpPr>
        <p:spPr>
          <a:xfrm>
            <a:off x="457200" y="3162300"/>
            <a:ext cx="8229600" cy="25922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defRPr b="1">
                <a:solidFill>
                  <a:srgbClr val="272525"/>
                </a:solidFill>
              </a:defRPr>
            </a:lvl1pPr>
          </a:lstStyle>
          <a:p>
            <a:pPr>
              <a:defRPr>
                <a:latin typeface="Inter"/>
                <a:ea typeface="Inter"/>
                <a:cs typeface="Inter"/>
                <a:sym typeface="Inter"/>
              </a:defRPr>
            </a:pPr>
            <a:r>
              <a:rPr>
                <a:latin typeface="Arial"/>
                <a:ea typeface="Arial"/>
                <a:cs typeface="Arial"/>
                <a:sym typeface="Arial"/>
              </a:rPr>
              <a:t>בחירת התצוגה</a:t>
            </a:r>
          </a:p>
        </p:txBody>
      </p:sp>
      <p:sp>
        <p:nvSpPr>
          <p:cNvPr id="248" name="text"/>
          <p:cNvSpPr txBox="1"/>
          <p:nvPr/>
        </p:nvSpPr>
        <p:spPr>
          <a:xfrm>
            <a:off x="457200" y="3495675"/>
            <a:ext cx="8229600" cy="241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1600">
                <a:solidFill>
                  <a:srgbClr val="272525"/>
                </a:solidFill>
                <a:latin typeface="Inter"/>
                <a:ea typeface="Inter"/>
                <a:cs typeface="Inter"/>
                <a:sym typeface="Inter"/>
              </a:defRPr>
            </a:pPr>
            <a:r>
              <a:rPr>
                <a:latin typeface="Arial"/>
                <a:ea typeface="Arial"/>
                <a:cs typeface="Arial"/>
                <a:sym typeface="Arial"/>
              </a:rPr>
              <a:t>אם צריך</a:t>
            </a:r>
            <a:r>
              <a:t>, </a:t>
            </a:r>
            <a:r>
              <a:rPr>
                <a:latin typeface="Arial"/>
                <a:ea typeface="Arial"/>
                <a:cs typeface="Arial"/>
                <a:sym typeface="Arial"/>
              </a:rPr>
              <a:t>בוחרים </a:t>
            </a:r>
            <a:r>
              <a:t>Reopen Editor With </a:t>
            </a:r>
            <a:r>
              <a:rPr>
                <a:latin typeface="Arial"/>
                <a:ea typeface="Arial"/>
                <a:cs typeface="Arial"/>
                <a:sym typeface="Arial"/>
              </a:rPr>
              <a:t>ואת הצופה המתאים לסוג הקובץ</a:t>
            </a:r>
            <a:r>
              <a:t>.</a:t>
            </a:r>
          </a:p>
        </p:txBody>
      </p:sp>
      <p:sp>
        <p:nvSpPr>
          <p:cNvPr id="249" name="Rectangle"/>
          <p:cNvSpPr/>
          <p:nvPr/>
        </p:nvSpPr>
        <p:spPr>
          <a:xfrm>
            <a:off x="457200" y="4248150"/>
            <a:ext cx="8229600" cy="466725"/>
          </a:xfrm>
          <a:prstGeom prst="rect">
            <a:avLst/>
          </a:prstGeom>
          <a:solidFill>
            <a:srgbClr val="F4D4F7"/>
          </a:solidFill>
          <a:ln w="12700">
            <a:miter lim="400000"/>
          </a:ln>
        </p:spPr>
        <p:txBody>
          <a:bodyPr lIns="0" tIns="0" rIns="0" bIns="0"/>
          <a:lstStyle/>
          <a:p>
            <a:pPr/>
          </a:p>
        </p:txBody>
      </p:sp>
      <p:sp>
        <p:nvSpPr>
          <p:cNvPr id="250" name="text"/>
          <p:cNvSpPr txBox="1"/>
          <p:nvPr/>
        </p:nvSpPr>
        <p:spPr>
          <a:xfrm>
            <a:off x="619125" y="4343400"/>
            <a:ext cx="7905750" cy="2286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b="1" sz="1500">
                <a:solidFill>
                  <a:srgbClr val="272525"/>
                </a:solidFill>
                <a:latin typeface="Inter"/>
                <a:ea typeface="Inter"/>
                <a:cs typeface="Inter"/>
                <a:sym typeface="Inter"/>
              </a:defRPr>
            </a:pPr>
            <a:r>
              <a:rPr>
                <a:latin typeface="Arial"/>
                <a:ea typeface="Arial"/>
                <a:cs typeface="Arial"/>
                <a:sym typeface="Arial"/>
              </a:rPr>
              <a:t>בדיקת ההתקנה</a:t>
            </a:r>
            <a:r>
              <a:t>: </a:t>
            </a:r>
            <a:r>
              <a:rPr>
                <a:latin typeface="Arial"/>
                <a:ea typeface="Arial"/>
                <a:cs typeface="Arial"/>
                <a:sym typeface="Arial"/>
              </a:rPr>
              <a:t>פותחים מסמך מהתיקייה ורואים את התוכן בתוך העורך</a:t>
            </a:r>
            <a:r>
              <a:t>.</a:t>
            </a:r>
          </a:p>
        </p:txBody>
      </p:sp>
    </p:spTree>
  </p:cSld>
  <p:clrMapOvr>
    <a:masterClrMapping/>
  </p:clrMapOvr>
  <p:transition xmlns:p14="http://schemas.microsoft.com/office/powerpoint/2010/main" spd="med" advClick="1"/>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FFF"/>
        </a:solidFill>
      </p:bgPr>
    </p:bg>
    <p:spTree>
      <p:nvGrpSpPr>
        <p:cNvPr id="1" name=""/>
        <p:cNvGrpSpPr/>
        <p:nvPr/>
      </p:nvGrpSpPr>
      <p:grpSpPr>
        <a:xfrm>
          <a:off x="0" y="0"/>
          <a:ext cx="0" cy="0"/>
          <a:chOff x="0" y="0"/>
          <a:chExt cx="0" cy="0"/>
        </a:xfrm>
      </p:grpSpPr>
      <p:sp>
        <p:nvSpPr>
          <p:cNvPr id="254" name="text"/>
          <p:cNvSpPr txBox="1"/>
          <p:nvPr/>
        </p:nvSpPr>
        <p:spPr>
          <a:xfrm>
            <a:off x="457200" y="323850"/>
            <a:ext cx="8229600" cy="431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b="1" sz="2800">
                <a:solidFill>
                  <a:srgbClr val="D75BE2"/>
                </a:solidFill>
                <a:latin typeface="Inter"/>
                <a:ea typeface="Inter"/>
                <a:cs typeface="Inter"/>
                <a:sym typeface="Inter"/>
              </a:defRPr>
            </a:pPr>
            <a:r>
              <a:rPr>
                <a:latin typeface="Arial"/>
                <a:ea typeface="Arial"/>
                <a:cs typeface="Arial"/>
                <a:sym typeface="Arial"/>
              </a:rPr>
              <a:t>פרומפט להקמת פרויקט</a:t>
            </a:r>
            <a:r>
              <a:t>: </a:t>
            </a:r>
            <a:r>
              <a:rPr>
                <a:latin typeface="Arial"/>
                <a:ea typeface="Arial"/>
                <a:cs typeface="Arial"/>
                <a:sym typeface="Arial"/>
              </a:rPr>
              <a:t>חלק א׳</a:t>
            </a:r>
          </a:p>
        </p:txBody>
      </p:sp>
      <p:sp>
        <p:nvSpPr>
          <p:cNvPr id="255" name="text"/>
          <p:cNvSpPr txBox="1"/>
          <p:nvPr/>
        </p:nvSpPr>
        <p:spPr>
          <a:xfrm>
            <a:off x="5905500" y="4876800"/>
            <a:ext cx="2781300" cy="127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800">
                <a:solidFill>
                  <a:srgbClr val="705B73"/>
                </a:solidFill>
                <a:latin typeface="Inter"/>
                <a:ea typeface="Inter"/>
                <a:cs typeface="Inter"/>
                <a:sym typeface="Inter"/>
              </a:defRPr>
            </a:pPr>
            <a:r>
              <a:rPr>
                <a:latin typeface="Arial"/>
                <a:ea typeface="Arial"/>
                <a:cs typeface="Arial"/>
                <a:sym typeface="Arial"/>
              </a:rPr>
              <a:t>שיעור</a:t>
            </a:r>
            <a:r>
              <a:t>: </a:t>
            </a:r>
            <a:r>
              <a:rPr>
                <a:latin typeface="Arial"/>
                <a:ea typeface="Arial"/>
                <a:cs typeface="Arial"/>
                <a:sym typeface="Arial"/>
              </a:rPr>
              <a:t>פיתוח עם סוכני־קוד</a:t>
            </a:r>
          </a:p>
        </p:txBody>
      </p:sp>
      <p:sp>
        <p:nvSpPr>
          <p:cNvPr id="256" name="code"/>
          <p:cNvSpPr txBox="1"/>
          <p:nvPr/>
        </p:nvSpPr>
        <p:spPr>
          <a:xfrm>
            <a:off x="457200" y="4876800"/>
            <a:ext cx="333375" cy="127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defRPr sz="800">
                <a:solidFill>
                  <a:srgbClr val="705B73"/>
                </a:solidFill>
                <a:latin typeface="Inter"/>
                <a:ea typeface="Inter"/>
                <a:cs typeface="Inter"/>
                <a:sym typeface="Inter"/>
              </a:defRPr>
            </a:lvl1pPr>
          </a:lstStyle>
          <a:p>
            <a:pPr/>
            <a:r>
              <a:t>20</a:t>
            </a:r>
          </a:p>
        </p:txBody>
      </p:sp>
      <p:sp>
        <p:nvSpPr>
          <p:cNvPr id="257" name="text"/>
          <p:cNvSpPr txBox="1"/>
          <p:nvPr/>
        </p:nvSpPr>
        <p:spPr>
          <a:xfrm>
            <a:off x="523875" y="1133475"/>
            <a:ext cx="8096250" cy="272077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1600">
                <a:solidFill>
                  <a:srgbClr val="272525"/>
                </a:solidFill>
                <a:latin typeface="Inter"/>
                <a:ea typeface="Inter"/>
                <a:cs typeface="Inter"/>
                <a:sym typeface="Inter"/>
              </a:defRPr>
            </a:pPr>
            <a:r>
              <a:rPr>
                <a:latin typeface="Arial"/>
                <a:ea typeface="Arial"/>
                <a:cs typeface="Arial"/>
                <a:sym typeface="Arial"/>
              </a:rPr>
              <a:t>פעל כסוכן פיתוח שמלווה אותי מהרעיון לגרסה ראשונה עובדת</a:t>
            </a:r>
            <a:r>
              <a:t>.</a:t>
            </a:r>
          </a:p>
          <a:p>
            <a:pPr algn="r" rtl="1">
              <a:defRPr sz="1600">
                <a:solidFill>
                  <a:srgbClr val="272525"/>
                </a:solidFill>
                <a:latin typeface="Inter"/>
                <a:ea typeface="Inter"/>
                <a:cs typeface="Inter"/>
                <a:sym typeface="Inter"/>
              </a:defRPr>
            </a:pPr>
            <a:r>
              <a:rPr>
                <a:latin typeface="Arial"/>
                <a:ea typeface="Arial"/>
                <a:cs typeface="Arial"/>
                <a:sym typeface="Arial"/>
              </a:rPr>
              <a:t>המוצר שאני רוצה לבנות</a:t>
            </a:r>
            <a:r>
              <a:t>: [</a:t>
            </a:r>
            <a:r>
              <a:rPr>
                <a:latin typeface="Arial"/>
                <a:ea typeface="Arial"/>
                <a:cs typeface="Arial"/>
                <a:sym typeface="Arial"/>
              </a:rPr>
              <a:t>תיאור הרעיון וקהל היעד</a:t>
            </a:r>
            <a:r>
              <a:t>].</a:t>
            </a:r>
          </a:p>
          <a:p>
            <a:pPr algn="r" rtl="1">
              <a:defRPr sz="1600">
                <a:solidFill>
                  <a:srgbClr val="272525"/>
                </a:solidFill>
                <a:latin typeface="Inter"/>
                <a:ea typeface="Inter"/>
                <a:cs typeface="Inter"/>
                <a:sym typeface="Inter"/>
              </a:defRPr>
            </a:pPr>
            <a:r>
              <a:rPr>
                <a:latin typeface="Arial"/>
                <a:ea typeface="Arial"/>
                <a:cs typeface="Arial"/>
                <a:sym typeface="Arial"/>
              </a:rPr>
              <a:t>הפעולה המרכזית שהמשתמש צריך לבצע</a:t>
            </a:r>
            <a:r>
              <a:t>: [</a:t>
            </a:r>
            <a:r>
              <a:rPr>
                <a:latin typeface="Arial"/>
                <a:ea typeface="Arial"/>
                <a:cs typeface="Arial"/>
                <a:sym typeface="Arial"/>
              </a:rPr>
              <a:t>תיאור הפעולה</a:t>
            </a:r>
            <a:r>
              <a:t>].</a:t>
            </a:r>
          </a:p>
          <a:p>
            <a:pPr algn="r" rtl="1">
              <a:defRPr sz="1600">
                <a:solidFill>
                  <a:srgbClr val="272525"/>
                </a:solidFill>
                <a:latin typeface="Inter"/>
                <a:ea typeface="Inter"/>
                <a:cs typeface="Inter"/>
                <a:sym typeface="Inter"/>
              </a:defRPr>
            </a:pPr>
            <a:r>
              <a:rPr>
                <a:latin typeface="Arial"/>
                <a:ea typeface="Arial"/>
                <a:cs typeface="Arial"/>
                <a:sym typeface="Arial"/>
              </a:rPr>
              <a:t>התחל בהבנת הדרישה ובסקירת החומרים שסיפקתי בתיקייה</a:t>
            </a:r>
            <a:r>
              <a:t>.</a:t>
            </a:r>
          </a:p>
          <a:p>
            <a:pPr algn="r" rtl="1">
              <a:defRPr sz="1600">
                <a:solidFill>
                  <a:srgbClr val="272525"/>
                </a:solidFill>
                <a:latin typeface="Inter"/>
                <a:ea typeface="Inter"/>
                <a:cs typeface="Inter"/>
                <a:sym typeface="Inter"/>
              </a:defRPr>
            </a:pPr>
            <a:r>
              <a:rPr>
                <a:latin typeface="Arial"/>
                <a:ea typeface="Arial"/>
                <a:cs typeface="Arial"/>
                <a:sym typeface="Arial"/>
              </a:rPr>
              <a:t>קרא הנחיות קיימות</a:t>
            </a:r>
            <a:r>
              <a:t>, </a:t>
            </a:r>
            <a:r>
              <a:rPr>
                <a:latin typeface="Arial"/>
                <a:ea typeface="Arial"/>
                <a:cs typeface="Arial"/>
                <a:sym typeface="Arial"/>
              </a:rPr>
              <a:t>קוד ומסמכים</a:t>
            </a:r>
            <a:r>
              <a:t>. </a:t>
            </a:r>
            <a:r>
              <a:rPr>
                <a:latin typeface="Arial"/>
                <a:ea typeface="Arial"/>
                <a:cs typeface="Arial"/>
                <a:sym typeface="Arial"/>
              </a:rPr>
              <a:t>שמור עבודה קיימת</a:t>
            </a:r>
            <a:r>
              <a:t>.</a:t>
            </a:r>
          </a:p>
          <a:p>
            <a:pPr algn="r" rtl="1">
              <a:defRPr sz="1600">
                <a:solidFill>
                  <a:srgbClr val="272525"/>
                </a:solidFill>
                <a:latin typeface="Inter"/>
                <a:ea typeface="Inter"/>
                <a:cs typeface="Inter"/>
                <a:sym typeface="Inter"/>
              </a:defRPr>
            </a:pPr>
            <a:r>
              <a:rPr>
                <a:latin typeface="Arial"/>
                <a:ea typeface="Arial"/>
                <a:cs typeface="Arial"/>
                <a:sym typeface="Arial"/>
              </a:rPr>
              <a:t>הצג מה הבנת</a:t>
            </a:r>
            <a:r>
              <a:t>, </a:t>
            </a:r>
            <a:r>
              <a:rPr>
                <a:latin typeface="Arial"/>
                <a:ea typeface="Arial"/>
                <a:cs typeface="Arial"/>
                <a:sym typeface="Arial"/>
              </a:rPr>
              <a:t>מה כבר קיים ואילו פרטים דרושים להחלטה</a:t>
            </a:r>
            <a:r>
              <a:t>.</a:t>
            </a:r>
          </a:p>
          <a:p>
            <a:pPr algn="r" rtl="1">
              <a:defRPr sz="1600">
                <a:solidFill>
                  <a:srgbClr val="272525"/>
                </a:solidFill>
                <a:latin typeface="Inter"/>
                <a:ea typeface="Inter"/>
                <a:cs typeface="Inter"/>
                <a:sym typeface="Inter"/>
              </a:defRPr>
            </a:pPr>
            <a:r>
              <a:rPr>
                <a:latin typeface="Arial"/>
                <a:ea typeface="Arial"/>
                <a:cs typeface="Arial"/>
                <a:sym typeface="Arial"/>
              </a:rPr>
              <a:t>שאל שאלות ממוקדות רק כשחסר מידע שמשנה את המוצר</a:t>
            </a:r>
            <a:r>
              <a:t>.</a:t>
            </a:r>
          </a:p>
          <a:p>
            <a:pPr algn="r" rtl="1">
              <a:defRPr sz="1600">
                <a:solidFill>
                  <a:srgbClr val="272525"/>
                </a:solidFill>
                <a:latin typeface="Inter"/>
                <a:ea typeface="Inter"/>
                <a:cs typeface="Inter"/>
                <a:sym typeface="Inter"/>
              </a:defRPr>
            </a:pPr>
            <a:r>
              <a:rPr>
                <a:latin typeface="Arial"/>
                <a:ea typeface="Arial"/>
                <a:cs typeface="Arial"/>
                <a:sym typeface="Arial"/>
              </a:rPr>
              <a:t>הצע גרסה ראשונה ממוקדת</a:t>
            </a:r>
            <a:r>
              <a:t>, </a:t>
            </a:r>
            <a:r>
              <a:rPr>
                <a:latin typeface="Arial"/>
                <a:ea typeface="Arial"/>
                <a:cs typeface="Arial"/>
                <a:sym typeface="Arial"/>
              </a:rPr>
              <a:t>כולל מה יישאר לשלב הבא</a:t>
            </a:r>
            <a:r>
              <a:t>.</a:t>
            </a:r>
          </a:p>
          <a:p>
            <a:pPr algn="r" rtl="1">
              <a:defRPr sz="1600">
                <a:solidFill>
                  <a:srgbClr val="272525"/>
                </a:solidFill>
                <a:latin typeface="Inter"/>
                <a:ea typeface="Inter"/>
                <a:cs typeface="Inter"/>
                <a:sym typeface="Inter"/>
              </a:defRPr>
            </a:pPr>
            <a:r>
              <a:rPr>
                <a:latin typeface="Arial"/>
                <a:ea typeface="Arial"/>
                <a:cs typeface="Arial"/>
                <a:sym typeface="Arial"/>
              </a:rPr>
              <a:t>הצע שימוש ב־</a:t>
            </a:r>
            <a:r>
              <a:t>Next.js, </a:t>
            </a:r>
            <a:r>
              <a:rPr>
                <a:latin typeface="Arial"/>
                <a:ea typeface="Arial"/>
                <a:cs typeface="Arial"/>
                <a:sym typeface="Arial"/>
              </a:rPr>
              <a:t>ב־</a:t>
            </a:r>
            <a:r>
              <a:t>Supabase </a:t>
            </a:r>
            <a:r>
              <a:rPr>
                <a:latin typeface="Arial"/>
                <a:ea typeface="Arial"/>
                <a:cs typeface="Arial"/>
                <a:sym typeface="Arial"/>
              </a:rPr>
              <a:t>וב־</a:t>
            </a:r>
            <a:r>
              <a:t>Vercel </a:t>
            </a:r>
            <a:r>
              <a:rPr>
                <a:latin typeface="Arial"/>
                <a:ea typeface="Arial"/>
                <a:cs typeface="Arial"/>
                <a:sym typeface="Arial"/>
              </a:rPr>
              <a:t>לפי הצורך</a:t>
            </a:r>
            <a:r>
              <a:t>.</a:t>
            </a:r>
          </a:p>
          <a:p>
            <a:pPr algn="r" rtl="1">
              <a:defRPr sz="1600">
                <a:solidFill>
                  <a:srgbClr val="272525"/>
                </a:solidFill>
                <a:latin typeface="Inter"/>
                <a:ea typeface="Inter"/>
                <a:cs typeface="Inter"/>
                <a:sym typeface="Inter"/>
              </a:defRPr>
            </a:pPr>
            <a:r>
              <a:rPr>
                <a:latin typeface="Arial"/>
                <a:ea typeface="Arial"/>
                <a:cs typeface="Arial"/>
                <a:sym typeface="Arial"/>
              </a:rPr>
              <a:t>הסבר מה כל כלי ייתן למוצר ואילו חיבורים נוספים יקדמו אותו</a:t>
            </a:r>
            <a:r>
              <a:t>.</a:t>
            </a:r>
          </a:p>
          <a:p>
            <a:pPr algn="r" rtl="1">
              <a:defRPr sz="1600">
                <a:solidFill>
                  <a:srgbClr val="272525"/>
                </a:solidFill>
                <a:latin typeface="Inter"/>
                <a:ea typeface="Inter"/>
                <a:cs typeface="Inter"/>
                <a:sym typeface="Inter"/>
              </a:defRPr>
            </a:pPr>
            <a:r>
              <a:rPr>
                <a:latin typeface="Arial"/>
                <a:ea typeface="Arial"/>
                <a:cs typeface="Arial"/>
                <a:sym typeface="Arial"/>
              </a:rPr>
              <a:t>בדוק אילו כלים וחיבורי </a:t>
            </a:r>
            <a:r>
              <a:t>MCP </a:t>
            </a:r>
            <a:r>
              <a:rPr>
                <a:latin typeface="Arial"/>
                <a:ea typeface="Arial"/>
                <a:cs typeface="Arial"/>
                <a:sym typeface="Arial"/>
              </a:rPr>
              <a:t>זמינים לך לעבודה על החומרים</a:t>
            </a:r>
            <a:r>
              <a:t>.</a:t>
            </a:r>
          </a:p>
        </p:txBody>
      </p:sp>
      <p:sp>
        <p:nvSpPr>
          <p:cNvPr id="258" name="צור לי משחק סוליטייר עם צד שרת בnext על גבי vercel (cloud)…"/>
          <p:cNvSpPr txBox="1"/>
          <p:nvPr/>
        </p:nvSpPr>
        <p:spPr>
          <a:xfrm>
            <a:off x="457200" y="4191000"/>
            <a:ext cx="8229600" cy="45055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1600">
                <a:solidFill>
                  <a:srgbClr val="272525"/>
                </a:solidFill>
                <a:latin typeface="Inter"/>
                <a:ea typeface="Inter"/>
                <a:cs typeface="Inter"/>
                <a:sym typeface="Inter"/>
              </a:defRPr>
            </a:pPr>
            <a:r>
              <a:rPr>
                <a:latin typeface="Arial"/>
                <a:ea typeface="Arial"/>
                <a:cs typeface="Arial"/>
                <a:sym typeface="Arial"/>
              </a:rPr>
              <a:t>צור לי משחק סוליטייר עם צד שרת בnext על גבי vercel (cloud)</a:t>
            </a:r>
            <a:endParaRPr>
              <a:latin typeface="Arial"/>
              <a:ea typeface="Arial"/>
              <a:cs typeface="Arial"/>
              <a:sym typeface="Arial"/>
            </a:endParaRPr>
          </a:p>
          <a:p>
            <a:pPr algn="r" rtl="1">
              <a:defRPr sz="1600">
                <a:solidFill>
                  <a:srgbClr val="272525"/>
                </a:solidFill>
                <a:latin typeface="Inter"/>
                <a:ea typeface="Inter"/>
                <a:cs typeface="Inter"/>
                <a:sym typeface="Inter"/>
              </a:defRPr>
            </a:pPr>
            <a:r>
              <a:rPr>
                <a:latin typeface="Arial"/>
                <a:ea typeface="Arial"/>
                <a:cs typeface="Arial"/>
                <a:sym typeface="Arial"/>
              </a:rPr>
              <a:t>לגבי דטהבייס - נשתמש בסופהבייס</a:t>
            </a:r>
          </a:p>
        </p:txBody>
      </p:sp>
    </p:spTree>
  </p:cSld>
  <p:clrMapOvr>
    <a:masterClrMapping/>
  </p:clrMapOvr>
  <p:transition xmlns:p14="http://schemas.microsoft.com/office/powerpoint/2010/main" spd="med" advClick="1"/>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FFF"/>
        </a:solidFill>
      </p:bgPr>
    </p:bg>
    <p:spTree>
      <p:nvGrpSpPr>
        <p:cNvPr id="1" name=""/>
        <p:cNvGrpSpPr/>
        <p:nvPr/>
      </p:nvGrpSpPr>
      <p:grpSpPr>
        <a:xfrm>
          <a:off x="0" y="0"/>
          <a:ext cx="0" cy="0"/>
          <a:chOff x="0" y="0"/>
          <a:chExt cx="0" cy="0"/>
        </a:xfrm>
      </p:grpSpPr>
      <p:sp>
        <p:nvSpPr>
          <p:cNvPr id="262" name="text"/>
          <p:cNvSpPr txBox="1"/>
          <p:nvPr/>
        </p:nvSpPr>
        <p:spPr>
          <a:xfrm>
            <a:off x="5905500" y="4876800"/>
            <a:ext cx="2781300" cy="127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800">
                <a:solidFill>
                  <a:srgbClr val="705B73"/>
                </a:solidFill>
                <a:latin typeface="Inter"/>
                <a:ea typeface="Inter"/>
                <a:cs typeface="Inter"/>
                <a:sym typeface="Inter"/>
              </a:defRPr>
            </a:pPr>
            <a:r>
              <a:rPr>
                <a:latin typeface="Arial"/>
                <a:ea typeface="Arial"/>
                <a:cs typeface="Arial"/>
                <a:sym typeface="Arial"/>
              </a:rPr>
              <a:t>שיעור</a:t>
            </a:r>
            <a:r>
              <a:t>: </a:t>
            </a:r>
            <a:r>
              <a:rPr>
                <a:latin typeface="Arial"/>
                <a:ea typeface="Arial"/>
                <a:cs typeface="Arial"/>
                <a:sym typeface="Arial"/>
              </a:rPr>
              <a:t>פיתוח עם סוכני־קוד</a:t>
            </a:r>
          </a:p>
        </p:txBody>
      </p:sp>
      <p:sp>
        <p:nvSpPr>
          <p:cNvPr id="263" name="code"/>
          <p:cNvSpPr txBox="1"/>
          <p:nvPr/>
        </p:nvSpPr>
        <p:spPr>
          <a:xfrm>
            <a:off x="457200" y="4876800"/>
            <a:ext cx="333375" cy="127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defRPr sz="800">
                <a:solidFill>
                  <a:srgbClr val="705B73"/>
                </a:solidFill>
                <a:latin typeface="Inter"/>
                <a:ea typeface="Inter"/>
                <a:cs typeface="Inter"/>
                <a:sym typeface="Inter"/>
              </a:defRPr>
            </a:lvl1pPr>
          </a:lstStyle>
          <a:p>
            <a:pPr/>
            <a:r>
              <a:t>21</a:t>
            </a:r>
          </a:p>
        </p:txBody>
      </p:sp>
      <p:sp>
        <p:nvSpPr>
          <p:cNvPr id="264" name="מסד הנתונים…"/>
          <p:cNvSpPr/>
          <p:nvPr/>
        </p:nvSpPr>
        <p:spPr>
          <a:xfrm>
            <a:off x="698500" y="1714500"/>
            <a:ext cx="2794001" cy="1841500"/>
          </a:xfrm>
          <a:prstGeom prst="roundRect">
            <a:avLst>
              <a:gd name="adj" fmla="val 14471"/>
            </a:avLst>
          </a:prstGeom>
          <a:solidFill>
            <a:srgbClr val="FFFFFF"/>
          </a:solidFill>
          <a:ln w="25400">
            <a:solidFill>
              <a:schemeClr val="accent1"/>
            </a:solidFill>
          </a:ln>
          <a:extLst>
            <a:ext uri="{C572A759-6A51-4108-AA02-DFA0A04FC94B}">
              <ma14:wrappingTextBoxFlag xmlns:ma14="http://schemas.microsoft.com/office/mac/drawingml/2011/main" val="1"/>
            </a:ext>
          </a:extLst>
        </p:spPr>
        <p:txBody>
          <a:bodyPr lIns="0" tIns="0" rIns="0" bIns="0"/>
          <a:lstStyle/>
          <a:p>
            <a:pPr/>
            <a:r>
              <a:t>מסד הנתונים</a:t>
            </a:r>
          </a:p>
          <a:p>
            <a:pPr/>
          </a:p>
          <a:p>
            <a:pPr/>
            <a:r>
              <a:t>מחשב שעליו</a:t>
            </a:r>
          </a:p>
          <a:p>
            <a:pPr/>
            <a:r>
              <a:t>מותקן הדטהבייס</a:t>
            </a:r>
          </a:p>
        </p:txBody>
      </p:sp>
      <p:sp>
        <p:nvSpPr>
          <p:cNvPr id="265" name="תשתיות הפרויקט"/>
          <p:cNvSpPr txBox="1"/>
          <p:nvPr/>
        </p:nvSpPr>
        <p:spPr>
          <a:xfrm>
            <a:off x="457200" y="317500"/>
            <a:ext cx="8229601" cy="39476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defRPr b="1" sz="2800">
                <a:solidFill>
                  <a:srgbClr val="D75BE2"/>
                </a:solidFill>
              </a:defRPr>
            </a:lvl1pPr>
          </a:lstStyle>
          <a:p>
            <a:pPr>
              <a:defRPr>
                <a:latin typeface="Inter"/>
                <a:ea typeface="Inter"/>
                <a:cs typeface="Inter"/>
                <a:sym typeface="Inter"/>
              </a:defRPr>
            </a:pPr>
            <a:r>
              <a:rPr>
                <a:latin typeface="Arial"/>
                <a:ea typeface="Arial"/>
                <a:cs typeface="Arial"/>
                <a:sym typeface="Arial"/>
              </a:rPr>
              <a:t>תשתיות הפרויקט</a:t>
            </a:r>
          </a:p>
        </p:txBody>
      </p:sp>
      <p:sp>
        <p:nvSpPr>
          <p:cNvPr id="266" name="צד השרת נכתב ב־Next.js…"/>
          <p:cNvSpPr txBox="1"/>
          <p:nvPr/>
        </p:nvSpPr>
        <p:spPr>
          <a:xfrm>
            <a:off x="4241800" y="1714500"/>
            <a:ext cx="4445000" cy="52592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a:pPr>
            <a:r>
              <a:t>צד השרת נכתב ב־Next.js</a:t>
            </a:r>
          </a:p>
          <a:p>
            <a:pPr algn="r" rtl="1">
              <a:defRPr/>
            </a:pPr>
            <a:r>
              <a:t>ומאוחסן בענן</a:t>
            </a:r>
          </a:p>
        </p:txBody>
      </p:sp>
      <p:sp>
        <p:nvSpPr>
          <p:cNvPr id="267" name="הענן Vercel מארח את צד השרת…"/>
          <p:cNvSpPr txBox="1"/>
          <p:nvPr/>
        </p:nvSpPr>
        <p:spPr>
          <a:xfrm>
            <a:off x="4241800" y="2921000"/>
            <a:ext cx="4445000" cy="52592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r>
              <a:t>הענן Vercel מארח את צד השרת</a:t>
            </a:r>
          </a:p>
          <a:p>
            <a:pPr algn="r"/>
            <a:r>
              <a:t>ואת צד הלקוח</a:t>
            </a:r>
          </a:p>
        </p:txBody>
      </p:sp>
    </p:spTree>
  </p:cSld>
  <p:clrMapOvr>
    <a:masterClrMapping/>
  </p:clrMapOvr>
  <p:transition xmlns:p14="http://schemas.microsoft.com/office/powerpoint/2010/main" spd="med" advClick="1"/>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FFF"/>
        </a:solidFill>
      </p:bgPr>
    </p:bg>
    <p:spTree>
      <p:nvGrpSpPr>
        <p:cNvPr id="1" name=""/>
        <p:cNvGrpSpPr/>
        <p:nvPr/>
      </p:nvGrpSpPr>
      <p:grpSpPr>
        <a:xfrm>
          <a:off x="0" y="0"/>
          <a:ext cx="0" cy="0"/>
          <a:chOff x="0" y="0"/>
          <a:chExt cx="0" cy="0"/>
        </a:xfrm>
      </p:grpSpPr>
      <p:sp>
        <p:nvSpPr>
          <p:cNvPr id="271" name="text"/>
          <p:cNvSpPr txBox="1"/>
          <p:nvPr/>
        </p:nvSpPr>
        <p:spPr>
          <a:xfrm>
            <a:off x="457200" y="323850"/>
            <a:ext cx="8229600" cy="39476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defRPr b="1" sz="2800">
                <a:solidFill>
                  <a:srgbClr val="D75BE2"/>
                </a:solidFill>
              </a:defRPr>
            </a:lvl1pPr>
          </a:lstStyle>
          <a:p>
            <a:pPr>
              <a:defRPr>
                <a:latin typeface="Inter"/>
                <a:ea typeface="Inter"/>
                <a:cs typeface="Inter"/>
                <a:sym typeface="Inter"/>
              </a:defRPr>
            </a:pPr>
            <a:r>
              <a:rPr>
                <a:latin typeface="Arial"/>
                <a:ea typeface="Arial"/>
                <a:cs typeface="Arial"/>
                <a:sym typeface="Arial"/>
              </a:rPr>
              <a:t>פרומפט לתיעוד עבודה עם כמה סוכנים</a:t>
            </a:r>
          </a:p>
        </p:txBody>
      </p:sp>
      <p:sp>
        <p:nvSpPr>
          <p:cNvPr id="272" name="text"/>
          <p:cNvSpPr txBox="1"/>
          <p:nvPr/>
        </p:nvSpPr>
        <p:spPr>
          <a:xfrm>
            <a:off x="5905500" y="4876800"/>
            <a:ext cx="2781300" cy="127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800">
                <a:solidFill>
                  <a:srgbClr val="705B73"/>
                </a:solidFill>
                <a:latin typeface="Inter"/>
                <a:ea typeface="Inter"/>
                <a:cs typeface="Inter"/>
                <a:sym typeface="Inter"/>
              </a:defRPr>
            </a:pPr>
            <a:r>
              <a:rPr>
                <a:latin typeface="Arial"/>
                <a:ea typeface="Arial"/>
                <a:cs typeface="Arial"/>
                <a:sym typeface="Arial"/>
              </a:rPr>
              <a:t>שיעור</a:t>
            </a:r>
            <a:r>
              <a:t>: </a:t>
            </a:r>
            <a:r>
              <a:rPr>
                <a:latin typeface="Arial"/>
                <a:ea typeface="Arial"/>
                <a:cs typeface="Arial"/>
                <a:sym typeface="Arial"/>
              </a:rPr>
              <a:t>פיתוח עם סוכני־קוד</a:t>
            </a:r>
          </a:p>
        </p:txBody>
      </p:sp>
      <p:sp>
        <p:nvSpPr>
          <p:cNvPr id="273" name="code"/>
          <p:cNvSpPr txBox="1"/>
          <p:nvPr/>
        </p:nvSpPr>
        <p:spPr>
          <a:xfrm>
            <a:off x="457200" y="4876800"/>
            <a:ext cx="333375" cy="127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defRPr sz="800">
                <a:solidFill>
                  <a:srgbClr val="705B73"/>
                </a:solidFill>
                <a:latin typeface="Inter"/>
                <a:ea typeface="Inter"/>
                <a:cs typeface="Inter"/>
                <a:sym typeface="Inter"/>
              </a:defRPr>
            </a:lvl1pPr>
          </a:lstStyle>
          <a:p>
            <a:pPr/>
            <a:r>
              <a:t>22</a:t>
            </a:r>
          </a:p>
        </p:txBody>
      </p:sp>
      <p:sp>
        <p:nvSpPr>
          <p:cNvPr id="274" name="text"/>
          <p:cNvSpPr txBox="1"/>
          <p:nvPr/>
        </p:nvSpPr>
        <p:spPr>
          <a:xfrm>
            <a:off x="523875" y="1133475"/>
            <a:ext cx="8096250" cy="273655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defTabSz="12700" rtl="1">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600">
                <a:latin typeface="+mj-lt"/>
                <a:ea typeface="+mj-ea"/>
                <a:cs typeface="+mj-cs"/>
                <a:sym typeface="Helvetica"/>
              </a:defRPr>
            </a:pPr>
            <a:r>
              <a:rPr>
                <a:latin typeface="Arial"/>
                <a:ea typeface="Arial"/>
                <a:cs typeface="Arial"/>
                <a:sym typeface="Arial"/>
              </a:rPr>
              <a:t>ערוך את קובץ ההנחיות לפרויקט שעובדים בו כמה סוכנים.</a:t>
            </a:r>
            <a:endParaRPr>
              <a:latin typeface="Arial"/>
              <a:ea typeface="Arial"/>
              <a:cs typeface="Arial"/>
              <a:sym typeface="Arial"/>
            </a:endParaRPr>
          </a:p>
          <a:p>
            <a:pPr algn="r" defTabSz="12700" rtl="1">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600">
                <a:latin typeface="+mj-lt"/>
                <a:ea typeface="+mj-ea"/>
                <a:cs typeface="+mj-cs"/>
                <a:sym typeface="Helvetica"/>
              </a:defRPr>
            </a:pPr>
            <a:r>
              <a:rPr>
                <a:latin typeface="Arial"/>
                <a:ea typeface="Arial"/>
                <a:cs typeface="Arial"/>
                <a:sym typeface="Arial"/>
              </a:rPr>
              <a:t>מקור האמת הוא הקבצים בלבד.</a:t>
            </a:r>
            <a:endParaRPr>
              <a:latin typeface="Arial"/>
              <a:ea typeface="Arial"/>
              <a:cs typeface="Arial"/>
              <a:sym typeface="Arial"/>
            </a:endParaRPr>
          </a:p>
          <a:p>
            <a:pPr algn="r" defTabSz="12700" rtl="1">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600">
                <a:latin typeface="+mj-lt"/>
                <a:ea typeface="+mj-ea"/>
                <a:cs typeface="+mj-cs"/>
                <a:sym typeface="Helvetica"/>
              </a:defRPr>
            </a:pPr>
            <a:r>
              <a:rPr>
                <a:latin typeface="Arial"/>
                <a:ea typeface="Arial"/>
                <a:cs typeface="Arial"/>
                <a:sym typeface="Arial"/>
              </a:rPr>
              <a:t>כל בקשה, החלטה ומשימה מתועדות בקובץ.</a:t>
            </a:r>
            <a:endParaRPr>
              <a:latin typeface="Arial"/>
              <a:ea typeface="Arial"/>
              <a:cs typeface="Arial"/>
              <a:sym typeface="Arial"/>
            </a:endParaRPr>
          </a:p>
          <a:p>
            <a:pPr algn="r" defTabSz="12700" rtl="1">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600">
                <a:latin typeface="+mj-lt"/>
                <a:ea typeface="+mj-ea"/>
                <a:cs typeface="+mj-cs"/>
                <a:sym typeface="Helvetica"/>
              </a:defRPr>
            </a:pPr>
            <a:endParaRPr>
              <a:latin typeface="Arial"/>
              <a:ea typeface="Arial"/>
              <a:cs typeface="Arial"/>
              <a:sym typeface="Arial"/>
            </a:endParaRPr>
          </a:p>
          <a:p>
            <a:pPr algn="r" defTabSz="12700" rtl="1">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600">
                <a:latin typeface="+mj-lt"/>
                <a:ea typeface="+mj-ea"/>
                <a:cs typeface="+mj-cs"/>
                <a:sym typeface="Helvetica"/>
              </a:defRPr>
            </a:pPr>
            <a:r>
              <a:rPr>
                <a:latin typeface="Arial"/>
                <a:ea typeface="Arial"/>
                <a:cs typeface="Arial"/>
                <a:sym typeface="Arial"/>
              </a:rPr>
              <a:t>לפני משימה: צור קובץ ב־progress עם תאריך ושעה.</a:t>
            </a:r>
            <a:endParaRPr>
              <a:latin typeface="Arial"/>
              <a:ea typeface="Arial"/>
              <a:cs typeface="Arial"/>
              <a:sym typeface="Arial"/>
            </a:endParaRPr>
          </a:p>
          <a:p>
            <a:pPr algn="r" defTabSz="12700" rtl="1">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600">
                <a:latin typeface="+mj-lt"/>
                <a:ea typeface="+mj-ea"/>
                <a:cs typeface="+mj-cs"/>
                <a:sym typeface="Helvetica"/>
              </a:defRPr>
            </a:pPr>
            <a:r>
              <a:rPr>
                <a:latin typeface="Arial"/>
                <a:ea typeface="Arial"/>
                <a:cs typeface="Arial"/>
                <a:sym typeface="Arial"/>
              </a:rPr>
              <a:t>כתוב בו את הבקשה, הפירוש וההנחות שלך.</a:t>
            </a:r>
            <a:endParaRPr>
              <a:latin typeface="Arial"/>
              <a:ea typeface="Arial"/>
              <a:cs typeface="Arial"/>
              <a:sym typeface="Arial"/>
            </a:endParaRPr>
          </a:p>
          <a:p>
            <a:pPr algn="r" defTabSz="12700" rtl="1">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600">
                <a:latin typeface="+mj-lt"/>
                <a:ea typeface="+mj-ea"/>
                <a:cs typeface="+mj-cs"/>
                <a:sym typeface="Helvetica"/>
              </a:defRPr>
            </a:pPr>
            <a:r>
              <a:rPr>
                <a:latin typeface="Arial"/>
                <a:ea typeface="Arial"/>
                <a:cs typeface="Arial"/>
                <a:sym typeface="Arial"/>
              </a:rPr>
              <a:t>אחרי משימה: תעד מסכים, תוצרים וקבצים שנוצרו או השתנו.</a:t>
            </a:r>
            <a:endParaRPr>
              <a:latin typeface="Arial"/>
              <a:ea typeface="Arial"/>
              <a:cs typeface="Arial"/>
              <a:sym typeface="Arial"/>
            </a:endParaRPr>
          </a:p>
          <a:p>
            <a:pPr algn="r" defTabSz="12700" rtl="1">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600">
                <a:latin typeface="+mj-lt"/>
                <a:ea typeface="+mj-ea"/>
                <a:cs typeface="+mj-cs"/>
                <a:sym typeface="Helvetica"/>
              </a:defRPr>
            </a:pPr>
            <a:r>
              <a:rPr>
                <a:latin typeface="Arial"/>
                <a:ea typeface="Arial"/>
                <a:cs typeface="Arial"/>
                <a:sym typeface="Arial"/>
              </a:rPr>
              <a:t>כתוב מה נשאר ומה הצעד הבא.</a:t>
            </a:r>
            <a:endParaRPr>
              <a:latin typeface="Arial"/>
              <a:ea typeface="Arial"/>
              <a:cs typeface="Arial"/>
              <a:sym typeface="Arial"/>
            </a:endParaRPr>
          </a:p>
          <a:p>
            <a:pPr algn="r" defTabSz="12700" rtl="1">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600">
                <a:latin typeface="+mj-lt"/>
                <a:ea typeface="+mj-ea"/>
                <a:cs typeface="+mj-cs"/>
                <a:sym typeface="Helvetica"/>
              </a:defRPr>
            </a:pPr>
            <a:endParaRPr>
              <a:latin typeface="Arial"/>
              <a:ea typeface="Arial"/>
              <a:cs typeface="Arial"/>
              <a:sym typeface="Arial"/>
            </a:endParaRPr>
          </a:p>
          <a:p>
            <a:pPr algn="r" defTabSz="12700" rtl="1">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600">
                <a:latin typeface="+mj-lt"/>
                <a:ea typeface="+mj-ea"/>
                <a:cs typeface="+mj-cs"/>
                <a:sym typeface="Helvetica"/>
              </a:defRPr>
            </a:pPr>
            <a:r>
              <a:rPr>
                <a:latin typeface="Arial"/>
                <a:ea typeface="Arial"/>
                <a:cs typeface="Arial"/>
                <a:sym typeface="Arial"/>
              </a:rPr>
              <a:t>תיקיות: docs, progress, issues, src.</a:t>
            </a:r>
            <a:endParaRPr>
              <a:latin typeface="Arial"/>
              <a:ea typeface="Arial"/>
              <a:cs typeface="Arial"/>
              <a:sym typeface="Arial"/>
            </a:endParaRPr>
          </a:p>
          <a:p>
            <a:pPr algn="r" defTabSz="12700" rtl="1">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600">
                <a:latin typeface="+mj-lt"/>
                <a:ea typeface="+mj-ea"/>
                <a:cs typeface="+mj-cs"/>
                <a:sym typeface="Helvetica"/>
              </a:defRPr>
            </a:pPr>
            <a:r>
              <a:rPr>
                <a:latin typeface="Arial"/>
                <a:ea typeface="Arial"/>
                <a:cs typeface="Arial"/>
                <a:sym typeface="Arial"/>
              </a:rPr>
              <a:t>קבצים: README.md, AGENTS.md, CLAUDE.md.</a:t>
            </a:r>
            <a:endParaRPr>
              <a:latin typeface="Arial"/>
              <a:ea typeface="Arial"/>
              <a:cs typeface="Arial"/>
              <a:sym typeface="Arial"/>
            </a:endParaRPr>
          </a:p>
          <a:p>
            <a:pPr algn="r" defTabSz="12700" rtl="1">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600">
                <a:latin typeface="+mj-lt"/>
                <a:ea typeface="+mj-ea"/>
                <a:cs typeface="+mj-cs"/>
                <a:sym typeface="Helvetica"/>
              </a:defRPr>
            </a:pPr>
            <a:r>
              <a:rPr>
                <a:latin typeface="Arial"/>
                <a:ea typeface="Arial"/>
                <a:cs typeface="Arial"/>
                <a:sym typeface="Arial"/>
              </a:rPr>
              <a:t>כל סוכן שמצטרף קורא את התיעוד לפני תחילת העבודה.</a:t>
            </a:r>
          </a:p>
        </p:txBody>
      </p:sp>
    </p:spTree>
  </p:cSld>
  <p:clrMapOvr>
    <a:masterClrMapping/>
  </p:clrMapOvr>
  <p:transition xmlns:p14="http://schemas.microsoft.com/office/powerpoint/2010/main" spd="med" advClick="1"/>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FFF"/>
        </a:solidFill>
      </p:bgPr>
    </p:bg>
    <p:spTree>
      <p:nvGrpSpPr>
        <p:cNvPr id="1" name=""/>
        <p:cNvGrpSpPr/>
        <p:nvPr/>
      </p:nvGrpSpPr>
      <p:grpSpPr>
        <a:xfrm>
          <a:off x="0" y="0"/>
          <a:ext cx="0" cy="0"/>
          <a:chOff x="0" y="0"/>
          <a:chExt cx="0" cy="0"/>
        </a:xfrm>
      </p:grpSpPr>
      <p:sp>
        <p:nvSpPr>
          <p:cNvPr id="278" name="text"/>
          <p:cNvSpPr txBox="1"/>
          <p:nvPr/>
        </p:nvSpPr>
        <p:spPr>
          <a:xfrm>
            <a:off x="457200" y="323850"/>
            <a:ext cx="8229600" cy="39476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defRPr b="1" sz="2800">
                <a:solidFill>
                  <a:srgbClr val="D75BE2"/>
                </a:solidFill>
              </a:defRPr>
            </a:lvl1pPr>
          </a:lstStyle>
          <a:p>
            <a:pPr>
              <a:defRPr>
                <a:latin typeface="Inter"/>
                <a:ea typeface="Inter"/>
                <a:cs typeface="Inter"/>
                <a:sym typeface="Inter"/>
              </a:defRPr>
            </a:pPr>
            <a:r>
              <a:rPr>
                <a:latin typeface="Arial"/>
                <a:ea typeface="Arial"/>
                <a:cs typeface="Arial"/>
                <a:sym typeface="Arial"/>
              </a:rPr>
              <a:t>קובצי הפרויקט ותפקידיהם</a:t>
            </a:r>
          </a:p>
        </p:txBody>
      </p:sp>
      <p:sp>
        <p:nvSpPr>
          <p:cNvPr id="279" name="text"/>
          <p:cNvSpPr txBox="1"/>
          <p:nvPr/>
        </p:nvSpPr>
        <p:spPr>
          <a:xfrm>
            <a:off x="5905500" y="4876800"/>
            <a:ext cx="2781300" cy="127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800">
                <a:solidFill>
                  <a:srgbClr val="705B73"/>
                </a:solidFill>
                <a:latin typeface="Inter"/>
                <a:ea typeface="Inter"/>
                <a:cs typeface="Inter"/>
                <a:sym typeface="Inter"/>
              </a:defRPr>
            </a:pPr>
            <a:r>
              <a:rPr>
                <a:latin typeface="Arial"/>
                <a:ea typeface="Arial"/>
                <a:cs typeface="Arial"/>
                <a:sym typeface="Arial"/>
              </a:rPr>
              <a:t>שיעור</a:t>
            </a:r>
            <a:r>
              <a:t>: </a:t>
            </a:r>
            <a:r>
              <a:rPr>
                <a:latin typeface="Arial"/>
                <a:ea typeface="Arial"/>
                <a:cs typeface="Arial"/>
                <a:sym typeface="Arial"/>
              </a:rPr>
              <a:t>פיתוח עם סוכני־קוד</a:t>
            </a:r>
          </a:p>
        </p:txBody>
      </p:sp>
      <p:sp>
        <p:nvSpPr>
          <p:cNvPr id="280" name="code"/>
          <p:cNvSpPr txBox="1"/>
          <p:nvPr/>
        </p:nvSpPr>
        <p:spPr>
          <a:xfrm>
            <a:off x="457200" y="4876800"/>
            <a:ext cx="333375" cy="127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defRPr sz="800">
                <a:solidFill>
                  <a:srgbClr val="705B73"/>
                </a:solidFill>
                <a:latin typeface="Inter"/>
                <a:ea typeface="Inter"/>
                <a:cs typeface="Inter"/>
                <a:sym typeface="Inter"/>
              </a:defRPr>
            </a:lvl1pPr>
          </a:lstStyle>
          <a:p>
            <a:pPr/>
            <a:r>
              <a:t>23</a:t>
            </a:r>
          </a:p>
        </p:txBody>
      </p:sp>
      <p:sp>
        <p:nvSpPr>
          <p:cNvPr id="281" name="CLAUDE.md"/>
          <p:cNvSpPr txBox="1"/>
          <p:nvPr/>
        </p:nvSpPr>
        <p:spPr>
          <a:xfrm>
            <a:off x="457200" y="1397000"/>
            <a:ext cx="2286001" cy="25922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r>
              <a:t>CLAUDE.md</a:t>
            </a:r>
          </a:p>
        </p:txBody>
      </p:sp>
      <p:sp>
        <p:nvSpPr>
          <p:cNvPr id="282" name="זה הקובץ שקלוד קורא בתחילת עבודה על פרוייקט"/>
          <p:cNvSpPr txBox="1"/>
          <p:nvPr/>
        </p:nvSpPr>
        <p:spPr>
          <a:xfrm>
            <a:off x="3606800" y="1397000"/>
            <a:ext cx="5080000" cy="25922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defRPr/>
            </a:lvl1pPr>
          </a:lstStyle>
          <a:p>
            <a:pPr/>
            <a:r>
              <a:t>זה הקובץ שקלוד קורא בתחילת עבודה על פרוייקט</a:t>
            </a:r>
          </a:p>
        </p:txBody>
      </p:sp>
      <p:sp>
        <p:nvSpPr>
          <p:cNvPr id="283" name="זה קובץ שמיועד לכל הסוכנים בפרוייקט"/>
          <p:cNvSpPr txBox="1"/>
          <p:nvPr/>
        </p:nvSpPr>
        <p:spPr>
          <a:xfrm>
            <a:off x="3606800" y="2413000"/>
            <a:ext cx="5080000" cy="25922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defRPr/>
            </a:lvl1pPr>
          </a:lstStyle>
          <a:p>
            <a:pPr/>
            <a:r>
              <a:t>זה קובץ שמיועד לכל הסוכנים בפרוייקט </a:t>
            </a:r>
          </a:p>
        </p:txBody>
      </p:sp>
      <p:sp>
        <p:nvSpPr>
          <p:cNvPr id="284" name="AGENTS.md"/>
          <p:cNvSpPr txBox="1"/>
          <p:nvPr/>
        </p:nvSpPr>
        <p:spPr>
          <a:xfrm>
            <a:off x="457200" y="2413000"/>
            <a:ext cx="2286000" cy="25922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r>
              <a:t>AGENTS.md</a:t>
            </a:r>
          </a:p>
        </p:txBody>
      </p:sp>
      <p:sp>
        <p:nvSpPr>
          <p:cNvPr id="285" name="README.md"/>
          <p:cNvSpPr txBox="1"/>
          <p:nvPr/>
        </p:nvSpPr>
        <p:spPr>
          <a:xfrm>
            <a:off x="457200" y="3429000"/>
            <a:ext cx="2286000" cy="25922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r>
              <a:t>README.md</a:t>
            </a:r>
          </a:p>
        </p:txBody>
      </p:sp>
      <p:sp>
        <p:nvSpPr>
          <p:cNvPr id="286" name="זה קובץ שמיועד לכל בני האדם בפרוייקט"/>
          <p:cNvSpPr txBox="1"/>
          <p:nvPr/>
        </p:nvSpPr>
        <p:spPr>
          <a:xfrm>
            <a:off x="3606800" y="3429000"/>
            <a:ext cx="5080000" cy="25922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defRPr/>
            </a:lvl1pPr>
          </a:lstStyle>
          <a:p>
            <a:pPr/>
            <a:r>
              <a:t>זה קובץ שמיועד לכל בני האדם בפרוייקט </a:t>
            </a:r>
          </a:p>
        </p:txBody>
      </p:sp>
      <p:sp>
        <p:nvSpPr>
          <p:cNvPr id="287" name="Line"/>
          <p:cNvSpPr/>
          <p:nvPr/>
        </p:nvSpPr>
        <p:spPr>
          <a:xfrm flipH="1">
            <a:off x="727868" y="1778000"/>
            <a:ext cx="1" cy="508000"/>
          </a:xfrm>
          <a:prstGeom prst="line">
            <a:avLst/>
          </a:prstGeom>
          <a:ln w="25400">
            <a:solidFill>
              <a:schemeClr val="accent1"/>
            </a:solidFill>
            <a:tailEnd type="triangle"/>
          </a:ln>
          <a:effectLst>
            <a:outerShdw sx="100000" sy="100000" kx="0" ky="0" algn="b" rotWithShape="0" blurRad="38100" dist="20000" dir="5400000">
              <a:srgbClr val="000000">
                <a:alpha val="38000"/>
              </a:srgbClr>
            </a:outerShdw>
          </a:effectLst>
        </p:spPr>
        <p:txBody>
          <a:bodyPr lIns="0" tIns="0" rIns="0" bIns="0"/>
          <a:lstStyle/>
          <a:p>
            <a:pPr/>
          </a:p>
        </p:txBody>
      </p:sp>
    </p:spTree>
  </p:cSld>
  <p:clrMapOvr>
    <a:masterClrMapping/>
  </p:clrMapOvr>
  <p:transition xmlns:p14="http://schemas.microsoft.com/office/powerpoint/2010/main" spd="med" advClick="1"/>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FFF"/>
        </a:solidFill>
      </p:bgPr>
    </p:bg>
    <p:spTree>
      <p:nvGrpSpPr>
        <p:cNvPr id="1" name=""/>
        <p:cNvGrpSpPr/>
        <p:nvPr/>
      </p:nvGrpSpPr>
      <p:grpSpPr>
        <a:xfrm>
          <a:off x="0" y="0"/>
          <a:ext cx="0" cy="0"/>
          <a:chOff x="0" y="0"/>
          <a:chExt cx="0" cy="0"/>
        </a:xfrm>
      </p:grpSpPr>
      <p:sp>
        <p:nvSpPr>
          <p:cNvPr id="291" name="text"/>
          <p:cNvSpPr txBox="1"/>
          <p:nvPr/>
        </p:nvSpPr>
        <p:spPr>
          <a:xfrm>
            <a:off x="457200" y="323850"/>
            <a:ext cx="8229600" cy="431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b="1" sz="2800">
                <a:solidFill>
                  <a:srgbClr val="D75BE2"/>
                </a:solidFill>
                <a:latin typeface="Inter"/>
                <a:ea typeface="Inter"/>
                <a:cs typeface="Inter"/>
                <a:sym typeface="Inter"/>
              </a:defRPr>
            </a:pPr>
            <a:r>
              <a:rPr>
                <a:latin typeface="Arial"/>
                <a:ea typeface="Arial"/>
                <a:cs typeface="Arial"/>
                <a:sym typeface="Arial"/>
              </a:rPr>
              <a:t>פרומפט להקמת פרויקט</a:t>
            </a:r>
            <a:r>
              <a:t>: </a:t>
            </a:r>
            <a:r>
              <a:rPr>
                <a:latin typeface="Arial"/>
                <a:ea typeface="Arial"/>
                <a:cs typeface="Arial"/>
                <a:sym typeface="Arial"/>
              </a:rPr>
              <a:t>חלק ב׳</a:t>
            </a:r>
          </a:p>
        </p:txBody>
      </p:sp>
      <p:sp>
        <p:nvSpPr>
          <p:cNvPr id="292" name="text"/>
          <p:cNvSpPr txBox="1"/>
          <p:nvPr/>
        </p:nvSpPr>
        <p:spPr>
          <a:xfrm>
            <a:off x="5905500" y="4876800"/>
            <a:ext cx="2781300" cy="127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800">
                <a:solidFill>
                  <a:srgbClr val="705B73"/>
                </a:solidFill>
                <a:latin typeface="Inter"/>
                <a:ea typeface="Inter"/>
                <a:cs typeface="Inter"/>
                <a:sym typeface="Inter"/>
              </a:defRPr>
            </a:pPr>
            <a:r>
              <a:rPr>
                <a:latin typeface="Arial"/>
                <a:ea typeface="Arial"/>
                <a:cs typeface="Arial"/>
                <a:sym typeface="Arial"/>
              </a:rPr>
              <a:t>שיעור</a:t>
            </a:r>
            <a:r>
              <a:t>: </a:t>
            </a:r>
            <a:r>
              <a:rPr>
                <a:latin typeface="Arial"/>
                <a:ea typeface="Arial"/>
                <a:cs typeface="Arial"/>
                <a:sym typeface="Arial"/>
              </a:rPr>
              <a:t>פיתוח עם סוכני־קוד</a:t>
            </a:r>
          </a:p>
        </p:txBody>
      </p:sp>
      <p:sp>
        <p:nvSpPr>
          <p:cNvPr id="293" name="code"/>
          <p:cNvSpPr txBox="1"/>
          <p:nvPr/>
        </p:nvSpPr>
        <p:spPr>
          <a:xfrm>
            <a:off x="457200" y="4876800"/>
            <a:ext cx="333375" cy="127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defRPr sz="800">
                <a:solidFill>
                  <a:srgbClr val="705B73"/>
                </a:solidFill>
                <a:latin typeface="Inter"/>
                <a:ea typeface="Inter"/>
                <a:cs typeface="Inter"/>
                <a:sym typeface="Inter"/>
              </a:defRPr>
            </a:lvl1pPr>
          </a:lstStyle>
          <a:p>
            <a:pPr/>
            <a:r>
              <a:t>24</a:t>
            </a:r>
          </a:p>
        </p:txBody>
      </p:sp>
      <p:sp>
        <p:nvSpPr>
          <p:cNvPr id="294" name="text"/>
          <p:cNvSpPr txBox="1"/>
          <p:nvPr/>
        </p:nvSpPr>
        <p:spPr>
          <a:xfrm>
            <a:off x="523875" y="1133475"/>
            <a:ext cx="8096250" cy="272077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1600">
                <a:solidFill>
                  <a:srgbClr val="272525"/>
                </a:solidFill>
                <a:latin typeface="Inter"/>
                <a:ea typeface="Inter"/>
                <a:cs typeface="Inter"/>
                <a:sym typeface="Inter"/>
              </a:defRPr>
            </a:pPr>
            <a:r>
              <a:rPr>
                <a:latin typeface="Arial"/>
                <a:ea typeface="Arial"/>
                <a:cs typeface="Arial"/>
                <a:sym typeface="Arial"/>
              </a:rPr>
              <a:t>כתוב בקובץ </a:t>
            </a:r>
            <a:r>
              <a:t>docs/spec.md </a:t>
            </a:r>
            <a:r>
              <a:rPr>
                <a:latin typeface="Arial"/>
                <a:ea typeface="Arial"/>
                <a:cs typeface="Arial"/>
                <a:sym typeface="Arial"/>
              </a:rPr>
              <a:t>את המטרה</a:t>
            </a:r>
            <a:r>
              <a:t>, </a:t>
            </a:r>
            <a:r>
              <a:rPr>
                <a:latin typeface="Arial"/>
                <a:ea typeface="Arial"/>
                <a:cs typeface="Arial"/>
                <a:sym typeface="Arial"/>
              </a:rPr>
              <a:t>קהל היעד וגבולות הגרסה</a:t>
            </a:r>
            <a:r>
              <a:t>.</a:t>
            </a:r>
          </a:p>
          <a:p>
            <a:pPr algn="r" rtl="1">
              <a:defRPr sz="1600">
                <a:solidFill>
                  <a:srgbClr val="272525"/>
                </a:solidFill>
                <a:latin typeface="Inter"/>
                <a:ea typeface="Inter"/>
                <a:cs typeface="Inter"/>
                <a:sym typeface="Inter"/>
              </a:defRPr>
            </a:pPr>
            <a:r>
              <a:rPr>
                <a:latin typeface="Arial"/>
                <a:ea typeface="Arial"/>
                <a:cs typeface="Arial"/>
                <a:sym typeface="Arial"/>
              </a:rPr>
              <a:t>הוסף תרחישי שימוש</a:t>
            </a:r>
            <a:r>
              <a:t>, </a:t>
            </a:r>
            <a:r>
              <a:rPr>
                <a:latin typeface="Arial"/>
                <a:ea typeface="Arial"/>
                <a:cs typeface="Arial"/>
                <a:sym typeface="Arial"/>
              </a:rPr>
              <a:t>נתונים</a:t>
            </a:r>
            <a:r>
              <a:t>, </a:t>
            </a:r>
            <a:r>
              <a:rPr>
                <a:latin typeface="Arial"/>
                <a:ea typeface="Arial"/>
                <a:cs typeface="Arial"/>
                <a:sym typeface="Arial"/>
              </a:rPr>
              <a:t>הרשאות ותנאי קבלה מדידים</a:t>
            </a:r>
            <a:r>
              <a:t>.</a:t>
            </a:r>
          </a:p>
          <a:p>
            <a:pPr algn="r" rtl="1">
              <a:defRPr sz="1600">
                <a:solidFill>
                  <a:srgbClr val="272525"/>
                </a:solidFill>
                <a:latin typeface="Inter"/>
                <a:ea typeface="Inter"/>
                <a:cs typeface="Inter"/>
                <a:sym typeface="Inter"/>
              </a:defRPr>
            </a:pPr>
            <a:r>
              <a:rPr>
                <a:latin typeface="Arial"/>
                <a:ea typeface="Arial"/>
                <a:cs typeface="Arial"/>
                <a:sym typeface="Arial"/>
              </a:rPr>
              <a:t>שמור החלטות והנמקות בקובץ </a:t>
            </a:r>
            <a:r>
              <a:t>docs/decisions.md.</a:t>
            </a:r>
          </a:p>
          <a:p>
            <a:pPr algn="r" rtl="1">
              <a:defRPr sz="1600">
                <a:solidFill>
                  <a:srgbClr val="272525"/>
                </a:solidFill>
                <a:latin typeface="Inter"/>
                <a:ea typeface="Inter"/>
                <a:cs typeface="Inter"/>
                <a:sym typeface="Inter"/>
              </a:defRPr>
            </a:pPr>
            <a:r>
              <a:rPr>
                <a:latin typeface="Arial"/>
                <a:ea typeface="Arial"/>
                <a:cs typeface="Arial"/>
                <a:sym typeface="Arial"/>
              </a:rPr>
              <a:t>צור הוראות עבודה ב־</a:t>
            </a:r>
            <a:r>
              <a:t>AGENTS.md </a:t>
            </a:r>
            <a:r>
              <a:rPr>
                <a:latin typeface="Arial"/>
                <a:ea typeface="Arial"/>
                <a:cs typeface="Arial"/>
                <a:sym typeface="Arial"/>
              </a:rPr>
              <a:t>והתאם אותן לכלי שבו אנו עובדים</a:t>
            </a:r>
            <a:r>
              <a:t>.</a:t>
            </a:r>
          </a:p>
          <a:p>
            <a:pPr algn="r" rtl="1">
              <a:defRPr sz="1600">
                <a:solidFill>
                  <a:srgbClr val="272525"/>
                </a:solidFill>
                <a:latin typeface="Inter"/>
                <a:ea typeface="Inter"/>
                <a:cs typeface="Inter"/>
                <a:sym typeface="Inter"/>
              </a:defRPr>
            </a:pPr>
            <a:r>
              <a:rPr>
                <a:latin typeface="Arial"/>
                <a:ea typeface="Arial"/>
                <a:cs typeface="Arial"/>
                <a:sym typeface="Arial"/>
              </a:rPr>
              <a:t>בשימוש ב־</a:t>
            </a:r>
            <a:r>
              <a:t>Claude Code </a:t>
            </a:r>
            <a:r>
              <a:rPr>
                <a:latin typeface="Arial"/>
                <a:ea typeface="Arial"/>
                <a:cs typeface="Arial"/>
                <a:sym typeface="Arial"/>
              </a:rPr>
              <a:t>הוסף </a:t>
            </a:r>
            <a:r>
              <a:t>CLAUDE.md </a:t>
            </a:r>
            <a:r>
              <a:rPr>
                <a:latin typeface="Arial"/>
                <a:ea typeface="Arial"/>
                <a:cs typeface="Arial"/>
                <a:sym typeface="Arial"/>
              </a:rPr>
              <a:t>שמפנה להנחיות המשותפות</a:t>
            </a:r>
            <a:r>
              <a:t>.</a:t>
            </a:r>
          </a:p>
          <a:p>
            <a:pPr algn="r" rtl="1">
              <a:defRPr sz="1600">
                <a:solidFill>
                  <a:srgbClr val="272525"/>
                </a:solidFill>
                <a:latin typeface="Inter"/>
                <a:ea typeface="Inter"/>
                <a:cs typeface="Inter"/>
                <a:sym typeface="Inter"/>
              </a:defRPr>
            </a:pPr>
            <a:r>
              <a:rPr>
                <a:latin typeface="Arial"/>
                <a:ea typeface="Arial"/>
                <a:cs typeface="Arial"/>
                <a:sym typeface="Arial"/>
              </a:rPr>
              <a:t>תעד בקובץ </a:t>
            </a:r>
            <a:r>
              <a:t>README.md </a:t>
            </a:r>
            <a:r>
              <a:rPr>
                <a:latin typeface="Arial"/>
                <a:ea typeface="Arial"/>
                <a:cs typeface="Arial"/>
                <a:sym typeface="Arial"/>
              </a:rPr>
              <a:t>התקנה</a:t>
            </a:r>
            <a:r>
              <a:t>, </a:t>
            </a:r>
            <a:r>
              <a:rPr>
                <a:latin typeface="Arial"/>
                <a:ea typeface="Arial"/>
                <a:cs typeface="Arial"/>
                <a:sym typeface="Arial"/>
              </a:rPr>
              <a:t>הפעלה ופקודות בדיקה</a:t>
            </a:r>
            <a:r>
              <a:t>.</a:t>
            </a:r>
          </a:p>
          <a:p>
            <a:pPr algn="r" rtl="1">
              <a:defRPr sz="1600">
                <a:solidFill>
                  <a:srgbClr val="272525"/>
                </a:solidFill>
                <a:latin typeface="Inter"/>
                <a:ea typeface="Inter"/>
                <a:cs typeface="Inter"/>
                <a:sym typeface="Inter"/>
              </a:defRPr>
            </a:pPr>
            <a:r>
              <a:rPr>
                <a:latin typeface="Arial"/>
                <a:ea typeface="Arial"/>
                <a:cs typeface="Arial"/>
                <a:sym typeface="Arial"/>
              </a:rPr>
              <a:t>חלק את העבודה למשימות קטנות ושמור אותן ב־</a:t>
            </a:r>
            <a:r>
              <a:t>docs/status.md.</a:t>
            </a:r>
          </a:p>
          <a:p>
            <a:pPr algn="r" rtl="1">
              <a:defRPr sz="1600">
                <a:solidFill>
                  <a:srgbClr val="272525"/>
                </a:solidFill>
                <a:latin typeface="Inter"/>
                <a:ea typeface="Inter"/>
                <a:cs typeface="Inter"/>
                <a:sym typeface="Inter"/>
              </a:defRPr>
            </a:pPr>
            <a:r>
              <a:rPr>
                <a:latin typeface="Arial"/>
                <a:ea typeface="Arial"/>
                <a:cs typeface="Arial"/>
                <a:sym typeface="Arial"/>
              </a:rPr>
              <a:t>הצג לי את האפיון ואת התוכנית לקבלת החלטה לפני המימוש</a:t>
            </a:r>
            <a:r>
              <a:t>.</a:t>
            </a:r>
          </a:p>
          <a:p>
            <a:pPr algn="r" rtl="1">
              <a:defRPr sz="1600">
                <a:solidFill>
                  <a:srgbClr val="272525"/>
                </a:solidFill>
                <a:latin typeface="Inter"/>
                <a:ea typeface="Inter"/>
                <a:cs typeface="Inter"/>
                <a:sym typeface="Inter"/>
              </a:defRPr>
            </a:pPr>
            <a:r>
              <a:rPr>
                <a:latin typeface="Arial"/>
                <a:ea typeface="Arial"/>
                <a:cs typeface="Arial"/>
                <a:sym typeface="Arial"/>
              </a:rPr>
              <a:t>לאחר אישור</a:t>
            </a:r>
            <a:r>
              <a:t>, </a:t>
            </a:r>
            <a:r>
              <a:rPr>
                <a:latin typeface="Arial"/>
                <a:ea typeface="Arial"/>
                <a:cs typeface="Arial"/>
                <a:sym typeface="Arial"/>
              </a:rPr>
              <a:t>בנה תרחיש שימוש שלם אחד עם נתוני דוגמה</a:t>
            </a:r>
            <a:r>
              <a:t>.</a:t>
            </a:r>
          </a:p>
          <a:p>
            <a:pPr algn="r" rtl="1">
              <a:defRPr sz="1600">
                <a:solidFill>
                  <a:srgbClr val="272525"/>
                </a:solidFill>
                <a:latin typeface="Inter"/>
                <a:ea typeface="Inter"/>
                <a:cs typeface="Inter"/>
                <a:sym typeface="Inter"/>
              </a:defRPr>
            </a:pPr>
            <a:r>
              <a:rPr>
                <a:latin typeface="Arial"/>
                <a:ea typeface="Arial"/>
                <a:cs typeface="Arial"/>
                <a:sym typeface="Arial"/>
              </a:rPr>
              <a:t>כתוב בדיקות להתנהגות</a:t>
            </a:r>
            <a:r>
              <a:t>, </a:t>
            </a:r>
            <a:r>
              <a:rPr>
                <a:latin typeface="Arial"/>
                <a:ea typeface="Arial"/>
                <a:cs typeface="Arial"/>
                <a:sym typeface="Arial"/>
              </a:rPr>
              <a:t>הרץ אותן ובדוק את התוצאה בממשק</a:t>
            </a:r>
            <a:r>
              <a:t>.</a:t>
            </a:r>
          </a:p>
          <a:p>
            <a:pPr algn="r" rtl="1">
              <a:defRPr sz="1600">
                <a:solidFill>
                  <a:srgbClr val="272525"/>
                </a:solidFill>
                <a:latin typeface="Inter"/>
                <a:ea typeface="Inter"/>
                <a:cs typeface="Inter"/>
                <a:sym typeface="Inter"/>
              </a:defRPr>
            </a:pPr>
            <a:r>
              <a:rPr>
                <a:latin typeface="Arial"/>
                <a:ea typeface="Arial"/>
                <a:cs typeface="Arial"/>
                <a:sym typeface="Arial"/>
              </a:rPr>
              <a:t>בסיום דווח מה עובד</a:t>
            </a:r>
            <a:r>
              <a:t>, </a:t>
            </a:r>
            <a:r>
              <a:rPr>
                <a:latin typeface="Arial"/>
                <a:ea typeface="Arial"/>
                <a:cs typeface="Arial"/>
                <a:sym typeface="Arial"/>
              </a:rPr>
              <a:t>מה נבדק בפועל ומה המשימה הבאה</a:t>
            </a:r>
            <a:r>
              <a:t>.</a:t>
            </a:r>
          </a:p>
        </p:txBody>
      </p:sp>
    </p:spTree>
  </p:cSld>
  <p:clrMapOvr>
    <a:masterClrMapping/>
  </p:clrMapOvr>
  <p:transition xmlns:p14="http://schemas.microsoft.com/office/powerpoint/2010/main" spd="med" advClick="1"/>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FFF"/>
        </a:solidFill>
      </p:bgPr>
    </p:bg>
    <p:spTree>
      <p:nvGrpSpPr>
        <p:cNvPr id="1" name=""/>
        <p:cNvGrpSpPr/>
        <p:nvPr/>
      </p:nvGrpSpPr>
      <p:grpSpPr>
        <a:xfrm>
          <a:off x="0" y="0"/>
          <a:ext cx="0" cy="0"/>
          <a:chOff x="0" y="0"/>
          <a:chExt cx="0" cy="0"/>
        </a:xfrm>
      </p:grpSpPr>
      <p:sp>
        <p:nvSpPr>
          <p:cNvPr id="298" name="text"/>
          <p:cNvSpPr txBox="1"/>
          <p:nvPr/>
        </p:nvSpPr>
        <p:spPr>
          <a:xfrm>
            <a:off x="457200" y="323850"/>
            <a:ext cx="8229600" cy="39476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defRPr b="1" sz="2800">
                <a:solidFill>
                  <a:srgbClr val="D75BE2"/>
                </a:solidFill>
              </a:defRPr>
            </a:lvl1pPr>
          </a:lstStyle>
          <a:p>
            <a:pPr>
              <a:defRPr>
                <a:latin typeface="Inter"/>
                <a:ea typeface="Inter"/>
                <a:cs typeface="Inter"/>
                <a:sym typeface="Inter"/>
              </a:defRPr>
            </a:pPr>
            <a:r>
              <a:rPr>
                <a:latin typeface="Arial"/>
                <a:ea typeface="Arial"/>
                <a:cs typeface="Arial"/>
                <a:sym typeface="Arial"/>
              </a:rPr>
              <a:t>הפעלת הפרויקט במחשב</a:t>
            </a:r>
          </a:p>
        </p:txBody>
      </p:sp>
      <p:sp>
        <p:nvSpPr>
          <p:cNvPr id="299" name="text"/>
          <p:cNvSpPr txBox="1"/>
          <p:nvPr/>
        </p:nvSpPr>
        <p:spPr>
          <a:xfrm>
            <a:off x="5905500" y="4876800"/>
            <a:ext cx="2781300" cy="127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800">
                <a:solidFill>
                  <a:srgbClr val="705B73"/>
                </a:solidFill>
                <a:latin typeface="Inter"/>
                <a:ea typeface="Inter"/>
                <a:cs typeface="Inter"/>
                <a:sym typeface="Inter"/>
              </a:defRPr>
            </a:pPr>
            <a:r>
              <a:rPr>
                <a:latin typeface="Arial"/>
                <a:ea typeface="Arial"/>
                <a:cs typeface="Arial"/>
                <a:sym typeface="Arial"/>
              </a:rPr>
              <a:t>שיעור</a:t>
            </a:r>
            <a:r>
              <a:t>: </a:t>
            </a:r>
            <a:r>
              <a:rPr>
                <a:latin typeface="Arial"/>
                <a:ea typeface="Arial"/>
                <a:cs typeface="Arial"/>
                <a:sym typeface="Arial"/>
              </a:rPr>
              <a:t>פיתוח עם סוכני־קוד</a:t>
            </a:r>
          </a:p>
        </p:txBody>
      </p:sp>
      <p:sp>
        <p:nvSpPr>
          <p:cNvPr id="300" name="code"/>
          <p:cNvSpPr txBox="1"/>
          <p:nvPr/>
        </p:nvSpPr>
        <p:spPr>
          <a:xfrm>
            <a:off x="457200" y="4876800"/>
            <a:ext cx="333375" cy="127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defRPr sz="800">
                <a:solidFill>
                  <a:srgbClr val="705B73"/>
                </a:solidFill>
                <a:latin typeface="Inter"/>
                <a:ea typeface="Inter"/>
                <a:cs typeface="Inter"/>
                <a:sym typeface="Inter"/>
              </a:defRPr>
            </a:lvl1pPr>
          </a:lstStyle>
          <a:p>
            <a:pPr/>
            <a:r>
              <a:t>25</a:t>
            </a:r>
          </a:p>
        </p:txBody>
      </p:sp>
      <p:pic>
        <p:nvPicPr>
          <p:cNvPr id="301" name="image7.png" descr="image7.png"/>
          <p:cNvPicPr>
            <a:picLocks noChangeAspect="1"/>
          </p:cNvPicPr>
          <p:nvPr/>
        </p:nvPicPr>
        <p:blipFill>
          <a:blip r:embed="rId3">
            <a:extLst/>
          </a:blip>
          <a:stretch>
            <a:fillRect/>
          </a:stretch>
        </p:blipFill>
        <p:spPr>
          <a:xfrm>
            <a:off x="457200" y="2228099"/>
            <a:ext cx="4857750" cy="1068303"/>
          </a:xfrm>
          <a:prstGeom prst="rect">
            <a:avLst/>
          </a:prstGeom>
          <a:ln w="12700">
            <a:miter lim="400000"/>
          </a:ln>
        </p:spPr>
      </p:pic>
      <p:sp>
        <p:nvSpPr>
          <p:cNvPr id="302" name="text"/>
          <p:cNvSpPr txBox="1"/>
          <p:nvPr/>
        </p:nvSpPr>
        <p:spPr>
          <a:xfrm>
            <a:off x="5619750" y="1238250"/>
            <a:ext cx="3048000" cy="56627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b="1">
                <a:solidFill>
                  <a:srgbClr val="272525"/>
                </a:solidFill>
                <a:latin typeface="Inter"/>
                <a:ea typeface="Inter"/>
                <a:cs typeface="Inter"/>
                <a:sym typeface="Inter"/>
              </a:defRPr>
            </a:pPr>
            <a:r>
              <a:rPr>
                <a:latin typeface="Arial"/>
                <a:ea typeface="Arial"/>
                <a:cs typeface="Arial"/>
                <a:sym typeface="Arial"/>
              </a:rPr>
              <a:t>בתפריט </a:t>
            </a:r>
            <a:r>
              <a:t>Terminal </a:t>
            </a:r>
            <a:r>
              <a:rPr>
                <a:latin typeface="Arial"/>
                <a:ea typeface="Arial"/>
                <a:cs typeface="Arial"/>
                <a:sym typeface="Arial"/>
              </a:rPr>
              <a:t>בוחרים </a:t>
            </a:r>
            <a:r>
              <a:t>New Terminal</a:t>
            </a:r>
          </a:p>
        </p:txBody>
      </p:sp>
      <p:sp>
        <p:nvSpPr>
          <p:cNvPr id="303" name="Rectangle"/>
          <p:cNvSpPr/>
          <p:nvPr/>
        </p:nvSpPr>
        <p:spPr>
          <a:xfrm>
            <a:off x="5638800" y="2009775"/>
            <a:ext cx="2933700" cy="990600"/>
          </a:xfrm>
          <a:prstGeom prst="rect">
            <a:avLst/>
          </a:prstGeom>
          <a:solidFill>
            <a:srgbClr val="F7F5F8"/>
          </a:solidFill>
          <a:ln w="12700">
            <a:miter lim="400000"/>
          </a:ln>
        </p:spPr>
        <p:txBody>
          <a:bodyPr lIns="0" tIns="0" rIns="0" bIns="0"/>
          <a:lstStyle/>
          <a:p>
            <a:pPr/>
          </a:p>
        </p:txBody>
      </p:sp>
      <p:sp>
        <p:nvSpPr>
          <p:cNvPr id="304" name="code"/>
          <p:cNvSpPr txBox="1"/>
          <p:nvPr/>
        </p:nvSpPr>
        <p:spPr>
          <a:xfrm>
            <a:off x="5772150" y="2124075"/>
            <a:ext cx="2667000" cy="50093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700">
                <a:solidFill>
                  <a:srgbClr val="272525"/>
                </a:solidFill>
              </a:defRPr>
            </a:pPr>
            <a:r>
              <a:t>npm install</a:t>
            </a:r>
          </a:p>
          <a:p>
            <a:pPr>
              <a:defRPr sz="1700">
                <a:solidFill>
                  <a:srgbClr val="272525"/>
                </a:solidFill>
              </a:defRPr>
            </a:pPr>
            <a:r>
              <a:t>npm run dev</a:t>
            </a:r>
          </a:p>
        </p:txBody>
      </p:sp>
      <p:sp>
        <p:nvSpPr>
          <p:cNvPr id="305" name="text"/>
          <p:cNvSpPr txBox="1"/>
          <p:nvPr/>
        </p:nvSpPr>
        <p:spPr>
          <a:xfrm>
            <a:off x="5638800" y="3381375"/>
            <a:ext cx="3048000" cy="93309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1500">
                <a:solidFill>
                  <a:srgbClr val="272525"/>
                </a:solidFill>
                <a:latin typeface="Inter"/>
                <a:ea typeface="Inter"/>
                <a:cs typeface="Inter"/>
                <a:sym typeface="Inter"/>
              </a:defRPr>
            </a:pPr>
            <a:r>
              <a:rPr>
                <a:latin typeface="Arial"/>
                <a:ea typeface="Arial"/>
                <a:cs typeface="Arial"/>
                <a:sym typeface="Arial"/>
              </a:rPr>
              <a:t>אחרי שהסוכן יצר את הפרויקט</a:t>
            </a:r>
            <a:r>
              <a:t>:</a:t>
            </a:r>
          </a:p>
          <a:p>
            <a:pPr algn="r" rtl="1">
              <a:defRPr sz="1500">
                <a:solidFill>
                  <a:srgbClr val="272525"/>
                </a:solidFill>
                <a:latin typeface="Inter"/>
                <a:ea typeface="Inter"/>
                <a:cs typeface="Inter"/>
                <a:sym typeface="Inter"/>
              </a:defRPr>
            </a:pPr>
            <a:r>
              <a:rPr>
                <a:latin typeface="Arial"/>
                <a:ea typeface="Arial"/>
                <a:cs typeface="Arial"/>
                <a:sym typeface="Arial"/>
              </a:rPr>
              <a:t>מתקינים תלויות</a:t>
            </a:r>
            <a:r>
              <a:t>, </a:t>
            </a:r>
            <a:r>
              <a:rPr>
                <a:latin typeface="Arial"/>
                <a:ea typeface="Arial"/>
                <a:cs typeface="Arial"/>
                <a:sym typeface="Arial"/>
              </a:rPr>
              <a:t>מפעילים ופותחים</a:t>
            </a:r>
          </a:p>
          <a:p>
            <a:pPr algn="r" rtl="1">
              <a:defRPr sz="1500">
                <a:solidFill>
                  <a:srgbClr val="272525"/>
                </a:solidFill>
                <a:latin typeface="Inter"/>
                <a:ea typeface="Inter"/>
                <a:cs typeface="Inter"/>
                <a:sym typeface="Inter"/>
              </a:defRPr>
            </a:pPr>
            <a:r>
              <a:rPr>
                <a:latin typeface="Arial"/>
                <a:ea typeface="Arial"/>
                <a:cs typeface="Arial"/>
                <a:sym typeface="Arial"/>
              </a:rPr>
              <a:t>את הכתובת שמופיעה בטרמינל</a:t>
            </a:r>
            <a:r>
              <a:t>.</a:t>
            </a:r>
          </a:p>
          <a:p>
            <a:pPr algn="r" rtl="1">
              <a:defRPr sz="1500">
                <a:solidFill>
                  <a:srgbClr val="272525"/>
                </a:solidFill>
                <a:latin typeface="Inter"/>
                <a:ea typeface="Inter"/>
                <a:cs typeface="Inter"/>
                <a:sym typeface="Inter"/>
              </a:defRPr>
            </a:pPr>
            <a:r>
              <a:rPr>
                <a:latin typeface="Arial"/>
                <a:ea typeface="Arial"/>
                <a:cs typeface="Arial"/>
                <a:sym typeface="Arial"/>
              </a:rPr>
              <a:t>בדרך כלל</a:t>
            </a:r>
            <a:r>
              <a:t>: http://localhost:3000</a:t>
            </a:r>
          </a:p>
        </p:txBody>
      </p:sp>
    </p:spTree>
  </p:cSld>
  <p:clrMapOvr>
    <a:masterClrMapping/>
  </p:clrMapOvr>
  <p:transition xmlns:p14="http://schemas.microsoft.com/office/powerpoint/2010/main" spd="med" advClick="1"/>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FFF"/>
        </a:solidFill>
      </p:bgPr>
    </p:bg>
    <p:spTree>
      <p:nvGrpSpPr>
        <p:cNvPr id="1" name=""/>
        <p:cNvGrpSpPr/>
        <p:nvPr/>
      </p:nvGrpSpPr>
      <p:grpSpPr>
        <a:xfrm>
          <a:off x="0" y="0"/>
          <a:ext cx="0" cy="0"/>
          <a:chOff x="0" y="0"/>
          <a:chExt cx="0" cy="0"/>
        </a:xfrm>
      </p:grpSpPr>
      <p:pic>
        <p:nvPicPr>
          <p:cNvPr id="309" name="image8.png" descr="image8.png"/>
          <p:cNvPicPr>
            <a:picLocks noChangeAspect="1"/>
          </p:cNvPicPr>
          <p:nvPr/>
        </p:nvPicPr>
        <p:blipFill>
          <a:blip r:embed="rId3">
            <a:extLst/>
          </a:blip>
          <a:stretch>
            <a:fillRect/>
          </a:stretch>
        </p:blipFill>
        <p:spPr>
          <a:xfrm>
            <a:off x="5715000" y="0"/>
            <a:ext cx="3429000" cy="5143500"/>
          </a:xfrm>
          <a:prstGeom prst="rect">
            <a:avLst/>
          </a:prstGeom>
          <a:ln w="12700">
            <a:miter lim="400000"/>
          </a:ln>
        </p:spPr>
      </p:pic>
      <p:sp>
        <p:nvSpPr>
          <p:cNvPr id="310" name="text"/>
          <p:cNvSpPr txBox="1"/>
          <p:nvPr/>
        </p:nvSpPr>
        <p:spPr>
          <a:xfrm>
            <a:off x="571500" y="1666875"/>
            <a:ext cx="4572000" cy="29607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rtl="1">
              <a:defRPr b="1" sz="2100">
                <a:solidFill>
                  <a:srgbClr val="D75BE2"/>
                </a:solidFill>
              </a:defRPr>
            </a:lvl1pPr>
          </a:lstStyle>
          <a:p>
            <a:pPr>
              <a:defRPr>
                <a:latin typeface="Inter"/>
                <a:ea typeface="Inter"/>
                <a:cs typeface="Inter"/>
                <a:sym typeface="Inter"/>
              </a:defRPr>
            </a:pPr>
            <a:r>
              <a:rPr>
                <a:latin typeface="Arial"/>
                <a:ea typeface="Arial"/>
                <a:cs typeface="Arial"/>
                <a:sym typeface="Arial"/>
              </a:rPr>
              <a:t>פרק ב׳</a:t>
            </a:r>
          </a:p>
        </p:txBody>
      </p:sp>
      <p:sp>
        <p:nvSpPr>
          <p:cNvPr id="311" name="text"/>
          <p:cNvSpPr txBox="1"/>
          <p:nvPr/>
        </p:nvSpPr>
        <p:spPr>
          <a:xfrm>
            <a:off x="476250" y="2143125"/>
            <a:ext cx="4762500" cy="46889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rtl="1">
              <a:defRPr b="1" sz="3300">
                <a:solidFill>
                  <a:srgbClr val="D75BE2"/>
                </a:solidFill>
              </a:defRPr>
            </a:lvl1pPr>
          </a:lstStyle>
          <a:p>
            <a:pPr>
              <a:defRPr>
                <a:latin typeface="Inter"/>
                <a:ea typeface="Inter"/>
                <a:cs typeface="Inter"/>
                <a:sym typeface="Inter"/>
              </a:defRPr>
            </a:pPr>
            <a:r>
              <a:rPr>
                <a:latin typeface="Arial"/>
                <a:ea typeface="Arial"/>
                <a:cs typeface="Arial"/>
                <a:sym typeface="Arial"/>
              </a:rPr>
              <a:t>הזיכרון של הפרויקט</a:t>
            </a:r>
          </a:p>
        </p:txBody>
      </p:sp>
      <p:sp>
        <p:nvSpPr>
          <p:cNvPr id="312" name="text"/>
          <p:cNvSpPr txBox="1"/>
          <p:nvPr/>
        </p:nvSpPr>
        <p:spPr>
          <a:xfrm>
            <a:off x="619125" y="3286125"/>
            <a:ext cx="4476750" cy="2794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rtl="1">
              <a:defRPr>
                <a:solidFill>
                  <a:srgbClr val="272525"/>
                </a:solidFill>
                <a:latin typeface="Inter"/>
                <a:ea typeface="Inter"/>
                <a:cs typeface="Inter"/>
                <a:sym typeface="Inter"/>
              </a:defRPr>
            </a:pPr>
            <a:r>
              <a:rPr>
                <a:latin typeface="Arial"/>
                <a:ea typeface="Arial"/>
                <a:cs typeface="Arial"/>
                <a:sym typeface="Arial"/>
              </a:rPr>
              <a:t>איך הסוכן של מחר ממשיך את העבודה של היום</a:t>
            </a:r>
            <a:r>
              <a:t>?</a:t>
            </a:r>
          </a:p>
        </p:txBody>
      </p:sp>
    </p:spTree>
  </p:cSld>
  <p:clrMapOvr>
    <a:masterClrMapping/>
  </p:clrMapOvr>
  <p:transition xmlns:p14="http://schemas.microsoft.com/office/powerpoint/2010/main" spd="med" advClick="1"/>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FFF"/>
        </a:solidFill>
      </p:bgPr>
    </p:bg>
    <p:spTree>
      <p:nvGrpSpPr>
        <p:cNvPr id="1" name=""/>
        <p:cNvGrpSpPr/>
        <p:nvPr/>
      </p:nvGrpSpPr>
      <p:grpSpPr>
        <a:xfrm>
          <a:off x="0" y="0"/>
          <a:ext cx="0" cy="0"/>
          <a:chOff x="0" y="0"/>
          <a:chExt cx="0" cy="0"/>
        </a:xfrm>
      </p:grpSpPr>
      <p:sp>
        <p:nvSpPr>
          <p:cNvPr id="316" name="text"/>
          <p:cNvSpPr txBox="1"/>
          <p:nvPr/>
        </p:nvSpPr>
        <p:spPr>
          <a:xfrm>
            <a:off x="457200" y="323850"/>
            <a:ext cx="8229600" cy="39476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defRPr b="1" sz="2800">
                <a:solidFill>
                  <a:srgbClr val="D75BE2"/>
                </a:solidFill>
              </a:defRPr>
            </a:lvl1pPr>
          </a:lstStyle>
          <a:p>
            <a:pPr>
              <a:defRPr>
                <a:latin typeface="Inter"/>
                <a:ea typeface="Inter"/>
                <a:cs typeface="Inter"/>
                <a:sym typeface="Inter"/>
              </a:defRPr>
            </a:pPr>
            <a:r>
              <a:rPr>
                <a:latin typeface="Arial"/>
                <a:ea typeface="Arial"/>
                <a:cs typeface="Arial"/>
                <a:sym typeface="Arial"/>
              </a:rPr>
              <a:t>כשפותחים שיחה חדשה</a:t>
            </a:r>
          </a:p>
        </p:txBody>
      </p:sp>
      <p:sp>
        <p:nvSpPr>
          <p:cNvPr id="317" name="text"/>
          <p:cNvSpPr txBox="1"/>
          <p:nvPr/>
        </p:nvSpPr>
        <p:spPr>
          <a:xfrm>
            <a:off x="5905500" y="4876800"/>
            <a:ext cx="2781300" cy="127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800">
                <a:solidFill>
                  <a:srgbClr val="705B73"/>
                </a:solidFill>
                <a:latin typeface="Inter"/>
                <a:ea typeface="Inter"/>
                <a:cs typeface="Inter"/>
                <a:sym typeface="Inter"/>
              </a:defRPr>
            </a:pPr>
            <a:r>
              <a:rPr>
                <a:latin typeface="Arial"/>
                <a:ea typeface="Arial"/>
                <a:cs typeface="Arial"/>
                <a:sym typeface="Arial"/>
              </a:rPr>
              <a:t>שיעור</a:t>
            </a:r>
            <a:r>
              <a:t>: </a:t>
            </a:r>
            <a:r>
              <a:rPr>
                <a:latin typeface="Arial"/>
                <a:ea typeface="Arial"/>
                <a:cs typeface="Arial"/>
                <a:sym typeface="Arial"/>
              </a:rPr>
              <a:t>פיתוח עם סוכני־קוד</a:t>
            </a:r>
          </a:p>
        </p:txBody>
      </p:sp>
      <p:sp>
        <p:nvSpPr>
          <p:cNvPr id="318" name="code"/>
          <p:cNvSpPr txBox="1"/>
          <p:nvPr/>
        </p:nvSpPr>
        <p:spPr>
          <a:xfrm>
            <a:off x="457200" y="4876800"/>
            <a:ext cx="333375" cy="127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defRPr sz="800">
                <a:solidFill>
                  <a:srgbClr val="705B73"/>
                </a:solidFill>
                <a:latin typeface="Inter"/>
                <a:ea typeface="Inter"/>
                <a:cs typeface="Inter"/>
                <a:sym typeface="Inter"/>
              </a:defRPr>
            </a:lvl1pPr>
          </a:lstStyle>
          <a:p>
            <a:pPr/>
            <a:r>
              <a:t>27</a:t>
            </a:r>
          </a:p>
        </p:txBody>
      </p:sp>
      <p:sp>
        <p:nvSpPr>
          <p:cNvPr id="319" name="text"/>
          <p:cNvSpPr txBox="1"/>
          <p:nvPr/>
        </p:nvSpPr>
        <p:spPr>
          <a:xfrm>
            <a:off x="457200" y="1238250"/>
            <a:ext cx="8229600" cy="25922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defRPr b="1">
                <a:solidFill>
                  <a:srgbClr val="272525"/>
                </a:solidFill>
              </a:defRPr>
            </a:lvl1pPr>
          </a:lstStyle>
          <a:p>
            <a:pPr>
              <a:defRPr>
                <a:latin typeface="Inter"/>
                <a:ea typeface="Inter"/>
                <a:cs typeface="Inter"/>
                <a:sym typeface="Inter"/>
              </a:defRPr>
            </a:pPr>
            <a:r>
              <a:rPr>
                <a:latin typeface="Arial"/>
                <a:ea typeface="Arial"/>
                <a:cs typeface="Arial"/>
                <a:sym typeface="Arial"/>
              </a:rPr>
              <a:t>ההחלטה של אתמול</a:t>
            </a:r>
          </a:p>
        </p:txBody>
      </p:sp>
      <p:sp>
        <p:nvSpPr>
          <p:cNvPr id="320" name="text"/>
          <p:cNvSpPr txBox="1"/>
          <p:nvPr/>
        </p:nvSpPr>
        <p:spPr>
          <a:xfrm>
            <a:off x="457200" y="1571625"/>
            <a:ext cx="8229600" cy="241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1600">
                <a:solidFill>
                  <a:srgbClr val="272525"/>
                </a:solidFill>
                <a:latin typeface="Inter"/>
                <a:ea typeface="Inter"/>
                <a:cs typeface="Inter"/>
                <a:sym typeface="Inter"/>
              </a:defRPr>
            </a:pPr>
            <a:r>
              <a:rPr>
                <a:latin typeface="Arial"/>
                <a:ea typeface="Arial"/>
                <a:cs typeface="Arial"/>
                <a:sym typeface="Arial"/>
              </a:rPr>
              <a:t>בחרנו התנהגות רצויה</a:t>
            </a:r>
            <a:r>
              <a:t>, </a:t>
            </a:r>
            <a:r>
              <a:rPr>
                <a:latin typeface="Arial"/>
                <a:ea typeface="Arial"/>
                <a:cs typeface="Arial"/>
                <a:sym typeface="Arial"/>
              </a:rPr>
              <a:t>הגדרנו גבולות וסיימנו חלק מהמשימה</a:t>
            </a:r>
            <a:r>
              <a:t>.</a:t>
            </a:r>
          </a:p>
        </p:txBody>
      </p:sp>
      <p:sp>
        <p:nvSpPr>
          <p:cNvPr id="321" name="text"/>
          <p:cNvSpPr txBox="1"/>
          <p:nvPr/>
        </p:nvSpPr>
        <p:spPr>
          <a:xfrm>
            <a:off x="457200" y="2219325"/>
            <a:ext cx="8229600" cy="25922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defRPr b="1">
                <a:solidFill>
                  <a:srgbClr val="272525"/>
                </a:solidFill>
              </a:defRPr>
            </a:lvl1pPr>
          </a:lstStyle>
          <a:p>
            <a:pPr>
              <a:defRPr>
                <a:latin typeface="Inter"/>
                <a:ea typeface="Inter"/>
                <a:cs typeface="Inter"/>
                <a:sym typeface="Inter"/>
              </a:defRPr>
            </a:pPr>
            <a:r>
              <a:rPr>
                <a:latin typeface="Arial"/>
                <a:ea typeface="Arial"/>
                <a:cs typeface="Arial"/>
                <a:sym typeface="Arial"/>
              </a:rPr>
              <a:t>הבקשה של היום</a:t>
            </a:r>
          </a:p>
        </p:txBody>
      </p:sp>
      <p:sp>
        <p:nvSpPr>
          <p:cNvPr id="322" name="text"/>
          <p:cNvSpPr txBox="1"/>
          <p:nvPr/>
        </p:nvSpPr>
        <p:spPr>
          <a:xfrm>
            <a:off x="457200" y="2552700"/>
            <a:ext cx="8229600" cy="241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1600">
                <a:solidFill>
                  <a:srgbClr val="272525"/>
                </a:solidFill>
                <a:latin typeface="Inter"/>
                <a:ea typeface="Inter"/>
                <a:cs typeface="Inter"/>
                <a:sym typeface="Inter"/>
              </a:defRPr>
            </a:pPr>
            <a:r>
              <a:rPr>
                <a:latin typeface="Arial"/>
                <a:ea typeface="Arial"/>
                <a:cs typeface="Arial"/>
                <a:sym typeface="Arial"/>
              </a:rPr>
              <a:t>״תמשיך מאיפה שעצרנו״</a:t>
            </a:r>
            <a:r>
              <a:t>. </a:t>
            </a:r>
            <a:r>
              <a:rPr>
                <a:latin typeface="Arial"/>
                <a:ea typeface="Arial"/>
                <a:cs typeface="Arial"/>
                <a:sym typeface="Arial"/>
              </a:rPr>
              <a:t>הסוכן החדש צריך לדעת איפה עצרנו ולמה</a:t>
            </a:r>
            <a:r>
              <a:t>.</a:t>
            </a:r>
          </a:p>
        </p:txBody>
      </p:sp>
      <p:sp>
        <p:nvSpPr>
          <p:cNvPr id="323" name="text"/>
          <p:cNvSpPr txBox="1"/>
          <p:nvPr/>
        </p:nvSpPr>
        <p:spPr>
          <a:xfrm>
            <a:off x="457200" y="3200400"/>
            <a:ext cx="8229600" cy="25922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defRPr b="1">
                <a:solidFill>
                  <a:srgbClr val="272525"/>
                </a:solidFill>
              </a:defRPr>
            </a:lvl1pPr>
          </a:lstStyle>
          <a:p>
            <a:pPr>
              <a:defRPr>
                <a:latin typeface="Inter"/>
                <a:ea typeface="Inter"/>
                <a:cs typeface="Inter"/>
                <a:sym typeface="Inter"/>
              </a:defRPr>
            </a:pPr>
            <a:r>
              <a:rPr>
                <a:latin typeface="Arial"/>
                <a:ea typeface="Arial"/>
                <a:cs typeface="Arial"/>
                <a:sym typeface="Arial"/>
              </a:rPr>
              <a:t>המידע שצריך להישאר</a:t>
            </a:r>
          </a:p>
        </p:txBody>
      </p:sp>
      <p:sp>
        <p:nvSpPr>
          <p:cNvPr id="324" name="text"/>
          <p:cNvSpPr txBox="1"/>
          <p:nvPr/>
        </p:nvSpPr>
        <p:spPr>
          <a:xfrm>
            <a:off x="457200" y="3533775"/>
            <a:ext cx="8229600" cy="241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1600">
                <a:solidFill>
                  <a:srgbClr val="272525"/>
                </a:solidFill>
                <a:latin typeface="Inter"/>
                <a:ea typeface="Inter"/>
                <a:cs typeface="Inter"/>
                <a:sym typeface="Inter"/>
              </a:defRPr>
            </a:pPr>
            <a:r>
              <a:rPr>
                <a:latin typeface="Arial"/>
                <a:ea typeface="Arial"/>
                <a:cs typeface="Arial"/>
                <a:sym typeface="Arial"/>
              </a:rPr>
              <a:t>אפיון מעודכן</a:t>
            </a:r>
            <a:r>
              <a:t>, </a:t>
            </a:r>
            <a:r>
              <a:rPr>
                <a:latin typeface="Arial"/>
                <a:ea typeface="Arial"/>
                <a:cs typeface="Arial"/>
                <a:sym typeface="Arial"/>
              </a:rPr>
              <a:t>החלטות</a:t>
            </a:r>
            <a:r>
              <a:t>, </a:t>
            </a:r>
            <a:r>
              <a:rPr>
                <a:latin typeface="Arial"/>
                <a:ea typeface="Arial"/>
                <a:cs typeface="Arial"/>
                <a:sym typeface="Arial"/>
              </a:rPr>
              <a:t>מה נבדק ומה עדיין פתוח</a:t>
            </a:r>
            <a:r>
              <a:t>.</a:t>
            </a:r>
          </a:p>
        </p:txBody>
      </p:sp>
      <p:sp>
        <p:nvSpPr>
          <p:cNvPr id="325" name="Rectangle"/>
          <p:cNvSpPr/>
          <p:nvPr/>
        </p:nvSpPr>
        <p:spPr>
          <a:xfrm>
            <a:off x="457200" y="4248150"/>
            <a:ext cx="8229600" cy="466725"/>
          </a:xfrm>
          <a:prstGeom prst="rect">
            <a:avLst/>
          </a:prstGeom>
          <a:solidFill>
            <a:srgbClr val="F4D4F7"/>
          </a:solidFill>
          <a:ln w="12700">
            <a:miter lim="400000"/>
          </a:ln>
        </p:spPr>
        <p:txBody>
          <a:bodyPr lIns="0" tIns="0" rIns="0" bIns="0"/>
          <a:lstStyle/>
          <a:p>
            <a:pPr/>
          </a:p>
        </p:txBody>
      </p:sp>
      <p:sp>
        <p:nvSpPr>
          <p:cNvPr id="326" name="text"/>
          <p:cNvSpPr txBox="1"/>
          <p:nvPr/>
        </p:nvSpPr>
        <p:spPr>
          <a:xfrm>
            <a:off x="619125" y="4343400"/>
            <a:ext cx="7905750" cy="2286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b="1" sz="1500">
                <a:solidFill>
                  <a:srgbClr val="272525"/>
                </a:solidFill>
                <a:latin typeface="Inter"/>
                <a:ea typeface="Inter"/>
                <a:cs typeface="Inter"/>
                <a:sym typeface="Inter"/>
              </a:defRPr>
            </a:pPr>
            <a:r>
              <a:rPr>
                <a:latin typeface="Arial"/>
                <a:ea typeface="Arial"/>
                <a:cs typeface="Arial"/>
                <a:sym typeface="Arial"/>
              </a:rPr>
              <a:t>התיקייה צריכה לאפשר המשך עבודה גם ללא היסטוריית השיחה</a:t>
            </a:r>
            <a:r>
              <a:t>.</a:t>
            </a:r>
          </a:p>
        </p:txBody>
      </p:sp>
    </p:spTree>
  </p:cSld>
  <p:clrMapOvr>
    <a:masterClrMapping/>
  </p:clrMapOvr>
  <p:transition xmlns:p14="http://schemas.microsoft.com/office/powerpoint/2010/main" spd="med" advClick="1"/>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FFF"/>
        </a:solidFill>
      </p:bgPr>
    </p:bg>
    <p:spTree>
      <p:nvGrpSpPr>
        <p:cNvPr id="1" name=""/>
        <p:cNvGrpSpPr/>
        <p:nvPr/>
      </p:nvGrpSpPr>
      <p:grpSpPr>
        <a:xfrm>
          <a:off x="0" y="0"/>
          <a:ext cx="0" cy="0"/>
          <a:chOff x="0" y="0"/>
          <a:chExt cx="0" cy="0"/>
        </a:xfrm>
      </p:grpSpPr>
      <p:sp>
        <p:nvSpPr>
          <p:cNvPr id="330" name="text"/>
          <p:cNvSpPr txBox="1"/>
          <p:nvPr/>
        </p:nvSpPr>
        <p:spPr>
          <a:xfrm>
            <a:off x="457200" y="323850"/>
            <a:ext cx="8229600" cy="431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b="1" sz="2800">
                <a:solidFill>
                  <a:srgbClr val="D75BE2"/>
                </a:solidFill>
                <a:latin typeface="Inter"/>
                <a:ea typeface="Inter"/>
                <a:cs typeface="Inter"/>
                <a:sym typeface="Inter"/>
              </a:defRPr>
            </a:pPr>
            <a:r>
              <a:rPr>
                <a:latin typeface="Arial"/>
                <a:ea typeface="Arial"/>
                <a:cs typeface="Arial"/>
                <a:sym typeface="Arial"/>
              </a:rPr>
              <a:t>קובצי </a:t>
            </a:r>
            <a:r>
              <a:t>Markdown </a:t>
            </a:r>
            <a:r>
              <a:rPr>
                <a:latin typeface="Arial"/>
                <a:ea typeface="Arial"/>
                <a:cs typeface="Arial"/>
                <a:sym typeface="Arial"/>
              </a:rPr>
              <a:t>והקונטקסט</a:t>
            </a:r>
          </a:p>
        </p:txBody>
      </p:sp>
      <p:sp>
        <p:nvSpPr>
          <p:cNvPr id="331" name="text"/>
          <p:cNvSpPr txBox="1"/>
          <p:nvPr/>
        </p:nvSpPr>
        <p:spPr>
          <a:xfrm>
            <a:off x="5905500" y="4876800"/>
            <a:ext cx="2781300" cy="127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800">
                <a:solidFill>
                  <a:srgbClr val="705B73"/>
                </a:solidFill>
                <a:latin typeface="Inter"/>
                <a:ea typeface="Inter"/>
                <a:cs typeface="Inter"/>
                <a:sym typeface="Inter"/>
              </a:defRPr>
            </a:pPr>
            <a:r>
              <a:rPr>
                <a:latin typeface="Arial"/>
                <a:ea typeface="Arial"/>
                <a:cs typeface="Arial"/>
                <a:sym typeface="Arial"/>
              </a:rPr>
              <a:t>שיעור</a:t>
            </a:r>
            <a:r>
              <a:t>: </a:t>
            </a:r>
            <a:r>
              <a:rPr>
                <a:latin typeface="Arial"/>
                <a:ea typeface="Arial"/>
                <a:cs typeface="Arial"/>
                <a:sym typeface="Arial"/>
              </a:rPr>
              <a:t>פיתוח עם סוכני־קוד</a:t>
            </a:r>
          </a:p>
        </p:txBody>
      </p:sp>
      <p:sp>
        <p:nvSpPr>
          <p:cNvPr id="332" name="code"/>
          <p:cNvSpPr txBox="1"/>
          <p:nvPr/>
        </p:nvSpPr>
        <p:spPr>
          <a:xfrm>
            <a:off x="457200" y="4876800"/>
            <a:ext cx="333375" cy="127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defRPr sz="800">
                <a:solidFill>
                  <a:srgbClr val="705B73"/>
                </a:solidFill>
                <a:latin typeface="Inter"/>
                <a:ea typeface="Inter"/>
                <a:cs typeface="Inter"/>
                <a:sym typeface="Inter"/>
              </a:defRPr>
            </a:lvl1pPr>
          </a:lstStyle>
          <a:p>
            <a:pPr/>
            <a:r>
              <a:t>28</a:t>
            </a:r>
          </a:p>
        </p:txBody>
      </p:sp>
      <p:pic>
        <p:nvPicPr>
          <p:cNvPr id="333" name="image9.png" descr="image9.png"/>
          <p:cNvPicPr>
            <a:picLocks noChangeAspect="1"/>
          </p:cNvPicPr>
          <p:nvPr/>
        </p:nvPicPr>
        <p:blipFill>
          <a:blip r:embed="rId3">
            <a:extLst/>
          </a:blip>
          <a:stretch>
            <a:fillRect/>
          </a:stretch>
        </p:blipFill>
        <p:spPr>
          <a:xfrm>
            <a:off x="457200" y="1452562"/>
            <a:ext cx="2524125" cy="2524126"/>
          </a:xfrm>
          <a:prstGeom prst="rect">
            <a:avLst/>
          </a:prstGeom>
          <a:ln w="12700">
            <a:miter lim="400000"/>
          </a:ln>
        </p:spPr>
      </p:pic>
      <p:sp>
        <p:nvSpPr>
          <p:cNvPr id="334" name="text"/>
          <p:cNvSpPr txBox="1"/>
          <p:nvPr/>
        </p:nvSpPr>
        <p:spPr>
          <a:xfrm>
            <a:off x="3476625" y="1238250"/>
            <a:ext cx="5210175" cy="25922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defRPr b="1">
                <a:solidFill>
                  <a:srgbClr val="272525"/>
                </a:solidFill>
              </a:defRPr>
            </a:lvl1pPr>
          </a:lstStyle>
          <a:p>
            <a:pPr>
              <a:defRPr>
                <a:latin typeface="Inter"/>
                <a:ea typeface="Inter"/>
                <a:cs typeface="Inter"/>
                <a:sym typeface="Inter"/>
              </a:defRPr>
            </a:pPr>
            <a:r>
              <a:rPr>
                <a:latin typeface="Arial"/>
                <a:ea typeface="Arial"/>
                <a:cs typeface="Arial"/>
                <a:sym typeface="Arial"/>
              </a:rPr>
              <a:t>ידע מחוץ לשיחה</a:t>
            </a:r>
          </a:p>
        </p:txBody>
      </p:sp>
      <p:sp>
        <p:nvSpPr>
          <p:cNvPr id="335" name="text"/>
          <p:cNvSpPr txBox="1"/>
          <p:nvPr/>
        </p:nvSpPr>
        <p:spPr>
          <a:xfrm>
            <a:off x="3476625" y="1571625"/>
            <a:ext cx="5210175" cy="241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1600">
                <a:solidFill>
                  <a:srgbClr val="272525"/>
                </a:solidFill>
                <a:latin typeface="Inter"/>
                <a:ea typeface="Inter"/>
                <a:cs typeface="Inter"/>
                <a:sym typeface="Inter"/>
              </a:defRPr>
            </a:pPr>
            <a:r>
              <a:rPr>
                <a:latin typeface="Arial"/>
                <a:ea typeface="Arial"/>
                <a:cs typeface="Arial"/>
                <a:sym typeface="Arial"/>
              </a:rPr>
              <a:t>קובצי טקסט בסיומת </a:t>
            </a:r>
            <a:r>
              <a:t>md </a:t>
            </a:r>
            <a:r>
              <a:rPr>
                <a:latin typeface="Arial"/>
                <a:ea typeface="Arial"/>
                <a:cs typeface="Arial"/>
                <a:sym typeface="Arial"/>
              </a:rPr>
              <a:t>נשארים בתיקייה אחרי סיום השיחה</a:t>
            </a:r>
            <a:r>
              <a:t>.</a:t>
            </a:r>
          </a:p>
        </p:txBody>
      </p:sp>
      <p:sp>
        <p:nvSpPr>
          <p:cNvPr id="336" name="text"/>
          <p:cNvSpPr txBox="1"/>
          <p:nvPr/>
        </p:nvSpPr>
        <p:spPr>
          <a:xfrm>
            <a:off x="3476625" y="2266950"/>
            <a:ext cx="5210175" cy="25922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defRPr b="1">
                <a:solidFill>
                  <a:srgbClr val="272525"/>
                </a:solidFill>
              </a:defRPr>
            </a:lvl1pPr>
          </a:lstStyle>
          <a:p>
            <a:pPr>
              <a:defRPr>
                <a:latin typeface="Inter"/>
                <a:ea typeface="Inter"/>
                <a:cs typeface="Inter"/>
                <a:sym typeface="Inter"/>
              </a:defRPr>
            </a:pPr>
            <a:r>
              <a:rPr>
                <a:latin typeface="Arial"/>
                <a:ea typeface="Arial"/>
                <a:cs typeface="Arial"/>
                <a:sym typeface="Arial"/>
              </a:rPr>
              <a:t>טעינה לפי המשימה</a:t>
            </a:r>
          </a:p>
        </p:txBody>
      </p:sp>
      <p:sp>
        <p:nvSpPr>
          <p:cNvPr id="337" name="text"/>
          <p:cNvSpPr txBox="1"/>
          <p:nvPr/>
        </p:nvSpPr>
        <p:spPr>
          <a:xfrm>
            <a:off x="3476625" y="2600325"/>
            <a:ext cx="5210175" cy="241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1600">
                <a:solidFill>
                  <a:srgbClr val="272525"/>
                </a:solidFill>
                <a:latin typeface="Inter"/>
                <a:ea typeface="Inter"/>
                <a:cs typeface="Inter"/>
                <a:sym typeface="Inter"/>
              </a:defRPr>
            </a:pPr>
            <a:r>
              <a:rPr>
                <a:latin typeface="Arial"/>
                <a:ea typeface="Arial"/>
                <a:cs typeface="Arial"/>
                <a:sym typeface="Arial"/>
              </a:rPr>
              <a:t>הסוכן קורא את ההנחיות ואת חלקי האפיון הרלוונטיים</a:t>
            </a:r>
            <a:r>
              <a:t>.</a:t>
            </a:r>
          </a:p>
        </p:txBody>
      </p:sp>
      <p:sp>
        <p:nvSpPr>
          <p:cNvPr id="338" name="text"/>
          <p:cNvSpPr txBox="1"/>
          <p:nvPr/>
        </p:nvSpPr>
        <p:spPr>
          <a:xfrm>
            <a:off x="3476625" y="3295650"/>
            <a:ext cx="5210175" cy="25922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defRPr b="1">
                <a:solidFill>
                  <a:srgbClr val="272525"/>
                </a:solidFill>
              </a:defRPr>
            </a:lvl1pPr>
          </a:lstStyle>
          <a:p>
            <a:pPr>
              <a:defRPr>
                <a:latin typeface="Inter"/>
                <a:ea typeface="Inter"/>
                <a:cs typeface="Inter"/>
                <a:sym typeface="Inter"/>
              </a:defRPr>
            </a:pPr>
            <a:r>
              <a:rPr>
                <a:latin typeface="Arial"/>
                <a:ea typeface="Arial"/>
                <a:cs typeface="Arial"/>
                <a:sym typeface="Arial"/>
              </a:rPr>
              <a:t>תחזוקה במקום הצטברות</a:t>
            </a:r>
          </a:p>
        </p:txBody>
      </p:sp>
      <p:sp>
        <p:nvSpPr>
          <p:cNvPr id="339" name="text"/>
          <p:cNvSpPr txBox="1"/>
          <p:nvPr/>
        </p:nvSpPr>
        <p:spPr>
          <a:xfrm>
            <a:off x="3476625" y="3629025"/>
            <a:ext cx="5210175" cy="241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1600">
                <a:solidFill>
                  <a:srgbClr val="272525"/>
                </a:solidFill>
                <a:latin typeface="Inter"/>
                <a:ea typeface="Inter"/>
                <a:cs typeface="Inter"/>
                <a:sym typeface="Inter"/>
              </a:defRPr>
            </a:pPr>
            <a:r>
              <a:rPr>
                <a:latin typeface="Arial"/>
                <a:ea typeface="Arial"/>
                <a:cs typeface="Arial"/>
                <a:sym typeface="Arial"/>
              </a:rPr>
              <a:t>מעדכנים החלטות ומצב</a:t>
            </a:r>
            <a:r>
              <a:t>. </a:t>
            </a:r>
            <a:r>
              <a:rPr>
                <a:latin typeface="Arial"/>
                <a:ea typeface="Arial"/>
                <a:cs typeface="Arial"/>
                <a:sym typeface="Arial"/>
              </a:rPr>
              <a:t>מסירים מידע שהתיישן</a:t>
            </a:r>
            <a:r>
              <a:t>.</a:t>
            </a:r>
          </a:p>
        </p:txBody>
      </p:sp>
      <p:sp>
        <p:nvSpPr>
          <p:cNvPr id="340" name="Rectangle"/>
          <p:cNvSpPr/>
          <p:nvPr/>
        </p:nvSpPr>
        <p:spPr>
          <a:xfrm>
            <a:off x="457200" y="4248150"/>
            <a:ext cx="8229600" cy="466725"/>
          </a:xfrm>
          <a:prstGeom prst="rect">
            <a:avLst/>
          </a:prstGeom>
          <a:solidFill>
            <a:srgbClr val="F4D4F7"/>
          </a:solidFill>
          <a:ln w="12700">
            <a:miter lim="400000"/>
          </a:ln>
        </p:spPr>
        <p:txBody>
          <a:bodyPr lIns="0" tIns="0" rIns="0" bIns="0"/>
          <a:lstStyle/>
          <a:p>
            <a:pPr/>
          </a:p>
        </p:txBody>
      </p:sp>
      <p:sp>
        <p:nvSpPr>
          <p:cNvPr id="341" name="text"/>
          <p:cNvSpPr txBox="1"/>
          <p:nvPr/>
        </p:nvSpPr>
        <p:spPr>
          <a:xfrm>
            <a:off x="619125" y="4343400"/>
            <a:ext cx="7905750" cy="2286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b="1" sz="1500">
                <a:solidFill>
                  <a:srgbClr val="272525"/>
                </a:solidFill>
                <a:latin typeface="Inter"/>
                <a:ea typeface="Inter"/>
                <a:cs typeface="Inter"/>
                <a:sym typeface="Inter"/>
              </a:defRPr>
            </a:pPr>
            <a:r>
              <a:rPr>
                <a:latin typeface="Arial"/>
                <a:ea typeface="Arial"/>
                <a:cs typeface="Arial"/>
                <a:sym typeface="Arial"/>
              </a:rPr>
              <a:t>קבצים מאפשרים לשחזר הקשר</a:t>
            </a:r>
            <a:r>
              <a:t>. </a:t>
            </a:r>
            <a:r>
              <a:rPr>
                <a:latin typeface="Arial"/>
                <a:ea typeface="Arial"/>
                <a:cs typeface="Arial"/>
                <a:sym typeface="Arial"/>
              </a:rPr>
              <a:t>מגבלת הקונטקסט עדיין קיימת</a:t>
            </a:r>
            <a:r>
              <a:t>.</a:t>
            </a:r>
          </a:p>
        </p:txBody>
      </p:sp>
    </p:spTree>
  </p:cSld>
  <p:clrMapOvr>
    <a:masterClrMapping/>
  </p:clrMapOvr>
  <p:transition xmlns:p14="http://schemas.microsoft.com/office/powerpoint/2010/main" spd="med" advClick="1"/>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FFF"/>
        </a:solidFill>
      </p:bgPr>
    </p:bg>
    <p:spTree>
      <p:nvGrpSpPr>
        <p:cNvPr id="1" name=""/>
        <p:cNvGrpSpPr/>
        <p:nvPr/>
      </p:nvGrpSpPr>
      <p:grpSpPr>
        <a:xfrm>
          <a:off x="0" y="0"/>
          <a:ext cx="0" cy="0"/>
          <a:chOff x="0" y="0"/>
          <a:chExt cx="0" cy="0"/>
        </a:xfrm>
      </p:grpSpPr>
      <p:sp>
        <p:nvSpPr>
          <p:cNvPr id="345" name="text"/>
          <p:cNvSpPr txBox="1"/>
          <p:nvPr/>
        </p:nvSpPr>
        <p:spPr>
          <a:xfrm>
            <a:off x="457200" y="323850"/>
            <a:ext cx="8229600" cy="39476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defRPr b="1" sz="2800">
                <a:solidFill>
                  <a:srgbClr val="D75BE2"/>
                </a:solidFill>
              </a:defRPr>
            </a:lvl1pPr>
          </a:lstStyle>
          <a:p>
            <a:pPr>
              <a:defRPr>
                <a:latin typeface="Inter"/>
                <a:ea typeface="Inter"/>
                <a:cs typeface="Inter"/>
                <a:sym typeface="Inter"/>
              </a:defRPr>
            </a:pPr>
            <a:r>
              <a:rPr>
                <a:latin typeface="Arial"/>
                <a:ea typeface="Arial"/>
                <a:cs typeface="Arial"/>
                <a:sym typeface="Arial"/>
              </a:rPr>
              <a:t>שלושה קבצים עם תפקידים שונים</a:t>
            </a:r>
          </a:p>
        </p:txBody>
      </p:sp>
      <p:sp>
        <p:nvSpPr>
          <p:cNvPr id="346" name="text"/>
          <p:cNvSpPr txBox="1"/>
          <p:nvPr/>
        </p:nvSpPr>
        <p:spPr>
          <a:xfrm>
            <a:off x="5905500" y="4876800"/>
            <a:ext cx="2781300" cy="127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800">
                <a:solidFill>
                  <a:srgbClr val="705B73"/>
                </a:solidFill>
                <a:latin typeface="Inter"/>
                <a:ea typeface="Inter"/>
                <a:cs typeface="Inter"/>
                <a:sym typeface="Inter"/>
              </a:defRPr>
            </a:pPr>
            <a:r>
              <a:rPr>
                <a:latin typeface="Arial"/>
                <a:ea typeface="Arial"/>
                <a:cs typeface="Arial"/>
                <a:sym typeface="Arial"/>
              </a:rPr>
              <a:t>שיעור</a:t>
            </a:r>
            <a:r>
              <a:t>: </a:t>
            </a:r>
            <a:r>
              <a:rPr>
                <a:latin typeface="Arial"/>
                <a:ea typeface="Arial"/>
                <a:cs typeface="Arial"/>
                <a:sym typeface="Arial"/>
              </a:rPr>
              <a:t>פיתוח עם סוכני־קוד</a:t>
            </a:r>
          </a:p>
        </p:txBody>
      </p:sp>
      <p:sp>
        <p:nvSpPr>
          <p:cNvPr id="347" name="code"/>
          <p:cNvSpPr txBox="1"/>
          <p:nvPr/>
        </p:nvSpPr>
        <p:spPr>
          <a:xfrm>
            <a:off x="457200" y="4876800"/>
            <a:ext cx="333375" cy="127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defRPr sz="800">
                <a:solidFill>
                  <a:srgbClr val="705B73"/>
                </a:solidFill>
                <a:latin typeface="Inter"/>
                <a:ea typeface="Inter"/>
                <a:cs typeface="Inter"/>
                <a:sym typeface="Inter"/>
              </a:defRPr>
            </a:lvl1pPr>
          </a:lstStyle>
          <a:p>
            <a:pPr/>
            <a:r>
              <a:t>29</a:t>
            </a:r>
          </a:p>
        </p:txBody>
      </p:sp>
      <p:sp>
        <p:nvSpPr>
          <p:cNvPr id="348" name="text"/>
          <p:cNvSpPr txBox="1"/>
          <p:nvPr/>
        </p:nvSpPr>
        <p:spPr>
          <a:xfrm>
            <a:off x="457200" y="1219200"/>
            <a:ext cx="8229600" cy="2794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b="1">
                <a:solidFill>
                  <a:srgbClr val="272525"/>
                </a:solidFill>
                <a:latin typeface="Inter"/>
                <a:ea typeface="Inter"/>
                <a:cs typeface="Inter"/>
                <a:sym typeface="Inter"/>
              </a:defRPr>
            </a:pPr>
            <a:r>
              <a:rPr>
                <a:latin typeface="Arial"/>
                <a:ea typeface="Arial"/>
                <a:cs typeface="Arial"/>
                <a:sym typeface="Arial"/>
              </a:rPr>
              <a:t>הקובץ </a:t>
            </a:r>
            <a:r>
              <a:t>README.md</a:t>
            </a:r>
          </a:p>
        </p:txBody>
      </p:sp>
      <p:sp>
        <p:nvSpPr>
          <p:cNvPr id="349" name="text"/>
          <p:cNvSpPr txBox="1"/>
          <p:nvPr/>
        </p:nvSpPr>
        <p:spPr>
          <a:xfrm>
            <a:off x="457200" y="1552575"/>
            <a:ext cx="8229600" cy="241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1600">
                <a:solidFill>
                  <a:srgbClr val="272525"/>
                </a:solidFill>
                <a:latin typeface="Inter"/>
                <a:ea typeface="Inter"/>
                <a:cs typeface="Inter"/>
                <a:sym typeface="Inter"/>
              </a:defRPr>
            </a:pPr>
            <a:r>
              <a:rPr>
                <a:latin typeface="Arial"/>
                <a:ea typeface="Arial"/>
                <a:cs typeface="Arial"/>
                <a:sym typeface="Arial"/>
              </a:rPr>
              <a:t>מה הפרויקט עושה</a:t>
            </a:r>
            <a:r>
              <a:t>, </a:t>
            </a:r>
            <a:r>
              <a:rPr>
                <a:latin typeface="Arial"/>
                <a:ea typeface="Arial"/>
                <a:cs typeface="Arial"/>
                <a:sym typeface="Arial"/>
              </a:rPr>
              <a:t>איך מתקינים</a:t>
            </a:r>
            <a:r>
              <a:t>, </a:t>
            </a:r>
            <a:r>
              <a:rPr>
                <a:latin typeface="Arial"/>
                <a:ea typeface="Arial"/>
                <a:cs typeface="Arial"/>
                <a:sym typeface="Arial"/>
              </a:rPr>
              <a:t>איך מפעילים ואיך מריצים בדיקות</a:t>
            </a:r>
            <a:r>
              <a:t>.</a:t>
            </a:r>
          </a:p>
        </p:txBody>
      </p:sp>
      <p:sp>
        <p:nvSpPr>
          <p:cNvPr id="350" name="text"/>
          <p:cNvSpPr txBox="1"/>
          <p:nvPr/>
        </p:nvSpPr>
        <p:spPr>
          <a:xfrm>
            <a:off x="457200" y="2209800"/>
            <a:ext cx="8229600" cy="2794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b="1">
                <a:solidFill>
                  <a:srgbClr val="272525"/>
                </a:solidFill>
                <a:latin typeface="Inter"/>
                <a:ea typeface="Inter"/>
                <a:cs typeface="Inter"/>
                <a:sym typeface="Inter"/>
              </a:defRPr>
            </a:pPr>
            <a:r>
              <a:rPr>
                <a:latin typeface="Arial"/>
                <a:ea typeface="Arial"/>
                <a:cs typeface="Arial"/>
                <a:sym typeface="Arial"/>
              </a:rPr>
              <a:t>הקובץ </a:t>
            </a:r>
            <a:r>
              <a:t>AGENTS.md</a:t>
            </a:r>
          </a:p>
        </p:txBody>
      </p:sp>
      <p:sp>
        <p:nvSpPr>
          <p:cNvPr id="351" name="text"/>
          <p:cNvSpPr txBox="1"/>
          <p:nvPr/>
        </p:nvSpPr>
        <p:spPr>
          <a:xfrm>
            <a:off x="457200" y="2543175"/>
            <a:ext cx="8229600" cy="241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1600">
                <a:solidFill>
                  <a:srgbClr val="272525"/>
                </a:solidFill>
                <a:latin typeface="Inter"/>
                <a:ea typeface="Inter"/>
                <a:cs typeface="Inter"/>
                <a:sym typeface="Inter"/>
              </a:defRPr>
            </a:pPr>
            <a:r>
              <a:rPr>
                <a:latin typeface="Arial"/>
                <a:ea typeface="Arial"/>
                <a:cs typeface="Arial"/>
                <a:sym typeface="Arial"/>
              </a:rPr>
              <a:t>כללי עבודה לסוכן</a:t>
            </a:r>
            <a:r>
              <a:t>: </a:t>
            </a:r>
            <a:r>
              <a:rPr>
                <a:latin typeface="Arial"/>
                <a:ea typeface="Arial"/>
                <a:cs typeface="Arial"/>
                <a:sym typeface="Arial"/>
              </a:rPr>
              <a:t>מקורות מידע</a:t>
            </a:r>
            <a:r>
              <a:t>, </a:t>
            </a:r>
            <a:r>
              <a:rPr>
                <a:latin typeface="Arial"/>
                <a:ea typeface="Arial"/>
                <a:cs typeface="Arial"/>
                <a:sym typeface="Arial"/>
              </a:rPr>
              <a:t>גבולות השינוי ופקודות אימות</a:t>
            </a:r>
            <a:r>
              <a:t>.</a:t>
            </a:r>
          </a:p>
        </p:txBody>
      </p:sp>
      <p:sp>
        <p:nvSpPr>
          <p:cNvPr id="352" name="text"/>
          <p:cNvSpPr txBox="1"/>
          <p:nvPr/>
        </p:nvSpPr>
        <p:spPr>
          <a:xfrm>
            <a:off x="457200" y="3200400"/>
            <a:ext cx="8229600" cy="2794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b="1">
                <a:solidFill>
                  <a:srgbClr val="272525"/>
                </a:solidFill>
                <a:latin typeface="Inter"/>
                <a:ea typeface="Inter"/>
                <a:cs typeface="Inter"/>
                <a:sym typeface="Inter"/>
              </a:defRPr>
            </a:pPr>
            <a:r>
              <a:rPr>
                <a:latin typeface="Arial"/>
                <a:ea typeface="Arial"/>
                <a:cs typeface="Arial"/>
                <a:sym typeface="Arial"/>
              </a:rPr>
              <a:t>הקובץ </a:t>
            </a:r>
            <a:r>
              <a:t>CLAUDE.md</a:t>
            </a:r>
          </a:p>
        </p:txBody>
      </p:sp>
      <p:sp>
        <p:nvSpPr>
          <p:cNvPr id="353" name="text"/>
          <p:cNvSpPr txBox="1"/>
          <p:nvPr/>
        </p:nvSpPr>
        <p:spPr>
          <a:xfrm>
            <a:off x="457200" y="3533775"/>
            <a:ext cx="8229600" cy="241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1600">
                <a:solidFill>
                  <a:srgbClr val="272525"/>
                </a:solidFill>
                <a:latin typeface="Inter"/>
                <a:ea typeface="Inter"/>
                <a:cs typeface="Inter"/>
                <a:sym typeface="Inter"/>
              </a:defRPr>
            </a:pPr>
            <a:r>
              <a:rPr>
                <a:latin typeface="Arial"/>
                <a:ea typeface="Arial"/>
                <a:cs typeface="Arial"/>
                <a:sym typeface="Arial"/>
              </a:rPr>
              <a:t>הנחיות ל־</a:t>
            </a:r>
            <a:r>
              <a:t>Claude Code. </a:t>
            </a:r>
            <a:r>
              <a:rPr>
                <a:latin typeface="Arial"/>
                <a:ea typeface="Arial"/>
                <a:cs typeface="Arial"/>
                <a:sym typeface="Arial"/>
              </a:rPr>
              <a:t>אפשר לייבא ממנו את ההנחיות המשותפות</a:t>
            </a:r>
            <a:r>
              <a:t>.</a:t>
            </a:r>
          </a:p>
        </p:txBody>
      </p:sp>
      <p:sp>
        <p:nvSpPr>
          <p:cNvPr id="354" name="Rectangle"/>
          <p:cNvSpPr/>
          <p:nvPr/>
        </p:nvSpPr>
        <p:spPr>
          <a:xfrm>
            <a:off x="457200" y="4248150"/>
            <a:ext cx="8229600" cy="466725"/>
          </a:xfrm>
          <a:prstGeom prst="rect">
            <a:avLst/>
          </a:prstGeom>
          <a:solidFill>
            <a:srgbClr val="F4D4F7"/>
          </a:solidFill>
          <a:ln w="12700">
            <a:miter lim="400000"/>
          </a:ln>
        </p:spPr>
        <p:txBody>
          <a:bodyPr lIns="0" tIns="0" rIns="0" bIns="0"/>
          <a:lstStyle/>
          <a:p>
            <a:pPr/>
          </a:p>
        </p:txBody>
      </p:sp>
      <p:sp>
        <p:nvSpPr>
          <p:cNvPr id="355" name="text"/>
          <p:cNvSpPr txBox="1"/>
          <p:nvPr/>
        </p:nvSpPr>
        <p:spPr>
          <a:xfrm>
            <a:off x="619125" y="4343400"/>
            <a:ext cx="7905750" cy="2286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b="1" sz="1500">
                <a:solidFill>
                  <a:srgbClr val="272525"/>
                </a:solidFill>
                <a:latin typeface="Inter"/>
                <a:ea typeface="Inter"/>
                <a:cs typeface="Inter"/>
                <a:sym typeface="Inter"/>
              </a:defRPr>
            </a:pPr>
            <a:r>
              <a:rPr>
                <a:latin typeface="Arial"/>
                <a:ea typeface="Arial"/>
                <a:cs typeface="Arial"/>
                <a:sym typeface="Arial"/>
              </a:rPr>
              <a:t>השם </a:t>
            </a:r>
            <a:r>
              <a:t>AGENTS.md </a:t>
            </a:r>
            <a:r>
              <a:rPr>
                <a:latin typeface="Arial"/>
                <a:ea typeface="Arial"/>
                <a:cs typeface="Arial"/>
                <a:sym typeface="Arial"/>
              </a:rPr>
              <a:t>מתייחס להוראות לסוכנים</a:t>
            </a:r>
            <a:r>
              <a:t>, </a:t>
            </a:r>
            <a:r>
              <a:rPr>
                <a:latin typeface="Arial"/>
                <a:ea typeface="Arial"/>
                <a:cs typeface="Arial"/>
                <a:sym typeface="Arial"/>
              </a:rPr>
              <a:t>לא להגדרת תת־סוכן</a:t>
            </a:r>
            <a:r>
              <a:t>.</a:t>
            </a:r>
          </a:p>
        </p:txBody>
      </p:sp>
    </p:spTree>
  </p:cSld>
  <p:clrMapOvr>
    <a:masterClrMapping/>
  </p:clrMapOvr>
  <p:transition xmlns:p14="http://schemas.microsoft.com/office/powerpoint/2010/main" spd="med" advClick="1"/>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FFF"/>
        </a:solidFill>
      </p:bgPr>
    </p:bg>
    <p:spTree>
      <p:nvGrpSpPr>
        <p:cNvPr id="1" name=""/>
        <p:cNvGrpSpPr/>
        <p:nvPr/>
      </p:nvGrpSpPr>
      <p:grpSpPr>
        <a:xfrm>
          <a:off x="0" y="0"/>
          <a:ext cx="0" cy="0"/>
          <a:chOff x="0" y="0"/>
          <a:chExt cx="0" cy="0"/>
        </a:xfrm>
      </p:grpSpPr>
      <p:sp>
        <p:nvSpPr>
          <p:cNvPr id="359" name="text"/>
          <p:cNvSpPr txBox="1"/>
          <p:nvPr/>
        </p:nvSpPr>
        <p:spPr>
          <a:xfrm>
            <a:off x="457200" y="323850"/>
            <a:ext cx="8229600" cy="39476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defRPr b="1" sz="2800">
                <a:solidFill>
                  <a:srgbClr val="D75BE2"/>
                </a:solidFill>
              </a:defRPr>
            </a:lvl1pPr>
          </a:lstStyle>
          <a:p>
            <a:pPr>
              <a:defRPr>
                <a:latin typeface="Inter"/>
                <a:ea typeface="Inter"/>
                <a:cs typeface="Inter"/>
                <a:sym typeface="Inter"/>
              </a:defRPr>
            </a:pPr>
            <a:r>
              <a:rPr>
                <a:latin typeface="Arial"/>
                <a:ea typeface="Arial"/>
                <a:cs typeface="Arial"/>
                <a:sym typeface="Arial"/>
              </a:rPr>
              <a:t>מבנה תיקיית הפרויקט</a:t>
            </a:r>
          </a:p>
        </p:txBody>
      </p:sp>
      <p:sp>
        <p:nvSpPr>
          <p:cNvPr id="360" name="text"/>
          <p:cNvSpPr txBox="1"/>
          <p:nvPr/>
        </p:nvSpPr>
        <p:spPr>
          <a:xfrm>
            <a:off x="5905500" y="4876800"/>
            <a:ext cx="2781300" cy="127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800">
                <a:solidFill>
                  <a:srgbClr val="705B73"/>
                </a:solidFill>
                <a:latin typeface="Inter"/>
                <a:ea typeface="Inter"/>
                <a:cs typeface="Inter"/>
                <a:sym typeface="Inter"/>
              </a:defRPr>
            </a:pPr>
            <a:r>
              <a:rPr>
                <a:latin typeface="Arial"/>
                <a:ea typeface="Arial"/>
                <a:cs typeface="Arial"/>
                <a:sym typeface="Arial"/>
              </a:rPr>
              <a:t>שיעור</a:t>
            </a:r>
            <a:r>
              <a:t>: </a:t>
            </a:r>
            <a:r>
              <a:rPr>
                <a:latin typeface="Arial"/>
                <a:ea typeface="Arial"/>
                <a:cs typeface="Arial"/>
                <a:sym typeface="Arial"/>
              </a:rPr>
              <a:t>פיתוח עם סוכני־קוד</a:t>
            </a:r>
          </a:p>
        </p:txBody>
      </p:sp>
      <p:sp>
        <p:nvSpPr>
          <p:cNvPr id="361" name="code"/>
          <p:cNvSpPr txBox="1"/>
          <p:nvPr/>
        </p:nvSpPr>
        <p:spPr>
          <a:xfrm>
            <a:off x="457200" y="4876800"/>
            <a:ext cx="333375" cy="127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defRPr sz="800">
                <a:solidFill>
                  <a:srgbClr val="705B73"/>
                </a:solidFill>
                <a:latin typeface="Inter"/>
                <a:ea typeface="Inter"/>
                <a:cs typeface="Inter"/>
                <a:sym typeface="Inter"/>
              </a:defRPr>
            </a:lvl1pPr>
          </a:lstStyle>
          <a:p>
            <a:pPr/>
            <a:r>
              <a:t>30</a:t>
            </a:r>
          </a:p>
        </p:txBody>
      </p:sp>
      <p:sp>
        <p:nvSpPr>
          <p:cNvPr id="362" name="Rectangle"/>
          <p:cNvSpPr/>
          <p:nvPr/>
        </p:nvSpPr>
        <p:spPr>
          <a:xfrm>
            <a:off x="533400" y="1219200"/>
            <a:ext cx="3409950" cy="3324225"/>
          </a:xfrm>
          <a:prstGeom prst="rect">
            <a:avLst/>
          </a:prstGeom>
          <a:solidFill>
            <a:srgbClr val="F7F5F8"/>
          </a:solidFill>
          <a:ln w="12700">
            <a:miter lim="400000"/>
          </a:ln>
        </p:spPr>
        <p:txBody>
          <a:bodyPr lIns="0" tIns="0" rIns="0" bIns="0"/>
          <a:lstStyle/>
          <a:p>
            <a:pPr/>
          </a:p>
        </p:txBody>
      </p:sp>
      <p:sp>
        <p:nvSpPr>
          <p:cNvPr id="363" name="code"/>
          <p:cNvSpPr txBox="1"/>
          <p:nvPr/>
        </p:nvSpPr>
        <p:spPr>
          <a:xfrm>
            <a:off x="666750" y="1333500"/>
            <a:ext cx="3143250" cy="253293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700">
                <a:solidFill>
                  <a:srgbClr val="272525"/>
                </a:solidFill>
              </a:defRPr>
            </a:pPr>
            <a:r>
              <a:t>my-project/</a:t>
            </a:r>
          </a:p>
          <a:p>
            <a:pPr>
              <a:defRPr sz="1700">
                <a:solidFill>
                  <a:srgbClr val="272525"/>
                </a:solidFill>
              </a:defRPr>
            </a:pPr>
            <a:r>
              <a:t>  README.md</a:t>
            </a:r>
          </a:p>
          <a:p>
            <a:pPr>
              <a:defRPr sz="1700">
                <a:solidFill>
                  <a:srgbClr val="272525"/>
                </a:solidFill>
              </a:defRPr>
            </a:pPr>
            <a:r>
              <a:t>  AGENTS.md</a:t>
            </a:r>
          </a:p>
          <a:p>
            <a:pPr>
              <a:defRPr sz="1700">
                <a:solidFill>
                  <a:srgbClr val="272525"/>
                </a:solidFill>
              </a:defRPr>
            </a:pPr>
            <a:r>
              <a:t>  CLAUDE.md</a:t>
            </a:r>
          </a:p>
          <a:p>
            <a:pPr>
              <a:defRPr sz="1700">
                <a:solidFill>
                  <a:srgbClr val="272525"/>
                </a:solidFill>
              </a:defRPr>
            </a:pPr>
            <a:r>
              <a:t>  docs/</a:t>
            </a:r>
          </a:p>
          <a:p>
            <a:pPr>
              <a:defRPr sz="1700">
                <a:solidFill>
                  <a:srgbClr val="272525"/>
                </a:solidFill>
              </a:defRPr>
            </a:pPr>
            <a:r>
              <a:t>    spec.md</a:t>
            </a:r>
          </a:p>
          <a:p>
            <a:pPr>
              <a:defRPr sz="1700">
                <a:solidFill>
                  <a:srgbClr val="272525"/>
                </a:solidFill>
              </a:defRPr>
            </a:pPr>
            <a:r>
              <a:t>    decisions.md</a:t>
            </a:r>
          </a:p>
          <a:p>
            <a:pPr>
              <a:defRPr sz="1700">
                <a:solidFill>
                  <a:srgbClr val="272525"/>
                </a:solidFill>
              </a:defRPr>
            </a:pPr>
            <a:r>
              <a:t>    status.md</a:t>
            </a:r>
          </a:p>
          <a:p>
            <a:pPr>
              <a:defRPr sz="1700">
                <a:solidFill>
                  <a:srgbClr val="272525"/>
                </a:solidFill>
              </a:defRPr>
            </a:pPr>
            <a:r>
              <a:t>  src/</a:t>
            </a:r>
          </a:p>
          <a:p>
            <a:pPr>
              <a:defRPr sz="1700">
                <a:solidFill>
                  <a:srgbClr val="272525"/>
                </a:solidFill>
              </a:defRPr>
            </a:pPr>
            <a:r>
              <a:t>  tests/</a:t>
            </a:r>
          </a:p>
        </p:txBody>
      </p:sp>
      <p:sp>
        <p:nvSpPr>
          <p:cNvPr id="364" name="text"/>
          <p:cNvSpPr txBox="1"/>
          <p:nvPr/>
        </p:nvSpPr>
        <p:spPr>
          <a:xfrm>
            <a:off x="4667250" y="1333500"/>
            <a:ext cx="4019550" cy="2794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b="1">
                <a:solidFill>
                  <a:srgbClr val="272525"/>
                </a:solidFill>
                <a:latin typeface="Inter"/>
                <a:ea typeface="Inter"/>
                <a:cs typeface="Inter"/>
                <a:sym typeface="Inter"/>
              </a:defRPr>
            </a:pPr>
            <a:r>
              <a:rPr>
                <a:latin typeface="Arial"/>
                <a:ea typeface="Arial"/>
                <a:cs typeface="Arial"/>
                <a:sym typeface="Arial"/>
              </a:rPr>
              <a:t>האפיון</a:t>
            </a:r>
            <a:r>
              <a:t>: docs/spec.md</a:t>
            </a:r>
          </a:p>
        </p:txBody>
      </p:sp>
      <p:sp>
        <p:nvSpPr>
          <p:cNvPr id="365" name="text"/>
          <p:cNvSpPr txBox="1"/>
          <p:nvPr/>
        </p:nvSpPr>
        <p:spPr>
          <a:xfrm>
            <a:off x="4667250" y="1666875"/>
            <a:ext cx="4019550" cy="241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1600">
                <a:solidFill>
                  <a:srgbClr val="272525"/>
                </a:solidFill>
                <a:latin typeface="Inter"/>
                <a:ea typeface="Inter"/>
                <a:cs typeface="Inter"/>
                <a:sym typeface="Inter"/>
              </a:defRPr>
            </a:pPr>
            <a:r>
              <a:rPr>
                <a:latin typeface="Arial"/>
                <a:ea typeface="Arial"/>
                <a:cs typeface="Arial"/>
                <a:sym typeface="Arial"/>
              </a:rPr>
              <a:t>מטרות הפרויקט</a:t>
            </a:r>
            <a:r>
              <a:t>, </a:t>
            </a:r>
            <a:r>
              <a:rPr>
                <a:latin typeface="Arial"/>
                <a:ea typeface="Arial"/>
                <a:cs typeface="Arial"/>
                <a:sym typeface="Arial"/>
              </a:rPr>
              <a:t>דרישות ותנאי קבלה</a:t>
            </a:r>
            <a:r>
              <a:t>.</a:t>
            </a:r>
          </a:p>
        </p:txBody>
      </p:sp>
      <p:sp>
        <p:nvSpPr>
          <p:cNvPr id="366" name="text"/>
          <p:cNvSpPr txBox="1"/>
          <p:nvPr/>
        </p:nvSpPr>
        <p:spPr>
          <a:xfrm>
            <a:off x="4667250" y="2390775"/>
            <a:ext cx="4019550" cy="2794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b="1">
                <a:solidFill>
                  <a:srgbClr val="272525"/>
                </a:solidFill>
                <a:latin typeface="Inter"/>
                <a:ea typeface="Inter"/>
                <a:cs typeface="Inter"/>
                <a:sym typeface="Inter"/>
              </a:defRPr>
            </a:pPr>
            <a:r>
              <a:rPr>
                <a:latin typeface="Arial"/>
                <a:ea typeface="Arial"/>
                <a:cs typeface="Arial"/>
                <a:sym typeface="Arial"/>
              </a:rPr>
              <a:t>ההחלטות</a:t>
            </a:r>
            <a:r>
              <a:t>: docs/decisions.md</a:t>
            </a:r>
          </a:p>
        </p:txBody>
      </p:sp>
      <p:sp>
        <p:nvSpPr>
          <p:cNvPr id="367" name="text"/>
          <p:cNvSpPr txBox="1"/>
          <p:nvPr/>
        </p:nvSpPr>
        <p:spPr>
          <a:xfrm>
            <a:off x="4667250" y="2724150"/>
            <a:ext cx="4019550" cy="241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1600">
                <a:solidFill>
                  <a:srgbClr val="272525"/>
                </a:solidFill>
                <a:latin typeface="Inter"/>
                <a:ea typeface="Inter"/>
                <a:cs typeface="Inter"/>
                <a:sym typeface="Inter"/>
              </a:defRPr>
            </a:pPr>
            <a:r>
              <a:rPr>
                <a:latin typeface="Arial"/>
                <a:ea typeface="Arial"/>
                <a:cs typeface="Arial"/>
                <a:sym typeface="Arial"/>
              </a:rPr>
              <a:t>מה בחרנו</a:t>
            </a:r>
            <a:r>
              <a:t>, </a:t>
            </a:r>
            <a:r>
              <a:rPr>
                <a:latin typeface="Arial"/>
                <a:ea typeface="Arial"/>
                <a:cs typeface="Arial"/>
                <a:sym typeface="Arial"/>
              </a:rPr>
              <a:t>למה</a:t>
            </a:r>
            <a:r>
              <a:t>, </a:t>
            </a:r>
            <a:r>
              <a:rPr>
                <a:latin typeface="Arial"/>
                <a:ea typeface="Arial"/>
                <a:cs typeface="Arial"/>
                <a:sym typeface="Arial"/>
              </a:rPr>
              <a:t>ומה ההשלכות</a:t>
            </a:r>
            <a:r>
              <a:t>.</a:t>
            </a:r>
          </a:p>
        </p:txBody>
      </p:sp>
      <p:sp>
        <p:nvSpPr>
          <p:cNvPr id="368" name="text"/>
          <p:cNvSpPr txBox="1"/>
          <p:nvPr/>
        </p:nvSpPr>
        <p:spPr>
          <a:xfrm>
            <a:off x="4667250" y="3448050"/>
            <a:ext cx="4019550" cy="2794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b="1">
                <a:solidFill>
                  <a:srgbClr val="272525"/>
                </a:solidFill>
                <a:latin typeface="Inter"/>
                <a:ea typeface="Inter"/>
                <a:cs typeface="Inter"/>
                <a:sym typeface="Inter"/>
              </a:defRPr>
            </a:pPr>
            <a:r>
              <a:rPr>
                <a:latin typeface="Arial"/>
                <a:ea typeface="Arial"/>
                <a:cs typeface="Arial"/>
                <a:sym typeface="Arial"/>
              </a:rPr>
              <a:t>המצב</a:t>
            </a:r>
            <a:r>
              <a:t>: docs/status.md</a:t>
            </a:r>
          </a:p>
        </p:txBody>
      </p:sp>
      <p:sp>
        <p:nvSpPr>
          <p:cNvPr id="369" name="text"/>
          <p:cNvSpPr txBox="1"/>
          <p:nvPr/>
        </p:nvSpPr>
        <p:spPr>
          <a:xfrm>
            <a:off x="4667250" y="3781425"/>
            <a:ext cx="4019550" cy="241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1600">
                <a:solidFill>
                  <a:srgbClr val="272525"/>
                </a:solidFill>
                <a:latin typeface="Inter"/>
                <a:ea typeface="Inter"/>
                <a:cs typeface="Inter"/>
                <a:sym typeface="Inter"/>
              </a:defRPr>
            </a:pPr>
            <a:r>
              <a:rPr>
                <a:latin typeface="Arial"/>
                <a:ea typeface="Arial"/>
                <a:cs typeface="Arial"/>
                <a:sym typeface="Arial"/>
              </a:rPr>
              <a:t>מה אומת</a:t>
            </a:r>
            <a:r>
              <a:t>, </a:t>
            </a:r>
            <a:r>
              <a:rPr>
                <a:latin typeface="Arial"/>
                <a:ea typeface="Arial"/>
                <a:cs typeface="Arial"/>
                <a:sym typeface="Arial"/>
              </a:rPr>
              <a:t>מה פתוח ומה הצעד הבא</a:t>
            </a:r>
            <a:r>
              <a:t>.</a:t>
            </a:r>
          </a:p>
        </p:txBody>
      </p:sp>
    </p:spTree>
  </p:cSld>
  <p:clrMapOvr>
    <a:masterClrMapping/>
  </p:clrMapOvr>
  <p:transition xmlns:p14="http://schemas.microsoft.com/office/powerpoint/2010/main" spd="med" advClick="1"/>
</p:sld>
</file>

<file path=ppt/slides/slide3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FFF"/>
        </a:solidFill>
      </p:bgPr>
    </p:bg>
    <p:spTree>
      <p:nvGrpSpPr>
        <p:cNvPr id="1" name=""/>
        <p:cNvGrpSpPr/>
        <p:nvPr/>
      </p:nvGrpSpPr>
      <p:grpSpPr>
        <a:xfrm>
          <a:off x="0" y="0"/>
          <a:ext cx="0" cy="0"/>
          <a:chOff x="0" y="0"/>
          <a:chExt cx="0" cy="0"/>
        </a:xfrm>
      </p:grpSpPr>
      <p:sp>
        <p:nvSpPr>
          <p:cNvPr id="373" name="text"/>
          <p:cNvSpPr txBox="1"/>
          <p:nvPr/>
        </p:nvSpPr>
        <p:spPr>
          <a:xfrm>
            <a:off x="457200" y="323850"/>
            <a:ext cx="8229600" cy="39476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defRPr b="1" sz="2800">
                <a:solidFill>
                  <a:srgbClr val="D75BE2"/>
                </a:solidFill>
              </a:defRPr>
            </a:lvl1pPr>
          </a:lstStyle>
          <a:p>
            <a:pPr>
              <a:defRPr>
                <a:latin typeface="Inter"/>
                <a:ea typeface="Inter"/>
                <a:cs typeface="Inter"/>
                <a:sym typeface="Inter"/>
              </a:defRPr>
            </a:pPr>
            <a:r>
              <a:rPr>
                <a:latin typeface="Arial"/>
                <a:ea typeface="Arial"/>
                <a:cs typeface="Arial"/>
                <a:sym typeface="Arial"/>
              </a:rPr>
              <a:t>הנחיות משותפות לשני הכלים</a:t>
            </a:r>
          </a:p>
        </p:txBody>
      </p:sp>
      <p:sp>
        <p:nvSpPr>
          <p:cNvPr id="374" name="text"/>
          <p:cNvSpPr txBox="1"/>
          <p:nvPr/>
        </p:nvSpPr>
        <p:spPr>
          <a:xfrm>
            <a:off x="5905500" y="4876800"/>
            <a:ext cx="2781300" cy="127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800">
                <a:solidFill>
                  <a:srgbClr val="705B73"/>
                </a:solidFill>
                <a:latin typeface="Inter"/>
                <a:ea typeface="Inter"/>
                <a:cs typeface="Inter"/>
                <a:sym typeface="Inter"/>
              </a:defRPr>
            </a:pPr>
            <a:r>
              <a:rPr>
                <a:latin typeface="Arial"/>
                <a:ea typeface="Arial"/>
                <a:cs typeface="Arial"/>
                <a:sym typeface="Arial"/>
              </a:rPr>
              <a:t>שיעור</a:t>
            </a:r>
            <a:r>
              <a:t>: </a:t>
            </a:r>
            <a:r>
              <a:rPr>
                <a:latin typeface="Arial"/>
                <a:ea typeface="Arial"/>
                <a:cs typeface="Arial"/>
                <a:sym typeface="Arial"/>
              </a:rPr>
              <a:t>פיתוח עם סוכני־קוד</a:t>
            </a:r>
          </a:p>
        </p:txBody>
      </p:sp>
      <p:sp>
        <p:nvSpPr>
          <p:cNvPr id="375" name="code"/>
          <p:cNvSpPr txBox="1"/>
          <p:nvPr/>
        </p:nvSpPr>
        <p:spPr>
          <a:xfrm>
            <a:off x="457200" y="4876800"/>
            <a:ext cx="333375" cy="127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defRPr sz="800">
                <a:solidFill>
                  <a:srgbClr val="705B73"/>
                </a:solidFill>
                <a:latin typeface="Inter"/>
                <a:ea typeface="Inter"/>
                <a:cs typeface="Inter"/>
                <a:sym typeface="Inter"/>
              </a:defRPr>
            </a:lvl1pPr>
          </a:lstStyle>
          <a:p>
            <a:pPr/>
            <a:r>
              <a:t>31</a:t>
            </a:r>
          </a:p>
        </p:txBody>
      </p:sp>
      <p:sp>
        <p:nvSpPr>
          <p:cNvPr id="376" name="text"/>
          <p:cNvSpPr txBox="1"/>
          <p:nvPr/>
        </p:nvSpPr>
        <p:spPr>
          <a:xfrm>
            <a:off x="4714875" y="1190625"/>
            <a:ext cx="3952875" cy="2794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b="1">
                <a:solidFill>
                  <a:srgbClr val="272525"/>
                </a:solidFill>
                <a:latin typeface="Inter"/>
                <a:ea typeface="Inter"/>
                <a:cs typeface="Inter"/>
                <a:sym typeface="Inter"/>
              </a:defRPr>
            </a:pPr>
            <a:r>
              <a:rPr>
                <a:latin typeface="Arial"/>
                <a:ea typeface="Arial"/>
                <a:cs typeface="Arial"/>
                <a:sym typeface="Arial"/>
              </a:rPr>
              <a:t>בקובץ </a:t>
            </a:r>
            <a:r>
              <a:t>AGENTS.md</a:t>
            </a:r>
          </a:p>
        </p:txBody>
      </p:sp>
      <p:sp>
        <p:nvSpPr>
          <p:cNvPr id="377" name="text"/>
          <p:cNvSpPr txBox="1"/>
          <p:nvPr/>
        </p:nvSpPr>
        <p:spPr>
          <a:xfrm>
            <a:off x="4714875" y="1724025"/>
            <a:ext cx="3952875" cy="140276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1500">
                <a:solidFill>
                  <a:srgbClr val="272525"/>
                </a:solidFill>
                <a:latin typeface="Inter"/>
                <a:ea typeface="Inter"/>
                <a:cs typeface="Inter"/>
                <a:sym typeface="Inter"/>
              </a:defRPr>
            </a:pPr>
            <a:r>
              <a:rPr>
                <a:latin typeface="Arial"/>
                <a:ea typeface="Arial"/>
                <a:cs typeface="Arial"/>
                <a:sym typeface="Arial"/>
              </a:rPr>
              <a:t>קרא תחילה את האפיון ואת מצב הפרויקט</a:t>
            </a:r>
            <a:r>
              <a:t>.</a:t>
            </a:r>
          </a:p>
          <a:p>
            <a:pPr algn="r" rtl="1">
              <a:defRPr sz="1500">
                <a:solidFill>
                  <a:srgbClr val="272525"/>
                </a:solidFill>
                <a:latin typeface="Inter"/>
                <a:ea typeface="Inter"/>
                <a:cs typeface="Inter"/>
                <a:sym typeface="Inter"/>
              </a:defRPr>
            </a:pPr>
            <a:r>
              <a:rPr>
                <a:latin typeface="Arial"/>
                <a:ea typeface="Arial"/>
                <a:cs typeface="Arial"/>
                <a:sym typeface="Arial"/>
              </a:rPr>
              <a:t>בצע שינוי התנהגותי אחד בכל פעם</a:t>
            </a:r>
            <a:r>
              <a:t>.</a:t>
            </a:r>
          </a:p>
          <a:p>
            <a:pPr algn="r" rtl="1">
              <a:defRPr sz="1500">
                <a:solidFill>
                  <a:srgbClr val="272525"/>
                </a:solidFill>
                <a:latin typeface="Inter"/>
                <a:ea typeface="Inter"/>
                <a:cs typeface="Inter"/>
                <a:sym typeface="Inter"/>
              </a:defRPr>
            </a:pPr>
            <a:r>
              <a:rPr>
                <a:latin typeface="Arial"/>
                <a:ea typeface="Arial"/>
                <a:cs typeface="Arial"/>
                <a:sym typeface="Arial"/>
              </a:rPr>
              <a:t>הגדר תנאי קבלה וכתוב בדיקה לפני המימוש</a:t>
            </a:r>
            <a:r>
              <a:t>.</a:t>
            </a:r>
          </a:p>
          <a:p>
            <a:pPr algn="r" rtl="1">
              <a:defRPr sz="1500">
                <a:solidFill>
                  <a:srgbClr val="272525"/>
                </a:solidFill>
                <a:latin typeface="Inter"/>
                <a:ea typeface="Inter"/>
                <a:cs typeface="Inter"/>
                <a:sym typeface="Inter"/>
              </a:defRPr>
            </a:pPr>
            <a:r>
              <a:rPr>
                <a:latin typeface="Arial"/>
                <a:ea typeface="Arial"/>
                <a:cs typeface="Arial"/>
                <a:sym typeface="Arial"/>
              </a:rPr>
              <a:t>הפעל את פקודות הבדיקה שב־</a:t>
            </a:r>
            <a:r>
              <a:t>README.</a:t>
            </a:r>
          </a:p>
          <a:p>
            <a:pPr algn="r" rtl="1">
              <a:defRPr sz="1500">
                <a:solidFill>
                  <a:srgbClr val="272525"/>
                </a:solidFill>
                <a:latin typeface="Inter"/>
                <a:ea typeface="Inter"/>
                <a:cs typeface="Inter"/>
                <a:sym typeface="Inter"/>
              </a:defRPr>
            </a:pPr>
            <a:r>
              <a:rPr>
                <a:latin typeface="Arial"/>
                <a:ea typeface="Arial"/>
                <a:cs typeface="Arial"/>
                <a:sym typeface="Arial"/>
              </a:rPr>
              <a:t>בסיום עדכן את האפיון ואת מצב הפרויקט</a:t>
            </a:r>
            <a:r>
              <a:t>.</a:t>
            </a:r>
          </a:p>
          <a:p>
            <a:pPr algn="r" rtl="1">
              <a:defRPr sz="1500">
                <a:solidFill>
                  <a:srgbClr val="272525"/>
                </a:solidFill>
                <a:latin typeface="Inter"/>
                <a:ea typeface="Inter"/>
                <a:cs typeface="Inter"/>
                <a:sym typeface="Inter"/>
              </a:defRPr>
            </a:pPr>
            <a:r>
              <a:rPr>
                <a:latin typeface="Arial"/>
                <a:ea typeface="Arial"/>
                <a:cs typeface="Arial"/>
                <a:sym typeface="Arial"/>
              </a:rPr>
              <a:t>דווח רק על בדיקות שהורצו בפועל</a:t>
            </a:r>
            <a:r>
              <a:t>.</a:t>
            </a:r>
          </a:p>
        </p:txBody>
      </p:sp>
      <p:sp>
        <p:nvSpPr>
          <p:cNvPr id="378" name="text"/>
          <p:cNvSpPr txBox="1"/>
          <p:nvPr/>
        </p:nvSpPr>
        <p:spPr>
          <a:xfrm>
            <a:off x="476250" y="1190625"/>
            <a:ext cx="3429000" cy="2794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b="1">
                <a:solidFill>
                  <a:srgbClr val="272525"/>
                </a:solidFill>
                <a:latin typeface="Inter"/>
                <a:ea typeface="Inter"/>
                <a:cs typeface="Inter"/>
                <a:sym typeface="Inter"/>
              </a:defRPr>
            </a:pPr>
            <a:r>
              <a:rPr>
                <a:latin typeface="Arial"/>
                <a:ea typeface="Arial"/>
                <a:cs typeface="Arial"/>
                <a:sym typeface="Arial"/>
              </a:rPr>
              <a:t>בקובץ </a:t>
            </a:r>
            <a:r>
              <a:t>CLAUDE.md</a:t>
            </a:r>
          </a:p>
        </p:txBody>
      </p:sp>
      <p:sp>
        <p:nvSpPr>
          <p:cNvPr id="379" name="Rectangle"/>
          <p:cNvSpPr/>
          <p:nvPr/>
        </p:nvSpPr>
        <p:spPr>
          <a:xfrm>
            <a:off x="533400" y="1724025"/>
            <a:ext cx="3219450" cy="847725"/>
          </a:xfrm>
          <a:prstGeom prst="rect">
            <a:avLst/>
          </a:prstGeom>
          <a:solidFill>
            <a:srgbClr val="F7F5F8"/>
          </a:solidFill>
          <a:ln w="12700">
            <a:miter lim="400000"/>
          </a:ln>
        </p:spPr>
        <p:txBody>
          <a:bodyPr lIns="0" tIns="0" rIns="0" bIns="0"/>
          <a:lstStyle/>
          <a:p>
            <a:pPr/>
          </a:p>
        </p:txBody>
      </p:sp>
      <p:sp>
        <p:nvSpPr>
          <p:cNvPr id="380" name="code"/>
          <p:cNvSpPr txBox="1"/>
          <p:nvPr/>
        </p:nvSpPr>
        <p:spPr>
          <a:xfrm>
            <a:off x="666750" y="1838325"/>
            <a:ext cx="2952750" cy="29607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2100">
                <a:solidFill>
                  <a:srgbClr val="272525"/>
                </a:solidFill>
              </a:defRPr>
            </a:lvl1pPr>
          </a:lstStyle>
          <a:p>
            <a:pPr/>
            <a:r>
              <a:t>@AGENTS.md</a:t>
            </a:r>
          </a:p>
        </p:txBody>
      </p:sp>
      <p:sp>
        <p:nvSpPr>
          <p:cNvPr id="381" name="text"/>
          <p:cNvSpPr txBox="1"/>
          <p:nvPr/>
        </p:nvSpPr>
        <p:spPr>
          <a:xfrm>
            <a:off x="476250" y="2924175"/>
            <a:ext cx="3429000" cy="73719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1600">
                <a:solidFill>
                  <a:srgbClr val="272525"/>
                </a:solidFill>
                <a:latin typeface="Inter"/>
                <a:ea typeface="Inter"/>
                <a:cs typeface="Inter"/>
                <a:sym typeface="Inter"/>
              </a:defRPr>
            </a:pPr>
            <a:r>
              <a:rPr>
                <a:latin typeface="Arial"/>
                <a:ea typeface="Arial"/>
                <a:cs typeface="Arial"/>
                <a:sym typeface="Arial"/>
              </a:rPr>
              <a:t>שומרים את הכללים במקום אחד</a:t>
            </a:r>
            <a:r>
              <a:t>.</a:t>
            </a:r>
          </a:p>
          <a:p>
            <a:pPr algn="r" rtl="1">
              <a:defRPr sz="1600">
                <a:solidFill>
                  <a:srgbClr val="272525"/>
                </a:solidFill>
                <a:latin typeface="Inter"/>
                <a:ea typeface="Inter"/>
                <a:cs typeface="Inter"/>
                <a:sym typeface="Inter"/>
              </a:defRPr>
            </a:pPr>
            <a:r>
              <a:rPr>
                <a:latin typeface="Arial"/>
                <a:ea typeface="Arial"/>
                <a:cs typeface="Arial"/>
                <a:sym typeface="Arial"/>
              </a:rPr>
              <a:t>ב־</a:t>
            </a:r>
            <a:r>
              <a:t>Claude Code </a:t>
            </a:r>
            <a:r>
              <a:rPr>
                <a:latin typeface="Arial"/>
                <a:ea typeface="Arial"/>
                <a:cs typeface="Arial"/>
                <a:sym typeface="Arial"/>
              </a:rPr>
              <a:t>אפשר להשתמש</a:t>
            </a:r>
          </a:p>
          <a:p>
            <a:pPr algn="r" rtl="1">
              <a:defRPr sz="1600">
                <a:solidFill>
                  <a:srgbClr val="272525"/>
                </a:solidFill>
                <a:latin typeface="Inter"/>
                <a:ea typeface="Inter"/>
                <a:cs typeface="Inter"/>
                <a:sym typeface="Inter"/>
              </a:defRPr>
            </a:pPr>
            <a:r>
              <a:rPr>
                <a:latin typeface="Arial"/>
                <a:ea typeface="Arial"/>
                <a:cs typeface="Arial"/>
                <a:sym typeface="Arial"/>
              </a:rPr>
              <a:t>בייבוא המפורש הזה</a:t>
            </a:r>
            <a:r>
              <a:t>.</a:t>
            </a:r>
          </a:p>
        </p:txBody>
      </p:sp>
      <p:sp>
        <p:nvSpPr>
          <p:cNvPr id="382" name="Rectangle"/>
          <p:cNvSpPr/>
          <p:nvPr/>
        </p:nvSpPr>
        <p:spPr>
          <a:xfrm>
            <a:off x="457200" y="4248150"/>
            <a:ext cx="8229600" cy="466725"/>
          </a:xfrm>
          <a:prstGeom prst="rect">
            <a:avLst/>
          </a:prstGeom>
          <a:solidFill>
            <a:srgbClr val="F4D4F7"/>
          </a:solidFill>
          <a:ln w="12700">
            <a:miter lim="400000"/>
          </a:ln>
        </p:spPr>
        <p:txBody>
          <a:bodyPr lIns="0" tIns="0" rIns="0" bIns="0"/>
          <a:lstStyle/>
          <a:p>
            <a:pPr/>
          </a:p>
        </p:txBody>
      </p:sp>
      <p:sp>
        <p:nvSpPr>
          <p:cNvPr id="383" name="text"/>
          <p:cNvSpPr txBox="1"/>
          <p:nvPr/>
        </p:nvSpPr>
        <p:spPr>
          <a:xfrm>
            <a:off x="619125" y="4343400"/>
            <a:ext cx="7905750" cy="2286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b="1" sz="1500">
                <a:solidFill>
                  <a:srgbClr val="272525"/>
                </a:solidFill>
                <a:latin typeface="Inter"/>
                <a:ea typeface="Inter"/>
                <a:cs typeface="Inter"/>
                <a:sym typeface="Inter"/>
              </a:defRPr>
            </a:pPr>
            <a:r>
              <a:rPr>
                <a:latin typeface="Arial"/>
                <a:ea typeface="Arial"/>
                <a:cs typeface="Arial"/>
                <a:sym typeface="Arial"/>
              </a:rPr>
              <a:t>כבר בשיחה הראשונה מבקשים מהסוכן לציין אילו קובצי הנחיות קרא</a:t>
            </a:r>
            <a:r>
              <a:t>.</a:t>
            </a:r>
          </a:p>
        </p:txBody>
      </p:sp>
    </p:spTree>
  </p:cSld>
  <p:clrMapOvr>
    <a:masterClrMapping/>
  </p:clrMapOvr>
  <p:transition xmlns:p14="http://schemas.microsoft.com/office/powerpoint/2010/main" spd="med" advClick="1"/>
</p:sld>
</file>

<file path=ppt/slides/slide3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FFF"/>
        </a:solidFill>
      </p:bgPr>
    </p:bg>
    <p:spTree>
      <p:nvGrpSpPr>
        <p:cNvPr id="1" name=""/>
        <p:cNvGrpSpPr/>
        <p:nvPr/>
      </p:nvGrpSpPr>
      <p:grpSpPr>
        <a:xfrm>
          <a:off x="0" y="0"/>
          <a:ext cx="0" cy="0"/>
          <a:chOff x="0" y="0"/>
          <a:chExt cx="0" cy="0"/>
        </a:xfrm>
      </p:grpSpPr>
      <p:sp>
        <p:nvSpPr>
          <p:cNvPr id="387" name="text"/>
          <p:cNvSpPr txBox="1"/>
          <p:nvPr/>
        </p:nvSpPr>
        <p:spPr>
          <a:xfrm>
            <a:off x="457200" y="323850"/>
            <a:ext cx="8229600" cy="431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b="1" sz="2800">
                <a:solidFill>
                  <a:srgbClr val="D75BE2"/>
                </a:solidFill>
                <a:latin typeface="Inter"/>
                <a:ea typeface="Inter"/>
                <a:cs typeface="Inter"/>
                <a:sym typeface="Inter"/>
              </a:defRPr>
            </a:pPr>
            <a:r>
              <a:rPr>
                <a:latin typeface="Arial"/>
                <a:ea typeface="Arial"/>
                <a:cs typeface="Arial"/>
                <a:sym typeface="Arial"/>
              </a:rPr>
              <a:t>פיתוח לפי אפיון</a:t>
            </a:r>
            <a:r>
              <a:t>: Spec-driven development</a:t>
            </a:r>
          </a:p>
        </p:txBody>
      </p:sp>
      <p:sp>
        <p:nvSpPr>
          <p:cNvPr id="388" name="text"/>
          <p:cNvSpPr txBox="1"/>
          <p:nvPr/>
        </p:nvSpPr>
        <p:spPr>
          <a:xfrm>
            <a:off x="5905500" y="4876800"/>
            <a:ext cx="2781300" cy="127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800">
                <a:solidFill>
                  <a:srgbClr val="705B73"/>
                </a:solidFill>
                <a:latin typeface="Inter"/>
                <a:ea typeface="Inter"/>
                <a:cs typeface="Inter"/>
                <a:sym typeface="Inter"/>
              </a:defRPr>
            </a:pPr>
            <a:r>
              <a:rPr>
                <a:latin typeface="Arial"/>
                <a:ea typeface="Arial"/>
                <a:cs typeface="Arial"/>
                <a:sym typeface="Arial"/>
              </a:rPr>
              <a:t>שיעור</a:t>
            </a:r>
            <a:r>
              <a:t>: </a:t>
            </a:r>
            <a:r>
              <a:rPr>
                <a:latin typeface="Arial"/>
                <a:ea typeface="Arial"/>
                <a:cs typeface="Arial"/>
                <a:sym typeface="Arial"/>
              </a:rPr>
              <a:t>פיתוח עם סוכני־קוד</a:t>
            </a:r>
          </a:p>
        </p:txBody>
      </p:sp>
      <p:sp>
        <p:nvSpPr>
          <p:cNvPr id="389" name="code"/>
          <p:cNvSpPr txBox="1"/>
          <p:nvPr/>
        </p:nvSpPr>
        <p:spPr>
          <a:xfrm>
            <a:off x="457200" y="4876800"/>
            <a:ext cx="333375" cy="127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defRPr sz="800">
                <a:solidFill>
                  <a:srgbClr val="705B73"/>
                </a:solidFill>
                <a:latin typeface="Inter"/>
                <a:ea typeface="Inter"/>
                <a:cs typeface="Inter"/>
                <a:sym typeface="Inter"/>
              </a:defRPr>
            </a:lvl1pPr>
          </a:lstStyle>
          <a:p>
            <a:pPr/>
            <a:r>
              <a:t>32</a:t>
            </a:r>
          </a:p>
        </p:txBody>
      </p:sp>
      <p:sp>
        <p:nvSpPr>
          <p:cNvPr id="390" name="text"/>
          <p:cNvSpPr txBox="1"/>
          <p:nvPr/>
        </p:nvSpPr>
        <p:spPr>
          <a:xfrm>
            <a:off x="457200" y="1257300"/>
            <a:ext cx="8229600" cy="25922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defRPr b="1">
                <a:solidFill>
                  <a:srgbClr val="272525"/>
                </a:solidFill>
              </a:defRPr>
            </a:lvl1pPr>
          </a:lstStyle>
          <a:p>
            <a:pPr>
              <a:defRPr>
                <a:latin typeface="Inter"/>
                <a:ea typeface="Inter"/>
                <a:cs typeface="Inter"/>
                <a:sym typeface="Inter"/>
              </a:defRPr>
            </a:pPr>
            <a:r>
              <a:rPr>
                <a:latin typeface="Arial"/>
                <a:ea typeface="Arial"/>
                <a:cs typeface="Arial"/>
                <a:sym typeface="Arial"/>
              </a:rPr>
              <a:t>לפני המימוש</a:t>
            </a:r>
          </a:p>
        </p:txBody>
      </p:sp>
      <p:sp>
        <p:nvSpPr>
          <p:cNvPr id="391" name="text"/>
          <p:cNvSpPr txBox="1"/>
          <p:nvPr/>
        </p:nvSpPr>
        <p:spPr>
          <a:xfrm>
            <a:off x="457200" y="1590675"/>
            <a:ext cx="8229600" cy="241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1600">
                <a:solidFill>
                  <a:srgbClr val="272525"/>
                </a:solidFill>
                <a:latin typeface="Inter"/>
                <a:ea typeface="Inter"/>
                <a:cs typeface="Inter"/>
                <a:sym typeface="Inter"/>
              </a:defRPr>
            </a:pPr>
            <a:r>
              <a:rPr>
                <a:latin typeface="Arial"/>
                <a:ea typeface="Arial"/>
                <a:cs typeface="Arial"/>
                <a:sym typeface="Arial"/>
              </a:rPr>
              <a:t>מנסחים דרישה</a:t>
            </a:r>
            <a:r>
              <a:t>, </a:t>
            </a:r>
            <a:r>
              <a:rPr>
                <a:latin typeface="Arial"/>
                <a:ea typeface="Arial"/>
                <a:cs typeface="Arial"/>
                <a:sym typeface="Arial"/>
              </a:rPr>
              <a:t>גבולות ותנאי קבלה שאפשר לבדוק</a:t>
            </a:r>
            <a:r>
              <a:t>.</a:t>
            </a:r>
          </a:p>
        </p:txBody>
      </p:sp>
      <p:sp>
        <p:nvSpPr>
          <p:cNvPr id="392" name="text"/>
          <p:cNvSpPr txBox="1"/>
          <p:nvPr/>
        </p:nvSpPr>
        <p:spPr>
          <a:xfrm>
            <a:off x="457200" y="2219325"/>
            <a:ext cx="8229600" cy="25922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defRPr b="1">
                <a:solidFill>
                  <a:srgbClr val="272525"/>
                </a:solidFill>
              </a:defRPr>
            </a:lvl1pPr>
          </a:lstStyle>
          <a:p>
            <a:pPr>
              <a:defRPr>
                <a:latin typeface="Inter"/>
                <a:ea typeface="Inter"/>
                <a:cs typeface="Inter"/>
                <a:sym typeface="Inter"/>
              </a:defRPr>
            </a:pPr>
            <a:r>
              <a:rPr>
                <a:latin typeface="Arial"/>
                <a:ea typeface="Arial"/>
                <a:cs typeface="Arial"/>
                <a:sym typeface="Arial"/>
              </a:rPr>
              <a:t>בזמן הפיתוח</a:t>
            </a:r>
          </a:p>
        </p:txBody>
      </p:sp>
      <p:sp>
        <p:nvSpPr>
          <p:cNvPr id="393" name="text"/>
          <p:cNvSpPr txBox="1"/>
          <p:nvPr/>
        </p:nvSpPr>
        <p:spPr>
          <a:xfrm>
            <a:off x="457200" y="2552700"/>
            <a:ext cx="8229600" cy="241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1600">
                <a:solidFill>
                  <a:srgbClr val="272525"/>
                </a:solidFill>
                <a:latin typeface="Inter"/>
                <a:ea typeface="Inter"/>
                <a:cs typeface="Inter"/>
                <a:sym typeface="Inter"/>
              </a:defRPr>
            </a:pPr>
            <a:r>
              <a:rPr>
                <a:latin typeface="Arial"/>
                <a:ea typeface="Arial"/>
                <a:cs typeface="Arial"/>
                <a:sym typeface="Arial"/>
              </a:rPr>
              <a:t>הסוכן מקשר בין הדרישה</a:t>
            </a:r>
            <a:r>
              <a:t>, </a:t>
            </a:r>
            <a:r>
              <a:rPr>
                <a:latin typeface="Arial"/>
                <a:ea typeface="Arial"/>
                <a:cs typeface="Arial"/>
                <a:sym typeface="Arial"/>
              </a:rPr>
              <a:t>הבדיקה והשינוי בקוד</a:t>
            </a:r>
            <a:r>
              <a:t>.</a:t>
            </a:r>
          </a:p>
        </p:txBody>
      </p:sp>
      <p:sp>
        <p:nvSpPr>
          <p:cNvPr id="394" name="text"/>
          <p:cNvSpPr txBox="1"/>
          <p:nvPr/>
        </p:nvSpPr>
        <p:spPr>
          <a:xfrm>
            <a:off x="457200" y="3181350"/>
            <a:ext cx="8229600" cy="25922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defRPr b="1">
                <a:solidFill>
                  <a:srgbClr val="272525"/>
                </a:solidFill>
              </a:defRPr>
            </a:lvl1pPr>
          </a:lstStyle>
          <a:p>
            <a:pPr>
              <a:defRPr>
                <a:latin typeface="Inter"/>
                <a:ea typeface="Inter"/>
                <a:cs typeface="Inter"/>
                <a:sym typeface="Inter"/>
              </a:defRPr>
            </a:pPr>
            <a:r>
              <a:rPr>
                <a:latin typeface="Arial"/>
                <a:ea typeface="Arial"/>
                <a:cs typeface="Arial"/>
                <a:sym typeface="Arial"/>
              </a:rPr>
              <a:t>אחרי הפיתוח</a:t>
            </a:r>
          </a:p>
        </p:txBody>
      </p:sp>
      <p:sp>
        <p:nvSpPr>
          <p:cNvPr id="395" name="text"/>
          <p:cNvSpPr txBox="1"/>
          <p:nvPr/>
        </p:nvSpPr>
        <p:spPr>
          <a:xfrm>
            <a:off x="457200" y="3514725"/>
            <a:ext cx="8229600" cy="241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1600">
                <a:solidFill>
                  <a:srgbClr val="272525"/>
                </a:solidFill>
                <a:latin typeface="Inter"/>
                <a:ea typeface="Inter"/>
                <a:cs typeface="Inter"/>
                <a:sym typeface="Inter"/>
              </a:defRPr>
            </a:pPr>
            <a:r>
              <a:rPr>
                <a:latin typeface="Arial"/>
                <a:ea typeface="Arial"/>
                <a:cs typeface="Arial"/>
                <a:sym typeface="Arial"/>
              </a:rPr>
              <a:t>בודקים תוצאות ומעדכנים את התיעוד ואת מצב המשימה</a:t>
            </a:r>
            <a:r>
              <a:t>.</a:t>
            </a:r>
          </a:p>
        </p:txBody>
      </p:sp>
      <p:sp>
        <p:nvSpPr>
          <p:cNvPr id="396" name="Rectangle"/>
          <p:cNvSpPr/>
          <p:nvPr/>
        </p:nvSpPr>
        <p:spPr>
          <a:xfrm>
            <a:off x="457200" y="4248150"/>
            <a:ext cx="8229600" cy="466725"/>
          </a:xfrm>
          <a:prstGeom prst="rect">
            <a:avLst/>
          </a:prstGeom>
          <a:solidFill>
            <a:srgbClr val="F4D4F7"/>
          </a:solidFill>
          <a:ln w="12700">
            <a:miter lim="400000"/>
          </a:ln>
        </p:spPr>
        <p:txBody>
          <a:bodyPr lIns="0" tIns="0" rIns="0" bIns="0"/>
          <a:lstStyle/>
          <a:p>
            <a:pPr/>
          </a:p>
        </p:txBody>
      </p:sp>
      <p:sp>
        <p:nvSpPr>
          <p:cNvPr id="397" name="text"/>
          <p:cNvSpPr txBox="1"/>
          <p:nvPr/>
        </p:nvSpPr>
        <p:spPr>
          <a:xfrm>
            <a:off x="619125" y="4343400"/>
            <a:ext cx="7905750" cy="2286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b="1" sz="1500">
                <a:solidFill>
                  <a:srgbClr val="272525"/>
                </a:solidFill>
                <a:latin typeface="Inter"/>
                <a:ea typeface="Inter"/>
                <a:cs typeface="Inter"/>
                <a:sym typeface="Inter"/>
              </a:defRPr>
            </a:pPr>
            <a:r>
              <a:rPr>
                <a:latin typeface="Arial"/>
                <a:ea typeface="Arial"/>
                <a:cs typeface="Arial"/>
                <a:sym typeface="Arial"/>
              </a:rPr>
              <a:t>האפיון הוא מקור האמת לדרישות</a:t>
            </a:r>
            <a:r>
              <a:t>. </a:t>
            </a:r>
            <a:r>
              <a:rPr>
                <a:latin typeface="Arial"/>
                <a:ea typeface="Arial"/>
                <a:cs typeface="Arial"/>
                <a:sym typeface="Arial"/>
              </a:rPr>
              <a:t>הקוד והבדיקות מראים מה קיים בפועל</a:t>
            </a:r>
            <a:r>
              <a:t>.</a:t>
            </a:r>
          </a:p>
        </p:txBody>
      </p:sp>
    </p:spTree>
  </p:cSld>
  <p:clrMapOvr>
    <a:masterClrMapping/>
  </p:clrMapOvr>
  <p:transition xmlns:p14="http://schemas.microsoft.com/office/powerpoint/2010/main" spd="med" advClick="1"/>
</p:sld>
</file>

<file path=ppt/slides/slide3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FFF"/>
        </a:solidFill>
      </p:bgPr>
    </p:bg>
    <p:spTree>
      <p:nvGrpSpPr>
        <p:cNvPr id="1" name=""/>
        <p:cNvGrpSpPr/>
        <p:nvPr/>
      </p:nvGrpSpPr>
      <p:grpSpPr>
        <a:xfrm>
          <a:off x="0" y="0"/>
          <a:ext cx="0" cy="0"/>
          <a:chOff x="0" y="0"/>
          <a:chExt cx="0" cy="0"/>
        </a:xfrm>
      </p:grpSpPr>
      <p:sp>
        <p:nvSpPr>
          <p:cNvPr id="401" name="text"/>
          <p:cNvSpPr txBox="1"/>
          <p:nvPr/>
        </p:nvSpPr>
        <p:spPr>
          <a:xfrm>
            <a:off x="457200" y="323850"/>
            <a:ext cx="8229600" cy="39476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defRPr b="1" sz="2800">
                <a:solidFill>
                  <a:srgbClr val="D75BE2"/>
                </a:solidFill>
              </a:defRPr>
            </a:lvl1pPr>
          </a:lstStyle>
          <a:p>
            <a:pPr>
              <a:defRPr>
                <a:latin typeface="Inter"/>
                <a:ea typeface="Inter"/>
                <a:cs typeface="Inter"/>
                <a:sym typeface="Inter"/>
              </a:defRPr>
            </a:pPr>
            <a:r>
              <a:rPr>
                <a:latin typeface="Arial"/>
                <a:ea typeface="Arial"/>
                <a:cs typeface="Arial"/>
                <a:sym typeface="Arial"/>
              </a:rPr>
              <a:t>דרישה שאפשר לבדוק</a:t>
            </a:r>
          </a:p>
        </p:txBody>
      </p:sp>
      <p:sp>
        <p:nvSpPr>
          <p:cNvPr id="402" name="text"/>
          <p:cNvSpPr txBox="1"/>
          <p:nvPr/>
        </p:nvSpPr>
        <p:spPr>
          <a:xfrm>
            <a:off x="5905500" y="4876800"/>
            <a:ext cx="2781300" cy="127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800">
                <a:solidFill>
                  <a:srgbClr val="705B73"/>
                </a:solidFill>
                <a:latin typeface="Inter"/>
                <a:ea typeface="Inter"/>
                <a:cs typeface="Inter"/>
                <a:sym typeface="Inter"/>
              </a:defRPr>
            </a:pPr>
            <a:r>
              <a:rPr>
                <a:latin typeface="Arial"/>
                <a:ea typeface="Arial"/>
                <a:cs typeface="Arial"/>
                <a:sym typeface="Arial"/>
              </a:rPr>
              <a:t>שיעור</a:t>
            </a:r>
            <a:r>
              <a:t>: </a:t>
            </a:r>
            <a:r>
              <a:rPr>
                <a:latin typeface="Arial"/>
                <a:ea typeface="Arial"/>
                <a:cs typeface="Arial"/>
                <a:sym typeface="Arial"/>
              </a:rPr>
              <a:t>פיתוח עם סוכני־קוד</a:t>
            </a:r>
          </a:p>
        </p:txBody>
      </p:sp>
      <p:sp>
        <p:nvSpPr>
          <p:cNvPr id="403" name="code"/>
          <p:cNvSpPr txBox="1"/>
          <p:nvPr/>
        </p:nvSpPr>
        <p:spPr>
          <a:xfrm>
            <a:off x="457200" y="4876800"/>
            <a:ext cx="333375" cy="127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defRPr sz="800">
                <a:solidFill>
                  <a:srgbClr val="705B73"/>
                </a:solidFill>
                <a:latin typeface="Inter"/>
                <a:ea typeface="Inter"/>
                <a:cs typeface="Inter"/>
                <a:sym typeface="Inter"/>
              </a:defRPr>
            </a:lvl1pPr>
          </a:lstStyle>
          <a:p>
            <a:pPr/>
            <a:r>
              <a:t>33</a:t>
            </a:r>
          </a:p>
        </p:txBody>
      </p:sp>
      <p:sp>
        <p:nvSpPr>
          <p:cNvPr id="404" name="text"/>
          <p:cNvSpPr txBox="1"/>
          <p:nvPr/>
        </p:nvSpPr>
        <p:spPr>
          <a:xfrm>
            <a:off x="457200" y="1238250"/>
            <a:ext cx="8229600" cy="25922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defRPr b="1">
                <a:solidFill>
                  <a:srgbClr val="272525"/>
                </a:solidFill>
              </a:defRPr>
            </a:lvl1pPr>
          </a:lstStyle>
          <a:p>
            <a:pPr>
              <a:defRPr>
                <a:latin typeface="Inter"/>
                <a:ea typeface="Inter"/>
                <a:cs typeface="Inter"/>
                <a:sym typeface="Inter"/>
              </a:defRPr>
            </a:pPr>
            <a:r>
              <a:rPr>
                <a:latin typeface="Arial"/>
                <a:ea typeface="Arial"/>
                <a:cs typeface="Arial"/>
                <a:sym typeface="Arial"/>
              </a:rPr>
              <a:t>הבקשה הכללית</a:t>
            </a:r>
          </a:p>
        </p:txBody>
      </p:sp>
      <p:sp>
        <p:nvSpPr>
          <p:cNvPr id="405" name="text"/>
          <p:cNvSpPr txBox="1"/>
          <p:nvPr/>
        </p:nvSpPr>
        <p:spPr>
          <a:xfrm>
            <a:off x="457200" y="1571625"/>
            <a:ext cx="8229600" cy="241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1600">
                <a:solidFill>
                  <a:srgbClr val="272525"/>
                </a:solidFill>
                <a:latin typeface="Inter"/>
                <a:ea typeface="Inter"/>
                <a:cs typeface="Inter"/>
                <a:sym typeface="Inter"/>
              </a:defRPr>
            </a:pPr>
            <a:r>
              <a:rPr>
                <a:latin typeface="Arial"/>
                <a:ea typeface="Arial"/>
                <a:cs typeface="Arial"/>
                <a:sym typeface="Arial"/>
              </a:rPr>
              <a:t>״הוסף הנחה״ אינה מגדירה למי מגיעה הנחה או כיצד מחשבים אותה</a:t>
            </a:r>
            <a:r>
              <a:t>.</a:t>
            </a:r>
          </a:p>
        </p:txBody>
      </p:sp>
      <p:sp>
        <p:nvSpPr>
          <p:cNvPr id="406" name="text"/>
          <p:cNvSpPr txBox="1"/>
          <p:nvPr/>
        </p:nvSpPr>
        <p:spPr>
          <a:xfrm>
            <a:off x="457200" y="2219325"/>
            <a:ext cx="8229600" cy="25922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defRPr b="1">
                <a:solidFill>
                  <a:srgbClr val="272525"/>
                </a:solidFill>
              </a:defRPr>
            </a:lvl1pPr>
          </a:lstStyle>
          <a:p>
            <a:pPr>
              <a:defRPr>
                <a:latin typeface="Inter"/>
                <a:ea typeface="Inter"/>
                <a:cs typeface="Inter"/>
                <a:sym typeface="Inter"/>
              </a:defRPr>
            </a:pPr>
            <a:r>
              <a:rPr>
                <a:latin typeface="Arial"/>
                <a:ea typeface="Arial"/>
                <a:cs typeface="Arial"/>
                <a:sym typeface="Arial"/>
              </a:rPr>
              <a:t>תנאי קבלה</a:t>
            </a:r>
          </a:p>
        </p:txBody>
      </p:sp>
      <p:sp>
        <p:nvSpPr>
          <p:cNvPr id="407" name="text"/>
          <p:cNvSpPr txBox="1"/>
          <p:nvPr/>
        </p:nvSpPr>
        <p:spPr>
          <a:xfrm>
            <a:off x="457200" y="2552700"/>
            <a:ext cx="8229600" cy="241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1600">
                <a:solidFill>
                  <a:srgbClr val="272525"/>
                </a:solidFill>
                <a:latin typeface="Inter"/>
                <a:ea typeface="Inter"/>
                <a:cs typeface="Inter"/>
                <a:sym typeface="Inter"/>
              </a:defRPr>
            </a:pPr>
            <a:r>
              <a:rPr>
                <a:latin typeface="Arial"/>
                <a:ea typeface="Arial"/>
                <a:cs typeface="Arial"/>
                <a:sym typeface="Arial"/>
              </a:rPr>
              <a:t>לדוגמה בחנות</a:t>
            </a:r>
            <a:r>
              <a:t>: </a:t>
            </a:r>
            <a:r>
              <a:rPr>
                <a:latin typeface="Arial"/>
                <a:ea typeface="Arial"/>
                <a:cs typeface="Arial"/>
                <a:sym typeface="Arial"/>
              </a:rPr>
              <a:t>הנחה של </a:t>
            </a:r>
            <a:r>
              <a:t>10% </a:t>
            </a:r>
            <a:r>
              <a:rPr>
                <a:latin typeface="Arial"/>
                <a:ea typeface="Arial"/>
                <a:cs typeface="Arial"/>
                <a:sym typeface="Arial"/>
              </a:rPr>
              <a:t>מסכום של </a:t>
            </a:r>
            <a:r>
              <a:t>200 ₪, </a:t>
            </a:r>
            <a:r>
              <a:rPr>
                <a:latin typeface="Arial"/>
                <a:ea typeface="Arial"/>
                <a:cs typeface="Arial"/>
                <a:sym typeface="Arial"/>
              </a:rPr>
              <a:t>עד תקרה של </a:t>
            </a:r>
            <a:r>
              <a:t>50 ₪.</a:t>
            </a:r>
          </a:p>
        </p:txBody>
      </p:sp>
      <p:sp>
        <p:nvSpPr>
          <p:cNvPr id="408" name="text"/>
          <p:cNvSpPr txBox="1"/>
          <p:nvPr/>
        </p:nvSpPr>
        <p:spPr>
          <a:xfrm>
            <a:off x="457200" y="3200400"/>
            <a:ext cx="8229600" cy="25922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defRPr b="1">
                <a:solidFill>
                  <a:srgbClr val="272525"/>
                </a:solidFill>
              </a:defRPr>
            </a:lvl1pPr>
          </a:lstStyle>
          <a:p>
            <a:pPr>
              <a:defRPr>
                <a:latin typeface="Inter"/>
                <a:ea typeface="Inter"/>
                <a:cs typeface="Inter"/>
                <a:sym typeface="Inter"/>
              </a:defRPr>
            </a:pPr>
            <a:r>
              <a:rPr>
                <a:latin typeface="Arial"/>
                <a:ea typeface="Arial"/>
                <a:cs typeface="Arial"/>
                <a:sym typeface="Arial"/>
              </a:rPr>
              <a:t>לפני המימוש</a:t>
            </a:r>
          </a:p>
        </p:txBody>
      </p:sp>
      <p:sp>
        <p:nvSpPr>
          <p:cNvPr id="409" name="text"/>
          <p:cNvSpPr txBox="1"/>
          <p:nvPr/>
        </p:nvSpPr>
        <p:spPr>
          <a:xfrm>
            <a:off x="457200" y="3533775"/>
            <a:ext cx="8229600" cy="241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1600">
                <a:solidFill>
                  <a:srgbClr val="272525"/>
                </a:solidFill>
                <a:latin typeface="Inter"/>
                <a:ea typeface="Inter"/>
                <a:cs typeface="Inter"/>
                <a:sym typeface="Inter"/>
              </a:defRPr>
            </a:pPr>
            <a:r>
              <a:rPr>
                <a:latin typeface="Arial"/>
                <a:ea typeface="Arial"/>
                <a:cs typeface="Arial"/>
                <a:sym typeface="Arial"/>
              </a:rPr>
              <a:t>מבהירים חריגים ושומרים את הכללים באפיון</a:t>
            </a:r>
            <a:r>
              <a:t>. </a:t>
            </a:r>
            <a:r>
              <a:rPr>
                <a:latin typeface="Arial"/>
                <a:ea typeface="Arial"/>
                <a:cs typeface="Arial"/>
                <a:sym typeface="Arial"/>
              </a:rPr>
              <a:t>אחר כך כותבים בדיקות</a:t>
            </a:r>
            <a:r>
              <a:t>.</a:t>
            </a:r>
          </a:p>
        </p:txBody>
      </p:sp>
    </p:spTree>
  </p:cSld>
  <p:clrMapOvr>
    <a:masterClrMapping/>
  </p:clrMapOvr>
  <p:transition xmlns:p14="http://schemas.microsoft.com/office/powerpoint/2010/main" spd="med" advClick="1"/>
</p:sld>
</file>

<file path=ppt/slides/slide3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FFF"/>
        </a:solidFill>
      </p:bgPr>
    </p:bg>
    <p:spTree>
      <p:nvGrpSpPr>
        <p:cNvPr id="1" name=""/>
        <p:cNvGrpSpPr/>
        <p:nvPr/>
      </p:nvGrpSpPr>
      <p:grpSpPr>
        <a:xfrm>
          <a:off x="0" y="0"/>
          <a:ext cx="0" cy="0"/>
          <a:chOff x="0" y="0"/>
          <a:chExt cx="0" cy="0"/>
        </a:xfrm>
      </p:grpSpPr>
      <p:sp>
        <p:nvSpPr>
          <p:cNvPr id="413" name="text"/>
          <p:cNvSpPr txBox="1"/>
          <p:nvPr/>
        </p:nvSpPr>
        <p:spPr>
          <a:xfrm>
            <a:off x="457200" y="323850"/>
            <a:ext cx="8229600" cy="431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b="1" sz="2800">
                <a:solidFill>
                  <a:srgbClr val="D75BE2"/>
                </a:solidFill>
                <a:latin typeface="Inter"/>
                <a:ea typeface="Inter"/>
                <a:cs typeface="Inter"/>
                <a:sym typeface="Inter"/>
              </a:defRPr>
            </a:pPr>
            <a:r>
              <a:rPr>
                <a:latin typeface="Arial"/>
                <a:ea typeface="Arial"/>
                <a:cs typeface="Arial"/>
                <a:sym typeface="Arial"/>
              </a:rPr>
              <a:t>פיתוח עם בדיקות</a:t>
            </a:r>
            <a:r>
              <a:t>: TDD</a:t>
            </a:r>
          </a:p>
        </p:txBody>
      </p:sp>
      <p:sp>
        <p:nvSpPr>
          <p:cNvPr id="414" name="text"/>
          <p:cNvSpPr txBox="1"/>
          <p:nvPr/>
        </p:nvSpPr>
        <p:spPr>
          <a:xfrm>
            <a:off x="5905500" y="4876800"/>
            <a:ext cx="2781300" cy="127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800">
                <a:solidFill>
                  <a:srgbClr val="705B73"/>
                </a:solidFill>
                <a:latin typeface="Inter"/>
                <a:ea typeface="Inter"/>
                <a:cs typeface="Inter"/>
                <a:sym typeface="Inter"/>
              </a:defRPr>
            </a:pPr>
            <a:r>
              <a:rPr>
                <a:latin typeface="Arial"/>
                <a:ea typeface="Arial"/>
                <a:cs typeface="Arial"/>
                <a:sym typeface="Arial"/>
              </a:rPr>
              <a:t>שיעור</a:t>
            </a:r>
            <a:r>
              <a:t>: </a:t>
            </a:r>
            <a:r>
              <a:rPr>
                <a:latin typeface="Arial"/>
                <a:ea typeface="Arial"/>
                <a:cs typeface="Arial"/>
                <a:sym typeface="Arial"/>
              </a:rPr>
              <a:t>פיתוח עם סוכני־קוד</a:t>
            </a:r>
          </a:p>
        </p:txBody>
      </p:sp>
      <p:sp>
        <p:nvSpPr>
          <p:cNvPr id="415" name="code"/>
          <p:cNvSpPr txBox="1"/>
          <p:nvPr/>
        </p:nvSpPr>
        <p:spPr>
          <a:xfrm>
            <a:off x="457200" y="4876800"/>
            <a:ext cx="333375" cy="127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defRPr sz="800">
                <a:solidFill>
                  <a:srgbClr val="705B73"/>
                </a:solidFill>
                <a:latin typeface="Inter"/>
                <a:ea typeface="Inter"/>
                <a:cs typeface="Inter"/>
                <a:sym typeface="Inter"/>
              </a:defRPr>
            </a:lvl1pPr>
          </a:lstStyle>
          <a:p>
            <a:pPr/>
            <a:r>
              <a:t>34</a:t>
            </a:r>
          </a:p>
        </p:txBody>
      </p:sp>
      <p:sp>
        <p:nvSpPr>
          <p:cNvPr id="416" name="text"/>
          <p:cNvSpPr txBox="1"/>
          <p:nvPr/>
        </p:nvSpPr>
        <p:spPr>
          <a:xfrm>
            <a:off x="457200" y="1285875"/>
            <a:ext cx="8229600" cy="2794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b="1">
                <a:solidFill>
                  <a:srgbClr val="272525"/>
                </a:solidFill>
                <a:latin typeface="Inter"/>
                <a:ea typeface="Inter"/>
                <a:cs typeface="Inter"/>
                <a:sym typeface="Inter"/>
              </a:defRPr>
            </a:pPr>
            <a:r>
              <a:rPr>
                <a:latin typeface="Arial"/>
                <a:ea typeface="Arial"/>
                <a:cs typeface="Arial"/>
                <a:sym typeface="Arial"/>
              </a:rPr>
              <a:t>בדיקה נכשלת</a:t>
            </a:r>
            <a:r>
              <a:t>: Red</a:t>
            </a:r>
          </a:p>
        </p:txBody>
      </p:sp>
      <p:sp>
        <p:nvSpPr>
          <p:cNvPr id="417" name="text"/>
          <p:cNvSpPr txBox="1"/>
          <p:nvPr/>
        </p:nvSpPr>
        <p:spPr>
          <a:xfrm>
            <a:off x="457200" y="1619250"/>
            <a:ext cx="8229600" cy="241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1600">
                <a:solidFill>
                  <a:srgbClr val="272525"/>
                </a:solidFill>
                <a:latin typeface="Inter"/>
                <a:ea typeface="Inter"/>
                <a:cs typeface="Inter"/>
                <a:sym typeface="Inter"/>
              </a:defRPr>
            </a:pPr>
            <a:r>
              <a:rPr>
                <a:latin typeface="Arial"/>
                <a:ea typeface="Arial"/>
                <a:cs typeface="Arial"/>
                <a:sym typeface="Arial"/>
              </a:rPr>
              <a:t>כותבים בדיקה להתנהגות הרצויה ומריצים</a:t>
            </a:r>
            <a:r>
              <a:t>. </a:t>
            </a:r>
            <a:r>
              <a:rPr>
                <a:latin typeface="Arial"/>
                <a:ea typeface="Arial"/>
                <a:cs typeface="Arial"/>
                <a:sym typeface="Arial"/>
              </a:rPr>
              <a:t>מוודאים שהיא נכשלת מהסיבה הצפויה</a:t>
            </a:r>
            <a:r>
              <a:t>.</a:t>
            </a:r>
          </a:p>
        </p:txBody>
      </p:sp>
      <p:sp>
        <p:nvSpPr>
          <p:cNvPr id="418" name="text"/>
          <p:cNvSpPr txBox="1"/>
          <p:nvPr/>
        </p:nvSpPr>
        <p:spPr>
          <a:xfrm>
            <a:off x="457200" y="2286000"/>
            <a:ext cx="8229600" cy="2794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b="1">
                <a:solidFill>
                  <a:srgbClr val="272525"/>
                </a:solidFill>
                <a:latin typeface="Inter"/>
                <a:ea typeface="Inter"/>
                <a:cs typeface="Inter"/>
                <a:sym typeface="Inter"/>
              </a:defRPr>
            </a:pPr>
            <a:r>
              <a:rPr>
                <a:latin typeface="Arial"/>
                <a:ea typeface="Arial"/>
                <a:cs typeface="Arial"/>
                <a:sym typeface="Arial"/>
              </a:rPr>
              <a:t>מימוש עובד</a:t>
            </a:r>
            <a:r>
              <a:t>: Green</a:t>
            </a:r>
          </a:p>
        </p:txBody>
      </p:sp>
      <p:sp>
        <p:nvSpPr>
          <p:cNvPr id="419" name="text"/>
          <p:cNvSpPr txBox="1"/>
          <p:nvPr/>
        </p:nvSpPr>
        <p:spPr>
          <a:xfrm>
            <a:off x="457200" y="2619375"/>
            <a:ext cx="8229600" cy="241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1600">
                <a:solidFill>
                  <a:srgbClr val="272525"/>
                </a:solidFill>
                <a:latin typeface="Inter"/>
                <a:ea typeface="Inter"/>
                <a:cs typeface="Inter"/>
                <a:sym typeface="Inter"/>
              </a:defRPr>
            </a:pPr>
            <a:r>
              <a:rPr>
                <a:latin typeface="Arial"/>
                <a:ea typeface="Arial"/>
                <a:cs typeface="Arial"/>
                <a:sym typeface="Arial"/>
              </a:rPr>
              <a:t>מממשים את הכלל הדרוש ומריצים שוב עד שהבדיקה עוברת</a:t>
            </a:r>
            <a:r>
              <a:t>.</a:t>
            </a:r>
          </a:p>
        </p:txBody>
      </p:sp>
      <p:sp>
        <p:nvSpPr>
          <p:cNvPr id="420" name="text"/>
          <p:cNvSpPr txBox="1"/>
          <p:nvPr/>
        </p:nvSpPr>
        <p:spPr>
          <a:xfrm>
            <a:off x="457200" y="3286125"/>
            <a:ext cx="8229600" cy="2794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b="1">
                <a:solidFill>
                  <a:srgbClr val="272525"/>
                </a:solidFill>
                <a:latin typeface="Inter"/>
                <a:ea typeface="Inter"/>
                <a:cs typeface="Inter"/>
                <a:sym typeface="Inter"/>
              </a:defRPr>
            </a:pPr>
            <a:r>
              <a:rPr>
                <a:latin typeface="Arial"/>
                <a:ea typeface="Arial"/>
                <a:cs typeface="Arial"/>
                <a:sym typeface="Arial"/>
              </a:rPr>
              <a:t>שיפור הקוד</a:t>
            </a:r>
            <a:r>
              <a:t>: Refactor</a:t>
            </a:r>
          </a:p>
        </p:txBody>
      </p:sp>
      <p:sp>
        <p:nvSpPr>
          <p:cNvPr id="421" name="text"/>
          <p:cNvSpPr txBox="1"/>
          <p:nvPr/>
        </p:nvSpPr>
        <p:spPr>
          <a:xfrm>
            <a:off x="457200" y="3619500"/>
            <a:ext cx="8229600" cy="241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1600">
                <a:solidFill>
                  <a:srgbClr val="272525"/>
                </a:solidFill>
                <a:latin typeface="Inter"/>
                <a:ea typeface="Inter"/>
                <a:cs typeface="Inter"/>
                <a:sym typeface="Inter"/>
              </a:defRPr>
            </a:pPr>
            <a:r>
              <a:rPr>
                <a:latin typeface="Arial"/>
                <a:ea typeface="Arial"/>
                <a:cs typeface="Arial"/>
                <a:sym typeface="Arial"/>
              </a:rPr>
              <a:t>מסדרים את הקוד בלי לשנות את ההתנהגות ושוב מריצים את הבדיקות</a:t>
            </a:r>
            <a:r>
              <a:t>.</a:t>
            </a:r>
          </a:p>
        </p:txBody>
      </p:sp>
    </p:spTree>
  </p:cSld>
  <p:clrMapOvr>
    <a:masterClrMapping/>
  </p:clrMapOvr>
  <p:transition xmlns:p14="http://schemas.microsoft.com/office/powerpoint/2010/main" spd="med" advClick="1"/>
</p:sld>
</file>

<file path=ppt/slides/slide3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FFF"/>
        </a:solidFill>
      </p:bgPr>
    </p:bg>
    <p:spTree>
      <p:nvGrpSpPr>
        <p:cNvPr id="1" name=""/>
        <p:cNvGrpSpPr/>
        <p:nvPr/>
      </p:nvGrpSpPr>
      <p:grpSpPr>
        <a:xfrm>
          <a:off x="0" y="0"/>
          <a:ext cx="0" cy="0"/>
          <a:chOff x="0" y="0"/>
          <a:chExt cx="0" cy="0"/>
        </a:xfrm>
      </p:grpSpPr>
      <p:sp>
        <p:nvSpPr>
          <p:cNvPr id="425" name="text"/>
          <p:cNvSpPr txBox="1"/>
          <p:nvPr/>
        </p:nvSpPr>
        <p:spPr>
          <a:xfrm>
            <a:off x="457200" y="323850"/>
            <a:ext cx="8229600" cy="431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b="1" sz="2800">
                <a:solidFill>
                  <a:srgbClr val="D75BE2"/>
                </a:solidFill>
                <a:latin typeface="Inter"/>
                <a:ea typeface="Inter"/>
                <a:cs typeface="Inter"/>
                <a:sym typeface="Inter"/>
              </a:defRPr>
            </a:pPr>
            <a:r>
              <a:rPr>
                <a:latin typeface="Arial"/>
                <a:ea typeface="Arial"/>
                <a:cs typeface="Arial"/>
                <a:sym typeface="Arial"/>
              </a:rPr>
              <a:t>איך יודעים שהסוכן הצליח</a:t>
            </a:r>
            <a:r>
              <a:t>?</a:t>
            </a:r>
          </a:p>
        </p:txBody>
      </p:sp>
      <p:sp>
        <p:nvSpPr>
          <p:cNvPr id="426" name="text"/>
          <p:cNvSpPr txBox="1"/>
          <p:nvPr/>
        </p:nvSpPr>
        <p:spPr>
          <a:xfrm>
            <a:off x="5905500" y="4876800"/>
            <a:ext cx="2781300" cy="127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800">
                <a:solidFill>
                  <a:srgbClr val="705B73"/>
                </a:solidFill>
                <a:latin typeface="Inter"/>
                <a:ea typeface="Inter"/>
                <a:cs typeface="Inter"/>
                <a:sym typeface="Inter"/>
              </a:defRPr>
            </a:pPr>
            <a:r>
              <a:rPr>
                <a:latin typeface="Arial"/>
                <a:ea typeface="Arial"/>
                <a:cs typeface="Arial"/>
                <a:sym typeface="Arial"/>
              </a:rPr>
              <a:t>שיעור</a:t>
            </a:r>
            <a:r>
              <a:t>: </a:t>
            </a:r>
            <a:r>
              <a:rPr>
                <a:latin typeface="Arial"/>
                <a:ea typeface="Arial"/>
                <a:cs typeface="Arial"/>
                <a:sym typeface="Arial"/>
              </a:rPr>
              <a:t>פיתוח עם סוכני־קוד</a:t>
            </a:r>
          </a:p>
        </p:txBody>
      </p:sp>
      <p:sp>
        <p:nvSpPr>
          <p:cNvPr id="427" name="code"/>
          <p:cNvSpPr txBox="1"/>
          <p:nvPr/>
        </p:nvSpPr>
        <p:spPr>
          <a:xfrm>
            <a:off x="457200" y="4876800"/>
            <a:ext cx="333375" cy="127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defRPr sz="800">
                <a:solidFill>
                  <a:srgbClr val="705B73"/>
                </a:solidFill>
                <a:latin typeface="Inter"/>
                <a:ea typeface="Inter"/>
                <a:cs typeface="Inter"/>
                <a:sym typeface="Inter"/>
              </a:defRPr>
            </a:lvl1pPr>
          </a:lstStyle>
          <a:p>
            <a:pPr/>
            <a:r>
              <a:t>35</a:t>
            </a:r>
          </a:p>
        </p:txBody>
      </p:sp>
      <p:sp>
        <p:nvSpPr>
          <p:cNvPr id="428" name="text"/>
          <p:cNvSpPr txBox="1"/>
          <p:nvPr/>
        </p:nvSpPr>
        <p:spPr>
          <a:xfrm>
            <a:off x="457200" y="1238250"/>
            <a:ext cx="8229600" cy="25922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defRPr b="1">
                <a:solidFill>
                  <a:srgbClr val="272525"/>
                </a:solidFill>
              </a:defRPr>
            </a:lvl1pPr>
          </a:lstStyle>
          <a:p>
            <a:pPr>
              <a:defRPr>
                <a:latin typeface="Inter"/>
                <a:ea typeface="Inter"/>
                <a:cs typeface="Inter"/>
                <a:sym typeface="Inter"/>
              </a:defRPr>
            </a:pPr>
            <a:r>
              <a:rPr>
                <a:latin typeface="Arial"/>
                <a:ea typeface="Arial"/>
                <a:cs typeface="Arial"/>
                <a:sym typeface="Arial"/>
              </a:rPr>
              <a:t>התנהגות צפויה</a:t>
            </a:r>
          </a:p>
        </p:txBody>
      </p:sp>
      <p:sp>
        <p:nvSpPr>
          <p:cNvPr id="429" name="text"/>
          <p:cNvSpPr txBox="1"/>
          <p:nvPr/>
        </p:nvSpPr>
        <p:spPr>
          <a:xfrm>
            <a:off x="457200" y="1571625"/>
            <a:ext cx="8229600" cy="241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1600">
                <a:solidFill>
                  <a:srgbClr val="272525"/>
                </a:solidFill>
                <a:latin typeface="Inter"/>
                <a:ea typeface="Inter"/>
                <a:cs typeface="Inter"/>
                <a:sym typeface="Inter"/>
              </a:defRPr>
            </a:pPr>
            <a:r>
              <a:rPr>
                <a:latin typeface="Arial"/>
                <a:ea typeface="Arial"/>
                <a:cs typeface="Arial"/>
                <a:sym typeface="Arial"/>
              </a:rPr>
              <a:t>בודקים מקרה רגיל מול התוצאה שהאפיון דורש</a:t>
            </a:r>
            <a:r>
              <a:t>.</a:t>
            </a:r>
          </a:p>
        </p:txBody>
      </p:sp>
      <p:sp>
        <p:nvSpPr>
          <p:cNvPr id="430" name="text"/>
          <p:cNvSpPr txBox="1"/>
          <p:nvPr/>
        </p:nvSpPr>
        <p:spPr>
          <a:xfrm>
            <a:off x="457200" y="2219325"/>
            <a:ext cx="8229600" cy="25922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defRPr b="1">
                <a:solidFill>
                  <a:srgbClr val="272525"/>
                </a:solidFill>
              </a:defRPr>
            </a:lvl1pPr>
          </a:lstStyle>
          <a:p>
            <a:pPr>
              <a:defRPr>
                <a:latin typeface="Inter"/>
                <a:ea typeface="Inter"/>
                <a:cs typeface="Inter"/>
                <a:sym typeface="Inter"/>
              </a:defRPr>
            </a:pPr>
            <a:r>
              <a:rPr>
                <a:latin typeface="Arial"/>
                <a:ea typeface="Arial"/>
                <a:cs typeface="Arial"/>
                <a:sym typeface="Arial"/>
              </a:rPr>
              <a:t>גבולות וכישלונות</a:t>
            </a:r>
          </a:p>
        </p:txBody>
      </p:sp>
      <p:sp>
        <p:nvSpPr>
          <p:cNvPr id="431" name="text"/>
          <p:cNvSpPr txBox="1"/>
          <p:nvPr/>
        </p:nvSpPr>
        <p:spPr>
          <a:xfrm>
            <a:off x="457200" y="2552700"/>
            <a:ext cx="8229600" cy="241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1600">
                <a:solidFill>
                  <a:srgbClr val="272525"/>
                </a:solidFill>
                <a:latin typeface="Inter"/>
                <a:ea typeface="Inter"/>
                <a:cs typeface="Inter"/>
                <a:sym typeface="Inter"/>
              </a:defRPr>
            </a:pPr>
            <a:r>
              <a:rPr>
                <a:latin typeface="Arial"/>
                <a:ea typeface="Arial"/>
                <a:cs typeface="Arial"/>
                <a:sym typeface="Arial"/>
              </a:rPr>
              <a:t>בודקים ערך גבולי</a:t>
            </a:r>
            <a:r>
              <a:t>, </a:t>
            </a:r>
            <a:r>
              <a:rPr>
                <a:latin typeface="Arial"/>
                <a:ea typeface="Arial"/>
                <a:cs typeface="Arial"/>
                <a:sym typeface="Arial"/>
              </a:rPr>
              <a:t>קלט שגוי ופעולה שאינה מורשית</a:t>
            </a:r>
            <a:r>
              <a:t>.</a:t>
            </a:r>
          </a:p>
        </p:txBody>
      </p:sp>
      <p:sp>
        <p:nvSpPr>
          <p:cNvPr id="432" name="text"/>
          <p:cNvSpPr txBox="1"/>
          <p:nvPr/>
        </p:nvSpPr>
        <p:spPr>
          <a:xfrm>
            <a:off x="457200" y="3200400"/>
            <a:ext cx="8229600" cy="25922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defRPr b="1">
                <a:solidFill>
                  <a:srgbClr val="272525"/>
                </a:solidFill>
              </a:defRPr>
            </a:lvl1pPr>
          </a:lstStyle>
          <a:p>
            <a:pPr>
              <a:defRPr>
                <a:latin typeface="Inter"/>
                <a:ea typeface="Inter"/>
                <a:cs typeface="Inter"/>
                <a:sym typeface="Inter"/>
              </a:defRPr>
            </a:pPr>
            <a:r>
              <a:rPr>
                <a:latin typeface="Arial"/>
                <a:ea typeface="Arial"/>
                <a:cs typeface="Arial"/>
                <a:sym typeface="Arial"/>
              </a:rPr>
              <a:t>ראיות לביצוע</a:t>
            </a:r>
          </a:p>
        </p:txBody>
      </p:sp>
      <p:sp>
        <p:nvSpPr>
          <p:cNvPr id="433" name="text"/>
          <p:cNvSpPr txBox="1"/>
          <p:nvPr/>
        </p:nvSpPr>
        <p:spPr>
          <a:xfrm>
            <a:off x="457200" y="3533775"/>
            <a:ext cx="8229600" cy="241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1600">
                <a:solidFill>
                  <a:srgbClr val="272525"/>
                </a:solidFill>
                <a:latin typeface="Inter"/>
                <a:ea typeface="Inter"/>
                <a:cs typeface="Inter"/>
                <a:sym typeface="Inter"/>
              </a:defRPr>
            </a:pPr>
            <a:r>
              <a:rPr>
                <a:latin typeface="Arial"/>
                <a:ea typeface="Arial"/>
                <a:cs typeface="Arial"/>
                <a:sym typeface="Arial"/>
              </a:rPr>
              <a:t>מבקשים את הפקודה שהורצה</a:t>
            </a:r>
            <a:r>
              <a:t>, </a:t>
            </a:r>
            <a:r>
              <a:rPr>
                <a:latin typeface="Arial"/>
                <a:ea typeface="Arial"/>
                <a:cs typeface="Arial"/>
                <a:sym typeface="Arial"/>
              </a:rPr>
              <a:t>תוצאתה והחלקים שעדיין לא אומתו</a:t>
            </a:r>
            <a:r>
              <a:t>.</a:t>
            </a:r>
          </a:p>
        </p:txBody>
      </p:sp>
      <p:sp>
        <p:nvSpPr>
          <p:cNvPr id="434" name="Rectangle"/>
          <p:cNvSpPr/>
          <p:nvPr/>
        </p:nvSpPr>
        <p:spPr>
          <a:xfrm>
            <a:off x="457200" y="4248150"/>
            <a:ext cx="8229600" cy="466725"/>
          </a:xfrm>
          <a:prstGeom prst="rect">
            <a:avLst/>
          </a:prstGeom>
          <a:solidFill>
            <a:srgbClr val="F4D4F7"/>
          </a:solidFill>
          <a:ln w="12700">
            <a:miter lim="400000"/>
          </a:ln>
        </p:spPr>
        <p:txBody>
          <a:bodyPr lIns="0" tIns="0" rIns="0" bIns="0"/>
          <a:lstStyle/>
          <a:p>
            <a:pPr/>
          </a:p>
        </p:txBody>
      </p:sp>
      <p:sp>
        <p:nvSpPr>
          <p:cNvPr id="435" name="text"/>
          <p:cNvSpPr txBox="1"/>
          <p:nvPr/>
        </p:nvSpPr>
        <p:spPr>
          <a:xfrm>
            <a:off x="619125" y="4343400"/>
            <a:ext cx="7905750" cy="2286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b="1" sz="1500">
                <a:solidFill>
                  <a:srgbClr val="272525"/>
                </a:solidFill>
                <a:latin typeface="Inter"/>
                <a:ea typeface="Inter"/>
                <a:cs typeface="Inter"/>
                <a:sym typeface="Inter"/>
              </a:defRPr>
            </a:pPr>
            <a:r>
              <a:rPr>
                <a:latin typeface="Arial"/>
                <a:ea typeface="Arial"/>
                <a:cs typeface="Arial"/>
                <a:sym typeface="Arial"/>
              </a:rPr>
              <a:t>הודעת ״סיימתי״ של הסוכן צריכה להישען על בדיקה בפועל</a:t>
            </a:r>
            <a:r>
              <a:t>.</a:t>
            </a:r>
          </a:p>
        </p:txBody>
      </p:sp>
    </p:spTree>
  </p:cSld>
  <p:clrMapOvr>
    <a:masterClrMapping/>
  </p:clrMapOvr>
  <p:transition xmlns:p14="http://schemas.microsoft.com/office/powerpoint/2010/main" spd="med" advClick="1"/>
</p:sld>
</file>

<file path=ppt/slides/slide3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FFF"/>
        </a:solidFill>
      </p:bgPr>
    </p:bg>
    <p:spTree>
      <p:nvGrpSpPr>
        <p:cNvPr id="1" name=""/>
        <p:cNvGrpSpPr/>
        <p:nvPr/>
      </p:nvGrpSpPr>
      <p:grpSpPr>
        <a:xfrm>
          <a:off x="0" y="0"/>
          <a:ext cx="0" cy="0"/>
          <a:chOff x="0" y="0"/>
          <a:chExt cx="0" cy="0"/>
        </a:xfrm>
      </p:grpSpPr>
      <p:sp>
        <p:nvSpPr>
          <p:cNvPr id="439" name="text"/>
          <p:cNvSpPr txBox="1"/>
          <p:nvPr/>
        </p:nvSpPr>
        <p:spPr>
          <a:xfrm>
            <a:off x="457200" y="323850"/>
            <a:ext cx="8229600" cy="431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b="1" sz="2800">
                <a:solidFill>
                  <a:srgbClr val="D75BE2"/>
                </a:solidFill>
                <a:latin typeface="Inter"/>
                <a:ea typeface="Inter"/>
                <a:cs typeface="Inter"/>
                <a:sym typeface="Inter"/>
              </a:defRPr>
            </a:pPr>
            <a:r>
              <a:rPr>
                <a:latin typeface="Arial"/>
                <a:ea typeface="Arial"/>
                <a:cs typeface="Arial"/>
                <a:sym typeface="Arial"/>
              </a:rPr>
              <a:t>פרומפט לפיתוח בשיטת </a:t>
            </a:r>
            <a:r>
              <a:t>TDD: </a:t>
            </a:r>
            <a:r>
              <a:rPr>
                <a:latin typeface="Arial"/>
                <a:ea typeface="Arial"/>
                <a:cs typeface="Arial"/>
                <a:sym typeface="Arial"/>
              </a:rPr>
              <a:t>חלק א׳</a:t>
            </a:r>
          </a:p>
        </p:txBody>
      </p:sp>
      <p:sp>
        <p:nvSpPr>
          <p:cNvPr id="440" name="text"/>
          <p:cNvSpPr txBox="1"/>
          <p:nvPr/>
        </p:nvSpPr>
        <p:spPr>
          <a:xfrm>
            <a:off x="5905500" y="4876800"/>
            <a:ext cx="2781300" cy="127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800">
                <a:solidFill>
                  <a:srgbClr val="705B73"/>
                </a:solidFill>
                <a:latin typeface="Inter"/>
                <a:ea typeface="Inter"/>
                <a:cs typeface="Inter"/>
                <a:sym typeface="Inter"/>
              </a:defRPr>
            </a:pPr>
            <a:r>
              <a:rPr>
                <a:latin typeface="Arial"/>
                <a:ea typeface="Arial"/>
                <a:cs typeface="Arial"/>
                <a:sym typeface="Arial"/>
              </a:rPr>
              <a:t>שיעור</a:t>
            </a:r>
            <a:r>
              <a:t>: </a:t>
            </a:r>
            <a:r>
              <a:rPr>
                <a:latin typeface="Arial"/>
                <a:ea typeface="Arial"/>
                <a:cs typeface="Arial"/>
                <a:sym typeface="Arial"/>
              </a:rPr>
              <a:t>פיתוח עם סוכני־קוד</a:t>
            </a:r>
          </a:p>
        </p:txBody>
      </p:sp>
      <p:sp>
        <p:nvSpPr>
          <p:cNvPr id="441" name="code"/>
          <p:cNvSpPr txBox="1"/>
          <p:nvPr/>
        </p:nvSpPr>
        <p:spPr>
          <a:xfrm>
            <a:off x="457200" y="4876800"/>
            <a:ext cx="333375" cy="127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defRPr sz="800">
                <a:solidFill>
                  <a:srgbClr val="705B73"/>
                </a:solidFill>
                <a:latin typeface="Inter"/>
                <a:ea typeface="Inter"/>
                <a:cs typeface="Inter"/>
                <a:sym typeface="Inter"/>
              </a:defRPr>
            </a:lvl1pPr>
          </a:lstStyle>
          <a:p>
            <a:pPr/>
            <a:r>
              <a:t>36</a:t>
            </a:r>
          </a:p>
        </p:txBody>
      </p:sp>
      <p:sp>
        <p:nvSpPr>
          <p:cNvPr id="442" name="text"/>
          <p:cNvSpPr txBox="1"/>
          <p:nvPr/>
        </p:nvSpPr>
        <p:spPr>
          <a:xfrm>
            <a:off x="523875" y="1133475"/>
            <a:ext cx="8096250" cy="272077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1600">
                <a:solidFill>
                  <a:srgbClr val="272525"/>
                </a:solidFill>
                <a:latin typeface="Inter"/>
                <a:ea typeface="Inter"/>
                <a:cs typeface="Inter"/>
                <a:sym typeface="Inter"/>
              </a:defRPr>
            </a:pPr>
            <a:r>
              <a:rPr>
                <a:latin typeface="Arial"/>
                <a:ea typeface="Arial"/>
                <a:cs typeface="Arial"/>
                <a:sym typeface="Arial"/>
              </a:rPr>
              <a:t>פעל כסוכן פיתוח בפרויקט הנוכחי והשלם את המשימה הבאה</a:t>
            </a:r>
            <a:r>
              <a:t>:</a:t>
            </a:r>
          </a:p>
          <a:p>
            <a:pPr algn="r" rtl="1">
              <a:defRPr sz="1600">
                <a:solidFill>
                  <a:srgbClr val="272525"/>
                </a:solidFill>
                <a:latin typeface="Inter"/>
                <a:ea typeface="Inter"/>
                <a:cs typeface="Inter"/>
                <a:sym typeface="Inter"/>
              </a:defRPr>
            </a:pPr>
            <a:r>
              <a:rPr>
                <a:latin typeface="Arial"/>
                <a:ea typeface="Arial"/>
                <a:cs typeface="Arial"/>
                <a:sym typeface="Arial"/>
              </a:rPr>
              <a:t>השינוי המבוקש</a:t>
            </a:r>
            <a:r>
              <a:t>: [</a:t>
            </a:r>
            <a:r>
              <a:rPr>
                <a:latin typeface="Arial"/>
                <a:ea typeface="Arial"/>
                <a:cs typeface="Arial"/>
                <a:sym typeface="Arial"/>
              </a:rPr>
              <a:t>תיאור ההתנהגות הרצויה</a:t>
            </a:r>
            <a:r>
              <a:t>].</a:t>
            </a:r>
          </a:p>
          <a:p>
            <a:pPr algn="r" rtl="1">
              <a:defRPr sz="1600">
                <a:solidFill>
                  <a:srgbClr val="272525"/>
                </a:solidFill>
                <a:latin typeface="Inter"/>
                <a:ea typeface="Inter"/>
                <a:cs typeface="Inter"/>
                <a:sym typeface="Inter"/>
              </a:defRPr>
            </a:pPr>
            <a:r>
              <a:rPr>
                <a:latin typeface="Arial"/>
                <a:ea typeface="Arial"/>
                <a:cs typeface="Arial"/>
                <a:sym typeface="Arial"/>
              </a:rPr>
              <a:t>תנאי הקבלה</a:t>
            </a:r>
            <a:r>
              <a:t>: [</a:t>
            </a:r>
            <a:r>
              <a:rPr>
                <a:latin typeface="Arial"/>
                <a:ea typeface="Arial"/>
                <a:cs typeface="Arial"/>
                <a:sym typeface="Arial"/>
              </a:rPr>
              <a:t>תוצאה צפויה</a:t>
            </a:r>
            <a:r>
              <a:t>, </a:t>
            </a:r>
            <a:r>
              <a:rPr>
                <a:latin typeface="Arial"/>
                <a:ea typeface="Arial"/>
                <a:cs typeface="Arial"/>
                <a:sym typeface="Arial"/>
              </a:rPr>
              <a:t>גבולות ומקרי כישלון</a:t>
            </a:r>
            <a:r>
              <a:t>].</a:t>
            </a:r>
          </a:p>
          <a:p>
            <a:pPr algn="r" rtl="1">
              <a:defRPr sz="1600">
                <a:solidFill>
                  <a:srgbClr val="272525"/>
                </a:solidFill>
                <a:latin typeface="Inter"/>
                <a:ea typeface="Inter"/>
                <a:cs typeface="Inter"/>
                <a:sym typeface="Inter"/>
              </a:defRPr>
            </a:pPr>
            <a:r>
              <a:rPr>
                <a:latin typeface="Arial"/>
                <a:ea typeface="Arial"/>
                <a:cs typeface="Arial"/>
                <a:sym typeface="Arial"/>
              </a:rPr>
              <a:t>קרא את הנחיות הסוכן</a:t>
            </a:r>
            <a:r>
              <a:t>, </a:t>
            </a:r>
            <a:r>
              <a:rPr>
                <a:latin typeface="Arial"/>
                <a:ea typeface="Arial"/>
                <a:cs typeface="Arial"/>
                <a:sym typeface="Arial"/>
              </a:rPr>
              <a:t>את </a:t>
            </a:r>
            <a:r>
              <a:t>README.md </a:t>
            </a:r>
            <a:r>
              <a:rPr>
                <a:latin typeface="Arial"/>
                <a:ea typeface="Arial"/>
                <a:cs typeface="Arial"/>
                <a:sym typeface="Arial"/>
              </a:rPr>
              <a:t>ואת </a:t>
            </a:r>
            <a:r>
              <a:t>docs/spec.md.</a:t>
            </a:r>
          </a:p>
          <a:p>
            <a:pPr algn="r" rtl="1">
              <a:defRPr sz="1600">
                <a:solidFill>
                  <a:srgbClr val="272525"/>
                </a:solidFill>
                <a:latin typeface="Inter"/>
                <a:ea typeface="Inter"/>
                <a:cs typeface="Inter"/>
                <a:sym typeface="Inter"/>
              </a:defRPr>
            </a:pPr>
            <a:r>
              <a:rPr>
                <a:latin typeface="Arial"/>
                <a:ea typeface="Arial"/>
                <a:cs typeface="Arial"/>
                <a:sym typeface="Arial"/>
              </a:rPr>
              <a:t>עיין גם ב־</a:t>
            </a:r>
            <a:r>
              <a:t>docs/decisions.md </a:t>
            </a:r>
            <a:r>
              <a:rPr>
                <a:latin typeface="Arial"/>
                <a:ea typeface="Arial"/>
                <a:cs typeface="Arial"/>
                <a:sym typeface="Arial"/>
              </a:rPr>
              <a:t>וב־</a:t>
            </a:r>
            <a:r>
              <a:t>docs/status.md </a:t>
            </a:r>
            <a:r>
              <a:rPr>
                <a:latin typeface="Arial"/>
                <a:ea typeface="Arial"/>
                <a:cs typeface="Arial"/>
                <a:sym typeface="Arial"/>
              </a:rPr>
              <a:t>ובקוד הרלוונטי</a:t>
            </a:r>
            <a:r>
              <a:t>.</a:t>
            </a:r>
          </a:p>
          <a:p>
            <a:pPr algn="r" rtl="1">
              <a:defRPr sz="1600">
                <a:solidFill>
                  <a:srgbClr val="272525"/>
                </a:solidFill>
                <a:latin typeface="Inter"/>
                <a:ea typeface="Inter"/>
                <a:cs typeface="Inter"/>
                <a:sym typeface="Inter"/>
              </a:defRPr>
            </a:pPr>
            <a:r>
              <a:rPr>
                <a:latin typeface="Arial"/>
                <a:ea typeface="Arial"/>
                <a:cs typeface="Arial"/>
                <a:sym typeface="Arial"/>
              </a:rPr>
              <a:t>התיעוד הוא מקור האמת לדרישות</a:t>
            </a:r>
            <a:r>
              <a:t>, </a:t>
            </a:r>
            <a:r>
              <a:rPr>
                <a:latin typeface="Arial"/>
                <a:ea typeface="Arial"/>
                <a:cs typeface="Arial"/>
                <a:sym typeface="Arial"/>
              </a:rPr>
              <a:t>ולא היסטוריית הצ׳אט</a:t>
            </a:r>
            <a:r>
              <a:t>.</a:t>
            </a:r>
          </a:p>
          <a:p>
            <a:pPr algn="r" rtl="1">
              <a:defRPr sz="1600">
                <a:solidFill>
                  <a:srgbClr val="272525"/>
                </a:solidFill>
                <a:latin typeface="Inter"/>
                <a:ea typeface="Inter"/>
                <a:cs typeface="Inter"/>
                <a:sym typeface="Inter"/>
              </a:defRPr>
            </a:pPr>
            <a:r>
              <a:rPr>
                <a:latin typeface="Arial"/>
                <a:ea typeface="Arial"/>
                <a:cs typeface="Arial"/>
                <a:sym typeface="Arial"/>
              </a:rPr>
              <a:t>אם הדרישה החדשה סותרת את האפיון</a:t>
            </a:r>
            <a:r>
              <a:t>, </a:t>
            </a:r>
            <a:r>
              <a:rPr>
                <a:latin typeface="Arial"/>
                <a:ea typeface="Arial"/>
                <a:cs typeface="Arial"/>
                <a:sym typeface="Arial"/>
              </a:rPr>
              <a:t>הצג את הסתירה וברר אותה</a:t>
            </a:r>
            <a:r>
              <a:t>.</a:t>
            </a:r>
          </a:p>
          <a:p>
            <a:pPr algn="r" rtl="1">
              <a:defRPr sz="1600">
                <a:solidFill>
                  <a:srgbClr val="272525"/>
                </a:solidFill>
                <a:latin typeface="Inter"/>
                <a:ea typeface="Inter"/>
                <a:cs typeface="Inter"/>
                <a:sym typeface="Inter"/>
              </a:defRPr>
            </a:pPr>
            <a:r>
              <a:rPr>
                <a:latin typeface="Arial"/>
                <a:ea typeface="Arial"/>
                <a:cs typeface="Arial"/>
                <a:sym typeface="Arial"/>
              </a:rPr>
              <a:t>תעד החלטה שאושרה ועדכן את האפיון לפני המימוש</a:t>
            </a:r>
            <a:r>
              <a:t>.</a:t>
            </a:r>
          </a:p>
          <a:p>
            <a:pPr algn="r" rtl="1">
              <a:defRPr sz="1600">
                <a:solidFill>
                  <a:srgbClr val="272525"/>
                </a:solidFill>
                <a:latin typeface="Inter"/>
                <a:ea typeface="Inter"/>
                <a:cs typeface="Inter"/>
                <a:sym typeface="Inter"/>
              </a:defRPr>
            </a:pPr>
            <a:r>
              <a:rPr>
                <a:latin typeface="Arial"/>
                <a:ea typeface="Arial"/>
                <a:cs typeface="Arial"/>
                <a:sym typeface="Arial"/>
              </a:rPr>
              <a:t>סכם את ההתנהגות שיש להוסיף ואת הדרך שבה תבדוק אותה</a:t>
            </a:r>
            <a:r>
              <a:t>.</a:t>
            </a:r>
          </a:p>
          <a:p>
            <a:pPr algn="r" rtl="1">
              <a:defRPr sz="1600">
                <a:solidFill>
                  <a:srgbClr val="272525"/>
                </a:solidFill>
                <a:latin typeface="Inter"/>
                <a:ea typeface="Inter"/>
                <a:cs typeface="Inter"/>
                <a:sym typeface="Inter"/>
              </a:defRPr>
            </a:pPr>
            <a:r>
              <a:rPr>
                <a:latin typeface="Arial"/>
                <a:ea typeface="Arial"/>
                <a:cs typeface="Arial"/>
                <a:sym typeface="Arial"/>
              </a:rPr>
              <a:t>חלק את המשימה לשינויים קטנים שאפשר לבדוק בנפרד</a:t>
            </a:r>
            <a:r>
              <a:t>.</a:t>
            </a:r>
          </a:p>
          <a:p>
            <a:pPr algn="r" rtl="1">
              <a:defRPr sz="1600">
                <a:solidFill>
                  <a:srgbClr val="272525"/>
                </a:solidFill>
                <a:latin typeface="Inter"/>
                <a:ea typeface="Inter"/>
                <a:cs typeface="Inter"/>
                <a:sym typeface="Inter"/>
              </a:defRPr>
            </a:pPr>
            <a:r>
              <a:rPr>
                <a:latin typeface="Arial"/>
                <a:ea typeface="Arial"/>
                <a:cs typeface="Arial"/>
                <a:sym typeface="Arial"/>
              </a:rPr>
              <a:t>שמור על מוסכמות הפרויקט ועל שינויים קיימים שאינם חלק מהמשימה</a:t>
            </a:r>
            <a:r>
              <a:t>.</a:t>
            </a:r>
          </a:p>
        </p:txBody>
      </p:sp>
    </p:spTree>
  </p:cSld>
  <p:clrMapOvr>
    <a:masterClrMapping/>
  </p:clrMapOvr>
  <p:transition xmlns:p14="http://schemas.microsoft.com/office/powerpoint/2010/main" spd="med" advClick="1"/>
</p:sld>
</file>

<file path=ppt/slides/slide3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FFF"/>
        </a:solidFill>
      </p:bgPr>
    </p:bg>
    <p:spTree>
      <p:nvGrpSpPr>
        <p:cNvPr id="1" name=""/>
        <p:cNvGrpSpPr/>
        <p:nvPr/>
      </p:nvGrpSpPr>
      <p:grpSpPr>
        <a:xfrm>
          <a:off x="0" y="0"/>
          <a:ext cx="0" cy="0"/>
          <a:chOff x="0" y="0"/>
          <a:chExt cx="0" cy="0"/>
        </a:xfrm>
      </p:grpSpPr>
      <p:sp>
        <p:nvSpPr>
          <p:cNvPr id="446" name="text"/>
          <p:cNvSpPr txBox="1"/>
          <p:nvPr/>
        </p:nvSpPr>
        <p:spPr>
          <a:xfrm>
            <a:off x="457200" y="323850"/>
            <a:ext cx="8229600" cy="431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b="1" sz="2800">
                <a:solidFill>
                  <a:srgbClr val="D75BE2"/>
                </a:solidFill>
                <a:latin typeface="Inter"/>
                <a:ea typeface="Inter"/>
                <a:cs typeface="Inter"/>
                <a:sym typeface="Inter"/>
              </a:defRPr>
            </a:pPr>
            <a:r>
              <a:rPr>
                <a:latin typeface="Arial"/>
                <a:ea typeface="Arial"/>
                <a:cs typeface="Arial"/>
                <a:sym typeface="Arial"/>
              </a:rPr>
              <a:t>פרומפט לפיתוח בשיטת </a:t>
            </a:r>
            <a:r>
              <a:t>TDD: </a:t>
            </a:r>
            <a:r>
              <a:rPr>
                <a:latin typeface="Arial"/>
                <a:ea typeface="Arial"/>
                <a:cs typeface="Arial"/>
                <a:sym typeface="Arial"/>
              </a:rPr>
              <a:t>חלק ב׳</a:t>
            </a:r>
          </a:p>
        </p:txBody>
      </p:sp>
      <p:sp>
        <p:nvSpPr>
          <p:cNvPr id="447" name="text"/>
          <p:cNvSpPr txBox="1"/>
          <p:nvPr/>
        </p:nvSpPr>
        <p:spPr>
          <a:xfrm>
            <a:off x="5905500" y="4876800"/>
            <a:ext cx="2781300" cy="127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800">
                <a:solidFill>
                  <a:srgbClr val="705B73"/>
                </a:solidFill>
                <a:latin typeface="Inter"/>
                <a:ea typeface="Inter"/>
                <a:cs typeface="Inter"/>
                <a:sym typeface="Inter"/>
              </a:defRPr>
            </a:pPr>
            <a:r>
              <a:rPr>
                <a:latin typeface="Arial"/>
                <a:ea typeface="Arial"/>
                <a:cs typeface="Arial"/>
                <a:sym typeface="Arial"/>
              </a:rPr>
              <a:t>שיעור</a:t>
            </a:r>
            <a:r>
              <a:t>: </a:t>
            </a:r>
            <a:r>
              <a:rPr>
                <a:latin typeface="Arial"/>
                <a:ea typeface="Arial"/>
                <a:cs typeface="Arial"/>
                <a:sym typeface="Arial"/>
              </a:rPr>
              <a:t>פיתוח עם סוכני־קוד</a:t>
            </a:r>
          </a:p>
        </p:txBody>
      </p:sp>
      <p:sp>
        <p:nvSpPr>
          <p:cNvPr id="448" name="code"/>
          <p:cNvSpPr txBox="1"/>
          <p:nvPr/>
        </p:nvSpPr>
        <p:spPr>
          <a:xfrm>
            <a:off x="457200" y="4876800"/>
            <a:ext cx="333375" cy="127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defRPr sz="800">
                <a:solidFill>
                  <a:srgbClr val="705B73"/>
                </a:solidFill>
                <a:latin typeface="Inter"/>
                <a:ea typeface="Inter"/>
                <a:cs typeface="Inter"/>
                <a:sym typeface="Inter"/>
              </a:defRPr>
            </a:lvl1pPr>
          </a:lstStyle>
          <a:p>
            <a:pPr/>
            <a:r>
              <a:t>37</a:t>
            </a:r>
          </a:p>
        </p:txBody>
      </p:sp>
      <p:sp>
        <p:nvSpPr>
          <p:cNvPr id="449" name="text"/>
          <p:cNvSpPr txBox="1"/>
          <p:nvPr/>
        </p:nvSpPr>
        <p:spPr>
          <a:xfrm>
            <a:off x="523875" y="1133475"/>
            <a:ext cx="8096250" cy="272077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1600">
                <a:solidFill>
                  <a:srgbClr val="272525"/>
                </a:solidFill>
                <a:latin typeface="Inter"/>
                <a:ea typeface="Inter"/>
                <a:cs typeface="Inter"/>
                <a:sym typeface="Inter"/>
              </a:defRPr>
            </a:pPr>
            <a:r>
              <a:rPr>
                <a:latin typeface="Arial"/>
                <a:ea typeface="Arial"/>
                <a:cs typeface="Arial"/>
                <a:sym typeface="Arial"/>
              </a:rPr>
              <a:t>לכל שינוי התנהגותי</a:t>
            </a:r>
            <a:r>
              <a:t>, </a:t>
            </a:r>
            <a:r>
              <a:rPr>
                <a:latin typeface="Arial"/>
                <a:ea typeface="Arial"/>
                <a:cs typeface="Arial"/>
                <a:sym typeface="Arial"/>
              </a:rPr>
              <a:t>כתוב תחילה בדיקה שנגזרת מתנאי הקבלה</a:t>
            </a:r>
            <a:r>
              <a:t>.</a:t>
            </a:r>
          </a:p>
          <a:p>
            <a:pPr algn="r" rtl="1">
              <a:defRPr sz="1600">
                <a:solidFill>
                  <a:srgbClr val="272525"/>
                </a:solidFill>
                <a:latin typeface="Inter"/>
                <a:ea typeface="Inter"/>
                <a:cs typeface="Inter"/>
                <a:sym typeface="Inter"/>
              </a:defRPr>
            </a:pPr>
            <a:r>
              <a:rPr>
                <a:latin typeface="Arial"/>
                <a:ea typeface="Arial"/>
                <a:cs typeface="Arial"/>
                <a:sym typeface="Arial"/>
              </a:rPr>
              <a:t>הרץ אותה וודא שהיא נכשלת בגלל ההתנהגות החסרה</a:t>
            </a:r>
            <a:r>
              <a:t>.</a:t>
            </a:r>
          </a:p>
          <a:p>
            <a:pPr algn="r" rtl="1">
              <a:defRPr sz="1600">
                <a:solidFill>
                  <a:srgbClr val="272525"/>
                </a:solidFill>
                <a:latin typeface="Inter"/>
                <a:ea typeface="Inter"/>
                <a:cs typeface="Inter"/>
                <a:sym typeface="Inter"/>
              </a:defRPr>
            </a:pPr>
            <a:r>
              <a:rPr>
                <a:latin typeface="Arial"/>
                <a:ea typeface="Arial"/>
                <a:cs typeface="Arial"/>
                <a:sym typeface="Arial"/>
              </a:rPr>
              <a:t>ממש את השינוי הדרוש</a:t>
            </a:r>
            <a:r>
              <a:t>, </a:t>
            </a:r>
            <a:r>
              <a:rPr>
                <a:latin typeface="Arial"/>
                <a:ea typeface="Arial"/>
                <a:cs typeface="Arial"/>
                <a:sym typeface="Arial"/>
              </a:rPr>
              <a:t>הרץ שוב וודא שהבדיקה עוברת</a:t>
            </a:r>
            <a:r>
              <a:t>.</a:t>
            </a:r>
          </a:p>
          <a:p>
            <a:pPr algn="r" rtl="1">
              <a:defRPr sz="1600">
                <a:solidFill>
                  <a:srgbClr val="272525"/>
                </a:solidFill>
                <a:latin typeface="Inter"/>
                <a:ea typeface="Inter"/>
                <a:cs typeface="Inter"/>
                <a:sym typeface="Inter"/>
              </a:defRPr>
            </a:pPr>
            <a:r>
              <a:rPr>
                <a:latin typeface="Arial"/>
                <a:ea typeface="Arial"/>
                <a:cs typeface="Arial"/>
                <a:sym typeface="Arial"/>
              </a:rPr>
              <a:t>שפר את הקוד והריץ בדיקות נוספות שעלולות להיות מושפעות</a:t>
            </a:r>
            <a:r>
              <a:t>.</a:t>
            </a:r>
          </a:p>
          <a:p>
            <a:pPr algn="r" rtl="1">
              <a:defRPr sz="1600">
                <a:solidFill>
                  <a:srgbClr val="272525"/>
                </a:solidFill>
                <a:latin typeface="Inter"/>
                <a:ea typeface="Inter"/>
                <a:cs typeface="Inter"/>
                <a:sym typeface="Inter"/>
              </a:defRPr>
            </a:pPr>
            <a:r>
              <a:rPr>
                <a:latin typeface="Arial"/>
                <a:ea typeface="Arial"/>
                <a:cs typeface="Arial"/>
                <a:sym typeface="Arial"/>
              </a:rPr>
              <a:t>אל תמחק ואל תחליש בדיקה כדי להציג הצלחה</a:t>
            </a:r>
            <a:r>
              <a:t>.</a:t>
            </a:r>
          </a:p>
          <a:p>
            <a:pPr algn="r" rtl="1">
              <a:defRPr sz="1600">
                <a:solidFill>
                  <a:srgbClr val="272525"/>
                </a:solidFill>
                <a:latin typeface="Inter"/>
                <a:ea typeface="Inter"/>
                <a:cs typeface="Inter"/>
                <a:sym typeface="Inter"/>
              </a:defRPr>
            </a:pPr>
            <a:r>
              <a:rPr>
                <a:latin typeface="Arial"/>
                <a:ea typeface="Arial"/>
                <a:cs typeface="Arial"/>
                <a:sym typeface="Arial"/>
              </a:rPr>
              <a:t>הפעל תת־סוכן לסקירה עצמאית אם אפשר להגדיר לו משימה מועילה</a:t>
            </a:r>
            <a:r>
              <a:t>.</a:t>
            </a:r>
          </a:p>
          <a:p>
            <a:pPr algn="r" rtl="1">
              <a:defRPr sz="1600">
                <a:solidFill>
                  <a:srgbClr val="272525"/>
                </a:solidFill>
                <a:latin typeface="Inter"/>
                <a:ea typeface="Inter"/>
                <a:cs typeface="Inter"/>
                <a:sym typeface="Inter"/>
              </a:defRPr>
            </a:pPr>
            <a:r>
              <a:rPr>
                <a:latin typeface="Arial"/>
                <a:ea typeface="Arial"/>
                <a:cs typeface="Arial"/>
                <a:sym typeface="Arial"/>
              </a:rPr>
              <a:t>העבר לו את האפיון</a:t>
            </a:r>
            <a:r>
              <a:t>, </a:t>
            </a:r>
            <a:r>
              <a:rPr>
                <a:latin typeface="Arial"/>
                <a:ea typeface="Arial"/>
                <a:cs typeface="Arial"/>
                <a:sym typeface="Arial"/>
              </a:rPr>
              <a:t>הקבצים הרלוונטיים וגבולות הסקירה</a:t>
            </a:r>
            <a:r>
              <a:t>.</a:t>
            </a:r>
          </a:p>
          <a:p>
            <a:pPr algn="r" rtl="1">
              <a:defRPr sz="1600">
                <a:solidFill>
                  <a:srgbClr val="272525"/>
                </a:solidFill>
                <a:latin typeface="Inter"/>
                <a:ea typeface="Inter"/>
                <a:cs typeface="Inter"/>
                <a:sym typeface="Inter"/>
              </a:defRPr>
            </a:pPr>
            <a:r>
              <a:rPr>
                <a:latin typeface="Arial"/>
                <a:ea typeface="Arial"/>
                <a:cs typeface="Arial"/>
                <a:sym typeface="Arial"/>
              </a:rPr>
              <a:t>בדוק את הממצאים ואמת את התוצאה לאחר שילוב התיקונים</a:t>
            </a:r>
            <a:r>
              <a:t>.</a:t>
            </a:r>
          </a:p>
          <a:p>
            <a:pPr algn="r" rtl="1">
              <a:defRPr sz="1600">
                <a:solidFill>
                  <a:srgbClr val="272525"/>
                </a:solidFill>
                <a:latin typeface="Inter"/>
                <a:ea typeface="Inter"/>
                <a:cs typeface="Inter"/>
                <a:sym typeface="Inter"/>
              </a:defRPr>
            </a:pPr>
            <a:r>
              <a:rPr>
                <a:latin typeface="Arial"/>
                <a:ea typeface="Arial"/>
                <a:cs typeface="Arial"/>
                <a:sym typeface="Arial"/>
              </a:rPr>
              <a:t>עדכן את מסמכי הפרויקט כך שישקפו את המצב בסיום</a:t>
            </a:r>
            <a:r>
              <a:t>.</a:t>
            </a:r>
          </a:p>
          <a:p>
            <a:pPr algn="r" rtl="1">
              <a:defRPr sz="1600">
                <a:solidFill>
                  <a:srgbClr val="272525"/>
                </a:solidFill>
                <a:latin typeface="Inter"/>
                <a:ea typeface="Inter"/>
                <a:cs typeface="Inter"/>
                <a:sym typeface="Inter"/>
              </a:defRPr>
            </a:pPr>
            <a:r>
              <a:rPr>
                <a:latin typeface="Arial"/>
                <a:ea typeface="Arial"/>
                <a:cs typeface="Arial"/>
                <a:sym typeface="Arial"/>
              </a:rPr>
              <a:t>החזר סיכום</a:t>
            </a:r>
            <a:r>
              <a:t>: </a:t>
            </a:r>
            <a:r>
              <a:rPr>
                <a:latin typeface="Arial"/>
                <a:ea typeface="Arial"/>
                <a:cs typeface="Arial"/>
                <a:sym typeface="Arial"/>
              </a:rPr>
              <a:t>שינויים</a:t>
            </a:r>
            <a:r>
              <a:t>, </a:t>
            </a:r>
            <a:r>
              <a:rPr>
                <a:latin typeface="Arial"/>
                <a:ea typeface="Arial"/>
                <a:cs typeface="Arial"/>
                <a:sym typeface="Arial"/>
              </a:rPr>
              <a:t>פקודות ותוצאות בדיקה</a:t>
            </a:r>
            <a:r>
              <a:t>, </a:t>
            </a:r>
            <a:r>
              <a:rPr>
                <a:latin typeface="Arial"/>
                <a:ea typeface="Arial"/>
                <a:cs typeface="Arial"/>
                <a:sym typeface="Arial"/>
              </a:rPr>
              <a:t>פערים והצעד הבא</a:t>
            </a:r>
            <a:r>
              <a:t>.</a:t>
            </a:r>
          </a:p>
          <a:p>
            <a:pPr algn="r" rtl="1">
              <a:defRPr sz="1600">
                <a:solidFill>
                  <a:srgbClr val="272525"/>
                </a:solidFill>
                <a:latin typeface="Inter"/>
                <a:ea typeface="Inter"/>
                <a:cs typeface="Inter"/>
                <a:sym typeface="Inter"/>
              </a:defRPr>
            </a:pPr>
            <a:r>
              <a:rPr>
                <a:latin typeface="Arial"/>
                <a:ea typeface="Arial"/>
                <a:cs typeface="Arial"/>
                <a:sym typeface="Arial"/>
              </a:rPr>
              <a:t>אם בדיקה לא הורצה</a:t>
            </a:r>
            <a:r>
              <a:t>, </a:t>
            </a:r>
            <a:r>
              <a:rPr>
                <a:latin typeface="Arial"/>
                <a:ea typeface="Arial"/>
                <a:cs typeface="Arial"/>
                <a:sym typeface="Arial"/>
              </a:rPr>
              <a:t>ציין זאת ואת הסיבה במפורש</a:t>
            </a:r>
            <a:r>
              <a:t>.</a:t>
            </a:r>
          </a:p>
        </p:txBody>
      </p:sp>
    </p:spTree>
  </p:cSld>
  <p:clrMapOvr>
    <a:masterClrMapping/>
  </p:clrMapOvr>
  <p:transition xmlns:p14="http://schemas.microsoft.com/office/powerpoint/2010/main" spd="med" advClick="1"/>
</p:sld>
</file>

<file path=ppt/slides/slide3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FFF"/>
        </a:solidFill>
      </p:bgPr>
    </p:bg>
    <p:spTree>
      <p:nvGrpSpPr>
        <p:cNvPr id="1" name=""/>
        <p:cNvGrpSpPr/>
        <p:nvPr/>
      </p:nvGrpSpPr>
      <p:grpSpPr>
        <a:xfrm>
          <a:off x="0" y="0"/>
          <a:ext cx="0" cy="0"/>
          <a:chOff x="0" y="0"/>
          <a:chExt cx="0" cy="0"/>
        </a:xfrm>
      </p:grpSpPr>
      <p:pic>
        <p:nvPicPr>
          <p:cNvPr id="453" name="image10.png" descr="image10.png"/>
          <p:cNvPicPr>
            <a:picLocks noChangeAspect="1"/>
          </p:cNvPicPr>
          <p:nvPr/>
        </p:nvPicPr>
        <p:blipFill>
          <a:blip r:embed="rId3">
            <a:extLst/>
          </a:blip>
          <a:stretch>
            <a:fillRect/>
          </a:stretch>
        </p:blipFill>
        <p:spPr>
          <a:xfrm>
            <a:off x="5715000" y="0"/>
            <a:ext cx="3429000" cy="5143500"/>
          </a:xfrm>
          <a:prstGeom prst="rect">
            <a:avLst/>
          </a:prstGeom>
          <a:ln w="12700">
            <a:miter lim="400000"/>
          </a:ln>
        </p:spPr>
      </p:pic>
      <p:sp>
        <p:nvSpPr>
          <p:cNvPr id="454" name="text"/>
          <p:cNvSpPr txBox="1"/>
          <p:nvPr/>
        </p:nvSpPr>
        <p:spPr>
          <a:xfrm>
            <a:off x="571500" y="1666875"/>
            <a:ext cx="4572000" cy="29607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rtl="1">
              <a:defRPr b="1" sz="2100">
                <a:solidFill>
                  <a:srgbClr val="D75BE2"/>
                </a:solidFill>
              </a:defRPr>
            </a:lvl1pPr>
          </a:lstStyle>
          <a:p>
            <a:pPr>
              <a:defRPr>
                <a:latin typeface="Inter"/>
                <a:ea typeface="Inter"/>
                <a:cs typeface="Inter"/>
                <a:sym typeface="Inter"/>
              </a:defRPr>
            </a:pPr>
            <a:r>
              <a:rPr>
                <a:latin typeface="Arial"/>
                <a:ea typeface="Arial"/>
                <a:cs typeface="Arial"/>
                <a:sym typeface="Arial"/>
              </a:rPr>
              <a:t>פרק ג׳</a:t>
            </a:r>
          </a:p>
        </p:txBody>
      </p:sp>
      <p:sp>
        <p:nvSpPr>
          <p:cNvPr id="455" name="text"/>
          <p:cNvSpPr txBox="1"/>
          <p:nvPr/>
        </p:nvSpPr>
        <p:spPr>
          <a:xfrm>
            <a:off x="476250" y="2143125"/>
            <a:ext cx="4762500" cy="46889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rtl="1">
              <a:defRPr b="1" sz="3300">
                <a:solidFill>
                  <a:srgbClr val="D75BE2"/>
                </a:solidFill>
              </a:defRPr>
            </a:lvl1pPr>
          </a:lstStyle>
          <a:p>
            <a:pPr>
              <a:defRPr>
                <a:latin typeface="Inter"/>
                <a:ea typeface="Inter"/>
                <a:cs typeface="Inter"/>
                <a:sym typeface="Inter"/>
              </a:defRPr>
            </a:pPr>
            <a:r>
              <a:rPr>
                <a:latin typeface="Arial"/>
                <a:ea typeface="Arial"/>
                <a:cs typeface="Arial"/>
                <a:sym typeface="Arial"/>
              </a:rPr>
              <a:t>עבודה עם תת־סוכנים</a:t>
            </a:r>
          </a:p>
        </p:txBody>
      </p:sp>
      <p:sp>
        <p:nvSpPr>
          <p:cNvPr id="456" name="text"/>
          <p:cNvSpPr txBox="1"/>
          <p:nvPr/>
        </p:nvSpPr>
        <p:spPr>
          <a:xfrm>
            <a:off x="619125" y="3286125"/>
            <a:ext cx="4476750" cy="2794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rtl="1">
              <a:defRPr>
                <a:solidFill>
                  <a:srgbClr val="272525"/>
                </a:solidFill>
                <a:latin typeface="Inter"/>
                <a:ea typeface="Inter"/>
                <a:cs typeface="Inter"/>
                <a:sym typeface="Inter"/>
              </a:defRPr>
            </a:pPr>
            <a:r>
              <a:rPr>
                <a:latin typeface="Arial"/>
                <a:ea typeface="Arial"/>
                <a:cs typeface="Arial"/>
                <a:sym typeface="Arial"/>
              </a:rPr>
              <a:t>הגדרת משימות</a:t>
            </a:r>
            <a:r>
              <a:t>, </a:t>
            </a:r>
            <a:r>
              <a:rPr>
                <a:latin typeface="Arial"/>
                <a:ea typeface="Arial"/>
                <a:cs typeface="Arial"/>
                <a:sym typeface="Arial"/>
              </a:rPr>
              <a:t>כלים ובדיקת התוצרים</a:t>
            </a:r>
          </a:p>
        </p:txBody>
      </p:sp>
    </p:spTree>
  </p:cSld>
  <p:clrMapOvr>
    <a:masterClrMapping/>
  </p:clrMapOvr>
  <p:transition xmlns:p14="http://schemas.microsoft.com/office/powerpoint/2010/main" spd="med" advClick="1"/>
</p:sld>
</file>

<file path=ppt/slides/slide3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FFF"/>
        </a:solidFill>
      </p:bgPr>
    </p:bg>
    <p:spTree>
      <p:nvGrpSpPr>
        <p:cNvPr id="1" name=""/>
        <p:cNvGrpSpPr/>
        <p:nvPr/>
      </p:nvGrpSpPr>
      <p:grpSpPr>
        <a:xfrm>
          <a:off x="0" y="0"/>
          <a:ext cx="0" cy="0"/>
          <a:chOff x="0" y="0"/>
          <a:chExt cx="0" cy="0"/>
        </a:xfrm>
      </p:grpSpPr>
      <p:sp>
        <p:nvSpPr>
          <p:cNvPr id="460" name="text"/>
          <p:cNvSpPr txBox="1"/>
          <p:nvPr/>
        </p:nvSpPr>
        <p:spPr>
          <a:xfrm>
            <a:off x="457200" y="323850"/>
            <a:ext cx="8229600" cy="431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b="1" sz="2800">
                <a:solidFill>
                  <a:srgbClr val="D75BE2"/>
                </a:solidFill>
                <a:latin typeface="Inter"/>
                <a:ea typeface="Inter"/>
                <a:cs typeface="Inter"/>
                <a:sym typeface="Inter"/>
              </a:defRPr>
            </a:pPr>
            <a:r>
              <a:rPr>
                <a:latin typeface="Arial"/>
                <a:ea typeface="Arial"/>
                <a:cs typeface="Arial"/>
                <a:sym typeface="Arial"/>
              </a:rPr>
              <a:t>מהו תת־סוכן</a:t>
            </a:r>
            <a:r>
              <a:t>?</a:t>
            </a:r>
          </a:p>
        </p:txBody>
      </p:sp>
      <p:sp>
        <p:nvSpPr>
          <p:cNvPr id="461" name="text"/>
          <p:cNvSpPr txBox="1"/>
          <p:nvPr/>
        </p:nvSpPr>
        <p:spPr>
          <a:xfrm>
            <a:off x="5905500" y="4876800"/>
            <a:ext cx="2781300" cy="127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800">
                <a:solidFill>
                  <a:srgbClr val="705B73"/>
                </a:solidFill>
                <a:latin typeface="Inter"/>
                <a:ea typeface="Inter"/>
                <a:cs typeface="Inter"/>
                <a:sym typeface="Inter"/>
              </a:defRPr>
            </a:pPr>
            <a:r>
              <a:rPr>
                <a:latin typeface="Arial"/>
                <a:ea typeface="Arial"/>
                <a:cs typeface="Arial"/>
                <a:sym typeface="Arial"/>
              </a:rPr>
              <a:t>שיעור</a:t>
            </a:r>
            <a:r>
              <a:t>: </a:t>
            </a:r>
            <a:r>
              <a:rPr>
                <a:latin typeface="Arial"/>
                <a:ea typeface="Arial"/>
                <a:cs typeface="Arial"/>
                <a:sym typeface="Arial"/>
              </a:rPr>
              <a:t>פיתוח עם סוכני־קוד</a:t>
            </a:r>
          </a:p>
        </p:txBody>
      </p:sp>
      <p:sp>
        <p:nvSpPr>
          <p:cNvPr id="462" name="code"/>
          <p:cNvSpPr txBox="1"/>
          <p:nvPr/>
        </p:nvSpPr>
        <p:spPr>
          <a:xfrm>
            <a:off x="457200" y="4876800"/>
            <a:ext cx="333375" cy="127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defRPr sz="800">
                <a:solidFill>
                  <a:srgbClr val="705B73"/>
                </a:solidFill>
                <a:latin typeface="Inter"/>
                <a:ea typeface="Inter"/>
                <a:cs typeface="Inter"/>
                <a:sym typeface="Inter"/>
              </a:defRPr>
            </a:lvl1pPr>
          </a:lstStyle>
          <a:p>
            <a:pPr/>
            <a:r>
              <a:t>39</a:t>
            </a:r>
          </a:p>
        </p:txBody>
      </p:sp>
      <p:pic>
        <p:nvPicPr>
          <p:cNvPr id="463" name="image11.png" descr="image11.png"/>
          <p:cNvPicPr>
            <a:picLocks noChangeAspect="1"/>
          </p:cNvPicPr>
          <p:nvPr/>
        </p:nvPicPr>
        <p:blipFill>
          <a:blip r:embed="rId3">
            <a:extLst/>
          </a:blip>
          <a:stretch>
            <a:fillRect/>
          </a:stretch>
        </p:blipFill>
        <p:spPr>
          <a:xfrm>
            <a:off x="466725" y="1466850"/>
            <a:ext cx="2600325" cy="2600325"/>
          </a:xfrm>
          <a:prstGeom prst="rect">
            <a:avLst/>
          </a:prstGeom>
          <a:ln w="12700">
            <a:miter lim="400000"/>
          </a:ln>
        </p:spPr>
      </p:pic>
      <p:sp>
        <p:nvSpPr>
          <p:cNvPr id="464" name="text"/>
          <p:cNvSpPr txBox="1"/>
          <p:nvPr/>
        </p:nvSpPr>
        <p:spPr>
          <a:xfrm>
            <a:off x="3667125" y="1276350"/>
            <a:ext cx="5000625" cy="25922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defRPr b="1">
                <a:solidFill>
                  <a:srgbClr val="272525"/>
                </a:solidFill>
              </a:defRPr>
            </a:lvl1pPr>
          </a:lstStyle>
          <a:p>
            <a:pPr>
              <a:defRPr>
                <a:latin typeface="Inter"/>
                <a:ea typeface="Inter"/>
                <a:cs typeface="Inter"/>
                <a:sym typeface="Inter"/>
              </a:defRPr>
            </a:pPr>
            <a:r>
              <a:rPr>
                <a:latin typeface="Arial"/>
                <a:ea typeface="Arial"/>
                <a:cs typeface="Arial"/>
                <a:sym typeface="Arial"/>
              </a:rPr>
              <a:t>הסוכן הראשי</a:t>
            </a:r>
          </a:p>
        </p:txBody>
      </p:sp>
      <p:sp>
        <p:nvSpPr>
          <p:cNvPr id="465" name="text"/>
          <p:cNvSpPr txBox="1"/>
          <p:nvPr/>
        </p:nvSpPr>
        <p:spPr>
          <a:xfrm>
            <a:off x="3667125" y="1609725"/>
            <a:ext cx="5000625" cy="241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1600">
                <a:solidFill>
                  <a:srgbClr val="272525"/>
                </a:solidFill>
                <a:latin typeface="Inter"/>
                <a:ea typeface="Inter"/>
                <a:cs typeface="Inter"/>
                <a:sym typeface="Inter"/>
              </a:defRPr>
            </a:pPr>
            <a:r>
              <a:rPr>
                <a:latin typeface="Arial"/>
                <a:ea typeface="Arial"/>
                <a:cs typeface="Arial"/>
                <a:sym typeface="Arial"/>
              </a:rPr>
              <a:t>מבין את היעד</a:t>
            </a:r>
            <a:r>
              <a:t>, </a:t>
            </a:r>
            <a:r>
              <a:rPr>
                <a:latin typeface="Arial"/>
                <a:ea typeface="Arial"/>
                <a:cs typeface="Arial"/>
                <a:sym typeface="Arial"/>
              </a:rPr>
              <a:t>מחלק עבודה ובודק את התוצרים לפני שילובם</a:t>
            </a:r>
            <a:r>
              <a:t>.</a:t>
            </a:r>
          </a:p>
        </p:txBody>
      </p:sp>
      <p:sp>
        <p:nvSpPr>
          <p:cNvPr id="466" name="text"/>
          <p:cNvSpPr txBox="1"/>
          <p:nvPr/>
        </p:nvSpPr>
        <p:spPr>
          <a:xfrm>
            <a:off x="3667125" y="2324100"/>
            <a:ext cx="5000625" cy="25922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defRPr b="1">
                <a:solidFill>
                  <a:srgbClr val="272525"/>
                </a:solidFill>
              </a:defRPr>
            </a:lvl1pPr>
          </a:lstStyle>
          <a:p>
            <a:pPr>
              <a:defRPr>
                <a:latin typeface="Inter"/>
                <a:ea typeface="Inter"/>
                <a:cs typeface="Inter"/>
                <a:sym typeface="Inter"/>
              </a:defRPr>
            </a:pPr>
            <a:r>
              <a:rPr>
                <a:latin typeface="Arial"/>
                <a:ea typeface="Arial"/>
                <a:cs typeface="Arial"/>
                <a:sym typeface="Arial"/>
              </a:rPr>
              <a:t>משימה מצומצמת</a:t>
            </a:r>
          </a:p>
        </p:txBody>
      </p:sp>
      <p:sp>
        <p:nvSpPr>
          <p:cNvPr id="467" name="text"/>
          <p:cNvSpPr txBox="1"/>
          <p:nvPr/>
        </p:nvSpPr>
        <p:spPr>
          <a:xfrm>
            <a:off x="3667125" y="2657475"/>
            <a:ext cx="5000625" cy="241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1600">
                <a:solidFill>
                  <a:srgbClr val="272525"/>
                </a:solidFill>
                <a:latin typeface="Inter"/>
                <a:ea typeface="Inter"/>
                <a:cs typeface="Inter"/>
                <a:sym typeface="Inter"/>
              </a:defRPr>
            </a:pPr>
            <a:r>
              <a:rPr>
                <a:latin typeface="Arial"/>
                <a:ea typeface="Arial"/>
                <a:cs typeface="Arial"/>
                <a:sym typeface="Arial"/>
              </a:rPr>
              <a:t>למשל</a:t>
            </a:r>
            <a:r>
              <a:t>: </a:t>
            </a:r>
            <a:r>
              <a:rPr>
                <a:latin typeface="Arial"/>
                <a:ea typeface="Arial"/>
                <a:cs typeface="Arial"/>
                <a:sym typeface="Arial"/>
              </a:rPr>
              <a:t>סקירת השינוי מול האפיון</a:t>
            </a:r>
            <a:r>
              <a:t>, </a:t>
            </a:r>
            <a:r>
              <a:rPr>
                <a:latin typeface="Arial"/>
                <a:ea typeface="Arial"/>
                <a:cs typeface="Arial"/>
                <a:sym typeface="Arial"/>
              </a:rPr>
              <a:t>בלי לשנות קוד</a:t>
            </a:r>
            <a:r>
              <a:t>.</a:t>
            </a:r>
          </a:p>
        </p:txBody>
      </p:sp>
      <p:sp>
        <p:nvSpPr>
          <p:cNvPr id="468" name="text"/>
          <p:cNvSpPr txBox="1"/>
          <p:nvPr/>
        </p:nvSpPr>
        <p:spPr>
          <a:xfrm>
            <a:off x="3667125" y="3371850"/>
            <a:ext cx="5000625" cy="25922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defRPr b="1">
                <a:solidFill>
                  <a:srgbClr val="272525"/>
                </a:solidFill>
              </a:defRPr>
            </a:lvl1pPr>
          </a:lstStyle>
          <a:p>
            <a:pPr>
              <a:defRPr>
                <a:latin typeface="Inter"/>
                <a:ea typeface="Inter"/>
                <a:cs typeface="Inter"/>
                <a:sym typeface="Inter"/>
              </a:defRPr>
            </a:pPr>
            <a:r>
              <a:rPr>
                <a:latin typeface="Arial"/>
                <a:ea typeface="Arial"/>
                <a:cs typeface="Arial"/>
                <a:sym typeface="Arial"/>
              </a:rPr>
              <a:t>הגדרה מפורשת</a:t>
            </a:r>
          </a:p>
        </p:txBody>
      </p:sp>
      <p:sp>
        <p:nvSpPr>
          <p:cNvPr id="469" name="text"/>
          <p:cNvSpPr txBox="1"/>
          <p:nvPr/>
        </p:nvSpPr>
        <p:spPr>
          <a:xfrm>
            <a:off x="3667125" y="3705225"/>
            <a:ext cx="5000625" cy="241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1600">
                <a:solidFill>
                  <a:srgbClr val="272525"/>
                </a:solidFill>
                <a:latin typeface="Inter"/>
                <a:ea typeface="Inter"/>
                <a:cs typeface="Inter"/>
                <a:sym typeface="Inter"/>
              </a:defRPr>
            </a:pPr>
            <a:r>
              <a:rPr>
                <a:latin typeface="Arial"/>
                <a:ea typeface="Arial"/>
                <a:cs typeface="Arial"/>
                <a:sym typeface="Arial"/>
              </a:rPr>
              <a:t>תפקיד</a:t>
            </a:r>
            <a:r>
              <a:t>, </a:t>
            </a:r>
            <a:r>
              <a:rPr>
                <a:latin typeface="Arial"/>
                <a:ea typeface="Arial"/>
                <a:cs typeface="Arial"/>
                <a:sym typeface="Arial"/>
              </a:rPr>
              <a:t>מקורות</a:t>
            </a:r>
            <a:r>
              <a:t>, </a:t>
            </a:r>
            <a:r>
              <a:rPr>
                <a:latin typeface="Arial"/>
                <a:ea typeface="Arial"/>
                <a:cs typeface="Arial"/>
                <a:sym typeface="Arial"/>
              </a:rPr>
              <a:t>כלים מותרים ופורמט התשובה</a:t>
            </a:r>
            <a:r>
              <a:t>.</a:t>
            </a:r>
          </a:p>
        </p:txBody>
      </p:sp>
    </p:spTree>
  </p:cSld>
  <p:clrMapOvr>
    <a:masterClrMapping/>
  </p:clrMapOvr>
  <p:transition xmlns:p14="http://schemas.microsoft.com/office/powerpoint/2010/main" spd="med" advClick="1"/>
</p:sld>
</file>

<file path=ppt/slides/slide4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FFF"/>
        </a:solidFill>
      </p:bgPr>
    </p:bg>
    <p:spTree>
      <p:nvGrpSpPr>
        <p:cNvPr id="1" name=""/>
        <p:cNvGrpSpPr/>
        <p:nvPr/>
      </p:nvGrpSpPr>
      <p:grpSpPr>
        <a:xfrm>
          <a:off x="0" y="0"/>
          <a:ext cx="0" cy="0"/>
          <a:chOff x="0" y="0"/>
          <a:chExt cx="0" cy="0"/>
        </a:xfrm>
      </p:grpSpPr>
      <p:sp>
        <p:nvSpPr>
          <p:cNvPr id="473" name="text"/>
          <p:cNvSpPr txBox="1"/>
          <p:nvPr/>
        </p:nvSpPr>
        <p:spPr>
          <a:xfrm>
            <a:off x="457200" y="323850"/>
            <a:ext cx="8229600" cy="431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b="1" sz="2800">
                <a:solidFill>
                  <a:srgbClr val="D75BE2"/>
                </a:solidFill>
                <a:latin typeface="Inter"/>
                <a:ea typeface="Inter"/>
                <a:cs typeface="Inter"/>
                <a:sym typeface="Inter"/>
              </a:defRPr>
            </a:pPr>
            <a:r>
              <a:rPr>
                <a:latin typeface="Arial"/>
                <a:ea typeface="Arial"/>
                <a:cs typeface="Arial"/>
                <a:sym typeface="Arial"/>
              </a:rPr>
              <a:t>הגדרת תת־סוכן ב־</a:t>
            </a:r>
            <a:r>
              <a:t>Claude Code</a:t>
            </a:r>
          </a:p>
        </p:txBody>
      </p:sp>
      <p:sp>
        <p:nvSpPr>
          <p:cNvPr id="474" name="text"/>
          <p:cNvSpPr txBox="1"/>
          <p:nvPr/>
        </p:nvSpPr>
        <p:spPr>
          <a:xfrm>
            <a:off x="5905500" y="4876800"/>
            <a:ext cx="2781300" cy="127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800">
                <a:solidFill>
                  <a:srgbClr val="705B73"/>
                </a:solidFill>
                <a:latin typeface="Inter"/>
                <a:ea typeface="Inter"/>
                <a:cs typeface="Inter"/>
                <a:sym typeface="Inter"/>
              </a:defRPr>
            </a:pPr>
            <a:r>
              <a:rPr>
                <a:latin typeface="Arial"/>
                <a:ea typeface="Arial"/>
                <a:cs typeface="Arial"/>
                <a:sym typeface="Arial"/>
              </a:rPr>
              <a:t>שיעור</a:t>
            </a:r>
            <a:r>
              <a:t>: </a:t>
            </a:r>
            <a:r>
              <a:rPr>
                <a:latin typeface="Arial"/>
                <a:ea typeface="Arial"/>
                <a:cs typeface="Arial"/>
                <a:sym typeface="Arial"/>
              </a:rPr>
              <a:t>פיתוח עם סוכני־קוד</a:t>
            </a:r>
          </a:p>
        </p:txBody>
      </p:sp>
      <p:sp>
        <p:nvSpPr>
          <p:cNvPr id="475" name="code"/>
          <p:cNvSpPr txBox="1"/>
          <p:nvPr/>
        </p:nvSpPr>
        <p:spPr>
          <a:xfrm>
            <a:off x="457200" y="4876800"/>
            <a:ext cx="333375" cy="127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defRPr sz="800">
                <a:solidFill>
                  <a:srgbClr val="705B73"/>
                </a:solidFill>
                <a:latin typeface="Inter"/>
                <a:ea typeface="Inter"/>
                <a:cs typeface="Inter"/>
                <a:sym typeface="Inter"/>
              </a:defRPr>
            </a:lvl1pPr>
          </a:lstStyle>
          <a:p>
            <a:pPr/>
            <a:r>
              <a:t>40</a:t>
            </a:r>
          </a:p>
        </p:txBody>
      </p:sp>
      <p:sp>
        <p:nvSpPr>
          <p:cNvPr id="476" name="text"/>
          <p:cNvSpPr txBox="1"/>
          <p:nvPr/>
        </p:nvSpPr>
        <p:spPr>
          <a:xfrm>
            <a:off x="457200" y="1076325"/>
            <a:ext cx="8229600" cy="254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b="1" sz="1700">
                <a:solidFill>
                  <a:srgbClr val="272525"/>
                </a:solidFill>
                <a:latin typeface="Inter"/>
                <a:ea typeface="Inter"/>
                <a:cs typeface="Inter"/>
                <a:sym typeface="Inter"/>
              </a:defRPr>
            </a:pPr>
            <a:r>
              <a:rPr>
                <a:latin typeface="Arial"/>
                <a:ea typeface="Arial"/>
                <a:cs typeface="Arial"/>
                <a:sym typeface="Arial"/>
              </a:rPr>
              <a:t>בקובץ ‎</a:t>
            </a:r>
            <a:r>
              <a:t>.claude/agents/spec-reviewer.md</a:t>
            </a:r>
          </a:p>
        </p:txBody>
      </p:sp>
      <p:sp>
        <p:nvSpPr>
          <p:cNvPr id="477" name="Rectangle"/>
          <p:cNvSpPr/>
          <p:nvPr/>
        </p:nvSpPr>
        <p:spPr>
          <a:xfrm>
            <a:off x="495300" y="1543050"/>
            <a:ext cx="5457825" cy="2819400"/>
          </a:xfrm>
          <a:prstGeom prst="rect">
            <a:avLst/>
          </a:prstGeom>
          <a:solidFill>
            <a:srgbClr val="F7F5F8"/>
          </a:solidFill>
          <a:ln w="12700">
            <a:miter lim="400000"/>
          </a:ln>
        </p:spPr>
        <p:txBody>
          <a:bodyPr lIns="0" tIns="0" rIns="0" bIns="0"/>
          <a:lstStyle/>
          <a:p>
            <a:pPr/>
          </a:p>
        </p:txBody>
      </p:sp>
      <p:sp>
        <p:nvSpPr>
          <p:cNvPr id="478" name="code"/>
          <p:cNvSpPr txBox="1"/>
          <p:nvPr/>
        </p:nvSpPr>
        <p:spPr>
          <a:xfrm>
            <a:off x="628650" y="1657350"/>
            <a:ext cx="5191125" cy="182298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400">
                <a:solidFill>
                  <a:srgbClr val="272525"/>
                </a:solidFill>
              </a:defRPr>
            </a:pPr>
            <a:r>
              <a:t>---</a:t>
            </a:r>
          </a:p>
          <a:p>
            <a:pPr>
              <a:defRPr sz="1400">
                <a:solidFill>
                  <a:srgbClr val="272525"/>
                </a:solidFill>
              </a:defRPr>
            </a:pPr>
            <a:r>
              <a:t>name: spec-reviewer</a:t>
            </a:r>
          </a:p>
          <a:p>
            <a:pPr>
              <a:defRPr sz="1400">
                <a:solidFill>
                  <a:srgbClr val="272525"/>
                </a:solidFill>
              </a:defRPr>
            </a:pPr>
            <a:r>
              <a:t>description: Review changes against the spec</a:t>
            </a:r>
          </a:p>
          <a:p>
            <a:pPr>
              <a:defRPr sz="1400">
                <a:solidFill>
                  <a:srgbClr val="272525"/>
                </a:solidFill>
              </a:defRPr>
            </a:pPr>
            <a:r>
              <a:t>tools: Read, Grep, Glob</a:t>
            </a:r>
          </a:p>
          <a:p>
            <a:pPr>
              <a:defRPr sz="1400">
                <a:solidFill>
                  <a:srgbClr val="272525"/>
                </a:solidFill>
              </a:defRPr>
            </a:pPr>
            <a:r>
              <a:t>---</a:t>
            </a:r>
          </a:p>
          <a:p>
            <a:pPr>
              <a:defRPr sz="1400">
                <a:solidFill>
                  <a:srgbClr val="272525"/>
                </a:solidFill>
              </a:defRPr>
            </a:pPr>
            <a:r>
              <a:t>Read docs/spec.md and relevant code.</a:t>
            </a:r>
          </a:p>
          <a:p>
            <a:pPr>
              <a:defRPr sz="1400">
                <a:solidFill>
                  <a:srgbClr val="272525"/>
                </a:solidFill>
              </a:defRPr>
            </a:pPr>
            <a:r>
              <a:t>Check requirements and missing tests.</a:t>
            </a:r>
          </a:p>
          <a:p>
            <a:pPr>
              <a:defRPr sz="1400">
                <a:solidFill>
                  <a:srgbClr val="272525"/>
                </a:solidFill>
              </a:defRPr>
            </a:pPr>
            <a:r>
              <a:t>Do not edit files.</a:t>
            </a:r>
          </a:p>
          <a:p>
            <a:pPr>
              <a:defRPr sz="1400">
                <a:solidFill>
                  <a:srgbClr val="272525"/>
                </a:solidFill>
              </a:defRPr>
            </a:pPr>
            <a:r>
              <a:t>Return findings with file references.</a:t>
            </a:r>
          </a:p>
        </p:txBody>
      </p:sp>
      <p:sp>
        <p:nvSpPr>
          <p:cNvPr id="479" name="text"/>
          <p:cNvSpPr txBox="1"/>
          <p:nvPr/>
        </p:nvSpPr>
        <p:spPr>
          <a:xfrm>
            <a:off x="6267450" y="1714500"/>
            <a:ext cx="2381250" cy="121374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1600">
                <a:solidFill>
                  <a:srgbClr val="272525"/>
                </a:solidFill>
                <a:latin typeface="Inter"/>
                <a:ea typeface="Inter"/>
                <a:cs typeface="Inter"/>
                <a:sym typeface="Inter"/>
              </a:defRPr>
            </a:pPr>
            <a:r>
              <a:rPr>
                <a:latin typeface="Arial"/>
                <a:ea typeface="Arial"/>
                <a:cs typeface="Arial"/>
                <a:sym typeface="Arial"/>
              </a:rPr>
              <a:t>השם מזהה את הסוכן</a:t>
            </a:r>
            <a:r>
              <a:t>.</a:t>
            </a:r>
          </a:p>
          <a:p>
            <a:pPr algn="r" rtl="1">
              <a:defRPr sz="1600">
                <a:solidFill>
                  <a:srgbClr val="272525"/>
                </a:solidFill>
                <a:latin typeface="Inter"/>
                <a:ea typeface="Inter"/>
                <a:cs typeface="Inter"/>
                <a:sym typeface="Inter"/>
              </a:defRPr>
            </a:pPr>
            <a:r>
              <a:rPr>
                <a:latin typeface="Arial"/>
                <a:ea typeface="Arial"/>
                <a:cs typeface="Arial"/>
                <a:sym typeface="Arial"/>
              </a:rPr>
              <a:t>התיאור מסביר מתי להפעיל אותו</a:t>
            </a:r>
            <a:r>
              <a:t>.</a:t>
            </a:r>
          </a:p>
          <a:p>
            <a:pPr algn="r" rtl="1">
              <a:defRPr sz="1600">
                <a:solidFill>
                  <a:srgbClr val="272525"/>
                </a:solidFill>
                <a:latin typeface="Inter"/>
                <a:ea typeface="Inter"/>
                <a:cs typeface="Inter"/>
                <a:sym typeface="Inter"/>
              </a:defRPr>
            </a:pPr>
            <a:r>
              <a:rPr>
                <a:latin typeface="Arial"/>
                <a:ea typeface="Arial"/>
                <a:cs typeface="Arial"/>
                <a:sym typeface="Arial"/>
              </a:rPr>
              <a:t>הכלים מגבילים את היכולות</a:t>
            </a:r>
            <a:r>
              <a:t>.</a:t>
            </a:r>
          </a:p>
          <a:p>
            <a:pPr algn="r" rtl="1">
              <a:defRPr sz="1600">
                <a:solidFill>
                  <a:srgbClr val="272525"/>
                </a:solidFill>
                <a:latin typeface="Inter"/>
                <a:ea typeface="Inter"/>
                <a:cs typeface="Inter"/>
                <a:sym typeface="Inter"/>
              </a:defRPr>
            </a:pPr>
            <a:r>
              <a:rPr>
                <a:latin typeface="Arial"/>
                <a:ea typeface="Arial"/>
                <a:cs typeface="Arial"/>
                <a:sym typeface="Arial"/>
              </a:rPr>
              <a:t>ההוראות מגדירות את התוצר</a:t>
            </a:r>
            <a:r>
              <a:t>.</a:t>
            </a:r>
          </a:p>
        </p:txBody>
      </p:sp>
      <p:sp>
        <p:nvSpPr>
          <p:cNvPr id="480" name="text"/>
          <p:cNvSpPr txBox="1"/>
          <p:nvPr/>
        </p:nvSpPr>
        <p:spPr>
          <a:xfrm>
            <a:off x="6172200" y="3819525"/>
            <a:ext cx="2505075" cy="69203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b="1" sz="1500">
                <a:solidFill>
                  <a:srgbClr val="272525"/>
                </a:solidFill>
                <a:latin typeface="Inter"/>
                <a:ea typeface="Inter"/>
                <a:cs typeface="Inter"/>
                <a:sym typeface="Inter"/>
              </a:defRPr>
            </a:pPr>
            <a:r>
              <a:rPr>
                <a:latin typeface="Arial"/>
                <a:ea typeface="Arial"/>
                <a:cs typeface="Arial"/>
                <a:sym typeface="Arial"/>
              </a:rPr>
              <a:t>בקשה</a:t>
            </a:r>
            <a:r>
              <a:t>: </a:t>
            </a:r>
            <a:r>
              <a:rPr>
                <a:latin typeface="Arial"/>
                <a:ea typeface="Arial"/>
                <a:cs typeface="Arial"/>
                <a:sym typeface="Arial"/>
              </a:rPr>
              <a:t>הפעל את הסוכן</a:t>
            </a:r>
          </a:p>
          <a:p>
            <a:pPr algn="r">
              <a:defRPr b="1" sz="1500">
                <a:solidFill>
                  <a:srgbClr val="272525"/>
                </a:solidFill>
                <a:latin typeface="Inter"/>
                <a:ea typeface="Inter"/>
                <a:cs typeface="Inter"/>
                <a:sym typeface="Inter"/>
              </a:defRPr>
            </a:pPr>
            <a:r>
              <a:t>spec-reviewer</a:t>
            </a:r>
          </a:p>
          <a:p>
            <a:pPr algn="r" rtl="1">
              <a:defRPr b="1" sz="1500">
                <a:solidFill>
                  <a:srgbClr val="272525"/>
                </a:solidFill>
                <a:latin typeface="Inter"/>
                <a:ea typeface="Inter"/>
                <a:cs typeface="Inter"/>
                <a:sym typeface="Inter"/>
              </a:defRPr>
            </a:pPr>
            <a:r>
              <a:rPr>
                <a:latin typeface="Arial"/>
                <a:ea typeface="Arial"/>
                <a:cs typeface="Arial"/>
                <a:sym typeface="Arial"/>
              </a:rPr>
              <a:t>לסקירת השינוי מול האפיון</a:t>
            </a:r>
            <a:r>
              <a:t>.</a:t>
            </a:r>
          </a:p>
        </p:txBody>
      </p:sp>
    </p:spTree>
  </p:cSld>
  <p:clrMapOvr>
    <a:masterClrMapping/>
  </p:clrMapOvr>
  <p:transition xmlns:p14="http://schemas.microsoft.com/office/powerpoint/2010/main" spd="med" advClick="1"/>
</p:sld>
</file>

<file path=ppt/slides/slide4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FFF"/>
        </a:solidFill>
      </p:bgPr>
    </p:bg>
    <p:spTree>
      <p:nvGrpSpPr>
        <p:cNvPr id="1" name=""/>
        <p:cNvGrpSpPr/>
        <p:nvPr/>
      </p:nvGrpSpPr>
      <p:grpSpPr>
        <a:xfrm>
          <a:off x="0" y="0"/>
          <a:ext cx="0" cy="0"/>
          <a:chOff x="0" y="0"/>
          <a:chExt cx="0" cy="0"/>
        </a:xfrm>
      </p:grpSpPr>
      <p:sp>
        <p:nvSpPr>
          <p:cNvPr id="484" name="text"/>
          <p:cNvSpPr txBox="1"/>
          <p:nvPr/>
        </p:nvSpPr>
        <p:spPr>
          <a:xfrm>
            <a:off x="457200" y="323850"/>
            <a:ext cx="8229600" cy="431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b="1" sz="2800">
                <a:solidFill>
                  <a:srgbClr val="D75BE2"/>
                </a:solidFill>
                <a:latin typeface="Inter"/>
                <a:ea typeface="Inter"/>
                <a:cs typeface="Inter"/>
                <a:sym typeface="Inter"/>
              </a:defRPr>
            </a:pPr>
            <a:r>
              <a:rPr>
                <a:latin typeface="Arial"/>
                <a:ea typeface="Arial"/>
                <a:cs typeface="Arial"/>
                <a:sym typeface="Arial"/>
              </a:rPr>
              <a:t>הגדרת תת־סוכן ב־</a:t>
            </a:r>
            <a:r>
              <a:t>Codex</a:t>
            </a:r>
          </a:p>
        </p:txBody>
      </p:sp>
      <p:sp>
        <p:nvSpPr>
          <p:cNvPr id="485" name="text"/>
          <p:cNvSpPr txBox="1"/>
          <p:nvPr/>
        </p:nvSpPr>
        <p:spPr>
          <a:xfrm>
            <a:off x="5905500" y="4876800"/>
            <a:ext cx="2781300" cy="127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800">
                <a:solidFill>
                  <a:srgbClr val="705B73"/>
                </a:solidFill>
                <a:latin typeface="Inter"/>
                <a:ea typeface="Inter"/>
                <a:cs typeface="Inter"/>
                <a:sym typeface="Inter"/>
              </a:defRPr>
            </a:pPr>
            <a:r>
              <a:rPr>
                <a:latin typeface="Arial"/>
                <a:ea typeface="Arial"/>
                <a:cs typeface="Arial"/>
                <a:sym typeface="Arial"/>
              </a:rPr>
              <a:t>שיעור</a:t>
            </a:r>
            <a:r>
              <a:t>: </a:t>
            </a:r>
            <a:r>
              <a:rPr>
                <a:latin typeface="Arial"/>
                <a:ea typeface="Arial"/>
                <a:cs typeface="Arial"/>
                <a:sym typeface="Arial"/>
              </a:rPr>
              <a:t>פיתוח עם סוכני־קוד</a:t>
            </a:r>
          </a:p>
        </p:txBody>
      </p:sp>
      <p:sp>
        <p:nvSpPr>
          <p:cNvPr id="486" name="code"/>
          <p:cNvSpPr txBox="1"/>
          <p:nvPr/>
        </p:nvSpPr>
        <p:spPr>
          <a:xfrm>
            <a:off x="457200" y="4876800"/>
            <a:ext cx="333375" cy="127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defRPr sz="800">
                <a:solidFill>
                  <a:srgbClr val="705B73"/>
                </a:solidFill>
                <a:latin typeface="Inter"/>
                <a:ea typeface="Inter"/>
                <a:cs typeface="Inter"/>
                <a:sym typeface="Inter"/>
              </a:defRPr>
            </a:lvl1pPr>
          </a:lstStyle>
          <a:p>
            <a:pPr/>
            <a:r>
              <a:t>41</a:t>
            </a:r>
          </a:p>
        </p:txBody>
      </p:sp>
      <p:sp>
        <p:nvSpPr>
          <p:cNvPr id="487" name="text"/>
          <p:cNvSpPr txBox="1"/>
          <p:nvPr/>
        </p:nvSpPr>
        <p:spPr>
          <a:xfrm>
            <a:off x="457200" y="1076325"/>
            <a:ext cx="8229600" cy="254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b="1" sz="1700">
                <a:solidFill>
                  <a:srgbClr val="272525"/>
                </a:solidFill>
                <a:latin typeface="Inter"/>
                <a:ea typeface="Inter"/>
                <a:cs typeface="Inter"/>
                <a:sym typeface="Inter"/>
              </a:defRPr>
            </a:pPr>
            <a:r>
              <a:rPr>
                <a:latin typeface="Arial"/>
                <a:ea typeface="Arial"/>
                <a:cs typeface="Arial"/>
                <a:sym typeface="Arial"/>
              </a:rPr>
              <a:t>בקובץ ‎</a:t>
            </a:r>
            <a:r>
              <a:t>.codex/agents/spec-reviewer.toml</a:t>
            </a:r>
          </a:p>
        </p:txBody>
      </p:sp>
      <p:sp>
        <p:nvSpPr>
          <p:cNvPr id="488" name="Rectangle"/>
          <p:cNvSpPr/>
          <p:nvPr/>
        </p:nvSpPr>
        <p:spPr>
          <a:xfrm>
            <a:off x="495300" y="1543050"/>
            <a:ext cx="5457825" cy="2819400"/>
          </a:xfrm>
          <a:prstGeom prst="rect">
            <a:avLst/>
          </a:prstGeom>
          <a:solidFill>
            <a:srgbClr val="F7F5F8"/>
          </a:solidFill>
          <a:ln w="12700">
            <a:miter lim="400000"/>
          </a:ln>
        </p:spPr>
        <p:txBody>
          <a:bodyPr lIns="0" tIns="0" rIns="0" bIns="0"/>
          <a:lstStyle/>
          <a:p>
            <a:pPr/>
          </a:p>
        </p:txBody>
      </p:sp>
      <p:sp>
        <p:nvSpPr>
          <p:cNvPr id="489" name="code"/>
          <p:cNvSpPr txBox="1"/>
          <p:nvPr/>
        </p:nvSpPr>
        <p:spPr>
          <a:xfrm>
            <a:off x="628650" y="1657350"/>
            <a:ext cx="5191125" cy="182298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400">
                <a:solidFill>
                  <a:srgbClr val="272525"/>
                </a:solidFill>
              </a:defRPr>
            </a:pPr>
            <a:r>
              <a:t>name = "spec_reviewer"</a:t>
            </a:r>
          </a:p>
          <a:p>
            <a:pPr>
              <a:defRPr sz="1400">
                <a:solidFill>
                  <a:srgbClr val="272525"/>
                </a:solidFill>
              </a:defRPr>
            </a:pPr>
            <a:r>
              <a:t>description = "Review changes against the spec"</a:t>
            </a:r>
          </a:p>
          <a:p>
            <a:pPr>
              <a:defRPr sz="1400">
                <a:solidFill>
                  <a:srgbClr val="272525"/>
                </a:solidFill>
              </a:defRPr>
            </a:pPr>
            <a:r>
              <a:t>sandbox_mode = "read-only"</a:t>
            </a:r>
          </a:p>
          <a:p>
            <a:pPr>
              <a:defRPr sz="1400">
                <a:solidFill>
                  <a:srgbClr val="272525"/>
                </a:solidFill>
              </a:defRPr>
            </a:pPr>
            <a:r>
              <a:t>developer_instructions = """</a:t>
            </a:r>
          </a:p>
          <a:p>
            <a:pPr>
              <a:defRPr sz="1400">
                <a:solidFill>
                  <a:srgbClr val="272525"/>
                </a:solidFill>
              </a:defRPr>
            </a:pPr>
            <a:r>
              <a:t>Read docs/spec.md and relevant code.</a:t>
            </a:r>
          </a:p>
          <a:p>
            <a:pPr>
              <a:defRPr sz="1400">
                <a:solidFill>
                  <a:srgbClr val="272525"/>
                </a:solidFill>
              </a:defRPr>
            </a:pPr>
            <a:r>
              <a:t>Check requirements and missing tests.</a:t>
            </a:r>
          </a:p>
          <a:p>
            <a:pPr>
              <a:defRPr sz="1400">
                <a:solidFill>
                  <a:srgbClr val="272525"/>
                </a:solidFill>
              </a:defRPr>
            </a:pPr>
            <a:r>
              <a:t>Do not edit files.</a:t>
            </a:r>
          </a:p>
          <a:p>
            <a:pPr>
              <a:defRPr sz="1400">
                <a:solidFill>
                  <a:srgbClr val="272525"/>
                </a:solidFill>
              </a:defRPr>
            </a:pPr>
            <a:r>
              <a:t>Return findings with file references.</a:t>
            </a:r>
          </a:p>
          <a:p>
            <a:pPr>
              <a:defRPr sz="1400">
                <a:solidFill>
                  <a:srgbClr val="272525"/>
                </a:solidFill>
              </a:defRPr>
            </a:pPr>
            <a:r>
              <a:t>"""</a:t>
            </a:r>
          </a:p>
        </p:txBody>
      </p:sp>
      <p:sp>
        <p:nvSpPr>
          <p:cNvPr id="490" name="text"/>
          <p:cNvSpPr txBox="1"/>
          <p:nvPr/>
        </p:nvSpPr>
        <p:spPr>
          <a:xfrm>
            <a:off x="6191250" y="1809750"/>
            <a:ext cx="2495550" cy="147439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1600">
                <a:solidFill>
                  <a:srgbClr val="272525"/>
                </a:solidFill>
                <a:latin typeface="Inter"/>
                <a:ea typeface="Inter"/>
                <a:cs typeface="Inter"/>
                <a:sym typeface="Inter"/>
              </a:defRPr>
            </a:pPr>
            <a:r>
              <a:rPr>
                <a:latin typeface="Arial"/>
                <a:ea typeface="Arial"/>
                <a:cs typeface="Arial"/>
                <a:sym typeface="Arial"/>
              </a:rPr>
              <a:t>אותו תפקיד עסקי</a:t>
            </a:r>
            <a:r>
              <a:t>,</a:t>
            </a:r>
          </a:p>
          <a:p>
            <a:pPr algn="r" rtl="1">
              <a:defRPr sz="1600">
                <a:solidFill>
                  <a:srgbClr val="272525"/>
                </a:solidFill>
                <a:latin typeface="Inter"/>
                <a:ea typeface="Inter"/>
                <a:cs typeface="Inter"/>
                <a:sym typeface="Inter"/>
              </a:defRPr>
            </a:pPr>
            <a:r>
              <a:rPr>
                <a:latin typeface="Arial"/>
                <a:ea typeface="Arial"/>
                <a:cs typeface="Arial"/>
                <a:sym typeface="Arial"/>
              </a:rPr>
              <a:t>בפורמט ההגדרות של הכלי</a:t>
            </a:r>
            <a:r>
              <a:t>.</a:t>
            </a:r>
          </a:p>
          <a:p>
            <a:pPr algn="r"/>
            <a:endParaRPr sz="1600">
              <a:solidFill>
                <a:srgbClr val="272525"/>
              </a:solidFill>
              <a:latin typeface="Inter"/>
              <a:ea typeface="Inter"/>
              <a:cs typeface="Inter"/>
              <a:sym typeface="Inter"/>
            </a:endParaRPr>
          </a:p>
          <a:p>
            <a:pPr algn="r" rtl="1">
              <a:defRPr sz="1600">
                <a:solidFill>
                  <a:srgbClr val="272525"/>
                </a:solidFill>
                <a:latin typeface="Inter"/>
                <a:ea typeface="Inter"/>
                <a:cs typeface="Inter"/>
                <a:sym typeface="Inter"/>
              </a:defRPr>
            </a:pPr>
            <a:r>
              <a:rPr>
                <a:latin typeface="Arial"/>
                <a:ea typeface="Arial"/>
                <a:cs typeface="Arial"/>
                <a:sym typeface="Arial"/>
              </a:rPr>
              <a:t>בקשה</a:t>
            </a:r>
            <a:r>
              <a:t>: </a:t>
            </a:r>
            <a:r>
              <a:rPr>
                <a:latin typeface="Arial"/>
                <a:ea typeface="Arial"/>
                <a:cs typeface="Arial"/>
                <a:sym typeface="Arial"/>
              </a:rPr>
              <a:t>השתמש בסוכן</a:t>
            </a:r>
          </a:p>
          <a:p>
            <a:pPr algn="r">
              <a:defRPr sz="1600">
                <a:solidFill>
                  <a:srgbClr val="272525"/>
                </a:solidFill>
                <a:latin typeface="Inter"/>
                <a:ea typeface="Inter"/>
                <a:cs typeface="Inter"/>
                <a:sym typeface="Inter"/>
              </a:defRPr>
            </a:pPr>
            <a:r>
              <a:t>spec_reviewer </a:t>
            </a:r>
            <a:r>
              <a:rPr>
                <a:latin typeface="Arial"/>
                <a:ea typeface="Arial"/>
                <a:cs typeface="Arial"/>
                <a:sym typeface="Arial"/>
              </a:rPr>
              <a:t>כדי לבדוק</a:t>
            </a:r>
          </a:p>
          <a:p>
            <a:pPr algn="r" rtl="1">
              <a:defRPr sz="1600">
                <a:solidFill>
                  <a:srgbClr val="272525"/>
                </a:solidFill>
                <a:latin typeface="Inter"/>
                <a:ea typeface="Inter"/>
                <a:cs typeface="Inter"/>
                <a:sym typeface="Inter"/>
              </a:defRPr>
            </a:pPr>
            <a:r>
              <a:rPr>
                <a:latin typeface="Arial"/>
                <a:ea typeface="Arial"/>
                <a:cs typeface="Arial"/>
                <a:sym typeface="Arial"/>
              </a:rPr>
              <a:t>את השינוי מול האפיון</a:t>
            </a:r>
            <a:r>
              <a:t>.</a:t>
            </a:r>
          </a:p>
        </p:txBody>
      </p:sp>
    </p:spTree>
  </p:cSld>
  <p:clrMapOvr>
    <a:masterClrMapping/>
  </p:clrMapOvr>
  <p:transition xmlns:p14="http://schemas.microsoft.com/office/powerpoint/2010/main" spd="med" advClick="1"/>
</p:sld>
</file>

<file path=ppt/slides/slide4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FFF"/>
        </a:solidFill>
      </p:bgPr>
    </p:bg>
    <p:spTree>
      <p:nvGrpSpPr>
        <p:cNvPr id="1" name=""/>
        <p:cNvGrpSpPr/>
        <p:nvPr/>
      </p:nvGrpSpPr>
      <p:grpSpPr>
        <a:xfrm>
          <a:off x="0" y="0"/>
          <a:ext cx="0" cy="0"/>
          <a:chOff x="0" y="0"/>
          <a:chExt cx="0" cy="0"/>
        </a:xfrm>
      </p:grpSpPr>
      <p:sp>
        <p:nvSpPr>
          <p:cNvPr id="494" name="text"/>
          <p:cNvSpPr txBox="1"/>
          <p:nvPr/>
        </p:nvSpPr>
        <p:spPr>
          <a:xfrm>
            <a:off x="457200" y="323850"/>
            <a:ext cx="8229600" cy="39476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defRPr b="1" sz="2800">
                <a:solidFill>
                  <a:srgbClr val="D75BE2"/>
                </a:solidFill>
              </a:defRPr>
            </a:lvl1pPr>
          </a:lstStyle>
          <a:p>
            <a:pPr>
              <a:defRPr>
                <a:latin typeface="Inter"/>
                <a:ea typeface="Inter"/>
                <a:cs typeface="Inter"/>
                <a:sym typeface="Inter"/>
              </a:defRPr>
            </a:pPr>
            <a:r>
              <a:rPr>
                <a:latin typeface="Arial"/>
                <a:ea typeface="Arial"/>
                <a:cs typeface="Arial"/>
                <a:sym typeface="Arial"/>
              </a:rPr>
              <a:t>חלוקת עבודה בין סוכנים</a:t>
            </a:r>
          </a:p>
        </p:txBody>
      </p:sp>
      <p:sp>
        <p:nvSpPr>
          <p:cNvPr id="495" name="text"/>
          <p:cNvSpPr txBox="1"/>
          <p:nvPr/>
        </p:nvSpPr>
        <p:spPr>
          <a:xfrm>
            <a:off x="5905500" y="4876800"/>
            <a:ext cx="2781300" cy="127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800">
                <a:solidFill>
                  <a:srgbClr val="705B73"/>
                </a:solidFill>
                <a:latin typeface="Inter"/>
                <a:ea typeface="Inter"/>
                <a:cs typeface="Inter"/>
                <a:sym typeface="Inter"/>
              </a:defRPr>
            </a:pPr>
            <a:r>
              <a:rPr>
                <a:latin typeface="Arial"/>
                <a:ea typeface="Arial"/>
                <a:cs typeface="Arial"/>
                <a:sym typeface="Arial"/>
              </a:rPr>
              <a:t>שיעור</a:t>
            </a:r>
            <a:r>
              <a:t>: </a:t>
            </a:r>
            <a:r>
              <a:rPr>
                <a:latin typeface="Arial"/>
                <a:ea typeface="Arial"/>
                <a:cs typeface="Arial"/>
                <a:sym typeface="Arial"/>
              </a:rPr>
              <a:t>פיתוח עם סוכני־קוד</a:t>
            </a:r>
          </a:p>
        </p:txBody>
      </p:sp>
      <p:sp>
        <p:nvSpPr>
          <p:cNvPr id="496" name="code"/>
          <p:cNvSpPr txBox="1"/>
          <p:nvPr/>
        </p:nvSpPr>
        <p:spPr>
          <a:xfrm>
            <a:off x="457200" y="4876800"/>
            <a:ext cx="333375" cy="127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defRPr sz="800">
                <a:solidFill>
                  <a:srgbClr val="705B73"/>
                </a:solidFill>
                <a:latin typeface="Inter"/>
                <a:ea typeface="Inter"/>
                <a:cs typeface="Inter"/>
                <a:sym typeface="Inter"/>
              </a:defRPr>
            </a:lvl1pPr>
          </a:lstStyle>
          <a:p>
            <a:pPr/>
            <a:r>
              <a:t>42</a:t>
            </a:r>
          </a:p>
        </p:txBody>
      </p:sp>
      <p:sp>
        <p:nvSpPr>
          <p:cNvPr id="497" name="text"/>
          <p:cNvSpPr txBox="1"/>
          <p:nvPr/>
        </p:nvSpPr>
        <p:spPr>
          <a:xfrm>
            <a:off x="457200" y="1238250"/>
            <a:ext cx="8229600" cy="25922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defRPr b="1">
                <a:solidFill>
                  <a:srgbClr val="272525"/>
                </a:solidFill>
              </a:defRPr>
            </a:lvl1pPr>
          </a:lstStyle>
          <a:p>
            <a:pPr>
              <a:defRPr>
                <a:latin typeface="Inter"/>
                <a:ea typeface="Inter"/>
                <a:cs typeface="Inter"/>
                <a:sym typeface="Inter"/>
              </a:defRPr>
            </a:pPr>
            <a:r>
              <a:rPr>
                <a:latin typeface="Arial"/>
                <a:ea typeface="Arial"/>
                <a:cs typeface="Arial"/>
                <a:sym typeface="Arial"/>
              </a:rPr>
              <a:t>המימוש</a:t>
            </a:r>
          </a:p>
        </p:txBody>
      </p:sp>
      <p:sp>
        <p:nvSpPr>
          <p:cNvPr id="498" name="text"/>
          <p:cNvSpPr txBox="1"/>
          <p:nvPr/>
        </p:nvSpPr>
        <p:spPr>
          <a:xfrm>
            <a:off x="457200" y="1571625"/>
            <a:ext cx="8229600" cy="241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1600">
                <a:solidFill>
                  <a:srgbClr val="272525"/>
                </a:solidFill>
                <a:latin typeface="Inter"/>
                <a:ea typeface="Inter"/>
                <a:cs typeface="Inter"/>
                <a:sym typeface="Inter"/>
              </a:defRPr>
            </a:pPr>
            <a:r>
              <a:rPr>
                <a:latin typeface="Arial"/>
                <a:ea typeface="Arial"/>
                <a:cs typeface="Arial"/>
                <a:sym typeface="Arial"/>
              </a:rPr>
              <a:t>הסוכן הראשי מטפל בשינוי ובבדיקות ההתנהגות</a:t>
            </a:r>
            <a:r>
              <a:t>.</a:t>
            </a:r>
          </a:p>
        </p:txBody>
      </p:sp>
      <p:sp>
        <p:nvSpPr>
          <p:cNvPr id="499" name="text"/>
          <p:cNvSpPr txBox="1"/>
          <p:nvPr/>
        </p:nvSpPr>
        <p:spPr>
          <a:xfrm>
            <a:off x="457200" y="2219325"/>
            <a:ext cx="8229600" cy="25922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defRPr b="1">
                <a:solidFill>
                  <a:srgbClr val="272525"/>
                </a:solidFill>
              </a:defRPr>
            </a:lvl1pPr>
          </a:lstStyle>
          <a:p>
            <a:pPr>
              <a:defRPr>
                <a:latin typeface="Inter"/>
                <a:ea typeface="Inter"/>
                <a:cs typeface="Inter"/>
                <a:sym typeface="Inter"/>
              </a:defRPr>
            </a:pPr>
            <a:r>
              <a:rPr>
                <a:latin typeface="Arial"/>
                <a:ea typeface="Arial"/>
                <a:cs typeface="Arial"/>
                <a:sym typeface="Arial"/>
              </a:rPr>
              <a:t>הסקירה</a:t>
            </a:r>
          </a:p>
        </p:txBody>
      </p:sp>
      <p:sp>
        <p:nvSpPr>
          <p:cNvPr id="500" name="text"/>
          <p:cNvSpPr txBox="1"/>
          <p:nvPr/>
        </p:nvSpPr>
        <p:spPr>
          <a:xfrm>
            <a:off x="457200" y="2552700"/>
            <a:ext cx="8229600" cy="241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1600">
                <a:solidFill>
                  <a:srgbClr val="272525"/>
                </a:solidFill>
                <a:latin typeface="Inter"/>
                <a:ea typeface="Inter"/>
                <a:cs typeface="Inter"/>
                <a:sym typeface="Inter"/>
              </a:defRPr>
            </a:pPr>
            <a:r>
              <a:rPr>
                <a:latin typeface="Arial"/>
                <a:ea typeface="Arial"/>
                <a:cs typeface="Arial"/>
                <a:sym typeface="Arial"/>
              </a:rPr>
              <a:t>תת־סוכן קורא את האפיון ומחפש פערים</a:t>
            </a:r>
            <a:r>
              <a:t>, </a:t>
            </a:r>
            <a:r>
              <a:rPr>
                <a:latin typeface="Arial"/>
                <a:ea typeface="Arial"/>
                <a:cs typeface="Arial"/>
                <a:sym typeface="Arial"/>
              </a:rPr>
              <a:t>מקרי קצה והרשאות חסרות</a:t>
            </a:r>
            <a:r>
              <a:t>.</a:t>
            </a:r>
          </a:p>
        </p:txBody>
      </p:sp>
      <p:sp>
        <p:nvSpPr>
          <p:cNvPr id="501" name="text"/>
          <p:cNvSpPr txBox="1"/>
          <p:nvPr/>
        </p:nvSpPr>
        <p:spPr>
          <a:xfrm>
            <a:off x="457200" y="3200400"/>
            <a:ext cx="8229600" cy="25922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defRPr b="1">
                <a:solidFill>
                  <a:srgbClr val="272525"/>
                </a:solidFill>
              </a:defRPr>
            </a:lvl1pPr>
          </a:lstStyle>
          <a:p>
            <a:pPr>
              <a:defRPr>
                <a:latin typeface="Inter"/>
                <a:ea typeface="Inter"/>
                <a:cs typeface="Inter"/>
                <a:sym typeface="Inter"/>
              </a:defRPr>
            </a:pPr>
            <a:r>
              <a:rPr>
                <a:latin typeface="Arial"/>
                <a:ea typeface="Arial"/>
                <a:cs typeface="Arial"/>
                <a:sym typeface="Arial"/>
              </a:rPr>
              <a:t>השילוב</a:t>
            </a:r>
          </a:p>
        </p:txBody>
      </p:sp>
      <p:sp>
        <p:nvSpPr>
          <p:cNvPr id="502" name="text"/>
          <p:cNvSpPr txBox="1"/>
          <p:nvPr/>
        </p:nvSpPr>
        <p:spPr>
          <a:xfrm>
            <a:off x="457200" y="3533775"/>
            <a:ext cx="8229600" cy="241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1600">
                <a:solidFill>
                  <a:srgbClr val="272525"/>
                </a:solidFill>
                <a:latin typeface="Inter"/>
                <a:ea typeface="Inter"/>
                <a:cs typeface="Inter"/>
                <a:sym typeface="Inter"/>
              </a:defRPr>
            </a:pPr>
            <a:r>
              <a:rPr>
                <a:latin typeface="Arial"/>
                <a:ea typeface="Arial"/>
                <a:cs typeface="Arial"/>
                <a:sym typeface="Arial"/>
              </a:rPr>
              <a:t>הסוכן הראשי בודק את הממצאים ומאמת את התוצאה לאחר השילוב</a:t>
            </a:r>
            <a:r>
              <a:t>.</a:t>
            </a:r>
          </a:p>
        </p:txBody>
      </p:sp>
      <p:sp>
        <p:nvSpPr>
          <p:cNvPr id="503" name="Rectangle"/>
          <p:cNvSpPr/>
          <p:nvPr/>
        </p:nvSpPr>
        <p:spPr>
          <a:xfrm>
            <a:off x="457200" y="4248150"/>
            <a:ext cx="8229600" cy="466725"/>
          </a:xfrm>
          <a:prstGeom prst="rect">
            <a:avLst/>
          </a:prstGeom>
          <a:solidFill>
            <a:srgbClr val="F4D4F7"/>
          </a:solidFill>
          <a:ln w="12700">
            <a:miter lim="400000"/>
          </a:ln>
        </p:spPr>
        <p:txBody>
          <a:bodyPr lIns="0" tIns="0" rIns="0" bIns="0"/>
          <a:lstStyle/>
          <a:p>
            <a:pPr/>
          </a:p>
        </p:txBody>
      </p:sp>
      <p:sp>
        <p:nvSpPr>
          <p:cNvPr id="504" name="text"/>
          <p:cNvSpPr txBox="1"/>
          <p:nvPr/>
        </p:nvSpPr>
        <p:spPr>
          <a:xfrm>
            <a:off x="619125" y="4343400"/>
            <a:ext cx="7905750" cy="2286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b="1" sz="1500">
                <a:solidFill>
                  <a:srgbClr val="272525"/>
                </a:solidFill>
                <a:latin typeface="Inter"/>
                <a:ea typeface="Inter"/>
                <a:cs typeface="Inter"/>
                <a:sym typeface="Inter"/>
              </a:defRPr>
            </a:pPr>
            <a:r>
              <a:rPr>
                <a:latin typeface="Arial"/>
                <a:ea typeface="Arial"/>
                <a:cs typeface="Arial"/>
                <a:sym typeface="Arial"/>
              </a:rPr>
              <a:t>לכל תת־סוכן מגדירים משימה</a:t>
            </a:r>
            <a:r>
              <a:t>, </a:t>
            </a:r>
            <a:r>
              <a:rPr>
                <a:latin typeface="Arial"/>
                <a:ea typeface="Arial"/>
                <a:cs typeface="Arial"/>
                <a:sym typeface="Arial"/>
              </a:rPr>
              <a:t>גבולות ותוצר שאפשר לבדוק</a:t>
            </a:r>
            <a:r>
              <a:t>.</a:t>
            </a:r>
          </a:p>
        </p:txBody>
      </p:sp>
    </p:spTree>
  </p:cSld>
  <p:clrMapOvr>
    <a:masterClrMapping/>
  </p:clrMapOvr>
  <p:transition xmlns:p14="http://schemas.microsoft.com/office/powerpoint/2010/main" spd="med" advClick="1"/>
</p:sld>
</file>

<file path=ppt/slides/slide4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FFF"/>
        </a:solidFill>
      </p:bgPr>
    </p:bg>
    <p:spTree>
      <p:nvGrpSpPr>
        <p:cNvPr id="1" name=""/>
        <p:cNvGrpSpPr/>
        <p:nvPr/>
      </p:nvGrpSpPr>
      <p:grpSpPr>
        <a:xfrm>
          <a:off x="0" y="0"/>
          <a:ext cx="0" cy="0"/>
          <a:chOff x="0" y="0"/>
          <a:chExt cx="0" cy="0"/>
        </a:xfrm>
      </p:grpSpPr>
      <p:sp>
        <p:nvSpPr>
          <p:cNvPr id="508" name="text"/>
          <p:cNvSpPr txBox="1"/>
          <p:nvPr/>
        </p:nvSpPr>
        <p:spPr>
          <a:xfrm>
            <a:off x="457200" y="323850"/>
            <a:ext cx="8229600" cy="39476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defRPr b="1" sz="2800">
                <a:solidFill>
                  <a:srgbClr val="D75BE2"/>
                </a:solidFill>
              </a:defRPr>
            </a:lvl1pPr>
          </a:lstStyle>
          <a:p>
            <a:pPr>
              <a:defRPr>
                <a:latin typeface="Inter"/>
                <a:ea typeface="Inter"/>
                <a:cs typeface="Inter"/>
                <a:sym typeface="Inter"/>
              </a:defRPr>
            </a:pPr>
            <a:r>
              <a:rPr>
                <a:latin typeface="Arial"/>
                <a:ea typeface="Arial"/>
                <a:cs typeface="Arial"/>
                <a:sym typeface="Arial"/>
              </a:rPr>
              <a:t>פרומפט להפעלת תת־סוכן לסקירה</a:t>
            </a:r>
          </a:p>
        </p:txBody>
      </p:sp>
      <p:sp>
        <p:nvSpPr>
          <p:cNvPr id="509" name="text"/>
          <p:cNvSpPr txBox="1"/>
          <p:nvPr/>
        </p:nvSpPr>
        <p:spPr>
          <a:xfrm>
            <a:off x="5905500" y="4876800"/>
            <a:ext cx="2781300" cy="127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800">
                <a:solidFill>
                  <a:srgbClr val="705B73"/>
                </a:solidFill>
                <a:latin typeface="Inter"/>
                <a:ea typeface="Inter"/>
                <a:cs typeface="Inter"/>
                <a:sym typeface="Inter"/>
              </a:defRPr>
            </a:pPr>
            <a:r>
              <a:rPr>
                <a:latin typeface="Arial"/>
                <a:ea typeface="Arial"/>
                <a:cs typeface="Arial"/>
                <a:sym typeface="Arial"/>
              </a:rPr>
              <a:t>שיעור</a:t>
            </a:r>
            <a:r>
              <a:t>: </a:t>
            </a:r>
            <a:r>
              <a:rPr>
                <a:latin typeface="Arial"/>
                <a:ea typeface="Arial"/>
                <a:cs typeface="Arial"/>
                <a:sym typeface="Arial"/>
              </a:rPr>
              <a:t>פיתוח עם סוכני־קוד</a:t>
            </a:r>
          </a:p>
        </p:txBody>
      </p:sp>
      <p:sp>
        <p:nvSpPr>
          <p:cNvPr id="510" name="code"/>
          <p:cNvSpPr txBox="1"/>
          <p:nvPr/>
        </p:nvSpPr>
        <p:spPr>
          <a:xfrm>
            <a:off x="457200" y="4876800"/>
            <a:ext cx="333375" cy="127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defRPr sz="800">
                <a:solidFill>
                  <a:srgbClr val="705B73"/>
                </a:solidFill>
                <a:latin typeface="Inter"/>
                <a:ea typeface="Inter"/>
                <a:cs typeface="Inter"/>
                <a:sym typeface="Inter"/>
              </a:defRPr>
            </a:lvl1pPr>
          </a:lstStyle>
          <a:p>
            <a:pPr/>
            <a:r>
              <a:t>43</a:t>
            </a:r>
          </a:p>
        </p:txBody>
      </p:sp>
      <p:sp>
        <p:nvSpPr>
          <p:cNvPr id="511" name="text"/>
          <p:cNvSpPr txBox="1"/>
          <p:nvPr/>
        </p:nvSpPr>
        <p:spPr>
          <a:xfrm>
            <a:off x="523875" y="1133475"/>
            <a:ext cx="8096250" cy="272077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1600">
                <a:solidFill>
                  <a:srgbClr val="272525"/>
                </a:solidFill>
                <a:latin typeface="Inter"/>
                <a:ea typeface="Inter"/>
                <a:cs typeface="Inter"/>
                <a:sym typeface="Inter"/>
              </a:defRPr>
            </a:pPr>
            <a:r>
              <a:rPr>
                <a:latin typeface="Arial"/>
                <a:ea typeface="Arial"/>
                <a:cs typeface="Arial"/>
                <a:sym typeface="Arial"/>
              </a:rPr>
              <a:t>הפעל תת־סוכן לסקירת השינוי הנוכחי מול האפיון</a:t>
            </a:r>
            <a:r>
              <a:t>.</a:t>
            </a:r>
          </a:p>
          <a:p>
            <a:pPr algn="r" rtl="1">
              <a:defRPr sz="1600">
                <a:solidFill>
                  <a:srgbClr val="272525"/>
                </a:solidFill>
                <a:latin typeface="Inter"/>
                <a:ea typeface="Inter"/>
                <a:cs typeface="Inter"/>
                <a:sym typeface="Inter"/>
              </a:defRPr>
            </a:pPr>
            <a:r>
              <a:rPr>
                <a:latin typeface="Arial"/>
                <a:ea typeface="Arial"/>
                <a:cs typeface="Arial"/>
                <a:sym typeface="Arial"/>
              </a:rPr>
              <a:t>מסור לו את ההנחיות הבאות ואת נתיבי הקבצים שהשתנו</a:t>
            </a:r>
            <a:r>
              <a:t>:</a:t>
            </a:r>
          </a:p>
          <a:p>
            <a:pPr algn="r" rtl="1">
              <a:defRPr sz="1600">
                <a:solidFill>
                  <a:srgbClr val="272525"/>
                </a:solidFill>
                <a:latin typeface="Inter"/>
                <a:ea typeface="Inter"/>
                <a:cs typeface="Inter"/>
                <a:sym typeface="Inter"/>
              </a:defRPr>
            </a:pPr>
            <a:r>
              <a:rPr>
                <a:latin typeface="Arial"/>
                <a:ea typeface="Arial"/>
                <a:cs typeface="Arial"/>
                <a:sym typeface="Arial"/>
              </a:rPr>
              <a:t>תפקידך לבדוק התאמה לדרישות</a:t>
            </a:r>
            <a:r>
              <a:t>, </a:t>
            </a:r>
            <a:r>
              <a:rPr>
                <a:latin typeface="Arial"/>
                <a:ea typeface="Arial"/>
                <a:cs typeface="Arial"/>
                <a:sym typeface="Arial"/>
              </a:rPr>
              <a:t>בלי לערוך קבצים</a:t>
            </a:r>
            <a:r>
              <a:t>.</a:t>
            </a:r>
          </a:p>
          <a:p>
            <a:pPr algn="r" rtl="1">
              <a:defRPr sz="1600">
                <a:solidFill>
                  <a:srgbClr val="272525"/>
                </a:solidFill>
                <a:latin typeface="Inter"/>
                <a:ea typeface="Inter"/>
                <a:cs typeface="Inter"/>
                <a:sym typeface="Inter"/>
              </a:defRPr>
            </a:pPr>
            <a:r>
              <a:rPr>
                <a:latin typeface="Arial"/>
                <a:ea typeface="Arial"/>
                <a:cs typeface="Arial"/>
                <a:sym typeface="Arial"/>
              </a:rPr>
              <a:t>קרא את </a:t>
            </a:r>
            <a:r>
              <a:t>docs/spec.md </a:t>
            </a:r>
            <a:r>
              <a:rPr>
                <a:latin typeface="Arial"/>
                <a:ea typeface="Arial"/>
                <a:cs typeface="Arial"/>
                <a:sym typeface="Arial"/>
              </a:rPr>
              <a:t>ואת החלטות הפרויקט הרלוונטיות</a:t>
            </a:r>
            <a:r>
              <a:t>.</a:t>
            </a:r>
          </a:p>
          <a:p>
            <a:pPr algn="r" rtl="1">
              <a:defRPr sz="1600">
                <a:solidFill>
                  <a:srgbClr val="272525"/>
                </a:solidFill>
                <a:latin typeface="Inter"/>
                <a:ea typeface="Inter"/>
                <a:cs typeface="Inter"/>
                <a:sym typeface="Inter"/>
              </a:defRPr>
            </a:pPr>
            <a:r>
              <a:rPr>
                <a:latin typeface="Arial"/>
                <a:ea typeface="Arial"/>
                <a:cs typeface="Arial"/>
                <a:sym typeface="Arial"/>
              </a:rPr>
              <a:t>בדוק את הקוד ואת הבדיקות עבור </a:t>
            </a:r>
            <a:r>
              <a:t>[</a:t>
            </a:r>
            <a:r>
              <a:rPr>
                <a:latin typeface="Arial"/>
                <a:ea typeface="Arial"/>
                <a:cs typeface="Arial"/>
                <a:sym typeface="Arial"/>
              </a:rPr>
              <a:t>המשימה ותנאי הקבלה</a:t>
            </a:r>
            <a:r>
              <a:t>].</a:t>
            </a:r>
          </a:p>
          <a:p>
            <a:pPr algn="r" rtl="1">
              <a:defRPr sz="1600">
                <a:solidFill>
                  <a:srgbClr val="272525"/>
                </a:solidFill>
                <a:latin typeface="Inter"/>
                <a:ea typeface="Inter"/>
                <a:cs typeface="Inter"/>
                <a:sym typeface="Inter"/>
              </a:defRPr>
            </a:pPr>
            <a:r>
              <a:rPr>
                <a:latin typeface="Arial"/>
                <a:ea typeface="Arial"/>
                <a:cs typeface="Arial"/>
                <a:sym typeface="Arial"/>
              </a:rPr>
              <a:t>חפש התנהגות חסרה</a:t>
            </a:r>
            <a:r>
              <a:t>, </a:t>
            </a:r>
            <a:r>
              <a:rPr>
                <a:latin typeface="Arial"/>
                <a:ea typeface="Arial"/>
                <a:cs typeface="Arial"/>
                <a:sym typeface="Arial"/>
              </a:rPr>
              <a:t>מקרי קצה ופערים בבדיקות או בהרשאות</a:t>
            </a:r>
            <a:r>
              <a:t>.</a:t>
            </a:r>
          </a:p>
          <a:p>
            <a:pPr algn="r" rtl="1">
              <a:defRPr sz="1600">
                <a:solidFill>
                  <a:srgbClr val="272525"/>
                </a:solidFill>
                <a:latin typeface="Inter"/>
                <a:ea typeface="Inter"/>
                <a:cs typeface="Inter"/>
                <a:sym typeface="Inter"/>
              </a:defRPr>
            </a:pPr>
            <a:r>
              <a:rPr>
                <a:latin typeface="Arial"/>
                <a:ea typeface="Arial"/>
                <a:cs typeface="Arial"/>
                <a:sym typeface="Arial"/>
              </a:rPr>
              <a:t>לכל ממצא</a:t>
            </a:r>
            <a:r>
              <a:t>, </a:t>
            </a:r>
            <a:r>
              <a:rPr>
                <a:latin typeface="Arial"/>
                <a:ea typeface="Arial"/>
                <a:cs typeface="Arial"/>
                <a:sym typeface="Arial"/>
              </a:rPr>
              <a:t>ציין קובץ</a:t>
            </a:r>
            <a:r>
              <a:t>, </a:t>
            </a:r>
            <a:r>
              <a:rPr>
                <a:latin typeface="Arial"/>
                <a:ea typeface="Arial"/>
                <a:cs typeface="Arial"/>
                <a:sym typeface="Arial"/>
              </a:rPr>
              <a:t>מיקום</a:t>
            </a:r>
            <a:r>
              <a:t>, </a:t>
            </a:r>
            <a:r>
              <a:rPr>
                <a:latin typeface="Arial"/>
                <a:ea typeface="Arial"/>
                <a:cs typeface="Arial"/>
                <a:sym typeface="Arial"/>
              </a:rPr>
              <a:t>דרישה והסבר להשפעה</a:t>
            </a:r>
            <a:r>
              <a:t>.</a:t>
            </a:r>
          </a:p>
          <a:p>
            <a:pPr algn="r" rtl="1">
              <a:defRPr sz="1600">
                <a:solidFill>
                  <a:srgbClr val="272525"/>
                </a:solidFill>
                <a:latin typeface="Inter"/>
                <a:ea typeface="Inter"/>
                <a:cs typeface="Inter"/>
                <a:sym typeface="Inter"/>
              </a:defRPr>
            </a:pPr>
            <a:r>
              <a:rPr>
                <a:latin typeface="Arial"/>
                <a:ea typeface="Arial"/>
                <a:cs typeface="Arial"/>
                <a:sym typeface="Arial"/>
              </a:rPr>
              <a:t>הבחן בין תקלה מוכחת</a:t>
            </a:r>
            <a:r>
              <a:t>, </a:t>
            </a:r>
            <a:r>
              <a:rPr>
                <a:latin typeface="Arial"/>
                <a:ea typeface="Arial"/>
                <a:cs typeface="Arial"/>
                <a:sym typeface="Arial"/>
              </a:rPr>
              <a:t>חשד ושאלה שמצריכה החלטה</a:t>
            </a:r>
            <a:r>
              <a:t>.</a:t>
            </a:r>
          </a:p>
          <a:p>
            <a:pPr algn="r" rtl="1">
              <a:defRPr sz="1600">
                <a:solidFill>
                  <a:srgbClr val="272525"/>
                </a:solidFill>
                <a:latin typeface="Inter"/>
                <a:ea typeface="Inter"/>
                <a:cs typeface="Inter"/>
                <a:sym typeface="Inter"/>
              </a:defRPr>
            </a:pPr>
            <a:r>
              <a:rPr>
                <a:latin typeface="Arial"/>
                <a:ea typeface="Arial"/>
                <a:cs typeface="Arial"/>
                <a:sym typeface="Arial"/>
              </a:rPr>
              <a:t>החזר ממצאים לפי חשיבות וציין גם מה לא יכולת לבדוק</a:t>
            </a:r>
            <a:r>
              <a:t>.</a:t>
            </a:r>
          </a:p>
          <a:p>
            <a:pPr algn="r" rtl="1">
              <a:defRPr sz="1600">
                <a:solidFill>
                  <a:srgbClr val="272525"/>
                </a:solidFill>
                <a:latin typeface="Inter"/>
                <a:ea typeface="Inter"/>
                <a:cs typeface="Inter"/>
                <a:sym typeface="Inter"/>
              </a:defRPr>
            </a:pPr>
            <a:r>
              <a:rPr>
                <a:latin typeface="Arial"/>
                <a:ea typeface="Arial"/>
                <a:cs typeface="Arial"/>
                <a:sym typeface="Arial"/>
              </a:rPr>
              <a:t>לאחר קבלת הסקירה</a:t>
            </a:r>
            <a:r>
              <a:t>, </a:t>
            </a:r>
            <a:r>
              <a:rPr>
                <a:latin typeface="Arial"/>
                <a:ea typeface="Arial"/>
                <a:cs typeface="Arial"/>
                <a:sym typeface="Arial"/>
              </a:rPr>
              <a:t>בדוק את הממצאים כסוכן הראשי</a:t>
            </a:r>
            <a:r>
              <a:t>.</a:t>
            </a:r>
          </a:p>
          <a:p>
            <a:pPr algn="r" rtl="1">
              <a:defRPr sz="1600">
                <a:solidFill>
                  <a:srgbClr val="272525"/>
                </a:solidFill>
                <a:latin typeface="Inter"/>
                <a:ea typeface="Inter"/>
                <a:cs typeface="Inter"/>
                <a:sym typeface="Inter"/>
              </a:defRPr>
            </a:pPr>
            <a:r>
              <a:rPr>
                <a:latin typeface="Arial"/>
                <a:ea typeface="Arial"/>
                <a:cs typeface="Arial"/>
                <a:sym typeface="Arial"/>
              </a:rPr>
              <a:t>תקן פערים מאומתים</a:t>
            </a:r>
            <a:r>
              <a:t>, </a:t>
            </a:r>
            <a:r>
              <a:rPr>
                <a:latin typeface="Arial"/>
                <a:ea typeface="Arial"/>
                <a:cs typeface="Arial"/>
                <a:sym typeface="Arial"/>
              </a:rPr>
              <a:t>הרץ בדיקות ודווח על התוצאה המשולבת</a:t>
            </a:r>
            <a:r>
              <a:t>.</a:t>
            </a:r>
          </a:p>
        </p:txBody>
      </p:sp>
    </p:spTree>
  </p:cSld>
  <p:clrMapOvr>
    <a:masterClrMapping/>
  </p:clrMapOvr>
  <p:transition xmlns:p14="http://schemas.microsoft.com/office/powerpoint/2010/main" spd="med" advClick="1"/>
</p:sld>
</file>

<file path=ppt/slides/slide4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FFF"/>
        </a:solidFill>
      </p:bgPr>
    </p:bg>
    <p:spTree>
      <p:nvGrpSpPr>
        <p:cNvPr id="1" name=""/>
        <p:cNvGrpSpPr/>
        <p:nvPr/>
      </p:nvGrpSpPr>
      <p:grpSpPr>
        <a:xfrm>
          <a:off x="0" y="0"/>
          <a:ext cx="0" cy="0"/>
          <a:chOff x="0" y="0"/>
          <a:chExt cx="0" cy="0"/>
        </a:xfrm>
      </p:grpSpPr>
      <p:sp>
        <p:nvSpPr>
          <p:cNvPr id="515" name="text"/>
          <p:cNvSpPr txBox="1"/>
          <p:nvPr/>
        </p:nvSpPr>
        <p:spPr>
          <a:xfrm>
            <a:off x="457200" y="323850"/>
            <a:ext cx="8229600" cy="39476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defRPr b="1" sz="2800">
                <a:solidFill>
                  <a:srgbClr val="D75BE2"/>
                </a:solidFill>
              </a:defRPr>
            </a:lvl1pPr>
          </a:lstStyle>
          <a:p>
            <a:pPr>
              <a:defRPr>
                <a:latin typeface="Inter"/>
                <a:ea typeface="Inter"/>
                <a:cs typeface="Inter"/>
                <a:sym typeface="Inter"/>
              </a:defRPr>
            </a:pPr>
            <a:r>
              <a:rPr>
                <a:latin typeface="Arial"/>
                <a:ea typeface="Arial"/>
                <a:cs typeface="Arial"/>
                <a:sym typeface="Arial"/>
              </a:rPr>
              <a:t>הרשאות ובקרה בעבודה עם סוכן</a:t>
            </a:r>
          </a:p>
        </p:txBody>
      </p:sp>
      <p:sp>
        <p:nvSpPr>
          <p:cNvPr id="516" name="text"/>
          <p:cNvSpPr txBox="1"/>
          <p:nvPr/>
        </p:nvSpPr>
        <p:spPr>
          <a:xfrm>
            <a:off x="5905500" y="4876800"/>
            <a:ext cx="2781300" cy="127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800">
                <a:solidFill>
                  <a:srgbClr val="705B73"/>
                </a:solidFill>
                <a:latin typeface="Inter"/>
                <a:ea typeface="Inter"/>
                <a:cs typeface="Inter"/>
                <a:sym typeface="Inter"/>
              </a:defRPr>
            </a:pPr>
            <a:r>
              <a:rPr>
                <a:latin typeface="Arial"/>
                <a:ea typeface="Arial"/>
                <a:cs typeface="Arial"/>
                <a:sym typeface="Arial"/>
              </a:rPr>
              <a:t>שיעור</a:t>
            </a:r>
            <a:r>
              <a:t>: </a:t>
            </a:r>
            <a:r>
              <a:rPr>
                <a:latin typeface="Arial"/>
                <a:ea typeface="Arial"/>
                <a:cs typeface="Arial"/>
                <a:sym typeface="Arial"/>
              </a:rPr>
              <a:t>פיתוח עם סוכני־קוד</a:t>
            </a:r>
          </a:p>
        </p:txBody>
      </p:sp>
      <p:sp>
        <p:nvSpPr>
          <p:cNvPr id="517" name="code"/>
          <p:cNvSpPr txBox="1"/>
          <p:nvPr/>
        </p:nvSpPr>
        <p:spPr>
          <a:xfrm>
            <a:off x="457200" y="4876800"/>
            <a:ext cx="333375" cy="127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defRPr sz="800">
                <a:solidFill>
                  <a:srgbClr val="705B73"/>
                </a:solidFill>
                <a:latin typeface="Inter"/>
                <a:ea typeface="Inter"/>
                <a:cs typeface="Inter"/>
                <a:sym typeface="Inter"/>
              </a:defRPr>
            </a:lvl1pPr>
          </a:lstStyle>
          <a:p>
            <a:pPr/>
            <a:r>
              <a:t>44</a:t>
            </a:r>
          </a:p>
        </p:txBody>
      </p:sp>
      <p:sp>
        <p:nvSpPr>
          <p:cNvPr id="518" name="text"/>
          <p:cNvSpPr txBox="1"/>
          <p:nvPr/>
        </p:nvSpPr>
        <p:spPr>
          <a:xfrm>
            <a:off x="457200" y="1238250"/>
            <a:ext cx="8229600" cy="25922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defRPr b="1">
                <a:solidFill>
                  <a:srgbClr val="272525"/>
                </a:solidFill>
              </a:defRPr>
            </a:lvl1pPr>
          </a:lstStyle>
          <a:p>
            <a:pPr>
              <a:defRPr>
                <a:latin typeface="Inter"/>
                <a:ea typeface="Inter"/>
                <a:cs typeface="Inter"/>
                <a:sym typeface="Inter"/>
              </a:defRPr>
            </a:pPr>
            <a:r>
              <a:rPr>
                <a:latin typeface="Arial"/>
                <a:ea typeface="Arial"/>
                <a:cs typeface="Arial"/>
                <a:sym typeface="Arial"/>
              </a:rPr>
              <a:t>גישה לפי המשימה</a:t>
            </a:r>
          </a:p>
        </p:txBody>
      </p:sp>
      <p:sp>
        <p:nvSpPr>
          <p:cNvPr id="519" name="text"/>
          <p:cNvSpPr txBox="1"/>
          <p:nvPr/>
        </p:nvSpPr>
        <p:spPr>
          <a:xfrm>
            <a:off x="457200" y="1571625"/>
            <a:ext cx="8229600" cy="241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1600">
                <a:solidFill>
                  <a:srgbClr val="272525"/>
                </a:solidFill>
                <a:latin typeface="Inter"/>
                <a:ea typeface="Inter"/>
                <a:cs typeface="Inter"/>
                <a:sym typeface="Inter"/>
              </a:defRPr>
            </a:pPr>
            <a:r>
              <a:rPr>
                <a:latin typeface="Arial"/>
                <a:ea typeface="Arial"/>
                <a:cs typeface="Arial"/>
                <a:sym typeface="Arial"/>
              </a:rPr>
              <a:t>מגדירים אילו תיקיות</a:t>
            </a:r>
            <a:r>
              <a:t>, </a:t>
            </a:r>
            <a:r>
              <a:rPr>
                <a:latin typeface="Arial"/>
                <a:ea typeface="Arial"/>
                <a:cs typeface="Arial"/>
                <a:sym typeface="Arial"/>
              </a:rPr>
              <a:t>שירותים ופעולות דרושים לסוכן</a:t>
            </a:r>
            <a:r>
              <a:t>.</a:t>
            </a:r>
          </a:p>
        </p:txBody>
      </p:sp>
      <p:sp>
        <p:nvSpPr>
          <p:cNvPr id="520" name="text"/>
          <p:cNvSpPr txBox="1"/>
          <p:nvPr/>
        </p:nvSpPr>
        <p:spPr>
          <a:xfrm>
            <a:off x="457200" y="2219325"/>
            <a:ext cx="8229600" cy="25922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defRPr b="1">
                <a:solidFill>
                  <a:srgbClr val="272525"/>
                </a:solidFill>
              </a:defRPr>
            </a:lvl1pPr>
          </a:lstStyle>
          <a:p>
            <a:pPr>
              <a:defRPr>
                <a:latin typeface="Inter"/>
                <a:ea typeface="Inter"/>
                <a:cs typeface="Inter"/>
                <a:sym typeface="Inter"/>
              </a:defRPr>
            </a:pPr>
            <a:r>
              <a:rPr>
                <a:latin typeface="Arial"/>
                <a:ea typeface="Arial"/>
                <a:cs typeface="Arial"/>
                <a:sym typeface="Arial"/>
              </a:rPr>
              <a:t>בדיקת השינויים</a:t>
            </a:r>
          </a:p>
        </p:txBody>
      </p:sp>
      <p:sp>
        <p:nvSpPr>
          <p:cNvPr id="521" name="text"/>
          <p:cNvSpPr txBox="1"/>
          <p:nvPr/>
        </p:nvSpPr>
        <p:spPr>
          <a:xfrm>
            <a:off x="457200" y="2552700"/>
            <a:ext cx="8229600" cy="241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1600">
                <a:solidFill>
                  <a:srgbClr val="272525"/>
                </a:solidFill>
                <a:latin typeface="Inter"/>
                <a:ea typeface="Inter"/>
                <a:cs typeface="Inter"/>
                <a:sym typeface="Inter"/>
              </a:defRPr>
            </a:pPr>
            <a:r>
              <a:rPr>
                <a:latin typeface="Arial"/>
                <a:ea typeface="Arial"/>
                <a:cs typeface="Arial"/>
                <a:sym typeface="Arial"/>
              </a:rPr>
              <a:t>קוראים את ההבדלים ובודקים שהסוכן טיפל במשימה שהוגדרה</a:t>
            </a:r>
            <a:r>
              <a:t>.</a:t>
            </a:r>
          </a:p>
        </p:txBody>
      </p:sp>
      <p:sp>
        <p:nvSpPr>
          <p:cNvPr id="522" name="text"/>
          <p:cNvSpPr txBox="1"/>
          <p:nvPr/>
        </p:nvSpPr>
        <p:spPr>
          <a:xfrm>
            <a:off x="457200" y="3200400"/>
            <a:ext cx="8229600" cy="25922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defRPr b="1">
                <a:solidFill>
                  <a:srgbClr val="272525"/>
                </a:solidFill>
              </a:defRPr>
            </a:lvl1pPr>
          </a:lstStyle>
          <a:p>
            <a:pPr>
              <a:defRPr>
                <a:latin typeface="Inter"/>
                <a:ea typeface="Inter"/>
                <a:cs typeface="Inter"/>
                <a:sym typeface="Inter"/>
              </a:defRPr>
            </a:pPr>
            <a:r>
              <a:rPr>
                <a:latin typeface="Arial"/>
                <a:ea typeface="Arial"/>
                <a:cs typeface="Arial"/>
                <a:sym typeface="Arial"/>
              </a:rPr>
              <a:t>נתונים וסודות</a:t>
            </a:r>
          </a:p>
        </p:txBody>
      </p:sp>
      <p:sp>
        <p:nvSpPr>
          <p:cNvPr id="523" name="text"/>
          <p:cNvSpPr txBox="1"/>
          <p:nvPr/>
        </p:nvSpPr>
        <p:spPr>
          <a:xfrm>
            <a:off x="457200" y="3533775"/>
            <a:ext cx="8229600" cy="241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1600">
                <a:solidFill>
                  <a:srgbClr val="272525"/>
                </a:solidFill>
                <a:latin typeface="Inter"/>
                <a:ea typeface="Inter"/>
                <a:cs typeface="Inter"/>
                <a:sym typeface="Inter"/>
              </a:defRPr>
            </a:pPr>
            <a:r>
              <a:rPr>
                <a:latin typeface="Arial"/>
                <a:ea typeface="Arial"/>
                <a:cs typeface="Arial"/>
                <a:sym typeface="Arial"/>
              </a:rPr>
              <a:t>משתמשים בנתוני דוגמה ושומרים מפתחות מחוץ לקוד ולתיעוד משותף</a:t>
            </a:r>
            <a:r>
              <a:t>.</a:t>
            </a:r>
          </a:p>
        </p:txBody>
      </p:sp>
    </p:spTree>
  </p:cSld>
  <p:clrMapOvr>
    <a:masterClrMapping/>
  </p:clrMapOvr>
  <p:transition xmlns:p14="http://schemas.microsoft.com/office/powerpoint/2010/main" spd="med" advClick="1"/>
</p:sld>
</file>

<file path=ppt/slides/slide4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FFF"/>
        </a:solidFill>
      </p:bgPr>
    </p:bg>
    <p:spTree>
      <p:nvGrpSpPr>
        <p:cNvPr id="1" name=""/>
        <p:cNvGrpSpPr/>
        <p:nvPr/>
      </p:nvGrpSpPr>
      <p:grpSpPr>
        <a:xfrm>
          <a:off x="0" y="0"/>
          <a:ext cx="0" cy="0"/>
          <a:chOff x="0" y="0"/>
          <a:chExt cx="0" cy="0"/>
        </a:xfrm>
      </p:grpSpPr>
      <p:sp>
        <p:nvSpPr>
          <p:cNvPr id="527" name="text"/>
          <p:cNvSpPr txBox="1"/>
          <p:nvPr/>
        </p:nvSpPr>
        <p:spPr>
          <a:xfrm>
            <a:off x="457200" y="323850"/>
            <a:ext cx="8229600" cy="39476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defRPr b="1" sz="2800">
                <a:solidFill>
                  <a:srgbClr val="D75BE2"/>
                </a:solidFill>
              </a:defRPr>
            </a:lvl1pPr>
          </a:lstStyle>
          <a:p>
            <a:pPr>
              <a:defRPr>
                <a:latin typeface="Inter"/>
                <a:ea typeface="Inter"/>
                <a:cs typeface="Inter"/>
                <a:sym typeface="Inter"/>
              </a:defRPr>
            </a:pPr>
            <a:r>
              <a:rPr>
                <a:latin typeface="Arial"/>
                <a:ea typeface="Arial"/>
                <a:cs typeface="Arial"/>
                <a:sym typeface="Arial"/>
              </a:rPr>
              <a:t>נקודת חזרה לפני שינוי</a:t>
            </a:r>
          </a:p>
        </p:txBody>
      </p:sp>
      <p:sp>
        <p:nvSpPr>
          <p:cNvPr id="528" name="text"/>
          <p:cNvSpPr txBox="1"/>
          <p:nvPr/>
        </p:nvSpPr>
        <p:spPr>
          <a:xfrm>
            <a:off x="5905500" y="4876800"/>
            <a:ext cx="2781300" cy="127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800">
                <a:solidFill>
                  <a:srgbClr val="705B73"/>
                </a:solidFill>
                <a:latin typeface="Inter"/>
                <a:ea typeface="Inter"/>
                <a:cs typeface="Inter"/>
                <a:sym typeface="Inter"/>
              </a:defRPr>
            </a:pPr>
            <a:r>
              <a:rPr>
                <a:latin typeface="Arial"/>
                <a:ea typeface="Arial"/>
                <a:cs typeface="Arial"/>
                <a:sym typeface="Arial"/>
              </a:rPr>
              <a:t>שיעור</a:t>
            </a:r>
            <a:r>
              <a:t>: </a:t>
            </a:r>
            <a:r>
              <a:rPr>
                <a:latin typeface="Arial"/>
                <a:ea typeface="Arial"/>
                <a:cs typeface="Arial"/>
                <a:sym typeface="Arial"/>
              </a:rPr>
              <a:t>פיתוח עם סוכני־קוד</a:t>
            </a:r>
          </a:p>
        </p:txBody>
      </p:sp>
      <p:sp>
        <p:nvSpPr>
          <p:cNvPr id="529" name="code"/>
          <p:cNvSpPr txBox="1"/>
          <p:nvPr/>
        </p:nvSpPr>
        <p:spPr>
          <a:xfrm>
            <a:off x="457200" y="4876800"/>
            <a:ext cx="333375" cy="127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defRPr sz="800">
                <a:solidFill>
                  <a:srgbClr val="705B73"/>
                </a:solidFill>
                <a:latin typeface="Inter"/>
                <a:ea typeface="Inter"/>
                <a:cs typeface="Inter"/>
                <a:sym typeface="Inter"/>
              </a:defRPr>
            </a:lvl1pPr>
          </a:lstStyle>
          <a:p>
            <a:pPr/>
            <a:r>
              <a:t>45</a:t>
            </a:r>
          </a:p>
        </p:txBody>
      </p:sp>
      <p:pic>
        <p:nvPicPr>
          <p:cNvPr id="530" name="image12.png" descr="image12.png"/>
          <p:cNvPicPr>
            <a:picLocks noChangeAspect="1"/>
          </p:cNvPicPr>
          <p:nvPr/>
        </p:nvPicPr>
        <p:blipFill>
          <a:blip r:embed="rId3">
            <a:extLst/>
          </a:blip>
          <a:stretch>
            <a:fillRect/>
          </a:stretch>
        </p:blipFill>
        <p:spPr>
          <a:xfrm>
            <a:off x="783991" y="1314450"/>
            <a:ext cx="1918168" cy="2876550"/>
          </a:xfrm>
          <a:prstGeom prst="rect">
            <a:avLst/>
          </a:prstGeom>
          <a:ln w="12700">
            <a:miter lim="400000"/>
          </a:ln>
        </p:spPr>
      </p:pic>
      <p:sp>
        <p:nvSpPr>
          <p:cNvPr id="531" name="text"/>
          <p:cNvSpPr txBox="1"/>
          <p:nvPr/>
        </p:nvSpPr>
        <p:spPr>
          <a:xfrm>
            <a:off x="3619500" y="1276350"/>
            <a:ext cx="5048250" cy="25922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defRPr b="1">
                <a:solidFill>
                  <a:srgbClr val="272525"/>
                </a:solidFill>
              </a:defRPr>
            </a:lvl1pPr>
          </a:lstStyle>
          <a:p>
            <a:pPr>
              <a:defRPr>
                <a:latin typeface="Inter"/>
                <a:ea typeface="Inter"/>
                <a:cs typeface="Inter"/>
                <a:sym typeface="Inter"/>
              </a:defRPr>
            </a:pPr>
            <a:r>
              <a:rPr>
                <a:latin typeface="Arial"/>
                <a:ea typeface="Arial"/>
                <a:cs typeface="Arial"/>
                <a:sym typeface="Arial"/>
              </a:rPr>
              <a:t>לפני המשימה</a:t>
            </a:r>
          </a:p>
        </p:txBody>
      </p:sp>
      <p:sp>
        <p:nvSpPr>
          <p:cNvPr id="532" name="text"/>
          <p:cNvSpPr txBox="1"/>
          <p:nvPr/>
        </p:nvSpPr>
        <p:spPr>
          <a:xfrm>
            <a:off x="3619500" y="1609725"/>
            <a:ext cx="5048250" cy="241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1600">
                <a:solidFill>
                  <a:srgbClr val="272525"/>
                </a:solidFill>
                <a:latin typeface="Inter"/>
                <a:ea typeface="Inter"/>
                <a:cs typeface="Inter"/>
                <a:sym typeface="Inter"/>
              </a:defRPr>
            </a:pPr>
            <a:r>
              <a:rPr>
                <a:latin typeface="Arial"/>
                <a:ea typeface="Arial"/>
                <a:cs typeface="Arial"/>
                <a:sym typeface="Arial"/>
              </a:rPr>
              <a:t>בודקים את מצב הקבצים ושומרים גרסה עובדת ב־</a:t>
            </a:r>
            <a:r>
              <a:t>Git.</a:t>
            </a:r>
          </a:p>
        </p:txBody>
      </p:sp>
      <p:sp>
        <p:nvSpPr>
          <p:cNvPr id="533" name="text"/>
          <p:cNvSpPr txBox="1"/>
          <p:nvPr/>
        </p:nvSpPr>
        <p:spPr>
          <a:xfrm>
            <a:off x="3619500" y="2343150"/>
            <a:ext cx="5048250" cy="25922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defRPr b="1">
                <a:solidFill>
                  <a:srgbClr val="272525"/>
                </a:solidFill>
              </a:defRPr>
            </a:lvl1pPr>
          </a:lstStyle>
          <a:p>
            <a:pPr>
              <a:defRPr>
                <a:latin typeface="Inter"/>
                <a:ea typeface="Inter"/>
                <a:cs typeface="Inter"/>
                <a:sym typeface="Inter"/>
              </a:defRPr>
            </a:pPr>
            <a:r>
              <a:rPr>
                <a:latin typeface="Arial"/>
                <a:ea typeface="Arial"/>
                <a:cs typeface="Arial"/>
                <a:sym typeface="Arial"/>
              </a:rPr>
              <a:t>אחרי השינוי</a:t>
            </a:r>
          </a:p>
        </p:txBody>
      </p:sp>
      <p:sp>
        <p:nvSpPr>
          <p:cNvPr id="534" name="text"/>
          <p:cNvSpPr txBox="1"/>
          <p:nvPr/>
        </p:nvSpPr>
        <p:spPr>
          <a:xfrm>
            <a:off x="3619500" y="2676525"/>
            <a:ext cx="5048250" cy="48924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1600">
                <a:solidFill>
                  <a:srgbClr val="272525"/>
                </a:solidFill>
                <a:latin typeface="Inter"/>
                <a:ea typeface="Inter"/>
                <a:cs typeface="Inter"/>
                <a:sym typeface="Inter"/>
              </a:defRPr>
            </a:pPr>
            <a:r>
              <a:rPr>
                <a:latin typeface="Arial"/>
                <a:ea typeface="Arial"/>
                <a:cs typeface="Arial"/>
                <a:sym typeface="Arial"/>
              </a:rPr>
              <a:t>קוראים את ההבדלים</a:t>
            </a:r>
            <a:r>
              <a:t>: </a:t>
            </a:r>
            <a:r>
              <a:rPr>
                <a:latin typeface="Arial"/>
                <a:ea typeface="Arial"/>
                <a:cs typeface="Arial"/>
                <a:sym typeface="Arial"/>
              </a:rPr>
              <a:t>אילו קבצים השתנו והאם השינוי שייך למשימה</a:t>
            </a:r>
            <a:r>
              <a:t>?</a:t>
            </a:r>
          </a:p>
        </p:txBody>
      </p:sp>
      <p:sp>
        <p:nvSpPr>
          <p:cNvPr id="535" name="text"/>
          <p:cNvSpPr txBox="1"/>
          <p:nvPr/>
        </p:nvSpPr>
        <p:spPr>
          <a:xfrm>
            <a:off x="3619500" y="3409950"/>
            <a:ext cx="5048250" cy="25922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defRPr b="1">
                <a:solidFill>
                  <a:srgbClr val="272525"/>
                </a:solidFill>
              </a:defRPr>
            </a:lvl1pPr>
          </a:lstStyle>
          <a:p>
            <a:pPr>
              <a:defRPr>
                <a:latin typeface="Inter"/>
                <a:ea typeface="Inter"/>
                <a:cs typeface="Inter"/>
                <a:sym typeface="Inter"/>
              </a:defRPr>
            </a:pPr>
            <a:r>
              <a:rPr>
                <a:latin typeface="Arial"/>
                <a:ea typeface="Arial"/>
                <a:cs typeface="Arial"/>
                <a:sym typeface="Arial"/>
              </a:rPr>
              <a:t>לאחר האימות</a:t>
            </a:r>
          </a:p>
        </p:txBody>
      </p:sp>
      <p:sp>
        <p:nvSpPr>
          <p:cNvPr id="536" name="text"/>
          <p:cNvSpPr txBox="1"/>
          <p:nvPr/>
        </p:nvSpPr>
        <p:spPr>
          <a:xfrm>
            <a:off x="3619500" y="3743325"/>
            <a:ext cx="5048250" cy="241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1600">
                <a:solidFill>
                  <a:srgbClr val="272525"/>
                </a:solidFill>
                <a:latin typeface="Inter"/>
                <a:ea typeface="Inter"/>
                <a:cs typeface="Inter"/>
                <a:sym typeface="Inter"/>
              </a:defRPr>
            </a:pPr>
            <a:r>
              <a:rPr>
                <a:latin typeface="Arial"/>
                <a:ea typeface="Arial"/>
                <a:cs typeface="Arial"/>
                <a:sym typeface="Arial"/>
              </a:rPr>
              <a:t>שומרים </a:t>
            </a:r>
            <a:r>
              <a:t>Commit </a:t>
            </a:r>
            <a:r>
              <a:rPr>
                <a:latin typeface="Arial"/>
                <a:ea typeface="Arial"/>
                <a:cs typeface="Arial"/>
                <a:sym typeface="Arial"/>
              </a:rPr>
              <a:t>שמתאר את הפיצ׳ר ואת התיעוד המעודכן</a:t>
            </a:r>
            <a:r>
              <a:t>.</a:t>
            </a:r>
          </a:p>
        </p:txBody>
      </p:sp>
    </p:spTree>
  </p:cSld>
  <p:clrMapOvr>
    <a:masterClrMapping/>
  </p:clrMapOvr>
  <p:transition xmlns:p14="http://schemas.microsoft.com/office/powerpoint/2010/main" spd="med" advClick="1"/>
</p:sld>
</file>

<file path=ppt/slides/slide4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FFF"/>
        </a:solidFill>
      </p:bgPr>
    </p:bg>
    <p:spTree>
      <p:nvGrpSpPr>
        <p:cNvPr id="1" name=""/>
        <p:cNvGrpSpPr/>
        <p:nvPr/>
      </p:nvGrpSpPr>
      <p:grpSpPr>
        <a:xfrm>
          <a:off x="0" y="0"/>
          <a:ext cx="0" cy="0"/>
          <a:chOff x="0" y="0"/>
          <a:chExt cx="0" cy="0"/>
        </a:xfrm>
      </p:grpSpPr>
      <p:sp>
        <p:nvSpPr>
          <p:cNvPr id="540" name="text"/>
          <p:cNvSpPr txBox="1"/>
          <p:nvPr/>
        </p:nvSpPr>
        <p:spPr>
          <a:xfrm>
            <a:off x="457200" y="323850"/>
            <a:ext cx="8229600" cy="39476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defRPr b="1" sz="2800">
                <a:solidFill>
                  <a:srgbClr val="D75BE2"/>
                </a:solidFill>
              </a:defRPr>
            </a:lvl1pPr>
          </a:lstStyle>
          <a:p>
            <a:pPr>
              <a:defRPr>
                <a:latin typeface="Inter"/>
                <a:ea typeface="Inter"/>
                <a:cs typeface="Inter"/>
                <a:sym typeface="Inter"/>
              </a:defRPr>
            </a:pPr>
            <a:r>
              <a:rPr>
                <a:latin typeface="Arial"/>
                <a:ea typeface="Arial"/>
                <a:cs typeface="Arial"/>
                <a:sym typeface="Arial"/>
              </a:rPr>
              <a:t>הפעלת היישום ברשת</a:t>
            </a:r>
          </a:p>
        </p:txBody>
      </p:sp>
      <p:sp>
        <p:nvSpPr>
          <p:cNvPr id="541" name="text"/>
          <p:cNvSpPr txBox="1"/>
          <p:nvPr/>
        </p:nvSpPr>
        <p:spPr>
          <a:xfrm>
            <a:off x="5905500" y="4876800"/>
            <a:ext cx="2781300" cy="127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800">
                <a:solidFill>
                  <a:srgbClr val="705B73"/>
                </a:solidFill>
                <a:latin typeface="Inter"/>
                <a:ea typeface="Inter"/>
                <a:cs typeface="Inter"/>
                <a:sym typeface="Inter"/>
              </a:defRPr>
            </a:pPr>
            <a:r>
              <a:rPr>
                <a:latin typeface="Arial"/>
                <a:ea typeface="Arial"/>
                <a:cs typeface="Arial"/>
                <a:sym typeface="Arial"/>
              </a:rPr>
              <a:t>שיעור</a:t>
            </a:r>
            <a:r>
              <a:t>: </a:t>
            </a:r>
            <a:r>
              <a:rPr>
                <a:latin typeface="Arial"/>
                <a:ea typeface="Arial"/>
                <a:cs typeface="Arial"/>
                <a:sym typeface="Arial"/>
              </a:rPr>
              <a:t>פיתוח עם סוכני־קוד</a:t>
            </a:r>
          </a:p>
        </p:txBody>
      </p:sp>
      <p:sp>
        <p:nvSpPr>
          <p:cNvPr id="542" name="code"/>
          <p:cNvSpPr txBox="1"/>
          <p:nvPr/>
        </p:nvSpPr>
        <p:spPr>
          <a:xfrm>
            <a:off x="457200" y="4876800"/>
            <a:ext cx="333375" cy="127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defRPr sz="800">
                <a:solidFill>
                  <a:srgbClr val="705B73"/>
                </a:solidFill>
                <a:latin typeface="Inter"/>
                <a:ea typeface="Inter"/>
                <a:cs typeface="Inter"/>
                <a:sym typeface="Inter"/>
              </a:defRPr>
            </a:lvl1pPr>
          </a:lstStyle>
          <a:p>
            <a:pPr/>
            <a:r>
              <a:t>46</a:t>
            </a:r>
          </a:p>
        </p:txBody>
      </p:sp>
      <p:sp>
        <p:nvSpPr>
          <p:cNvPr id="543" name="text"/>
          <p:cNvSpPr txBox="1"/>
          <p:nvPr/>
        </p:nvSpPr>
        <p:spPr>
          <a:xfrm>
            <a:off x="457200" y="1285875"/>
            <a:ext cx="8229600" cy="2794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b="1">
                <a:solidFill>
                  <a:srgbClr val="272525"/>
                </a:solidFill>
                <a:latin typeface="Inter"/>
                <a:ea typeface="Inter"/>
                <a:cs typeface="Inter"/>
                <a:sym typeface="Inter"/>
              </a:defRPr>
            </a:pPr>
            <a:r>
              <a:rPr>
                <a:latin typeface="Arial"/>
                <a:ea typeface="Arial"/>
                <a:cs typeface="Arial"/>
                <a:sym typeface="Arial"/>
              </a:rPr>
              <a:t>חיבור הפרויקט ל־</a:t>
            </a:r>
            <a:r>
              <a:t>Vercel</a:t>
            </a:r>
          </a:p>
        </p:txBody>
      </p:sp>
      <p:sp>
        <p:nvSpPr>
          <p:cNvPr id="544" name="text"/>
          <p:cNvSpPr txBox="1"/>
          <p:nvPr/>
        </p:nvSpPr>
        <p:spPr>
          <a:xfrm>
            <a:off x="457200" y="1619250"/>
            <a:ext cx="8229600" cy="241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1600">
                <a:solidFill>
                  <a:srgbClr val="272525"/>
                </a:solidFill>
                <a:latin typeface="Inter"/>
                <a:ea typeface="Inter"/>
                <a:cs typeface="Inter"/>
                <a:sym typeface="Inter"/>
              </a:defRPr>
            </a:pPr>
            <a:r>
              <a:rPr>
                <a:latin typeface="Arial"/>
                <a:ea typeface="Arial"/>
                <a:cs typeface="Arial"/>
                <a:sym typeface="Arial"/>
              </a:rPr>
              <a:t>מייבאים את מאגר הקוד ומוודאים שפקודת הבנייה מצליחה</a:t>
            </a:r>
            <a:r>
              <a:t>.</a:t>
            </a:r>
          </a:p>
        </p:txBody>
      </p:sp>
      <p:sp>
        <p:nvSpPr>
          <p:cNvPr id="545" name="text"/>
          <p:cNvSpPr txBox="1"/>
          <p:nvPr/>
        </p:nvSpPr>
        <p:spPr>
          <a:xfrm>
            <a:off x="457200" y="2257425"/>
            <a:ext cx="8229600" cy="2794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b="1">
                <a:solidFill>
                  <a:srgbClr val="272525"/>
                </a:solidFill>
                <a:latin typeface="Inter"/>
                <a:ea typeface="Inter"/>
                <a:cs typeface="Inter"/>
                <a:sym typeface="Inter"/>
              </a:defRPr>
            </a:pPr>
            <a:r>
              <a:rPr>
                <a:latin typeface="Arial"/>
                <a:ea typeface="Arial"/>
                <a:cs typeface="Arial"/>
                <a:sym typeface="Arial"/>
              </a:rPr>
              <a:t>חיבור ל־</a:t>
            </a:r>
            <a:r>
              <a:t>Supabase</a:t>
            </a:r>
          </a:p>
        </p:txBody>
      </p:sp>
      <p:sp>
        <p:nvSpPr>
          <p:cNvPr id="546" name="text"/>
          <p:cNvSpPr txBox="1"/>
          <p:nvPr/>
        </p:nvSpPr>
        <p:spPr>
          <a:xfrm>
            <a:off x="457200" y="2590800"/>
            <a:ext cx="8229600" cy="241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1600">
                <a:solidFill>
                  <a:srgbClr val="272525"/>
                </a:solidFill>
                <a:latin typeface="Inter"/>
                <a:ea typeface="Inter"/>
                <a:cs typeface="Inter"/>
                <a:sym typeface="Inter"/>
              </a:defRPr>
            </a:pPr>
            <a:r>
              <a:rPr>
                <a:latin typeface="Arial"/>
                <a:ea typeface="Arial"/>
                <a:cs typeface="Arial"/>
                <a:sym typeface="Arial"/>
              </a:rPr>
              <a:t>מגדירים משתני סביבה מתאימים</a:t>
            </a:r>
            <a:r>
              <a:t>, </a:t>
            </a:r>
            <a:r>
              <a:rPr>
                <a:latin typeface="Arial"/>
                <a:ea typeface="Arial"/>
                <a:cs typeface="Arial"/>
                <a:sym typeface="Arial"/>
              </a:rPr>
              <a:t>כתובות התחברות וסכמת נתונים</a:t>
            </a:r>
            <a:r>
              <a:t>.</a:t>
            </a:r>
          </a:p>
        </p:txBody>
      </p:sp>
      <p:sp>
        <p:nvSpPr>
          <p:cNvPr id="547" name="text"/>
          <p:cNvSpPr txBox="1"/>
          <p:nvPr/>
        </p:nvSpPr>
        <p:spPr>
          <a:xfrm>
            <a:off x="457200" y="3228975"/>
            <a:ext cx="8229600" cy="2794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b="1">
                <a:solidFill>
                  <a:srgbClr val="272525"/>
                </a:solidFill>
                <a:latin typeface="Inter"/>
                <a:ea typeface="Inter"/>
                <a:cs typeface="Inter"/>
                <a:sym typeface="Inter"/>
              </a:defRPr>
            </a:pPr>
            <a:r>
              <a:rPr>
                <a:latin typeface="Arial"/>
                <a:ea typeface="Arial"/>
                <a:cs typeface="Arial"/>
                <a:sym typeface="Arial"/>
              </a:rPr>
              <a:t>בדיקה בכתובת </a:t>
            </a:r>
            <a:r>
              <a:t>Preview</a:t>
            </a:r>
          </a:p>
        </p:txBody>
      </p:sp>
      <p:sp>
        <p:nvSpPr>
          <p:cNvPr id="548" name="text"/>
          <p:cNvSpPr txBox="1"/>
          <p:nvPr/>
        </p:nvSpPr>
        <p:spPr>
          <a:xfrm>
            <a:off x="457200" y="3562350"/>
            <a:ext cx="8229600" cy="241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1600">
                <a:solidFill>
                  <a:srgbClr val="272525"/>
                </a:solidFill>
                <a:latin typeface="Inter"/>
                <a:ea typeface="Inter"/>
                <a:cs typeface="Inter"/>
                <a:sym typeface="Inter"/>
              </a:defRPr>
            </a:pPr>
            <a:r>
              <a:rPr>
                <a:latin typeface="Arial"/>
                <a:ea typeface="Arial"/>
                <a:cs typeface="Arial"/>
                <a:sym typeface="Arial"/>
              </a:rPr>
              <a:t>בודקים את תרחישי השימוש מהאפיון עם נתוני דוגמה לפני פרסום</a:t>
            </a:r>
            <a:r>
              <a:t>.</a:t>
            </a:r>
          </a:p>
        </p:txBody>
      </p:sp>
      <p:sp>
        <p:nvSpPr>
          <p:cNvPr id="549" name="Rectangle"/>
          <p:cNvSpPr/>
          <p:nvPr/>
        </p:nvSpPr>
        <p:spPr>
          <a:xfrm>
            <a:off x="457200" y="4248150"/>
            <a:ext cx="8229600" cy="466725"/>
          </a:xfrm>
          <a:prstGeom prst="rect">
            <a:avLst/>
          </a:prstGeom>
          <a:solidFill>
            <a:srgbClr val="F4D4F7"/>
          </a:solidFill>
          <a:ln w="12700">
            <a:miter lim="400000"/>
          </a:ln>
        </p:spPr>
        <p:txBody>
          <a:bodyPr lIns="0" tIns="0" rIns="0" bIns="0"/>
          <a:lstStyle/>
          <a:p>
            <a:pPr/>
          </a:p>
        </p:txBody>
      </p:sp>
      <p:sp>
        <p:nvSpPr>
          <p:cNvPr id="550" name="text"/>
          <p:cNvSpPr txBox="1"/>
          <p:nvPr/>
        </p:nvSpPr>
        <p:spPr>
          <a:xfrm>
            <a:off x="619125" y="4343400"/>
            <a:ext cx="7905750" cy="2286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b="1" sz="1500">
                <a:solidFill>
                  <a:srgbClr val="272525"/>
                </a:solidFill>
                <a:latin typeface="Inter"/>
                <a:ea typeface="Inter"/>
                <a:cs typeface="Inter"/>
                <a:sym typeface="Inter"/>
              </a:defRPr>
            </a:pPr>
            <a:r>
              <a:rPr>
                <a:latin typeface="Arial"/>
                <a:ea typeface="Arial"/>
                <a:cs typeface="Arial"/>
                <a:sym typeface="Arial"/>
              </a:rPr>
              <a:t>הסוכן מבצע את הפריסה</a:t>
            </a:r>
            <a:r>
              <a:t>. </a:t>
            </a:r>
            <a:r>
              <a:rPr>
                <a:latin typeface="Arial"/>
                <a:ea typeface="Arial"/>
                <a:cs typeface="Arial"/>
                <a:sym typeface="Arial"/>
              </a:rPr>
              <a:t>אנחנו בודקים את התוצאה בכתובת שהתקבלה</a:t>
            </a:r>
            <a:r>
              <a:t>.</a:t>
            </a:r>
          </a:p>
        </p:txBody>
      </p:sp>
    </p:spTree>
  </p:cSld>
  <p:clrMapOvr>
    <a:masterClrMapping/>
  </p:clrMapOvr>
  <p:transition xmlns:p14="http://schemas.microsoft.com/office/powerpoint/2010/main" spd="med" advClick="1"/>
</p:sld>
</file>

<file path=ppt/slides/slide4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FFF"/>
        </a:solidFill>
      </p:bgPr>
    </p:bg>
    <p:spTree>
      <p:nvGrpSpPr>
        <p:cNvPr id="1" name=""/>
        <p:cNvGrpSpPr/>
        <p:nvPr/>
      </p:nvGrpSpPr>
      <p:grpSpPr>
        <a:xfrm>
          <a:off x="0" y="0"/>
          <a:ext cx="0" cy="0"/>
          <a:chOff x="0" y="0"/>
          <a:chExt cx="0" cy="0"/>
        </a:xfrm>
      </p:grpSpPr>
      <p:sp>
        <p:nvSpPr>
          <p:cNvPr id="554" name="text"/>
          <p:cNvSpPr txBox="1"/>
          <p:nvPr/>
        </p:nvSpPr>
        <p:spPr>
          <a:xfrm>
            <a:off x="457200" y="323850"/>
            <a:ext cx="8229600" cy="39476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defRPr b="1" sz="2800">
                <a:solidFill>
                  <a:srgbClr val="D75BE2"/>
                </a:solidFill>
              </a:defRPr>
            </a:lvl1pPr>
          </a:lstStyle>
          <a:p>
            <a:pPr>
              <a:defRPr>
                <a:latin typeface="Inter"/>
                <a:ea typeface="Inter"/>
                <a:cs typeface="Inter"/>
                <a:sym typeface="Inter"/>
              </a:defRPr>
            </a:pPr>
            <a:r>
              <a:rPr>
                <a:latin typeface="Arial"/>
                <a:ea typeface="Arial"/>
                <a:cs typeface="Arial"/>
                <a:sym typeface="Arial"/>
              </a:rPr>
              <a:t>סיום יום העבודה</a:t>
            </a:r>
          </a:p>
        </p:txBody>
      </p:sp>
      <p:sp>
        <p:nvSpPr>
          <p:cNvPr id="555" name="text"/>
          <p:cNvSpPr txBox="1"/>
          <p:nvPr/>
        </p:nvSpPr>
        <p:spPr>
          <a:xfrm>
            <a:off x="5905500" y="4876800"/>
            <a:ext cx="2781300" cy="127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800">
                <a:solidFill>
                  <a:srgbClr val="705B73"/>
                </a:solidFill>
                <a:latin typeface="Inter"/>
                <a:ea typeface="Inter"/>
                <a:cs typeface="Inter"/>
                <a:sym typeface="Inter"/>
              </a:defRPr>
            </a:pPr>
            <a:r>
              <a:rPr>
                <a:latin typeface="Arial"/>
                <a:ea typeface="Arial"/>
                <a:cs typeface="Arial"/>
                <a:sym typeface="Arial"/>
              </a:rPr>
              <a:t>שיעור</a:t>
            </a:r>
            <a:r>
              <a:t>: </a:t>
            </a:r>
            <a:r>
              <a:rPr>
                <a:latin typeface="Arial"/>
                <a:ea typeface="Arial"/>
                <a:cs typeface="Arial"/>
                <a:sym typeface="Arial"/>
              </a:rPr>
              <a:t>פיתוח עם סוכני־קוד</a:t>
            </a:r>
          </a:p>
        </p:txBody>
      </p:sp>
      <p:sp>
        <p:nvSpPr>
          <p:cNvPr id="556" name="code"/>
          <p:cNvSpPr txBox="1"/>
          <p:nvPr/>
        </p:nvSpPr>
        <p:spPr>
          <a:xfrm>
            <a:off x="457200" y="4876800"/>
            <a:ext cx="333375" cy="127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defRPr sz="800">
                <a:solidFill>
                  <a:srgbClr val="705B73"/>
                </a:solidFill>
                <a:latin typeface="Inter"/>
                <a:ea typeface="Inter"/>
                <a:cs typeface="Inter"/>
                <a:sym typeface="Inter"/>
              </a:defRPr>
            </a:lvl1pPr>
          </a:lstStyle>
          <a:p>
            <a:pPr/>
            <a:r>
              <a:t>47</a:t>
            </a:r>
          </a:p>
        </p:txBody>
      </p:sp>
      <p:sp>
        <p:nvSpPr>
          <p:cNvPr id="557" name="text"/>
          <p:cNvSpPr txBox="1"/>
          <p:nvPr/>
        </p:nvSpPr>
        <p:spPr>
          <a:xfrm>
            <a:off x="457200" y="1238250"/>
            <a:ext cx="8229600" cy="25922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defRPr b="1">
                <a:solidFill>
                  <a:srgbClr val="272525"/>
                </a:solidFill>
              </a:defRPr>
            </a:lvl1pPr>
          </a:lstStyle>
          <a:p>
            <a:pPr>
              <a:defRPr>
                <a:latin typeface="Inter"/>
                <a:ea typeface="Inter"/>
                <a:cs typeface="Inter"/>
                <a:sym typeface="Inter"/>
              </a:defRPr>
            </a:pPr>
            <a:r>
              <a:rPr>
                <a:latin typeface="Arial"/>
                <a:ea typeface="Arial"/>
                <a:cs typeface="Arial"/>
                <a:sym typeface="Arial"/>
              </a:rPr>
              <a:t>הושלם ואומת</a:t>
            </a:r>
          </a:p>
        </p:txBody>
      </p:sp>
      <p:sp>
        <p:nvSpPr>
          <p:cNvPr id="558" name="text"/>
          <p:cNvSpPr txBox="1"/>
          <p:nvPr/>
        </p:nvSpPr>
        <p:spPr>
          <a:xfrm>
            <a:off x="457200" y="1571625"/>
            <a:ext cx="8229600" cy="241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1600">
                <a:solidFill>
                  <a:srgbClr val="272525"/>
                </a:solidFill>
                <a:latin typeface="Inter"/>
                <a:ea typeface="Inter"/>
                <a:cs typeface="Inter"/>
                <a:sym typeface="Inter"/>
              </a:defRPr>
            </a:pPr>
            <a:r>
              <a:rPr>
                <a:latin typeface="Arial"/>
                <a:ea typeface="Arial"/>
                <a:cs typeface="Arial"/>
                <a:sym typeface="Arial"/>
              </a:rPr>
              <a:t>מה השתנה</a:t>
            </a:r>
            <a:r>
              <a:t>, </a:t>
            </a:r>
            <a:r>
              <a:rPr>
                <a:latin typeface="Arial"/>
                <a:ea typeface="Arial"/>
                <a:cs typeface="Arial"/>
                <a:sym typeface="Arial"/>
              </a:rPr>
              <a:t>לאיזו דרישה הוא קשור ואיזו בדיקה עברה</a:t>
            </a:r>
            <a:r>
              <a:t>.</a:t>
            </a:r>
          </a:p>
        </p:txBody>
      </p:sp>
      <p:sp>
        <p:nvSpPr>
          <p:cNvPr id="559" name="text"/>
          <p:cNvSpPr txBox="1"/>
          <p:nvPr/>
        </p:nvSpPr>
        <p:spPr>
          <a:xfrm>
            <a:off x="457200" y="2219325"/>
            <a:ext cx="8229600" cy="25922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defRPr b="1">
                <a:solidFill>
                  <a:srgbClr val="272525"/>
                </a:solidFill>
              </a:defRPr>
            </a:lvl1pPr>
          </a:lstStyle>
          <a:p>
            <a:pPr>
              <a:defRPr>
                <a:latin typeface="Inter"/>
                <a:ea typeface="Inter"/>
                <a:cs typeface="Inter"/>
                <a:sym typeface="Inter"/>
              </a:defRPr>
            </a:pPr>
            <a:r>
              <a:rPr>
                <a:latin typeface="Arial"/>
                <a:ea typeface="Arial"/>
                <a:cs typeface="Arial"/>
                <a:sym typeface="Arial"/>
              </a:rPr>
              <a:t>עדיין פתוח</a:t>
            </a:r>
          </a:p>
        </p:txBody>
      </p:sp>
      <p:sp>
        <p:nvSpPr>
          <p:cNvPr id="560" name="text"/>
          <p:cNvSpPr txBox="1"/>
          <p:nvPr/>
        </p:nvSpPr>
        <p:spPr>
          <a:xfrm>
            <a:off x="457200" y="2552700"/>
            <a:ext cx="8229600" cy="241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1600">
                <a:solidFill>
                  <a:srgbClr val="272525"/>
                </a:solidFill>
                <a:latin typeface="Inter"/>
                <a:ea typeface="Inter"/>
                <a:cs typeface="Inter"/>
                <a:sym typeface="Inter"/>
              </a:defRPr>
            </a:pPr>
            <a:r>
              <a:rPr>
                <a:latin typeface="Arial"/>
                <a:ea typeface="Arial"/>
                <a:cs typeface="Arial"/>
                <a:sym typeface="Arial"/>
              </a:rPr>
              <a:t>מה חסר</a:t>
            </a:r>
            <a:r>
              <a:t>, </a:t>
            </a:r>
            <a:r>
              <a:rPr>
                <a:latin typeface="Arial"/>
                <a:ea typeface="Arial"/>
                <a:cs typeface="Arial"/>
                <a:sym typeface="Arial"/>
              </a:rPr>
              <a:t>מה לא נבדק והאם קיימת החלטה שצריך לקבל</a:t>
            </a:r>
            <a:r>
              <a:t>.</a:t>
            </a:r>
          </a:p>
        </p:txBody>
      </p:sp>
      <p:sp>
        <p:nvSpPr>
          <p:cNvPr id="561" name="text"/>
          <p:cNvSpPr txBox="1"/>
          <p:nvPr/>
        </p:nvSpPr>
        <p:spPr>
          <a:xfrm>
            <a:off x="457200" y="3200400"/>
            <a:ext cx="8229600" cy="25922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defRPr b="1">
                <a:solidFill>
                  <a:srgbClr val="272525"/>
                </a:solidFill>
              </a:defRPr>
            </a:lvl1pPr>
          </a:lstStyle>
          <a:p>
            <a:pPr>
              <a:defRPr>
                <a:latin typeface="Inter"/>
                <a:ea typeface="Inter"/>
                <a:cs typeface="Inter"/>
                <a:sym typeface="Inter"/>
              </a:defRPr>
            </a:pPr>
            <a:r>
              <a:rPr>
                <a:latin typeface="Arial"/>
                <a:ea typeface="Arial"/>
                <a:cs typeface="Arial"/>
                <a:sym typeface="Arial"/>
              </a:rPr>
              <a:t>המשימה הבאה</a:t>
            </a:r>
          </a:p>
        </p:txBody>
      </p:sp>
      <p:sp>
        <p:nvSpPr>
          <p:cNvPr id="562" name="text"/>
          <p:cNvSpPr txBox="1"/>
          <p:nvPr/>
        </p:nvSpPr>
        <p:spPr>
          <a:xfrm>
            <a:off x="457200" y="3533775"/>
            <a:ext cx="8229600" cy="241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1600">
                <a:solidFill>
                  <a:srgbClr val="272525"/>
                </a:solidFill>
                <a:latin typeface="Inter"/>
                <a:ea typeface="Inter"/>
                <a:cs typeface="Inter"/>
                <a:sym typeface="Inter"/>
              </a:defRPr>
            </a:pPr>
            <a:r>
              <a:rPr>
                <a:latin typeface="Arial"/>
                <a:ea typeface="Arial"/>
                <a:cs typeface="Arial"/>
                <a:sym typeface="Arial"/>
              </a:rPr>
              <a:t>מה הפעולה הבאה ואילו קבצים צריך לקרוא כדי לבצע אותה</a:t>
            </a:r>
            <a:r>
              <a:t>.</a:t>
            </a:r>
          </a:p>
        </p:txBody>
      </p:sp>
      <p:sp>
        <p:nvSpPr>
          <p:cNvPr id="563" name="Rectangle"/>
          <p:cNvSpPr/>
          <p:nvPr/>
        </p:nvSpPr>
        <p:spPr>
          <a:xfrm>
            <a:off x="457200" y="4248150"/>
            <a:ext cx="8229600" cy="466725"/>
          </a:xfrm>
          <a:prstGeom prst="rect">
            <a:avLst/>
          </a:prstGeom>
          <a:solidFill>
            <a:srgbClr val="F4D4F7"/>
          </a:solidFill>
          <a:ln w="12700">
            <a:miter lim="400000"/>
          </a:ln>
        </p:spPr>
        <p:txBody>
          <a:bodyPr lIns="0" tIns="0" rIns="0" bIns="0"/>
          <a:lstStyle/>
          <a:p>
            <a:pPr/>
          </a:p>
        </p:txBody>
      </p:sp>
      <p:sp>
        <p:nvSpPr>
          <p:cNvPr id="564" name="text"/>
          <p:cNvSpPr txBox="1"/>
          <p:nvPr/>
        </p:nvSpPr>
        <p:spPr>
          <a:xfrm>
            <a:off x="619125" y="4343400"/>
            <a:ext cx="7905750" cy="2286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b="1" sz="1500">
                <a:solidFill>
                  <a:srgbClr val="272525"/>
                </a:solidFill>
                <a:latin typeface="Inter"/>
                <a:ea typeface="Inter"/>
                <a:cs typeface="Inter"/>
                <a:sym typeface="Inter"/>
              </a:defRPr>
            </a:pPr>
            <a:r>
              <a:rPr>
                <a:latin typeface="Arial"/>
                <a:ea typeface="Arial"/>
                <a:cs typeface="Arial"/>
                <a:sym typeface="Arial"/>
              </a:rPr>
              <a:t>הקובץ </a:t>
            </a:r>
            <a:r>
              <a:t>docs/status.md </a:t>
            </a:r>
            <a:r>
              <a:rPr>
                <a:latin typeface="Arial"/>
                <a:ea typeface="Arial"/>
                <a:cs typeface="Arial"/>
                <a:sym typeface="Arial"/>
              </a:rPr>
              <a:t>נותן לסוכן הבא נקודת התחלה ברורה</a:t>
            </a:r>
            <a:r>
              <a:t>.</a:t>
            </a:r>
          </a:p>
        </p:txBody>
      </p:sp>
    </p:spTree>
  </p:cSld>
  <p:clrMapOvr>
    <a:masterClrMapping/>
  </p:clrMapOvr>
  <p:transition xmlns:p14="http://schemas.microsoft.com/office/powerpoint/2010/main" spd="med" advClick="1"/>
</p:sld>
</file>

<file path=ppt/slides/slide4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FFF"/>
        </a:solidFill>
      </p:bgPr>
    </p:bg>
    <p:spTree>
      <p:nvGrpSpPr>
        <p:cNvPr id="1" name=""/>
        <p:cNvGrpSpPr/>
        <p:nvPr/>
      </p:nvGrpSpPr>
      <p:grpSpPr>
        <a:xfrm>
          <a:off x="0" y="0"/>
          <a:ext cx="0" cy="0"/>
          <a:chOff x="0" y="0"/>
          <a:chExt cx="0" cy="0"/>
        </a:xfrm>
      </p:grpSpPr>
      <p:sp>
        <p:nvSpPr>
          <p:cNvPr id="568" name="text"/>
          <p:cNvSpPr txBox="1"/>
          <p:nvPr/>
        </p:nvSpPr>
        <p:spPr>
          <a:xfrm>
            <a:off x="457200" y="323850"/>
            <a:ext cx="8229600" cy="39476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defRPr b="1" sz="2800">
                <a:solidFill>
                  <a:srgbClr val="D75BE2"/>
                </a:solidFill>
              </a:defRPr>
            </a:lvl1pPr>
          </a:lstStyle>
          <a:p>
            <a:pPr>
              <a:defRPr>
                <a:latin typeface="Inter"/>
                <a:ea typeface="Inter"/>
                <a:cs typeface="Inter"/>
                <a:sym typeface="Inter"/>
              </a:defRPr>
            </a:pPr>
            <a:r>
              <a:rPr>
                <a:latin typeface="Arial"/>
                <a:ea typeface="Arial"/>
                <a:cs typeface="Arial"/>
                <a:sym typeface="Arial"/>
              </a:rPr>
              <a:t>פרומפט להמשך עבודה בשיחה חדשה</a:t>
            </a:r>
          </a:p>
        </p:txBody>
      </p:sp>
      <p:sp>
        <p:nvSpPr>
          <p:cNvPr id="569" name="text"/>
          <p:cNvSpPr txBox="1"/>
          <p:nvPr/>
        </p:nvSpPr>
        <p:spPr>
          <a:xfrm>
            <a:off x="5905500" y="4876800"/>
            <a:ext cx="2781300" cy="127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800">
                <a:solidFill>
                  <a:srgbClr val="705B73"/>
                </a:solidFill>
                <a:latin typeface="Inter"/>
                <a:ea typeface="Inter"/>
                <a:cs typeface="Inter"/>
                <a:sym typeface="Inter"/>
              </a:defRPr>
            </a:pPr>
            <a:r>
              <a:rPr>
                <a:latin typeface="Arial"/>
                <a:ea typeface="Arial"/>
                <a:cs typeface="Arial"/>
                <a:sym typeface="Arial"/>
              </a:rPr>
              <a:t>שיעור</a:t>
            </a:r>
            <a:r>
              <a:t>: </a:t>
            </a:r>
            <a:r>
              <a:rPr>
                <a:latin typeface="Arial"/>
                <a:ea typeface="Arial"/>
                <a:cs typeface="Arial"/>
                <a:sym typeface="Arial"/>
              </a:rPr>
              <a:t>פיתוח עם סוכני־קוד</a:t>
            </a:r>
          </a:p>
        </p:txBody>
      </p:sp>
      <p:sp>
        <p:nvSpPr>
          <p:cNvPr id="570" name="code"/>
          <p:cNvSpPr txBox="1"/>
          <p:nvPr/>
        </p:nvSpPr>
        <p:spPr>
          <a:xfrm>
            <a:off x="457200" y="4876800"/>
            <a:ext cx="333375" cy="127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defRPr sz="800">
                <a:solidFill>
                  <a:srgbClr val="705B73"/>
                </a:solidFill>
                <a:latin typeface="Inter"/>
                <a:ea typeface="Inter"/>
                <a:cs typeface="Inter"/>
                <a:sym typeface="Inter"/>
              </a:defRPr>
            </a:lvl1pPr>
          </a:lstStyle>
          <a:p>
            <a:pPr/>
            <a:r>
              <a:t>48</a:t>
            </a:r>
          </a:p>
        </p:txBody>
      </p:sp>
      <p:sp>
        <p:nvSpPr>
          <p:cNvPr id="571" name="text"/>
          <p:cNvSpPr txBox="1"/>
          <p:nvPr/>
        </p:nvSpPr>
        <p:spPr>
          <a:xfrm>
            <a:off x="523875" y="1133475"/>
            <a:ext cx="8096250" cy="272077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1600">
                <a:solidFill>
                  <a:srgbClr val="272525"/>
                </a:solidFill>
                <a:latin typeface="Inter"/>
                <a:ea typeface="Inter"/>
                <a:cs typeface="Inter"/>
                <a:sym typeface="Inter"/>
              </a:defRPr>
            </a:pPr>
            <a:r>
              <a:rPr>
                <a:latin typeface="Arial"/>
                <a:ea typeface="Arial"/>
                <a:cs typeface="Arial"/>
                <a:sym typeface="Arial"/>
              </a:rPr>
              <a:t>המשך את הפרויקט מתוך הקבצים</a:t>
            </a:r>
            <a:r>
              <a:t>, </a:t>
            </a:r>
            <a:r>
              <a:rPr>
                <a:latin typeface="Arial"/>
                <a:ea typeface="Arial"/>
                <a:cs typeface="Arial"/>
                <a:sym typeface="Arial"/>
              </a:rPr>
              <a:t>ללא הנחה שיש לך שיחה קודמת</a:t>
            </a:r>
            <a:r>
              <a:t>.</a:t>
            </a:r>
          </a:p>
          <a:p>
            <a:pPr algn="r" rtl="1">
              <a:defRPr sz="1600">
                <a:solidFill>
                  <a:srgbClr val="272525"/>
                </a:solidFill>
                <a:latin typeface="Inter"/>
                <a:ea typeface="Inter"/>
                <a:cs typeface="Inter"/>
                <a:sym typeface="Inter"/>
              </a:defRPr>
            </a:pPr>
            <a:r>
              <a:rPr>
                <a:latin typeface="Arial"/>
                <a:ea typeface="Arial"/>
                <a:cs typeface="Arial"/>
                <a:sym typeface="Arial"/>
              </a:rPr>
              <a:t>קרא את הנחיות הסוכן</a:t>
            </a:r>
            <a:r>
              <a:t>, README.md </a:t>
            </a:r>
            <a:r>
              <a:rPr>
                <a:latin typeface="Arial"/>
                <a:ea typeface="Arial"/>
                <a:cs typeface="Arial"/>
                <a:sym typeface="Arial"/>
              </a:rPr>
              <a:t>ואת מסמכי האפיון וההחלטות</a:t>
            </a:r>
            <a:r>
              <a:t>.</a:t>
            </a:r>
          </a:p>
          <a:p>
            <a:pPr algn="r" rtl="1">
              <a:defRPr sz="1600">
                <a:solidFill>
                  <a:srgbClr val="272525"/>
                </a:solidFill>
                <a:latin typeface="Inter"/>
                <a:ea typeface="Inter"/>
                <a:cs typeface="Inter"/>
                <a:sym typeface="Inter"/>
              </a:defRPr>
            </a:pPr>
            <a:r>
              <a:rPr>
                <a:latin typeface="Arial"/>
                <a:ea typeface="Arial"/>
                <a:cs typeface="Arial"/>
                <a:sym typeface="Arial"/>
              </a:rPr>
              <a:t>קרא את </a:t>
            </a:r>
            <a:r>
              <a:t>docs/status.md </a:t>
            </a:r>
            <a:r>
              <a:rPr>
                <a:latin typeface="Arial"/>
                <a:ea typeface="Arial"/>
                <a:cs typeface="Arial"/>
                <a:sym typeface="Arial"/>
              </a:rPr>
              <a:t>ובדוק את מצב הקוד והבדיקות הרלוונטיות</a:t>
            </a:r>
            <a:r>
              <a:t>.</a:t>
            </a:r>
          </a:p>
          <a:p>
            <a:pPr algn="r" rtl="1">
              <a:defRPr sz="1600">
                <a:solidFill>
                  <a:srgbClr val="272525"/>
                </a:solidFill>
                <a:latin typeface="Inter"/>
                <a:ea typeface="Inter"/>
                <a:cs typeface="Inter"/>
                <a:sym typeface="Inter"/>
              </a:defRPr>
            </a:pPr>
            <a:r>
              <a:rPr>
                <a:latin typeface="Arial"/>
                <a:ea typeface="Arial"/>
                <a:cs typeface="Arial"/>
                <a:sym typeface="Arial"/>
              </a:rPr>
              <a:t>סכם בקצרה את מטרת המוצר</a:t>
            </a:r>
            <a:r>
              <a:t>, </a:t>
            </a:r>
            <a:r>
              <a:rPr>
                <a:latin typeface="Arial"/>
                <a:ea typeface="Arial"/>
                <a:cs typeface="Arial"/>
                <a:sym typeface="Arial"/>
              </a:rPr>
              <a:t>מה הושלם ומה נשאר פתוח</a:t>
            </a:r>
            <a:r>
              <a:t>.</a:t>
            </a:r>
          </a:p>
          <a:p>
            <a:pPr algn="r" rtl="1">
              <a:defRPr sz="1600">
                <a:solidFill>
                  <a:srgbClr val="272525"/>
                </a:solidFill>
                <a:latin typeface="Inter"/>
                <a:ea typeface="Inter"/>
                <a:cs typeface="Inter"/>
                <a:sym typeface="Inter"/>
              </a:defRPr>
            </a:pPr>
            <a:r>
              <a:rPr>
                <a:latin typeface="Arial"/>
                <a:ea typeface="Arial"/>
                <a:cs typeface="Arial"/>
                <a:sym typeface="Arial"/>
              </a:rPr>
              <a:t>הבחן בין מידע מתועד לבין הנחות ודברים שטרם אומתו</a:t>
            </a:r>
            <a:r>
              <a:t>.</a:t>
            </a:r>
          </a:p>
          <a:p>
            <a:pPr algn="r" rtl="1">
              <a:defRPr sz="1600">
                <a:solidFill>
                  <a:srgbClr val="272525"/>
                </a:solidFill>
                <a:latin typeface="Inter"/>
                <a:ea typeface="Inter"/>
                <a:cs typeface="Inter"/>
                <a:sym typeface="Inter"/>
              </a:defRPr>
            </a:pPr>
            <a:r>
              <a:rPr>
                <a:latin typeface="Arial"/>
                <a:ea typeface="Arial"/>
                <a:cs typeface="Arial"/>
                <a:sym typeface="Arial"/>
              </a:rPr>
              <a:t>אם הקוד והתיעוד סותרים זה את זה</a:t>
            </a:r>
            <a:r>
              <a:t>, </a:t>
            </a:r>
            <a:r>
              <a:rPr>
                <a:latin typeface="Arial"/>
                <a:ea typeface="Arial"/>
                <a:cs typeface="Arial"/>
                <a:sym typeface="Arial"/>
              </a:rPr>
              <a:t>הצג את הפער לפני שינוי הדרישה</a:t>
            </a:r>
            <a:r>
              <a:t>.</a:t>
            </a:r>
          </a:p>
          <a:p>
            <a:pPr algn="r" rtl="1">
              <a:defRPr sz="1600">
                <a:solidFill>
                  <a:srgbClr val="272525"/>
                </a:solidFill>
                <a:latin typeface="Inter"/>
                <a:ea typeface="Inter"/>
                <a:cs typeface="Inter"/>
                <a:sym typeface="Inter"/>
              </a:defRPr>
            </a:pPr>
            <a:r>
              <a:rPr>
                <a:latin typeface="Arial"/>
                <a:ea typeface="Arial"/>
                <a:cs typeface="Arial"/>
                <a:sym typeface="Arial"/>
              </a:rPr>
              <a:t>בחר את המשימה הבאה מתוך התוכנית והסבר למה היא הבאה בתור</a:t>
            </a:r>
            <a:r>
              <a:t>.</a:t>
            </a:r>
          </a:p>
          <a:p>
            <a:pPr algn="r" rtl="1">
              <a:defRPr sz="1600">
                <a:solidFill>
                  <a:srgbClr val="272525"/>
                </a:solidFill>
                <a:latin typeface="Inter"/>
                <a:ea typeface="Inter"/>
                <a:cs typeface="Inter"/>
                <a:sym typeface="Inter"/>
              </a:defRPr>
            </a:pPr>
            <a:r>
              <a:rPr>
                <a:latin typeface="Arial"/>
                <a:ea typeface="Arial"/>
                <a:cs typeface="Arial"/>
                <a:sym typeface="Arial"/>
              </a:rPr>
              <a:t>אם חסרה החלטה שמשנה את המוצר</a:t>
            </a:r>
            <a:r>
              <a:t>, </a:t>
            </a:r>
            <a:r>
              <a:rPr>
                <a:latin typeface="Arial"/>
                <a:ea typeface="Arial"/>
                <a:cs typeface="Arial"/>
                <a:sym typeface="Arial"/>
              </a:rPr>
              <a:t>שאל שאלה ממוקדת</a:t>
            </a:r>
            <a:r>
              <a:t>.</a:t>
            </a:r>
          </a:p>
          <a:p>
            <a:pPr algn="r" rtl="1">
              <a:defRPr sz="1600">
                <a:solidFill>
                  <a:srgbClr val="272525"/>
                </a:solidFill>
                <a:latin typeface="Inter"/>
                <a:ea typeface="Inter"/>
                <a:cs typeface="Inter"/>
                <a:sym typeface="Inter"/>
              </a:defRPr>
            </a:pPr>
            <a:r>
              <a:rPr>
                <a:latin typeface="Arial"/>
                <a:ea typeface="Arial"/>
                <a:cs typeface="Arial"/>
                <a:sym typeface="Arial"/>
              </a:rPr>
              <a:t>אחרת</a:t>
            </a:r>
            <a:r>
              <a:t>, </a:t>
            </a:r>
            <a:r>
              <a:rPr>
                <a:latin typeface="Arial"/>
                <a:ea typeface="Arial"/>
                <a:cs typeface="Arial"/>
                <a:sym typeface="Arial"/>
              </a:rPr>
              <a:t>בצע את המשימה בשיטת </a:t>
            </a:r>
            <a:r>
              <a:t>TDD </a:t>
            </a:r>
            <a:r>
              <a:rPr>
                <a:latin typeface="Arial"/>
                <a:ea typeface="Arial"/>
                <a:cs typeface="Arial"/>
                <a:sym typeface="Arial"/>
              </a:rPr>
              <a:t>לפי תנאי הקבלה באפיון</a:t>
            </a:r>
            <a:r>
              <a:t>.</a:t>
            </a:r>
          </a:p>
          <a:p>
            <a:pPr algn="r" rtl="1">
              <a:defRPr sz="1600">
                <a:solidFill>
                  <a:srgbClr val="272525"/>
                </a:solidFill>
                <a:latin typeface="Inter"/>
                <a:ea typeface="Inter"/>
                <a:cs typeface="Inter"/>
                <a:sym typeface="Inter"/>
              </a:defRPr>
            </a:pPr>
            <a:r>
              <a:rPr>
                <a:latin typeface="Arial"/>
                <a:ea typeface="Arial"/>
                <a:cs typeface="Arial"/>
                <a:sym typeface="Arial"/>
              </a:rPr>
              <a:t>בסיום עדכן את המצב</a:t>
            </a:r>
            <a:r>
              <a:t>, </a:t>
            </a:r>
            <a:r>
              <a:rPr>
                <a:latin typeface="Arial"/>
                <a:ea typeface="Arial"/>
                <a:cs typeface="Arial"/>
                <a:sym typeface="Arial"/>
              </a:rPr>
              <a:t>ההחלטות והתיעוד הרלוונטי</a:t>
            </a:r>
            <a:r>
              <a:t>.</a:t>
            </a:r>
          </a:p>
          <a:p>
            <a:pPr algn="r" rtl="1">
              <a:defRPr sz="1600">
                <a:solidFill>
                  <a:srgbClr val="272525"/>
                </a:solidFill>
                <a:latin typeface="Inter"/>
                <a:ea typeface="Inter"/>
                <a:cs typeface="Inter"/>
                <a:sym typeface="Inter"/>
              </a:defRPr>
            </a:pPr>
            <a:r>
              <a:rPr>
                <a:latin typeface="Arial"/>
                <a:ea typeface="Arial"/>
                <a:cs typeface="Arial"/>
                <a:sym typeface="Arial"/>
              </a:rPr>
              <a:t>דווח מה השתנה</a:t>
            </a:r>
            <a:r>
              <a:t>, </a:t>
            </a:r>
            <a:r>
              <a:rPr>
                <a:latin typeface="Arial"/>
                <a:ea typeface="Arial"/>
                <a:cs typeface="Arial"/>
                <a:sym typeface="Arial"/>
              </a:rPr>
              <a:t>מה נבדק בפועל והיכן הסוכן הבא צריך להמשיך</a:t>
            </a:r>
            <a:r>
              <a:t>.</a:t>
            </a:r>
          </a:p>
        </p:txBody>
      </p:sp>
    </p:spTree>
  </p:cSld>
  <p:clrMapOvr>
    <a:masterClrMapping/>
  </p:clrMapOvr>
  <p:transition xmlns:p14="http://schemas.microsoft.com/office/powerpoint/2010/main" spd="med" advClick="1"/>
</p:sld>
</file>

<file path=ppt/slides/slide4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FFF"/>
        </a:solidFill>
      </p:bgPr>
    </p:bg>
    <p:spTree>
      <p:nvGrpSpPr>
        <p:cNvPr id="1" name=""/>
        <p:cNvGrpSpPr/>
        <p:nvPr/>
      </p:nvGrpSpPr>
      <p:grpSpPr>
        <a:xfrm>
          <a:off x="0" y="0"/>
          <a:ext cx="0" cy="0"/>
          <a:chOff x="0" y="0"/>
          <a:chExt cx="0" cy="0"/>
        </a:xfrm>
      </p:grpSpPr>
      <p:sp>
        <p:nvSpPr>
          <p:cNvPr id="575" name="text"/>
          <p:cNvSpPr txBox="1"/>
          <p:nvPr/>
        </p:nvSpPr>
        <p:spPr>
          <a:xfrm>
            <a:off x="457200" y="323850"/>
            <a:ext cx="8229600" cy="431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b="1" sz="2800">
                <a:solidFill>
                  <a:srgbClr val="D75BE2"/>
                </a:solidFill>
                <a:latin typeface="Inter"/>
                <a:ea typeface="Inter"/>
                <a:cs typeface="Inter"/>
                <a:sym typeface="Inter"/>
              </a:defRPr>
            </a:pPr>
            <a:r>
              <a:rPr>
                <a:latin typeface="Arial"/>
                <a:ea typeface="Arial"/>
                <a:cs typeface="Arial"/>
                <a:sym typeface="Arial"/>
              </a:rPr>
              <a:t>תרגול</a:t>
            </a:r>
            <a:r>
              <a:t>: </a:t>
            </a:r>
            <a:r>
              <a:rPr>
                <a:latin typeface="Arial"/>
                <a:ea typeface="Arial"/>
                <a:cs typeface="Arial"/>
                <a:sym typeface="Arial"/>
              </a:rPr>
              <a:t>הסוכן של מחר</a:t>
            </a:r>
          </a:p>
        </p:txBody>
      </p:sp>
      <p:sp>
        <p:nvSpPr>
          <p:cNvPr id="576" name="text"/>
          <p:cNvSpPr txBox="1"/>
          <p:nvPr/>
        </p:nvSpPr>
        <p:spPr>
          <a:xfrm>
            <a:off x="5905500" y="4876800"/>
            <a:ext cx="2781300" cy="127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800">
                <a:solidFill>
                  <a:srgbClr val="705B73"/>
                </a:solidFill>
                <a:latin typeface="Inter"/>
                <a:ea typeface="Inter"/>
                <a:cs typeface="Inter"/>
                <a:sym typeface="Inter"/>
              </a:defRPr>
            </a:pPr>
            <a:r>
              <a:rPr>
                <a:latin typeface="Arial"/>
                <a:ea typeface="Arial"/>
                <a:cs typeface="Arial"/>
                <a:sym typeface="Arial"/>
              </a:rPr>
              <a:t>שיעור</a:t>
            </a:r>
            <a:r>
              <a:t>: </a:t>
            </a:r>
            <a:r>
              <a:rPr>
                <a:latin typeface="Arial"/>
                <a:ea typeface="Arial"/>
                <a:cs typeface="Arial"/>
                <a:sym typeface="Arial"/>
              </a:rPr>
              <a:t>פיתוח עם סוכני־קוד</a:t>
            </a:r>
          </a:p>
        </p:txBody>
      </p:sp>
      <p:sp>
        <p:nvSpPr>
          <p:cNvPr id="577" name="code"/>
          <p:cNvSpPr txBox="1"/>
          <p:nvPr/>
        </p:nvSpPr>
        <p:spPr>
          <a:xfrm>
            <a:off x="457200" y="4876800"/>
            <a:ext cx="333375" cy="127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defRPr sz="800">
                <a:solidFill>
                  <a:srgbClr val="705B73"/>
                </a:solidFill>
                <a:latin typeface="Inter"/>
                <a:ea typeface="Inter"/>
                <a:cs typeface="Inter"/>
                <a:sym typeface="Inter"/>
              </a:defRPr>
            </a:lvl1pPr>
          </a:lstStyle>
          <a:p>
            <a:pPr/>
            <a:r>
              <a:t>49</a:t>
            </a:r>
          </a:p>
        </p:txBody>
      </p:sp>
      <p:sp>
        <p:nvSpPr>
          <p:cNvPr id="578" name="text"/>
          <p:cNvSpPr txBox="1"/>
          <p:nvPr/>
        </p:nvSpPr>
        <p:spPr>
          <a:xfrm>
            <a:off x="457200" y="1238250"/>
            <a:ext cx="8229600" cy="2794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b="1">
                <a:solidFill>
                  <a:srgbClr val="272525"/>
                </a:solidFill>
                <a:latin typeface="Inter"/>
                <a:ea typeface="Inter"/>
                <a:cs typeface="Inter"/>
                <a:sym typeface="Inter"/>
              </a:defRPr>
            </a:pPr>
            <a:r>
              <a:rPr>
                <a:latin typeface="Arial"/>
                <a:ea typeface="Arial"/>
                <a:cs typeface="Arial"/>
                <a:sym typeface="Arial"/>
              </a:rPr>
              <a:t>שלב ראשון</a:t>
            </a:r>
            <a:r>
              <a:t>: </a:t>
            </a:r>
            <a:r>
              <a:rPr>
                <a:latin typeface="Arial"/>
                <a:ea typeface="Arial"/>
                <a:cs typeface="Arial"/>
                <a:sym typeface="Arial"/>
              </a:rPr>
              <a:t>הגדרת המשימה</a:t>
            </a:r>
          </a:p>
        </p:txBody>
      </p:sp>
      <p:sp>
        <p:nvSpPr>
          <p:cNvPr id="579" name="text"/>
          <p:cNvSpPr txBox="1"/>
          <p:nvPr/>
        </p:nvSpPr>
        <p:spPr>
          <a:xfrm>
            <a:off x="457200" y="1571625"/>
            <a:ext cx="8229600" cy="241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1600">
                <a:solidFill>
                  <a:srgbClr val="272525"/>
                </a:solidFill>
                <a:latin typeface="Inter"/>
                <a:ea typeface="Inter"/>
                <a:cs typeface="Inter"/>
                <a:sym typeface="Inter"/>
              </a:defRPr>
            </a:pPr>
            <a:r>
              <a:rPr>
                <a:latin typeface="Arial"/>
                <a:ea typeface="Arial"/>
                <a:cs typeface="Arial"/>
                <a:sym typeface="Arial"/>
              </a:rPr>
              <a:t>בוחרים שינוי קטן ושומרים אפיון</a:t>
            </a:r>
            <a:r>
              <a:t>, </a:t>
            </a:r>
            <a:r>
              <a:rPr>
                <a:latin typeface="Arial"/>
                <a:ea typeface="Arial"/>
                <a:cs typeface="Arial"/>
                <a:sym typeface="Arial"/>
              </a:rPr>
              <a:t>הנחיות ומצב עבודה</a:t>
            </a:r>
            <a:r>
              <a:t>.</a:t>
            </a:r>
          </a:p>
        </p:txBody>
      </p:sp>
      <p:sp>
        <p:nvSpPr>
          <p:cNvPr id="580" name="text"/>
          <p:cNvSpPr txBox="1"/>
          <p:nvPr/>
        </p:nvSpPr>
        <p:spPr>
          <a:xfrm>
            <a:off x="457200" y="2219325"/>
            <a:ext cx="8229600" cy="2794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b="1">
                <a:solidFill>
                  <a:srgbClr val="272525"/>
                </a:solidFill>
                <a:latin typeface="Inter"/>
                <a:ea typeface="Inter"/>
                <a:cs typeface="Inter"/>
                <a:sym typeface="Inter"/>
              </a:defRPr>
            </a:pPr>
            <a:r>
              <a:rPr>
                <a:latin typeface="Arial"/>
                <a:ea typeface="Arial"/>
                <a:cs typeface="Arial"/>
                <a:sym typeface="Arial"/>
              </a:rPr>
              <a:t>שלב שני</a:t>
            </a:r>
            <a:r>
              <a:t>: </a:t>
            </a:r>
            <a:r>
              <a:rPr>
                <a:latin typeface="Arial"/>
                <a:ea typeface="Arial"/>
                <a:cs typeface="Arial"/>
                <a:sym typeface="Arial"/>
              </a:rPr>
              <a:t>פיתוח ובקרה</a:t>
            </a:r>
          </a:p>
        </p:txBody>
      </p:sp>
      <p:sp>
        <p:nvSpPr>
          <p:cNvPr id="581" name="text"/>
          <p:cNvSpPr txBox="1"/>
          <p:nvPr/>
        </p:nvSpPr>
        <p:spPr>
          <a:xfrm>
            <a:off x="457200" y="2552700"/>
            <a:ext cx="8229600" cy="241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1600">
                <a:solidFill>
                  <a:srgbClr val="272525"/>
                </a:solidFill>
                <a:latin typeface="Inter"/>
                <a:ea typeface="Inter"/>
                <a:cs typeface="Inter"/>
                <a:sym typeface="Inter"/>
              </a:defRPr>
            </a:pPr>
            <a:r>
              <a:rPr>
                <a:latin typeface="Arial"/>
                <a:ea typeface="Arial"/>
                <a:cs typeface="Arial"/>
                <a:sym typeface="Arial"/>
              </a:rPr>
              <a:t>מממשים התנהגות אחת בשיטת </a:t>
            </a:r>
            <a:r>
              <a:t>TDD </a:t>
            </a:r>
            <a:r>
              <a:rPr>
                <a:latin typeface="Arial"/>
                <a:ea typeface="Arial"/>
                <a:cs typeface="Arial"/>
                <a:sym typeface="Arial"/>
              </a:rPr>
              <a:t>ומבקשים סקירה ממוקדת</a:t>
            </a:r>
            <a:r>
              <a:t>.</a:t>
            </a:r>
          </a:p>
        </p:txBody>
      </p:sp>
      <p:sp>
        <p:nvSpPr>
          <p:cNvPr id="582" name="text"/>
          <p:cNvSpPr txBox="1"/>
          <p:nvPr/>
        </p:nvSpPr>
        <p:spPr>
          <a:xfrm>
            <a:off x="457200" y="3200400"/>
            <a:ext cx="8229600" cy="2794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b="1">
                <a:solidFill>
                  <a:srgbClr val="272525"/>
                </a:solidFill>
                <a:latin typeface="Inter"/>
                <a:ea typeface="Inter"/>
                <a:cs typeface="Inter"/>
                <a:sym typeface="Inter"/>
              </a:defRPr>
            </a:pPr>
            <a:r>
              <a:rPr>
                <a:latin typeface="Arial"/>
                <a:ea typeface="Arial"/>
                <a:cs typeface="Arial"/>
                <a:sym typeface="Arial"/>
              </a:rPr>
              <a:t>שלב שלישי</a:t>
            </a:r>
            <a:r>
              <a:t>: </a:t>
            </a:r>
            <a:r>
              <a:rPr>
                <a:latin typeface="Arial"/>
                <a:ea typeface="Arial"/>
                <a:cs typeface="Arial"/>
                <a:sym typeface="Arial"/>
              </a:rPr>
              <a:t>שיחה חדשה</a:t>
            </a:r>
          </a:p>
        </p:txBody>
      </p:sp>
      <p:sp>
        <p:nvSpPr>
          <p:cNvPr id="583" name="text"/>
          <p:cNvSpPr txBox="1"/>
          <p:nvPr/>
        </p:nvSpPr>
        <p:spPr>
          <a:xfrm>
            <a:off x="457200" y="3533775"/>
            <a:ext cx="8229600" cy="241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1600">
                <a:solidFill>
                  <a:srgbClr val="272525"/>
                </a:solidFill>
                <a:latin typeface="Inter"/>
                <a:ea typeface="Inter"/>
                <a:cs typeface="Inter"/>
                <a:sym typeface="Inter"/>
              </a:defRPr>
            </a:pPr>
            <a:r>
              <a:rPr>
                <a:latin typeface="Arial"/>
                <a:ea typeface="Arial"/>
                <a:cs typeface="Arial"/>
                <a:sym typeface="Arial"/>
              </a:rPr>
              <a:t>מבקשים מסוכן חדש להסביר את המצב ולהציע את הצעד הבא מתוך הקבצים</a:t>
            </a:r>
            <a:r>
              <a:t>.</a:t>
            </a:r>
          </a:p>
        </p:txBody>
      </p:sp>
      <p:sp>
        <p:nvSpPr>
          <p:cNvPr id="584" name="Rectangle"/>
          <p:cNvSpPr/>
          <p:nvPr/>
        </p:nvSpPr>
        <p:spPr>
          <a:xfrm>
            <a:off x="457200" y="4248150"/>
            <a:ext cx="8229600" cy="466725"/>
          </a:xfrm>
          <a:prstGeom prst="rect">
            <a:avLst/>
          </a:prstGeom>
          <a:solidFill>
            <a:srgbClr val="F4D4F7"/>
          </a:solidFill>
          <a:ln w="12700">
            <a:miter lim="400000"/>
          </a:ln>
        </p:spPr>
        <p:txBody>
          <a:bodyPr lIns="0" tIns="0" rIns="0" bIns="0"/>
          <a:lstStyle/>
          <a:p>
            <a:pPr/>
          </a:p>
        </p:txBody>
      </p:sp>
      <p:sp>
        <p:nvSpPr>
          <p:cNvPr id="585" name="text"/>
          <p:cNvSpPr txBox="1"/>
          <p:nvPr/>
        </p:nvSpPr>
        <p:spPr>
          <a:xfrm>
            <a:off x="619125" y="4343400"/>
            <a:ext cx="7905750" cy="2286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b="1" sz="1500">
                <a:solidFill>
                  <a:srgbClr val="272525"/>
                </a:solidFill>
                <a:latin typeface="Inter"/>
                <a:ea typeface="Inter"/>
                <a:cs typeface="Inter"/>
                <a:sym typeface="Inter"/>
              </a:defRPr>
            </a:pPr>
            <a:r>
              <a:rPr>
                <a:latin typeface="Arial"/>
                <a:ea typeface="Arial"/>
                <a:cs typeface="Arial"/>
                <a:sym typeface="Arial"/>
              </a:rPr>
              <a:t>מבחן ההצלחה</a:t>
            </a:r>
            <a:r>
              <a:t>: </a:t>
            </a:r>
            <a:r>
              <a:rPr>
                <a:latin typeface="Arial"/>
                <a:ea typeface="Arial"/>
                <a:cs typeface="Arial"/>
                <a:sym typeface="Arial"/>
              </a:rPr>
              <a:t>המשך עבודה ללא הסבר מחדש של הפרויקט</a:t>
            </a:r>
            <a:r>
              <a:t>.</a:t>
            </a:r>
          </a:p>
        </p:txBody>
      </p:sp>
    </p:spTree>
  </p:cSld>
  <p:clrMapOvr>
    <a:masterClrMapping/>
  </p:clrMapOvr>
  <p:transition xmlns:p14="http://schemas.microsoft.com/office/powerpoint/2010/main" spd="med" advClick="1"/>
</p:sld>
</file>

<file path=ppt/slides/slide5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FFF"/>
        </a:solidFill>
      </p:bgPr>
    </p:bg>
    <p:spTree>
      <p:nvGrpSpPr>
        <p:cNvPr id="1" name=""/>
        <p:cNvGrpSpPr/>
        <p:nvPr/>
      </p:nvGrpSpPr>
      <p:grpSpPr>
        <a:xfrm>
          <a:off x="0" y="0"/>
          <a:ext cx="0" cy="0"/>
          <a:chOff x="0" y="0"/>
          <a:chExt cx="0" cy="0"/>
        </a:xfrm>
      </p:grpSpPr>
      <p:sp>
        <p:nvSpPr>
          <p:cNvPr id="589" name="text"/>
          <p:cNvSpPr txBox="1"/>
          <p:nvPr/>
        </p:nvSpPr>
        <p:spPr>
          <a:xfrm>
            <a:off x="457200" y="323850"/>
            <a:ext cx="8229600" cy="431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b="1" sz="2800">
                <a:solidFill>
                  <a:srgbClr val="D75BE2"/>
                </a:solidFill>
                <a:latin typeface="Inter"/>
                <a:ea typeface="Inter"/>
                <a:cs typeface="Inter"/>
                <a:sym typeface="Inter"/>
              </a:defRPr>
            </a:pPr>
            <a:r>
              <a:rPr>
                <a:latin typeface="Arial"/>
                <a:ea typeface="Arial"/>
                <a:cs typeface="Arial"/>
                <a:sym typeface="Arial"/>
              </a:rPr>
              <a:t>מה נשאר בתיקייה בסיום</a:t>
            </a:r>
            <a:r>
              <a:t>?</a:t>
            </a:r>
          </a:p>
        </p:txBody>
      </p:sp>
      <p:sp>
        <p:nvSpPr>
          <p:cNvPr id="590" name="text"/>
          <p:cNvSpPr txBox="1"/>
          <p:nvPr/>
        </p:nvSpPr>
        <p:spPr>
          <a:xfrm>
            <a:off x="5905500" y="4876800"/>
            <a:ext cx="2781300" cy="127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800">
                <a:solidFill>
                  <a:srgbClr val="705B73"/>
                </a:solidFill>
                <a:latin typeface="Inter"/>
                <a:ea typeface="Inter"/>
                <a:cs typeface="Inter"/>
                <a:sym typeface="Inter"/>
              </a:defRPr>
            </a:pPr>
            <a:r>
              <a:rPr>
                <a:latin typeface="Arial"/>
                <a:ea typeface="Arial"/>
                <a:cs typeface="Arial"/>
                <a:sym typeface="Arial"/>
              </a:rPr>
              <a:t>שיעור</a:t>
            </a:r>
            <a:r>
              <a:t>: </a:t>
            </a:r>
            <a:r>
              <a:rPr>
                <a:latin typeface="Arial"/>
                <a:ea typeface="Arial"/>
                <a:cs typeface="Arial"/>
                <a:sym typeface="Arial"/>
              </a:rPr>
              <a:t>פיתוח עם סוכני־קוד</a:t>
            </a:r>
          </a:p>
        </p:txBody>
      </p:sp>
      <p:sp>
        <p:nvSpPr>
          <p:cNvPr id="591" name="code"/>
          <p:cNvSpPr txBox="1"/>
          <p:nvPr/>
        </p:nvSpPr>
        <p:spPr>
          <a:xfrm>
            <a:off x="457200" y="4876800"/>
            <a:ext cx="333375" cy="127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defRPr sz="800">
                <a:solidFill>
                  <a:srgbClr val="705B73"/>
                </a:solidFill>
                <a:latin typeface="Inter"/>
                <a:ea typeface="Inter"/>
                <a:cs typeface="Inter"/>
                <a:sym typeface="Inter"/>
              </a:defRPr>
            </a:lvl1pPr>
          </a:lstStyle>
          <a:p>
            <a:pPr/>
            <a:r>
              <a:t>50</a:t>
            </a:r>
          </a:p>
        </p:txBody>
      </p:sp>
      <p:pic>
        <p:nvPicPr>
          <p:cNvPr id="592" name="image13.png" descr="image13.png"/>
          <p:cNvPicPr>
            <a:picLocks noChangeAspect="1"/>
          </p:cNvPicPr>
          <p:nvPr/>
        </p:nvPicPr>
        <p:blipFill>
          <a:blip r:embed="rId3">
            <a:extLst/>
          </a:blip>
          <a:stretch>
            <a:fillRect/>
          </a:stretch>
        </p:blipFill>
        <p:spPr>
          <a:xfrm>
            <a:off x="790333" y="1238250"/>
            <a:ext cx="1981685" cy="2971800"/>
          </a:xfrm>
          <a:prstGeom prst="rect">
            <a:avLst/>
          </a:prstGeom>
          <a:ln w="12700">
            <a:miter lim="400000"/>
          </a:ln>
        </p:spPr>
      </p:pic>
      <p:sp>
        <p:nvSpPr>
          <p:cNvPr id="593" name="text"/>
          <p:cNvSpPr txBox="1"/>
          <p:nvPr/>
        </p:nvSpPr>
        <p:spPr>
          <a:xfrm>
            <a:off x="3619500" y="1257300"/>
            <a:ext cx="5048250" cy="25922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defRPr b="1">
                <a:solidFill>
                  <a:srgbClr val="272525"/>
                </a:solidFill>
              </a:defRPr>
            </a:lvl1pPr>
          </a:lstStyle>
          <a:p>
            <a:pPr>
              <a:defRPr>
                <a:latin typeface="Inter"/>
                <a:ea typeface="Inter"/>
                <a:cs typeface="Inter"/>
                <a:sym typeface="Inter"/>
              </a:defRPr>
            </a:pPr>
            <a:r>
              <a:rPr>
                <a:latin typeface="Arial"/>
                <a:ea typeface="Arial"/>
                <a:cs typeface="Arial"/>
                <a:sym typeface="Arial"/>
              </a:rPr>
              <a:t>ידע שאפשר להעביר</a:t>
            </a:r>
          </a:p>
        </p:txBody>
      </p:sp>
      <p:sp>
        <p:nvSpPr>
          <p:cNvPr id="594" name="text"/>
          <p:cNvSpPr txBox="1"/>
          <p:nvPr/>
        </p:nvSpPr>
        <p:spPr>
          <a:xfrm>
            <a:off x="3619500" y="1590675"/>
            <a:ext cx="5048250" cy="241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1600">
                <a:solidFill>
                  <a:srgbClr val="272525"/>
                </a:solidFill>
                <a:latin typeface="Inter"/>
                <a:ea typeface="Inter"/>
                <a:cs typeface="Inter"/>
                <a:sym typeface="Inter"/>
              </a:defRPr>
            </a:pPr>
            <a:r>
              <a:rPr>
                <a:latin typeface="Arial"/>
                <a:ea typeface="Arial"/>
                <a:cs typeface="Arial"/>
                <a:sym typeface="Arial"/>
              </a:rPr>
              <a:t>אפיון עדכני</a:t>
            </a:r>
            <a:r>
              <a:t>, </a:t>
            </a:r>
            <a:r>
              <a:rPr>
                <a:latin typeface="Arial"/>
                <a:ea typeface="Arial"/>
                <a:cs typeface="Arial"/>
                <a:sym typeface="Arial"/>
              </a:rPr>
              <a:t>החלטות מתועדות והוראות הפעלה</a:t>
            </a:r>
            <a:r>
              <a:t>.</a:t>
            </a:r>
          </a:p>
        </p:txBody>
      </p:sp>
      <p:sp>
        <p:nvSpPr>
          <p:cNvPr id="595" name="text"/>
          <p:cNvSpPr txBox="1"/>
          <p:nvPr/>
        </p:nvSpPr>
        <p:spPr>
          <a:xfrm>
            <a:off x="3619500" y="2305050"/>
            <a:ext cx="5048250" cy="25922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defRPr b="1">
                <a:solidFill>
                  <a:srgbClr val="272525"/>
                </a:solidFill>
              </a:defRPr>
            </a:lvl1pPr>
          </a:lstStyle>
          <a:p>
            <a:pPr>
              <a:defRPr>
                <a:latin typeface="Inter"/>
                <a:ea typeface="Inter"/>
                <a:cs typeface="Inter"/>
                <a:sym typeface="Inter"/>
              </a:defRPr>
            </a:pPr>
            <a:r>
              <a:rPr>
                <a:latin typeface="Arial"/>
                <a:ea typeface="Arial"/>
                <a:cs typeface="Arial"/>
                <a:sym typeface="Arial"/>
              </a:rPr>
              <a:t>תוצר שאפשר לבדוק</a:t>
            </a:r>
          </a:p>
        </p:txBody>
      </p:sp>
      <p:sp>
        <p:nvSpPr>
          <p:cNvPr id="596" name="text"/>
          <p:cNvSpPr txBox="1"/>
          <p:nvPr/>
        </p:nvSpPr>
        <p:spPr>
          <a:xfrm>
            <a:off x="3619500" y="2638425"/>
            <a:ext cx="5048250" cy="241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1600">
                <a:solidFill>
                  <a:srgbClr val="272525"/>
                </a:solidFill>
                <a:latin typeface="Inter"/>
                <a:ea typeface="Inter"/>
                <a:cs typeface="Inter"/>
                <a:sym typeface="Inter"/>
              </a:defRPr>
            </a:pPr>
            <a:r>
              <a:rPr>
                <a:latin typeface="Arial"/>
                <a:ea typeface="Arial"/>
                <a:cs typeface="Arial"/>
                <a:sym typeface="Arial"/>
              </a:rPr>
              <a:t>קוד</a:t>
            </a:r>
            <a:r>
              <a:t>, </a:t>
            </a:r>
            <a:r>
              <a:rPr>
                <a:latin typeface="Arial"/>
                <a:ea typeface="Arial"/>
                <a:cs typeface="Arial"/>
                <a:sym typeface="Arial"/>
              </a:rPr>
              <a:t>בדיקות ותוצאות אימות שמקושרות לדרישות</a:t>
            </a:r>
            <a:r>
              <a:t>.</a:t>
            </a:r>
          </a:p>
        </p:txBody>
      </p:sp>
      <p:sp>
        <p:nvSpPr>
          <p:cNvPr id="597" name="text"/>
          <p:cNvSpPr txBox="1"/>
          <p:nvPr/>
        </p:nvSpPr>
        <p:spPr>
          <a:xfrm>
            <a:off x="3619500" y="3352800"/>
            <a:ext cx="5048250" cy="25922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rtl="1">
              <a:defRPr b="1">
                <a:solidFill>
                  <a:srgbClr val="272525"/>
                </a:solidFill>
              </a:defRPr>
            </a:lvl1pPr>
          </a:lstStyle>
          <a:p>
            <a:pPr>
              <a:defRPr>
                <a:latin typeface="Inter"/>
                <a:ea typeface="Inter"/>
                <a:cs typeface="Inter"/>
                <a:sym typeface="Inter"/>
              </a:defRPr>
            </a:pPr>
            <a:r>
              <a:rPr>
                <a:latin typeface="Arial"/>
                <a:ea typeface="Arial"/>
                <a:cs typeface="Arial"/>
                <a:sym typeface="Arial"/>
              </a:rPr>
              <a:t>המשך עבודה ברור</a:t>
            </a:r>
          </a:p>
        </p:txBody>
      </p:sp>
      <p:sp>
        <p:nvSpPr>
          <p:cNvPr id="598" name="text"/>
          <p:cNvSpPr txBox="1"/>
          <p:nvPr/>
        </p:nvSpPr>
        <p:spPr>
          <a:xfrm>
            <a:off x="3619500" y="3686175"/>
            <a:ext cx="5048250" cy="241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rtl="1">
              <a:defRPr sz="1600">
                <a:solidFill>
                  <a:srgbClr val="272525"/>
                </a:solidFill>
                <a:latin typeface="Inter"/>
                <a:ea typeface="Inter"/>
                <a:cs typeface="Inter"/>
                <a:sym typeface="Inter"/>
              </a:defRPr>
            </a:pPr>
            <a:r>
              <a:rPr>
                <a:latin typeface="Arial"/>
                <a:ea typeface="Arial"/>
                <a:cs typeface="Arial"/>
                <a:sym typeface="Arial"/>
              </a:rPr>
              <a:t>מצב הפרויקט והמשימה הבאה</a:t>
            </a:r>
            <a:r>
              <a:t>, </a:t>
            </a:r>
            <a:r>
              <a:rPr>
                <a:latin typeface="Arial"/>
                <a:ea typeface="Arial"/>
                <a:cs typeface="Arial"/>
                <a:sym typeface="Arial"/>
              </a:rPr>
              <a:t>גם למי שלא קרא את השיחה</a:t>
            </a:r>
            <a:r>
              <a:t>.</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Helvetica Neue"/>
        <a:ea typeface="Helvetica Neue"/>
        <a:cs typeface="Helvetica Neue"/>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0" tIns="0" rIns="0" bIns="0"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Arial"/>
            <a:ea typeface="Arial"/>
            <a:cs typeface="Arial"/>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0" tIns="0" rIns="0" bIns="0"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Arial"/>
            <a:ea typeface="Arial"/>
            <a:cs typeface="Arial"/>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Helvetica Neue"/>
        <a:ea typeface="Helvetica Neue"/>
        <a:cs typeface="Helvetica Neue"/>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0" tIns="0" rIns="0" bIns="0"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Arial"/>
            <a:ea typeface="Arial"/>
            <a:cs typeface="Arial"/>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0" tIns="0" rIns="0" bIns="0"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Arial"/>
            <a:ea typeface="Arial"/>
            <a:cs typeface="Arial"/>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