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0d8cb98fcc4ad7" /><Relationship Type="http://schemas.openxmlformats.org/officeDocument/2006/relationships/extended-properties" Target="/docProps/app.xml" Id="Rbfa06c60948a4751" /><Relationship Type="http://schemas.openxmlformats.org/officeDocument/2006/relationships/officeDocument" Target="/ppt/presentation.xml" Id="R1715e302a3574ff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350b5937e944283"/>
  </p:sldMasterIdLst>
  <p:notesMasterIdLst>
    <p:notesMasterId xmlns:r="http://schemas.openxmlformats.org/officeDocument/2006/relationships" r:id="Ra9d9d2b0d38f401d"/>
  </p:notesMasterIdLst>
  <p:sldIdLst>
    <p:sldId xmlns:r="http://schemas.openxmlformats.org/officeDocument/2006/relationships" id="256" r:id="Rd94f76a515484490"/>
    <p:sldId xmlns:r="http://schemas.openxmlformats.org/officeDocument/2006/relationships" id="257" r:id="Rfd1ae5607bbb4d38"/>
    <p:sldId xmlns:r="http://schemas.openxmlformats.org/officeDocument/2006/relationships" id="258" r:id="R5e7c03bbc0ec44ab"/>
    <p:sldId xmlns:r="http://schemas.openxmlformats.org/officeDocument/2006/relationships" id="259" r:id="Radfba8cd6e5a495d"/>
    <p:sldId xmlns:r="http://schemas.openxmlformats.org/officeDocument/2006/relationships" id="260" r:id="R2c64ec13a74d4c4f"/>
    <p:sldId xmlns:r="http://schemas.openxmlformats.org/officeDocument/2006/relationships" id="261" r:id="R3cd5afa467cc46fd"/>
    <p:sldId xmlns:r="http://schemas.openxmlformats.org/officeDocument/2006/relationships" id="262" r:id="R96d65efc8b154e72"/>
    <p:sldId xmlns:r="http://schemas.openxmlformats.org/officeDocument/2006/relationships" id="263" r:id="Rcc4b346b8f774bcc"/>
    <p:sldId xmlns:r="http://schemas.openxmlformats.org/officeDocument/2006/relationships" id="264" r:id="R71cb5fcf56744bfc"/>
    <p:sldId xmlns:r="http://schemas.openxmlformats.org/officeDocument/2006/relationships" id="265" r:id="Re60eb839731b499d"/>
    <p:sldId xmlns:r="http://schemas.openxmlformats.org/officeDocument/2006/relationships" id="266" r:id="R47348fe0357941a2"/>
    <p:sldId xmlns:r="http://schemas.openxmlformats.org/officeDocument/2006/relationships" id="267" r:id="Rb03eee21e75648e5"/>
    <p:sldId xmlns:r="http://schemas.openxmlformats.org/officeDocument/2006/relationships" id="268" r:id="R06556ffd03bf4b06"/>
    <p:sldId xmlns:r="http://schemas.openxmlformats.org/officeDocument/2006/relationships" id="269" r:id="R874bdcc3eea44114"/>
    <p:sldId xmlns:r="http://schemas.openxmlformats.org/officeDocument/2006/relationships" id="270" r:id="Rc52eec7842da4a43"/>
    <p:sldId xmlns:r="http://schemas.openxmlformats.org/officeDocument/2006/relationships" id="271" r:id="R03dff8e1d7864900"/>
    <p:sldId xmlns:r="http://schemas.openxmlformats.org/officeDocument/2006/relationships" id="272" r:id="Re8b70219d0a94521"/>
    <p:sldId xmlns:r="http://schemas.openxmlformats.org/officeDocument/2006/relationships" id="273" r:id="R797fdc888e8a4d88"/>
    <p:sldId xmlns:r="http://schemas.openxmlformats.org/officeDocument/2006/relationships" id="274" r:id="R3114029d61214b61"/>
    <p:sldId xmlns:r="http://schemas.openxmlformats.org/officeDocument/2006/relationships" id="275" r:id="R26126917ceb342b8"/>
    <p:sldId xmlns:r="http://schemas.openxmlformats.org/officeDocument/2006/relationships" id="276" r:id="R802774093eb2450c"/>
    <p:sldId xmlns:r="http://schemas.openxmlformats.org/officeDocument/2006/relationships" id="277" r:id="R65f7a123c9404069"/>
    <p:sldId xmlns:r="http://schemas.openxmlformats.org/officeDocument/2006/relationships" id="278" r:id="R3d73737edc4f41e7"/>
    <p:sldId xmlns:r="http://schemas.openxmlformats.org/officeDocument/2006/relationships" id="279" r:id="R54ddae052bad408a"/>
    <p:sldId xmlns:r="http://schemas.openxmlformats.org/officeDocument/2006/relationships" id="280" r:id="R4a615e848f9b4301"/>
    <p:sldId xmlns:r="http://schemas.openxmlformats.org/officeDocument/2006/relationships" id="281" r:id="R4c4bda62771e46d7"/>
    <p:sldId xmlns:r="http://schemas.openxmlformats.org/officeDocument/2006/relationships" id="282" r:id="Reb6dc1bacffb43e0"/>
    <p:sldId xmlns:r="http://schemas.openxmlformats.org/officeDocument/2006/relationships" id="283" r:id="R569afbd61b184038"/>
    <p:sldId xmlns:r="http://schemas.openxmlformats.org/officeDocument/2006/relationships" id="284" r:id="R4926f4a8eae14189"/>
    <p:sldId xmlns:r="http://schemas.openxmlformats.org/officeDocument/2006/relationships" id="285" r:id="R596e07d2207447e1"/>
    <p:sldId xmlns:r="http://schemas.openxmlformats.org/officeDocument/2006/relationships" id="286" r:id="R27299ba9ef644f9e"/>
    <p:sldId xmlns:r="http://schemas.openxmlformats.org/officeDocument/2006/relationships" id="287" r:id="R2c0a4c1412e642cd"/>
    <p:sldId xmlns:r="http://schemas.openxmlformats.org/officeDocument/2006/relationships" id="288" r:id="R10046af8aa5a4194"/>
    <p:sldId xmlns:r="http://schemas.openxmlformats.org/officeDocument/2006/relationships" id="289" r:id="Rc3d82371761746b5"/>
    <p:sldId xmlns:r="http://schemas.openxmlformats.org/officeDocument/2006/relationships" id="290" r:id="Rf3185e94e679497e"/>
    <p:sldId xmlns:r="http://schemas.openxmlformats.org/officeDocument/2006/relationships" id="291" r:id="Re0f7355ad3574306"/>
    <p:sldId xmlns:r="http://schemas.openxmlformats.org/officeDocument/2006/relationships" id="292" r:id="R8eff34fadd484072"/>
    <p:sldId xmlns:r="http://schemas.openxmlformats.org/officeDocument/2006/relationships" id="293" r:id="Rbdb7cb4db2414460"/>
    <p:sldId xmlns:r="http://schemas.openxmlformats.org/officeDocument/2006/relationships" id="294" r:id="R7e7aa0cc8ee34a01"/>
    <p:sldId xmlns:r="http://schemas.openxmlformats.org/officeDocument/2006/relationships" id="295" r:id="Rd48085ec6ee04d46"/>
    <p:sldId xmlns:r="http://schemas.openxmlformats.org/officeDocument/2006/relationships" id="296" r:id="Rc3cfeceb335e495d"/>
    <p:sldId xmlns:r="http://schemas.openxmlformats.org/officeDocument/2006/relationships" id="297" r:id="Rb5b432f9e8a34ac2"/>
  </p:sldIdLst>
  <p:sldSz cx="9144000" cy="5143500"/>
  <p:notesSz cx="6858000" cy="9144000"/>
  <p:embeddedFontLst>
    <p:embeddedFont>
      <p:font typeface="Inter Light"/>
      <p:regular xmlns:r="http://schemas.openxmlformats.org/officeDocument/2006/relationships" r:id="R7ea77b3fb6a244c7"/>
      <p:bold xmlns:r="http://schemas.openxmlformats.org/officeDocument/2006/relationships" r:id="Rd8cd47d516a24b24"/>
      <p:italic xmlns:r="http://schemas.openxmlformats.org/officeDocument/2006/relationships" r:id="R95b166f5140e4688"/>
      <p:boldItalic xmlns:r="http://schemas.openxmlformats.org/officeDocument/2006/relationships" r:id="R89d8e5f27cf14ab6"/>
    </p:embeddedFont>
    <p:embeddedFont>
      <p:font typeface="Inter"/>
      <p:bold xmlns:r="http://schemas.openxmlformats.org/officeDocument/2006/relationships" r:id="R4367df6db334452e"/>
      <p:boldItalic xmlns:r="http://schemas.openxmlformats.org/officeDocument/2006/relationships" r:id="R8ada5c42119b4ce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c30ff42c5449b5" /><Relationship Type="http://schemas.openxmlformats.org/officeDocument/2006/relationships/slideMaster" Target="/ppt/slideMasters/slideMaster1.xml" Id="Ra350b5937e944283" /><Relationship Type="http://schemas.openxmlformats.org/officeDocument/2006/relationships/notesMaster" Target="/ppt/notesMasters/notesMaster1.xml" Id="Ra9d9d2b0d38f401d" /><Relationship Type="http://schemas.openxmlformats.org/officeDocument/2006/relationships/presProps" Target="/ppt/presProps.xml" Id="Rb35beddb93a94b4f" /><Relationship Type="http://schemas.openxmlformats.org/officeDocument/2006/relationships/tableStyles" Target="/ppt/tableStyles.xml" Id="Ra9b773d8a3e5405d" /><Relationship Type="http://schemas.openxmlformats.org/officeDocument/2006/relationships/font" Target="/ppt/fonts/font.dat" Id="R7ea77b3fb6a244c7" /><Relationship Type="http://schemas.openxmlformats.org/officeDocument/2006/relationships/font" Target="/ppt/fonts/font2.dat" Id="Rd8cd47d516a24b24" /><Relationship Type="http://schemas.openxmlformats.org/officeDocument/2006/relationships/font" Target="/ppt/fonts/font3.dat" Id="R95b166f5140e4688" /><Relationship Type="http://schemas.openxmlformats.org/officeDocument/2006/relationships/font" Target="/ppt/fonts/font4.dat" Id="R89d8e5f27cf14ab6" /><Relationship Type="http://schemas.openxmlformats.org/officeDocument/2006/relationships/font" Target="/ppt/fonts/font5.dat" Id="R4367df6db334452e" /><Relationship Type="http://schemas.openxmlformats.org/officeDocument/2006/relationships/font" Target="/ppt/fonts/font6.dat" Id="R8ada5c42119b4ce7" /><Relationship Type="http://schemas.openxmlformats.org/officeDocument/2006/relationships/slide" Target="/ppt/slides/slide1.xml" Id="Rd94f76a515484490" /><Relationship Type="http://schemas.openxmlformats.org/officeDocument/2006/relationships/slide" Target="/ppt/slides/slide2.xml" Id="Rfd1ae5607bbb4d38" /><Relationship Type="http://schemas.openxmlformats.org/officeDocument/2006/relationships/slide" Target="/ppt/slides/slide3.xml" Id="R5e7c03bbc0ec44ab" /><Relationship Type="http://schemas.openxmlformats.org/officeDocument/2006/relationships/slide" Target="/ppt/slides/slide4.xml" Id="Radfba8cd6e5a495d" /><Relationship Type="http://schemas.openxmlformats.org/officeDocument/2006/relationships/slide" Target="/ppt/slides/slide5.xml" Id="R2c64ec13a74d4c4f" /><Relationship Type="http://schemas.openxmlformats.org/officeDocument/2006/relationships/slide" Target="/ppt/slides/slide6.xml" Id="R3cd5afa467cc46fd" /><Relationship Type="http://schemas.openxmlformats.org/officeDocument/2006/relationships/slide" Target="/ppt/slides/slide7.xml" Id="R96d65efc8b154e72" /><Relationship Type="http://schemas.openxmlformats.org/officeDocument/2006/relationships/slide" Target="/ppt/slides/slide8.xml" Id="Rcc4b346b8f774bcc" /><Relationship Type="http://schemas.openxmlformats.org/officeDocument/2006/relationships/slide" Target="/ppt/slides/slide9.xml" Id="R71cb5fcf56744bfc" /><Relationship Type="http://schemas.openxmlformats.org/officeDocument/2006/relationships/slide" Target="/ppt/slides/slide10.xml" Id="Re60eb839731b499d" /><Relationship Type="http://schemas.openxmlformats.org/officeDocument/2006/relationships/slide" Target="/ppt/slides/slide11.xml" Id="R47348fe0357941a2" /><Relationship Type="http://schemas.openxmlformats.org/officeDocument/2006/relationships/slide" Target="/ppt/slides/slide12.xml" Id="Rb03eee21e75648e5" /><Relationship Type="http://schemas.openxmlformats.org/officeDocument/2006/relationships/slide" Target="/ppt/slides/slide13.xml" Id="R06556ffd03bf4b06" /><Relationship Type="http://schemas.openxmlformats.org/officeDocument/2006/relationships/slide" Target="/ppt/slides/slide14.xml" Id="R874bdcc3eea44114" /><Relationship Type="http://schemas.openxmlformats.org/officeDocument/2006/relationships/slide" Target="/ppt/slides/slide15.xml" Id="Rc52eec7842da4a43" /><Relationship Type="http://schemas.openxmlformats.org/officeDocument/2006/relationships/slide" Target="/ppt/slides/slide16.xml" Id="R03dff8e1d7864900" /><Relationship Type="http://schemas.openxmlformats.org/officeDocument/2006/relationships/slide" Target="/ppt/slides/slide17.xml" Id="Re8b70219d0a94521" /><Relationship Type="http://schemas.openxmlformats.org/officeDocument/2006/relationships/slide" Target="/ppt/slides/slide18.xml" Id="R797fdc888e8a4d88" /><Relationship Type="http://schemas.openxmlformats.org/officeDocument/2006/relationships/slide" Target="/ppt/slides/slide19.xml" Id="R3114029d61214b61" /><Relationship Type="http://schemas.openxmlformats.org/officeDocument/2006/relationships/slide" Target="/ppt/slides/slide20.xml" Id="R26126917ceb342b8" /><Relationship Type="http://schemas.openxmlformats.org/officeDocument/2006/relationships/slide" Target="/ppt/slides/slide21.xml" Id="R802774093eb2450c" /><Relationship Type="http://schemas.openxmlformats.org/officeDocument/2006/relationships/slide" Target="/ppt/slides/slide22.xml" Id="R65f7a123c9404069" /><Relationship Type="http://schemas.openxmlformats.org/officeDocument/2006/relationships/slide" Target="/ppt/slides/slide23.xml" Id="R3d73737edc4f41e7" /><Relationship Type="http://schemas.openxmlformats.org/officeDocument/2006/relationships/slide" Target="/ppt/slides/slide24.xml" Id="R54ddae052bad408a" /><Relationship Type="http://schemas.openxmlformats.org/officeDocument/2006/relationships/slide" Target="/ppt/slides/slide25.xml" Id="R4a615e848f9b4301" /><Relationship Type="http://schemas.openxmlformats.org/officeDocument/2006/relationships/slide" Target="/ppt/slides/slide26.xml" Id="R4c4bda62771e46d7" /><Relationship Type="http://schemas.openxmlformats.org/officeDocument/2006/relationships/slide" Target="/ppt/slides/slide27.xml" Id="Reb6dc1bacffb43e0" /><Relationship Type="http://schemas.openxmlformats.org/officeDocument/2006/relationships/slide" Target="/ppt/slides/slide28.xml" Id="R569afbd61b184038" /><Relationship Type="http://schemas.openxmlformats.org/officeDocument/2006/relationships/slide" Target="/ppt/slides/slide29.xml" Id="R4926f4a8eae14189" /><Relationship Type="http://schemas.openxmlformats.org/officeDocument/2006/relationships/slide" Target="/ppt/slides/slide30.xml" Id="R596e07d2207447e1" /><Relationship Type="http://schemas.openxmlformats.org/officeDocument/2006/relationships/slide" Target="/ppt/slides/slide31.xml" Id="R27299ba9ef644f9e" /><Relationship Type="http://schemas.openxmlformats.org/officeDocument/2006/relationships/slide" Target="/ppt/slides/slide32.xml" Id="R2c0a4c1412e642cd" /><Relationship Type="http://schemas.openxmlformats.org/officeDocument/2006/relationships/slide" Target="/ppt/slides/slide33.xml" Id="R10046af8aa5a4194" /><Relationship Type="http://schemas.openxmlformats.org/officeDocument/2006/relationships/slide" Target="/ppt/slides/slide34.xml" Id="Rc3d82371761746b5" /><Relationship Type="http://schemas.openxmlformats.org/officeDocument/2006/relationships/slide" Target="/ppt/slides/slide35.xml" Id="Rf3185e94e679497e" /><Relationship Type="http://schemas.openxmlformats.org/officeDocument/2006/relationships/slide" Target="/ppt/slides/slide36.xml" Id="Re0f7355ad3574306" /><Relationship Type="http://schemas.openxmlformats.org/officeDocument/2006/relationships/slide" Target="/ppt/slides/slide37.xml" Id="R8eff34fadd484072" /><Relationship Type="http://schemas.openxmlformats.org/officeDocument/2006/relationships/slide" Target="/ppt/slides/slide38.xml" Id="Rbdb7cb4db2414460" /><Relationship Type="http://schemas.openxmlformats.org/officeDocument/2006/relationships/slide" Target="/ppt/slides/slide39.xml" Id="R7e7aa0cc8ee34a01" /><Relationship Type="http://schemas.openxmlformats.org/officeDocument/2006/relationships/slide" Target="/ppt/slides/slide40.xml" Id="Rd48085ec6ee04d46" /><Relationship Type="http://schemas.openxmlformats.org/officeDocument/2006/relationships/slide" Target="/ppt/slides/slide41.xml" Id="Rc3cfeceb335e495d" /><Relationship Type="http://schemas.openxmlformats.org/officeDocument/2006/relationships/slide" Target="/ppt/slides/slide42.xml" Id="Rb5b432f9e8a34a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185aac808b45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3a871198a64649" /><Relationship Type="http://schemas.openxmlformats.org/officeDocument/2006/relationships/notesMaster" Target="/ppt/notesMasters/notesMaster1.xml" Id="R7c15fff004e047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ab00051a0a4360" /><Relationship Type="http://schemas.openxmlformats.org/officeDocument/2006/relationships/notesMaster" Target="/ppt/notesMasters/notesMaster1.xml" Id="Ra3f9d8378e8340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5c847613f54a06" /><Relationship Type="http://schemas.openxmlformats.org/officeDocument/2006/relationships/notesMaster" Target="/ppt/notesMasters/notesMaster1.xml" Id="R1dd3cdd30b3e41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536b8b834b4e69" /><Relationship Type="http://schemas.openxmlformats.org/officeDocument/2006/relationships/notesMaster" Target="/ppt/notesMasters/notesMaster1.xml" Id="R92f9089a333c45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3c5e9e309d4cab" /><Relationship Type="http://schemas.openxmlformats.org/officeDocument/2006/relationships/notesMaster" Target="/ppt/notesMasters/notesMaster1.xml" Id="R12dcef32055047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7612ab12c644bb" /><Relationship Type="http://schemas.openxmlformats.org/officeDocument/2006/relationships/notesMaster" Target="/ppt/notesMasters/notesMaster1.xml" Id="Rccfad2714a644f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5d19d817d44d96" /><Relationship Type="http://schemas.openxmlformats.org/officeDocument/2006/relationships/notesMaster" Target="/ppt/notesMasters/notesMaster1.xml" Id="R7fcbc8329a824d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2276bce92a485c" /><Relationship Type="http://schemas.openxmlformats.org/officeDocument/2006/relationships/notesMaster" Target="/ppt/notesMasters/notesMaster1.xml" Id="Rf9ac3a489d8946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6041f0fe1b4f23" /><Relationship Type="http://schemas.openxmlformats.org/officeDocument/2006/relationships/notesMaster" Target="/ppt/notesMasters/notesMaster1.xml" Id="R6e8643991b3e4c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ef8e60eebb40ad" /><Relationship Type="http://schemas.openxmlformats.org/officeDocument/2006/relationships/notesMaster" Target="/ppt/notesMasters/notesMaster1.xml" Id="R3a3ee35670164b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14887f2f574aeb" /><Relationship Type="http://schemas.openxmlformats.org/officeDocument/2006/relationships/notesMaster" Target="/ppt/notesMasters/notesMaster1.xml" Id="Re304c645fc1c4e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579cb481234164" /><Relationship Type="http://schemas.openxmlformats.org/officeDocument/2006/relationships/notesMaster" Target="/ppt/notesMasters/notesMaster1.xml" Id="Rff9a0c843fbf45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f29cebf2594f3c" /><Relationship Type="http://schemas.openxmlformats.org/officeDocument/2006/relationships/notesMaster" Target="/ppt/notesMasters/notesMaster1.xml" Id="Rd4f14c16740147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8425924ebf41fb" /><Relationship Type="http://schemas.openxmlformats.org/officeDocument/2006/relationships/notesMaster" Target="/ppt/notesMasters/notesMaster1.xml" Id="Raa6a99d7a7a648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423475feb24643" /><Relationship Type="http://schemas.openxmlformats.org/officeDocument/2006/relationships/notesMaster" Target="/ppt/notesMasters/notesMaster1.xml" Id="R4556ad78e6a546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c1f086c5744181" /><Relationship Type="http://schemas.openxmlformats.org/officeDocument/2006/relationships/notesMaster" Target="/ppt/notesMasters/notesMaster1.xml" Id="R91252e2639d14b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986b37d318424f" /><Relationship Type="http://schemas.openxmlformats.org/officeDocument/2006/relationships/notesMaster" Target="/ppt/notesMasters/notesMaster1.xml" Id="R17208e4329314f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89f7a569d44fb6" /><Relationship Type="http://schemas.openxmlformats.org/officeDocument/2006/relationships/notesMaster" Target="/ppt/notesMasters/notesMaster1.xml" Id="R12b9fd5d462a4a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16235ae0104fe6" /><Relationship Type="http://schemas.openxmlformats.org/officeDocument/2006/relationships/notesMaster" Target="/ppt/notesMasters/notesMaster1.xml" Id="R4ff44a6bc20b4d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e7dc335cb744225" /><Relationship Type="http://schemas.openxmlformats.org/officeDocument/2006/relationships/notesMaster" Target="/ppt/notesMasters/notesMaster1.xml" Id="R34f4640ab79e4f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61777434f64fd1" /><Relationship Type="http://schemas.openxmlformats.org/officeDocument/2006/relationships/notesMaster" Target="/ppt/notesMasters/notesMaster1.xml" Id="Rae675b8ee05740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edf7f74b99f4d37" /><Relationship Type="http://schemas.openxmlformats.org/officeDocument/2006/relationships/notesMaster" Target="/ppt/notesMasters/notesMaster1.xml" Id="R6ed80d4047c649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e49224d70244b39" /><Relationship Type="http://schemas.openxmlformats.org/officeDocument/2006/relationships/notesMaster" Target="/ppt/notesMasters/notesMaster1.xml" Id="R3f45d6d03b3c45f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13d0c616b64db2" /><Relationship Type="http://schemas.openxmlformats.org/officeDocument/2006/relationships/notesMaster" Target="/ppt/notesMasters/notesMaster1.xml" Id="Rf4ce1ba2f34d44d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8684ca459d49d4" /><Relationship Type="http://schemas.openxmlformats.org/officeDocument/2006/relationships/notesMaster" Target="/ppt/notesMasters/notesMaster1.xml" Id="Re4bbe0a48a9248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222b941d274448" /><Relationship Type="http://schemas.openxmlformats.org/officeDocument/2006/relationships/notesMaster" Target="/ppt/notesMasters/notesMaster1.xml" Id="R666f6b4e6e654c1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d723b6cfa24478" /><Relationship Type="http://schemas.openxmlformats.org/officeDocument/2006/relationships/notesMaster" Target="/ppt/notesMasters/notesMaster1.xml" Id="R6c3eee068f9e49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1dd459b722b497f" /><Relationship Type="http://schemas.openxmlformats.org/officeDocument/2006/relationships/notesMaster" Target="/ppt/notesMasters/notesMaster1.xml" Id="R3dd3822e9f644a4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82c2d4148aa43ea" /><Relationship Type="http://schemas.openxmlformats.org/officeDocument/2006/relationships/notesMaster" Target="/ppt/notesMasters/notesMaster1.xml" Id="R47c88c831303494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7ce55726acb4c15" /><Relationship Type="http://schemas.openxmlformats.org/officeDocument/2006/relationships/notesMaster" Target="/ppt/notesMasters/notesMaster1.xml" Id="R624b9896000a4ce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ed66b7452994705" /><Relationship Type="http://schemas.openxmlformats.org/officeDocument/2006/relationships/notesMaster" Target="/ppt/notesMasters/notesMaster1.xml" Id="R958f1731216043c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af17cec13a2487b" /><Relationship Type="http://schemas.openxmlformats.org/officeDocument/2006/relationships/notesMaster" Target="/ppt/notesMasters/notesMaster1.xml" Id="R0928f16f4bb74b2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61ff8121a04919" /><Relationship Type="http://schemas.openxmlformats.org/officeDocument/2006/relationships/notesMaster" Target="/ppt/notesMasters/notesMaster1.xml" Id="Rb2d3f5227fd246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0c4b6e09f74fee" /><Relationship Type="http://schemas.openxmlformats.org/officeDocument/2006/relationships/notesMaster" Target="/ppt/notesMasters/notesMaster1.xml" Id="R39bd4a3d6d694e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78835978a3e4330" /><Relationship Type="http://schemas.openxmlformats.org/officeDocument/2006/relationships/notesMaster" Target="/ppt/notesMasters/notesMaster1.xml" Id="Rcdee51e1a474443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a372cd6705475c" /><Relationship Type="http://schemas.openxmlformats.org/officeDocument/2006/relationships/notesMaster" Target="/ppt/notesMasters/notesMaster1.xml" Id="Rc5e97b54b00e49e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e06c1109d8140cb" /><Relationship Type="http://schemas.openxmlformats.org/officeDocument/2006/relationships/notesMaster" Target="/ppt/notesMasters/notesMaster1.xml" Id="R52e1aab0d62a499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df9122ce31e491e" /><Relationship Type="http://schemas.openxmlformats.org/officeDocument/2006/relationships/notesMaster" Target="/ppt/notesMasters/notesMaster1.xml" Id="R219e29a3dd8b42c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a2ca27890c04e11" /><Relationship Type="http://schemas.openxmlformats.org/officeDocument/2006/relationships/notesMaster" Target="/ppt/notesMasters/notesMaster1.xml" Id="Re0787e09b66344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3d16a0473a34780" /><Relationship Type="http://schemas.openxmlformats.org/officeDocument/2006/relationships/notesMaster" Target="/ppt/notesMasters/notesMaster1.xml" Id="Rd277a2d8cff340f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42eebf198644a23" /><Relationship Type="http://schemas.openxmlformats.org/officeDocument/2006/relationships/notesMaster" Target="/ppt/notesMasters/notesMaster1.xml" Id="R6ae29690489049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fcf9acf11d5429d" /><Relationship Type="http://schemas.openxmlformats.org/officeDocument/2006/relationships/notesMaster" Target="/ppt/notesMasters/notesMaster1.xml" Id="R0dfad7b4b39e4b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פתיחה: היום לומדים לעבוד עם סוכני קוד לאורך זמן. התיקייה שומרת את האפיון וההחלטות, והסוכן משתמש בכלים כדי לבצע משימות ולבדוק תוצאות.</a:t>
            </a:r>
            <a:endParaRPr/>
          </a:p>
          <a:p xmlns:a="http://schemas.openxmlformats.org/drawingml/2006/main">
            <a:pPr marL="0" lvl="0" indent="0" algn="l">
              <a:spcBef>
                <a:spcPts val="0"/>
              </a:spcBef>
              <a:spcAft>
                <a:spcPts val="0"/>
              </a:spcAft>
              <a:buNone/>
            </a:pPr>
            <a:r>
              <a:t>עיצוב ואיור: מצגות הקורס שסיפק המרצה.</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צילום מסך שסיפק המרצה מתוך Claude. לוחצים על סימן + ובוחרים Add folder כדי לחבר את תיקיית הפרויקט. אפשר לעבוד ישירות מתוך יישום הסוכן בלי VS Code. התיקייה מרכזת את החומרים, ההנחיות והתוצרים. יכולות הקריאה, העריכה וההרצה תלויות בכלים ובהרשאות הזמינים בסביבת הסוכן. בהמשך נראה כיצד VS Code מרכז תוספי סוכנים וכלים נוספים לעבודה עם קבצים.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מודל שפה מייצר תשובות ובקשות להפעלת כלים. סביבת הסוכן מבצעת את הקריאות ומחזירה תוצאות למודל להחלטת ההמשך. הכלים יכולים להיות מובנים או מחוברים באמצעות MCP. בסביבת ההדגמה זמינים גם חיבורי MCP לעבודה על קבצים שהועברו לסוכן. היכולות בפועל תלויות בכלים שחוברו ובהרשאות. גם מוצר צ׳אט יכול להפעיל כלים, ולכן ההבחנה אינה לפי צורת החלון.</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https://code.claude.com/docs/en/overview</a:t>
            </a:r>
            <a:endParaRPr/>
          </a:p>
          <a:p xmlns:a="http://schemas.openxmlformats.org/drawingml/2006/main">
            <a:pPr marL="0" lvl="0" indent="0" algn="l">
              <a:spcBef>
                <a:spcPts val="0"/>
              </a:spcBef>
              <a:spcAft>
                <a:spcPts val="0"/>
              </a:spcAft>
              <a:buNone/>
            </a:pPr>
            <a:r>
              <a:t>https://modelcontextprotocol.io/docs/learn/architecture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התשתיות מספקות בסיס ליישום עצמאי. הבחירה בכלים מאפשרת להרחיב אותו לפי הרעיון: מסמכים, תקשורת, תשלומים, AI ועוד. הסוכנים מסייעים לחבר את השירותים ולממש את ההתנהגות הרצויה.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https://nextjs.org/docs/app/getting-started/installation</a:t>
            </a:r>
            <a:endParaRPr/>
          </a:p>
          <a:p xmlns:a="http://schemas.openxmlformats.org/drawingml/2006/main">
            <a:pPr marL="0" lvl="0" indent="0" algn="l">
              <a:spcBef>
                <a:spcPts val="0"/>
              </a:spcBef>
              <a:spcAft>
                <a:spcPts val="0"/>
              </a:spcAft>
              <a:buNone/>
            </a:pPr>
            <a:r>
              <a:t>https://supabase.com/docs</a:t>
            </a:r>
            <a:endParaRPr/>
          </a:p>
          <a:p xmlns:a="http://schemas.openxmlformats.org/drawingml/2006/main">
            <a:pPr marL="0" lvl="0" indent="0" algn="l">
              <a:spcBef>
                <a:spcPts val="0"/>
              </a:spcBef>
              <a:spcAft>
                <a:spcPts val="0"/>
              </a:spcAft>
              <a:buNone/>
            </a:pPr>
            <a:r>
              <a:t>https://vercel.com/docs/deployments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הפרוטוקול MCP מאפשר לסביבת הסוכן להתחבר לשרתים המספקים כלים ומקורות מידע. הוא אינו מודל נוסף ואינו מעניק הרשאות אוטומטית. קריאת קבצים מקומיים יכולה להתבצע בכלי מובנה או בשרת MCP. בהדגמה יש גם חיבורי MCP לעבודה על קבצים שהסוכן קיבל.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https://modelcontextprotocol.io/docs/learn/architecture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אפשר להמשיך לעבוד ביישום הסוכן או בטרמינל. VS Code הוא סביבת עבודה נוספת ונוחה. תוספי Claude Code ו־Codex מאפשרים לעבוד עם סוכנים שונים על אותה תיקייה. המעבר בין תוספים אינו מעביר אוטומטית היסטוריית שיחה. קובצי האפיון והמצב מאפשרים להעביר הקשר. תוספים נוספים מספקים תצוגת Markdown, עבודה עם נתונים וקבצים וכלי פיתוח. מתקינים גם Node.js ו־Git לפי דרישות הפרויקט.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https://code.visualstudio.com/docs/editing/getting-started/editor-tutorial</a:t>
            </a:r>
            <a:endParaRPr/>
          </a:p>
          <a:p xmlns:a="http://schemas.openxmlformats.org/drawingml/2006/main">
            <a:pPr marL="0" lvl="0" indent="0" algn="l">
              <a:spcBef>
                <a:spcPts val="0"/>
              </a:spcBef>
              <a:spcAft>
                <a:spcPts val="0"/>
              </a:spcAft>
              <a:buNone/>
            </a:pPr>
            <a:r>
              <a:t>https://code.claude.com/docs/en/vs-code</a:t>
            </a:r>
            <a:endParaRPr/>
          </a:p>
          <a:p xmlns:a="http://schemas.openxmlformats.org/drawingml/2006/main">
            <a:pPr marL="0" lvl="0" indent="0" algn="l">
              <a:spcBef>
                <a:spcPts val="0"/>
              </a:spcBef>
              <a:spcAft>
                <a:spcPts val="0"/>
              </a:spcAft>
              <a:buNone/>
            </a:pPr>
            <a:r>
              <a:t>https://learn.chatgpt.com/docs/codex/ide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נשתמש ב־VS Code במהלך הקורס. מתקינים את יישום שולחן העבודה מהאתר הרשמי. ב־Windows מפעילים את קובץ ההתקנה וב־Mac מחלצים את ההורדה וגוררים ל־Applications. ב־Linux פועלים לפי הוראות ההפצה באתר.</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https://code.visualstudio.com/download</a:t>
            </a:r>
            <a:endParaRPr/>
          </a:p>
          <a:p xmlns:a="http://schemas.openxmlformats.org/drawingml/2006/main">
            <a:pPr marL="0" lvl="0" indent="0" algn="l">
              <a:spcBef>
                <a:spcPts val="0"/>
              </a:spcBef>
              <a:spcAft>
                <a:spcPts val="0"/>
              </a:spcAft>
              <a:buNone/>
            </a:pPr>
            <a:r>
              <a:t>https://code.visualstudio.com/docs/getstarted/overview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נשתמש במהלך הקורס גם בסביבת Antigravity של Google. באתר קיימים כמה מוצרים, ובשיעור זה הכוונה לעורך Antigravity IDE העצמאי. בוחרים את ההורדה למערכת ההפעלה ולסוג המעבד. משלימים את ההתקנה וההתחברות לפי המסכים המוצגים. התוספים בשקפים הבאים מודגמים ב־VS Code.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https://antigravity.google/download</a:t>
            </a:r>
            <a:endParaRPr/>
          </a:p>
          <a:p xmlns:a="http://schemas.openxmlformats.org/drawingml/2006/main">
            <a:pPr marL="0" lvl="0" indent="0" algn="l">
              <a:spcBef>
                <a:spcPts val="0"/>
              </a:spcBef>
              <a:spcAft>
                <a:spcPts val="0"/>
              </a:spcAft>
              <a:buNone/>
            </a:pPr>
            <a:r>
              <a:t>https://antigravity.google/docs/getting-started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צילום מקור: מדריך Harvard CS205 משנת 2020, עמוד 5. הצילום מדגים תפריט Windows ותיק יחסית. הנתיב File &gt; Open Folder קיים גם בתיעוד Microsoft הנוכחי. ב־macOS התפריט נמצא בשורת התפריטים העליונה. מקשי Windows: Ctrl+K ואז Ctrl+O. ב־Mac: Cmd+K ואז Cmd+O.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https://code.visualstudio.com/docs/editing/getting-started/editor-tutorial</a:t>
            </a:r>
            <a:endParaRPr/>
          </a:p>
          <a:p xmlns:a="http://schemas.openxmlformats.org/drawingml/2006/main">
            <a:pPr marL="0" lvl="0" indent="0" algn="l">
              <a:spcBef>
                <a:spcPts val="0"/>
              </a:spcBef>
              <a:spcAft>
                <a:spcPts val="0"/>
              </a:spcAft>
              <a:buNone/>
            </a:pPr>
            <a:r>
              <a:t>https://harvard-iacs.github.io/2021-CS205/pages/VS_Code_Install_Guide.pdf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צילום Microsoft מתוך מדריך העורך. השם vscode101 הוא שם הדוגמה במדריך. בכיתה שם התיקייה יהיה my-project. פתיחת התיקייה אינה גורמת לסוכן לקרוא אוטומטית את כל הקבצים.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https://code.visualstudio.com/docs/editing/getting-started/editor-tutorial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צילום Microsoft מדגים את חלון התוספים. התלמידים מחפשים את אחד משני התוספים הרשמיים ומוודאים את המפרסם. אין צורך להתקין תוספי צד שלישי דומים. המזהים הרשמיים: anthropic.claude-code ו־openai.chatgpt. אחרי ההתקנה פותחים את חלונית הסוכן ומשלימים Sign in בחשבון המתאים.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https://code.visualstudio.com/docs/editing/getting-started/editor-tutorial</a:t>
            </a:r>
            <a:endParaRPr/>
          </a:p>
          <a:p xmlns:a="http://schemas.openxmlformats.org/drawingml/2006/main">
            <a:pPr marL="0" lvl="0" indent="0" algn="l">
              <a:spcBef>
                <a:spcPts val="0"/>
              </a:spcBef>
              <a:spcAft>
                <a:spcPts val="0"/>
              </a:spcAft>
              <a:buNone/>
            </a:pPr>
            <a:r>
              <a:t>https://code.claude.com/docs/en/vs-code</a:t>
            </a:r>
            <a:endParaRPr/>
          </a:p>
          <a:p xmlns:a="http://schemas.openxmlformats.org/drawingml/2006/main">
            <a:pPr marL="0" lvl="0" indent="0" algn="l">
              <a:spcBef>
                <a:spcPts val="0"/>
              </a:spcBef>
              <a:spcAft>
                <a:spcPts val="0"/>
              </a:spcAft>
              <a:buNone/>
            </a:pPr>
            <a:r>
              <a:t>https://learn.chatgpt.com/docs/codex/ide</a:t>
            </a:r>
            <a:endParaRPr/>
          </a:p>
          <a:p xmlns:a="http://schemas.openxmlformats.org/drawingml/2006/main">
            <a:pPr marL="0" lvl="0" indent="0" algn="l">
              <a:spcBef>
                <a:spcPts val="0"/>
              </a:spcBef>
              <a:spcAft>
                <a:spcPts val="0"/>
              </a:spcAft>
              <a:buNone/>
            </a:pPr>
            <a:r>
              <a:t>https://marketplace.visualstudio.com/items?itemName=anthropic.claude-code</a:t>
            </a:r>
            <a:endParaRPr/>
          </a:p>
          <a:p xmlns:a="http://schemas.openxmlformats.org/drawingml/2006/main">
            <a:pPr marL="0" lvl="0" indent="0" algn="l">
              <a:spcBef>
                <a:spcPts val="0"/>
              </a:spcBef>
              <a:spcAft>
                <a:spcPts val="0"/>
              </a:spcAft>
              <a:buNone/>
            </a:pPr>
            <a:r>
              <a:t>https://marketplace.visualstudio.com/items?itemName=openai.chatgpt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ההדגמה ב־VS Code. פותחים Extensions, מחפשים את מזהה התוסף ritwickdey.LiveServer ומתקינים. פותחים תיקייה ולא רק קובץ יחיד. פותחים index.html, בוחרים Open with Live Server או Go Live. שמירת שינוי מרעננת את הדף. בפרויקט Next.js משתמשים בשרת הפיתוח של הפרויקט, npm run dev.</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https://marketplace.visualstudio.com/items?itemName=ritwickdey.LiveServer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ההדגמה ב־VS Code. מזהה התוסף cweijan.vscode-office. התוסף תומך בצפייה בסוגי קבצים שונים ובהם DOCX, XLSX, PPTX ו־PDF לפי תיעודו. אם הקובץ נפתח בעורך אחר, משתמשים בתפריט Reopen Editor With לבחירת הצופה המתאים. זמינות התוספים בעורכים אחרים תלויה בקטלוג ובגרסה שלהם.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https://marketplace.visualstudio.com/items?itemName=cweijan.vscode-office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פעל כסוכן פיתוח שמלווה אותי מהרעיון לגרסה ראשונה עובדת.</a:t>
            </a:r>
            <a:endParaRPr/>
          </a:p>
          <a:p xmlns:a="http://schemas.openxmlformats.org/drawingml/2006/main">
            <a:pPr marL="0" lvl="0" indent="0" algn="l">
              <a:spcBef>
                <a:spcPts val="0"/>
              </a:spcBef>
              <a:spcAft>
                <a:spcPts val="0"/>
              </a:spcAft>
              <a:buNone/>
            </a:pPr>
            <a:r>
              <a:t>המוצר שאני רוצה לבנות: [תיאור הרעיון וקהל היעד].</a:t>
            </a:r>
            <a:endParaRPr/>
          </a:p>
          <a:p xmlns:a="http://schemas.openxmlformats.org/drawingml/2006/main">
            <a:pPr marL="0" lvl="0" indent="0" algn="l">
              <a:spcBef>
                <a:spcPts val="0"/>
              </a:spcBef>
              <a:spcAft>
                <a:spcPts val="0"/>
              </a:spcAft>
              <a:buNone/>
            </a:pPr>
            <a:r>
              <a:t>הפעולה המרכזית שהמשתמש צריך לבצע: [תיאור הפעולה].</a:t>
            </a:r>
            <a:endParaRPr/>
          </a:p>
          <a:p xmlns:a="http://schemas.openxmlformats.org/drawingml/2006/main">
            <a:pPr marL="0" lvl="0" indent="0" algn="l">
              <a:spcBef>
                <a:spcPts val="0"/>
              </a:spcBef>
              <a:spcAft>
                <a:spcPts val="0"/>
              </a:spcAft>
              <a:buNone/>
            </a:pPr>
            <a:r>
              <a:t>התחל בהבנת הדרישה ובסקירת החומרים שסיפקתי בתיקייה.</a:t>
            </a:r>
            <a:endParaRPr/>
          </a:p>
          <a:p xmlns:a="http://schemas.openxmlformats.org/drawingml/2006/main">
            <a:pPr marL="0" lvl="0" indent="0" algn="l">
              <a:spcBef>
                <a:spcPts val="0"/>
              </a:spcBef>
              <a:spcAft>
                <a:spcPts val="0"/>
              </a:spcAft>
              <a:buNone/>
            </a:pPr>
            <a:r>
              <a:t>קרא הנחיות קיימות, קוד ומסמכים. שמור עבודה קיימת.</a:t>
            </a:r>
            <a:endParaRPr/>
          </a:p>
          <a:p xmlns:a="http://schemas.openxmlformats.org/drawingml/2006/main">
            <a:pPr marL="0" lvl="0" indent="0" algn="l">
              <a:spcBef>
                <a:spcPts val="0"/>
              </a:spcBef>
              <a:spcAft>
                <a:spcPts val="0"/>
              </a:spcAft>
              <a:buNone/>
            </a:pPr>
            <a:r>
              <a:t>הצג מה הבנת, מה כבר קיים ואילו פרטים דרושים להחלטה.</a:t>
            </a:r>
            <a:endParaRPr/>
          </a:p>
          <a:p xmlns:a="http://schemas.openxmlformats.org/drawingml/2006/main">
            <a:pPr marL="0" lvl="0" indent="0" algn="l">
              <a:spcBef>
                <a:spcPts val="0"/>
              </a:spcBef>
              <a:spcAft>
                <a:spcPts val="0"/>
              </a:spcAft>
              <a:buNone/>
            </a:pPr>
            <a:r>
              <a:t>שאל שאלות ממוקדות רק כשחסר מידע שמשנה את המוצר.</a:t>
            </a:r>
            <a:endParaRPr/>
          </a:p>
          <a:p xmlns:a="http://schemas.openxmlformats.org/drawingml/2006/main">
            <a:pPr marL="0" lvl="0" indent="0" algn="l">
              <a:spcBef>
                <a:spcPts val="0"/>
              </a:spcBef>
              <a:spcAft>
                <a:spcPts val="0"/>
              </a:spcAft>
              <a:buNone/>
            </a:pPr>
            <a:r>
              <a:t>הצע גרסה ראשונה ממוקדת, כולל מה יישאר לשלב הבא.</a:t>
            </a:r>
            <a:endParaRPr/>
          </a:p>
          <a:p xmlns:a="http://schemas.openxmlformats.org/drawingml/2006/main">
            <a:pPr marL="0" lvl="0" indent="0" algn="l">
              <a:spcBef>
                <a:spcPts val="0"/>
              </a:spcBef>
              <a:spcAft>
                <a:spcPts val="0"/>
              </a:spcAft>
              <a:buNone/>
            </a:pPr>
            <a:r>
              <a:t>הצע שימוש ב־Next.js, ב־Supabase וב־Vercel לפי הצורך.</a:t>
            </a:r>
            <a:endParaRPr/>
          </a:p>
          <a:p xmlns:a="http://schemas.openxmlformats.org/drawingml/2006/main">
            <a:pPr marL="0" lvl="0" indent="0" algn="l">
              <a:spcBef>
                <a:spcPts val="0"/>
              </a:spcBef>
              <a:spcAft>
                <a:spcPts val="0"/>
              </a:spcAft>
              <a:buNone/>
            </a:pPr>
            <a:r>
              <a:t>הסבר מה כל כלי ייתן למוצר ואילו חיבורים נוספים יקדמו אותו.</a:t>
            </a:r>
            <a:endParaRPr/>
          </a:p>
          <a:p xmlns:a="http://schemas.openxmlformats.org/drawingml/2006/main">
            <a:pPr marL="0" lvl="0" indent="0" algn="l">
              <a:spcBef>
                <a:spcPts val="0"/>
              </a:spcBef>
              <a:spcAft>
                <a:spcPts val="0"/>
              </a:spcAft>
              <a:buNone/>
            </a:pPr>
            <a:r>
              <a:t>בדוק אילו כלים וחיבורי MCP זמינים לך לעבודה על החומרים.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כתוב בקובץ docs/spec.md את המטרה, קהל היעד וגבולות הגרסה.</a:t>
            </a:r>
            <a:endParaRPr/>
          </a:p>
          <a:p xmlns:a="http://schemas.openxmlformats.org/drawingml/2006/main">
            <a:pPr marL="0" lvl="0" indent="0" algn="l">
              <a:spcBef>
                <a:spcPts val="0"/>
              </a:spcBef>
              <a:spcAft>
                <a:spcPts val="0"/>
              </a:spcAft>
              <a:buNone/>
            </a:pPr>
            <a:r>
              <a:t>הוסף תרחישי שימוש, נתונים, הרשאות ותנאי קבלה מדידים.</a:t>
            </a:r>
            <a:endParaRPr/>
          </a:p>
          <a:p xmlns:a="http://schemas.openxmlformats.org/drawingml/2006/main">
            <a:pPr marL="0" lvl="0" indent="0" algn="l">
              <a:spcBef>
                <a:spcPts val="0"/>
              </a:spcBef>
              <a:spcAft>
                <a:spcPts val="0"/>
              </a:spcAft>
              <a:buNone/>
            </a:pPr>
            <a:r>
              <a:t>שמור החלטות והנמקות בקובץ docs/decisions.md.</a:t>
            </a:r>
            <a:endParaRPr/>
          </a:p>
          <a:p xmlns:a="http://schemas.openxmlformats.org/drawingml/2006/main">
            <a:pPr marL="0" lvl="0" indent="0" algn="l">
              <a:spcBef>
                <a:spcPts val="0"/>
              </a:spcBef>
              <a:spcAft>
                <a:spcPts val="0"/>
              </a:spcAft>
              <a:buNone/>
            </a:pPr>
            <a:r>
              <a:t>צור הוראות עבודה ב־AGENTS.md והתאם אותן לכלי שבו אנו עובדים.</a:t>
            </a:r>
            <a:endParaRPr/>
          </a:p>
          <a:p xmlns:a="http://schemas.openxmlformats.org/drawingml/2006/main">
            <a:pPr marL="0" lvl="0" indent="0" algn="l">
              <a:spcBef>
                <a:spcPts val="0"/>
              </a:spcBef>
              <a:spcAft>
                <a:spcPts val="0"/>
              </a:spcAft>
              <a:buNone/>
            </a:pPr>
            <a:r>
              <a:t>בשימוש ב־Claude Code הוסף CLAUDE.md שמפנה להנחיות המשותפות.</a:t>
            </a:r>
            <a:endParaRPr/>
          </a:p>
          <a:p xmlns:a="http://schemas.openxmlformats.org/drawingml/2006/main">
            <a:pPr marL="0" lvl="0" indent="0" algn="l">
              <a:spcBef>
                <a:spcPts val="0"/>
              </a:spcBef>
              <a:spcAft>
                <a:spcPts val="0"/>
              </a:spcAft>
              <a:buNone/>
            </a:pPr>
            <a:r>
              <a:t>תעד בקובץ README.md התקנה, הפעלה ופקודות בדיקה.</a:t>
            </a:r>
            <a:endParaRPr/>
          </a:p>
          <a:p xmlns:a="http://schemas.openxmlformats.org/drawingml/2006/main">
            <a:pPr marL="0" lvl="0" indent="0" algn="l">
              <a:spcBef>
                <a:spcPts val="0"/>
              </a:spcBef>
              <a:spcAft>
                <a:spcPts val="0"/>
              </a:spcAft>
              <a:buNone/>
            </a:pPr>
            <a:r>
              <a:t>חלק את העבודה למשימות קטנות ושמור אותן ב־docs/status.md.</a:t>
            </a:r>
            <a:endParaRPr/>
          </a:p>
          <a:p xmlns:a="http://schemas.openxmlformats.org/drawingml/2006/main">
            <a:pPr marL="0" lvl="0" indent="0" algn="l">
              <a:spcBef>
                <a:spcPts val="0"/>
              </a:spcBef>
              <a:spcAft>
                <a:spcPts val="0"/>
              </a:spcAft>
              <a:buNone/>
            </a:pPr>
            <a:r>
              <a:t>הצג לי את האפיון ואת התוכנית לקבלת החלטה לפני המימוש.</a:t>
            </a:r>
            <a:endParaRPr/>
          </a:p>
          <a:p xmlns:a="http://schemas.openxmlformats.org/drawingml/2006/main">
            <a:pPr marL="0" lvl="0" indent="0" algn="l">
              <a:spcBef>
                <a:spcPts val="0"/>
              </a:spcBef>
              <a:spcAft>
                <a:spcPts val="0"/>
              </a:spcAft>
              <a:buNone/>
            </a:pPr>
            <a:r>
              <a:t>לאחר אישור, בנה תרחיש שימוש שלם אחד עם נתוני דוגמה.</a:t>
            </a:r>
            <a:endParaRPr/>
          </a:p>
          <a:p xmlns:a="http://schemas.openxmlformats.org/drawingml/2006/main">
            <a:pPr marL="0" lvl="0" indent="0" algn="l">
              <a:spcBef>
                <a:spcPts val="0"/>
              </a:spcBef>
              <a:spcAft>
                <a:spcPts val="0"/>
              </a:spcAft>
              <a:buNone/>
            </a:pPr>
            <a:r>
              <a:t>כתוב בדיקות להתנהגות, הרץ אותן ובדוק את התוצאה בממשק.</a:t>
            </a:r>
            <a:endParaRPr/>
          </a:p>
          <a:p xmlns:a="http://schemas.openxmlformats.org/drawingml/2006/main">
            <a:pPr marL="0" lvl="0" indent="0" algn="l">
              <a:spcBef>
                <a:spcPts val="0"/>
              </a:spcBef>
              <a:spcAft>
                <a:spcPts val="0"/>
              </a:spcAft>
              <a:buNone/>
            </a:pPr>
            <a:r>
              <a:t>בסיום דווח מה עובד, מה נבדק בפועל ומה המשימה הבאה.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אפשר להריץ את הפקודות גם בטרמינל רגיל מחוץ לעורך. צילום Microsoft מציג את הטרמינל המשולב. הפקודות המוצגות מתאימות לפרויקט Node/npm שהוגדר בהתאם. יש לבדוק package.json ו־README. אם יש lockfile מתאים בפרויקט קיים אפשר להשתמש ב־npm ci. שלב scaffolding נעשה עם הסוכן לפי התיעוד העדכני של Next.js.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https://nextjs.org/docs/app/getting-started/installation</a:t>
            </a:r>
            <a:endParaRPr/>
          </a:p>
          <a:p xmlns:a="http://schemas.openxmlformats.org/drawingml/2006/main">
            <a:pPr marL="0" lvl="0" indent="0" algn="l">
              <a:spcBef>
                <a:spcPts val="0"/>
              </a:spcBef>
              <a:spcAft>
                <a:spcPts val="0"/>
              </a:spcAft>
              <a:buNone/>
            </a:pPr>
            <a:r>
              <a:t>https://code.visualstudio.com/docs/editing/getting-started/editor-tutorial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אין להניח שהסוכן יודע את החלטות היום הקודם. ההקשר נבנה מחדש מתוך קבצים, קוד ותוצאות בדיקה.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קובצי Markdown הם טקסט פשוט. זו שיטת ארגון ידע ולא הרחבת חלון הקונטקסט. הסוכן צריך לטעון את החומר הרלוונטי, והוא עדיין צורך קונטקסט. שמרו את קובץ ההנחיות קצר והפנו ממנו למסמכי נושא. אין צורך לשמור כל הודעת צ׳אט.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https://code.claude.com/docs/en/memory</a:t>
            </a:r>
            <a:endParaRPr/>
          </a:p>
          <a:p xmlns:a="http://schemas.openxmlformats.org/drawingml/2006/main">
            <a:pPr marL="0" lvl="0" indent="0" algn="l">
              <a:spcBef>
                <a:spcPts val="0"/>
              </a:spcBef>
              <a:spcAft>
                <a:spcPts val="0"/>
              </a:spcAft>
              <a:buNone/>
            </a:pPr>
            <a:r>
              <a:t>https://learn.chatgpt.com/docs/agent-configuration/agents-md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README מיועד להבנת הפרויקט והפעלתו. AGENTS הוא קובץ הוראות לסוכנים ונטען ב־Codex לפי כללי ההיררכיה. CLAUDE הוא קובץ ההוראות של Claude Code. בגרסאות העדכניות Claude יכול לקרוא גם AGENTS לפי ההגדרות. AGENTS אינו קובץ הגדרת תת־סוכנים.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https://learn.chatgpt.com/docs/agent-configuration/agents-md</a:t>
            </a:r>
            <a:endParaRPr/>
          </a:p>
          <a:p xmlns:a="http://schemas.openxmlformats.org/drawingml/2006/main">
            <a:pPr marL="0" lvl="0" indent="0" algn="l">
              <a:spcBef>
                <a:spcPts val="0"/>
              </a:spcBef>
              <a:spcAft>
                <a:spcPts val="0"/>
              </a:spcAft>
              <a:buNone/>
            </a:pPr>
            <a:r>
              <a:t>https://code.claude.com/docs/en/memory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החלוקה המוצעת היא מוסכמה לשיעור ולא פורמט רשמי של Spec-driven development. אפשר להרחיב אותה כאשר הפרויקט גדל. בתיקיות קוד ממשיות המבנה תלוי בבחירות הפרויקט.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דוגמה קצרה ל־AGENTS ולייבוא רשמי ב־CLAUDE. תמיכת AGENTS ב־Claude תלויה בגרסה ובהגדרות. הייבוא @AGENTS.md נמנע משכפול התוכן ומתועד כרגע. חשוב לבדוק שההנחיות אכן נטענו. השמות של פקודות הבדיקה חייבים להתאים ל־package.json.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https://code.claude.com/docs/en/memory</a:t>
            </a:r>
            <a:endParaRPr/>
          </a:p>
          <a:p xmlns:a="http://schemas.openxmlformats.org/drawingml/2006/main">
            <a:pPr marL="0" lvl="0" indent="0" algn="l">
              <a:spcBef>
                <a:spcPts val="0"/>
              </a:spcBef>
              <a:spcAft>
                <a:spcPts val="0"/>
              </a:spcAft>
              <a:buNone/>
            </a:pPr>
            <a:r>
              <a:t>https://learn.chatgpt.com/docs/agent-configuration/agents-md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השיטה בשיעור: מתעדים את ההתנהגות הרצויה לפני המימוש ומעדכנים את האפיון כאשר מתקבלת החלטה עסקית חדשה. הקוד והבדיקות הם הראיות למצב בפועל. אם יש סתירה מבררים אותה ולא משנים מסמך רק כדי להתאים לבאג.</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זו דוגמה קצרה מהחנות להמחשת תנאי קבלה. העיקר הוא לתרגם בקשה כללית להתנהגות ניתנת לבדיקה, בכל תחום.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TDD הוא Test-driven development. בוחרים התנהגות קטנה, כותבים בדיקה שמכשילה אותה, מוודאים שהכישלון נובע מההתנהגות החסרה, מממשים מינימום ומבצעים refactor כשהבדיקות עוברות. תקלה בייבוא, בהתקנה או בחיבור למסד אינה הוכחה שהבדיקה בדקה את הדרישה.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בדיקה טובה נגזרת מתנאי הקבלה. היא אינה רק העתק של מבנה המימוש. דורשים תוצאות ממשיות, ומבדילים בין בדיקה שעברה לבין בדיקה שלא הורצה.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פעל כסוכן פיתוח בפרויקט הנוכחי והשלם את המשימה הבאה:</a:t>
            </a:r>
            <a:endParaRPr/>
          </a:p>
          <a:p xmlns:a="http://schemas.openxmlformats.org/drawingml/2006/main">
            <a:pPr marL="0" lvl="0" indent="0" algn="l">
              <a:spcBef>
                <a:spcPts val="0"/>
              </a:spcBef>
              <a:spcAft>
                <a:spcPts val="0"/>
              </a:spcAft>
              <a:buNone/>
            </a:pPr>
            <a:r>
              <a:t>השינוי המבוקש: [תיאור ההתנהגות הרצויה].</a:t>
            </a:r>
            <a:endParaRPr/>
          </a:p>
          <a:p xmlns:a="http://schemas.openxmlformats.org/drawingml/2006/main">
            <a:pPr marL="0" lvl="0" indent="0" algn="l">
              <a:spcBef>
                <a:spcPts val="0"/>
              </a:spcBef>
              <a:spcAft>
                <a:spcPts val="0"/>
              </a:spcAft>
              <a:buNone/>
            </a:pPr>
            <a:r>
              <a:t>תנאי הקבלה: [תוצאה צפויה, גבולות ומקרי כישלון].</a:t>
            </a:r>
            <a:endParaRPr/>
          </a:p>
          <a:p xmlns:a="http://schemas.openxmlformats.org/drawingml/2006/main">
            <a:pPr marL="0" lvl="0" indent="0" algn="l">
              <a:spcBef>
                <a:spcPts val="0"/>
              </a:spcBef>
              <a:spcAft>
                <a:spcPts val="0"/>
              </a:spcAft>
              <a:buNone/>
            </a:pPr>
            <a:r>
              <a:t>קרא את הנחיות הסוכן, את README.md ואת docs/spec.md.</a:t>
            </a:r>
            <a:endParaRPr/>
          </a:p>
          <a:p xmlns:a="http://schemas.openxmlformats.org/drawingml/2006/main">
            <a:pPr marL="0" lvl="0" indent="0" algn="l">
              <a:spcBef>
                <a:spcPts val="0"/>
              </a:spcBef>
              <a:spcAft>
                <a:spcPts val="0"/>
              </a:spcAft>
              <a:buNone/>
            </a:pPr>
            <a:r>
              <a:t>עיין גם ב־docs/decisions.md וב־docs/status.md ובקוד הרלוונטי.</a:t>
            </a:r>
            <a:endParaRPr/>
          </a:p>
          <a:p xmlns:a="http://schemas.openxmlformats.org/drawingml/2006/main">
            <a:pPr marL="0" lvl="0" indent="0" algn="l">
              <a:spcBef>
                <a:spcPts val="0"/>
              </a:spcBef>
              <a:spcAft>
                <a:spcPts val="0"/>
              </a:spcAft>
              <a:buNone/>
            </a:pPr>
            <a:r>
              <a:t>התיעוד הוא מקור האמת לדרישות, ולא היסטוריית הצ׳אט.</a:t>
            </a:r>
            <a:endParaRPr/>
          </a:p>
          <a:p xmlns:a="http://schemas.openxmlformats.org/drawingml/2006/main">
            <a:pPr marL="0" lvl="0" indent="0" algn="l">
              <a:spcBef>
                <a:spcPts val="0"/>
              </a:spcBef>
              <a:spcAft>
                <a:spcPts val="0"/>
              </a:spcAft>
              <a:buNone/>
            </a:pPr>
            <a:r>
              <a:t>אם הדרישה החדשה סותרת את האפיון, הצג את הסתירה וברר אותה.</a:t>
            </a:r>
            <a:endParaRPr/>
          </a:p>
          <a:p xmlns:a="http://schemas.openxmlformats.org/drawingml/2006/main">
            <a:pPr marL="0" lvl="0" indent="0" algn="l">
              <a:spcBef>
                <a:spcPts val="0"/>
              </a:spcBef>
              <a:spcAft>
                <a:spcPts val="0"/>
              </a:spcAft>
              <a:buNone/>
            </a:pPr>
            <a:r>
              <a:t>תעד החלטה שאושרה ועדכן את האפיון לפני המימוש.</a:t>
            </a:r>
            <a:endParaRPr/>
          </a:p>
          <a:p xmlns:a="http://schemas.openxmlformats.org/drawingml/2006/main">
            <a:pPr marL="0" lvl="0" indent="0" algn="l">
              <a:spcBef>
                <a:spcPts val="0"/>
              </a:spcBef>
              <a:spcAft>
                <a:spcPts val="0"/>
              </a:spcAft>
              <a:buNone/>
            </a:pPr>
            <a:r>
              <a:t>סכם את ההתנהגות שיש להוסיף ואת הדרך שבה תבדוק אותה.</a:t>
            </a:r>
            <a:endParaRPr/>
          </a:p>
          <a:p xmlns:a="http://schemas.openxmlformats.org/drawingml/2006/main">
            <a:pPr marL="0" lvl="0" indent="0" algn="l">
              <a:spcBef>
                <a:spcPts val="0"/>
              </a:spcBef>
              <a:spcAft>
                <a:spcPts val="0"/>
              </a:spcAft>
              <a:buNone/>
            </a:pPr>
            <a:r>
              <a:t>חלק את המשימה לשינויים קטנים שאפשר לבדוק בנפרד.</a:t>
            </a:r>
            <a:endParaRPr/>
          </a:p>
          <a:p xmlns:a="http://schemas.openxmlformats.org/drawingml/2006/main">
            <a:pPr marL="0" lvl="0" indent="0" algn="l">
              <a:spcBef>
                <a:spcPts val="0"/>
              </a:spcBef>
              <a:spcAft>
                <a:spcPts val="0"/>
              </a:spcAft>
              <a:buNone/>
            </a:pPr>
            <a:r>
              <a:t>שמור על מוסכמות הפרויקט ועל שינויים קיימים שאינם חלק מהמשימה.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לכל שינוי התנהגותי, כתוב תחילה בדיקה שנגזרת מתנאי הקבלה.</a:t>
            </a:r>
            <a:endParaRPr/>
          </a:p>
          <a:p xmlns:a="http://schemas.openxmlformats.org/drawingml/2006/main">
            <a:pPr marL="0" lvl="0" indent="0" algn="l">
              <a:spcBef>
                <a:spcPts val="0"/>
              </a:spcBef>
              <a:spcAft>
                <a:spcPts val="0"/>
              </a:spcAft>
              <a:buNone/>
            </a:pPr>
            <a:r>
              <a:t>הרץ אותה וודא שהיא נכשלת בגלל ההתנהגות החסרה.</a:t>
            </a:r>
            <a:endParaRPr/>
          </a:p>
          <a:p xmlns:a="http://schemas.openxmlformats.org/drawingml/2006/main">
            <a:pPr marL="0" lvl="0" indent="0" algn="l">
              <a:spcBef>
                <a:spcPts val="0"/>
              </a:spcBef>
              <a:spcAft>
                <a:spcPts val="0"/>
              </a:spcAft>
              <a:buNone/>
            </a:pPr>
            <a:r>
              <a:t>ממש את השינוי הדרוש, הרץ שוב וודא שהבדיקה עוברת.</a:t>
            </a:r>
            <a:endParaRPr/>
          </a:p>
          <a:p xmlns:a="http://schemas.openxmlformats.org/drawingml/2006/main">
            <a:pPr marL="0" lvl="0" indent="0" algn="l">
              <a:spcBef>
                <a:spcPts val="0"/>
              </a:spcBef>
              <a:spcAft>
                <a:spcPts val="0"/>
              </a:spcAft>
              <a:buNone/>
            </a:pPr>
            <a:r>
              <a:t>שפר את הקוד והריץ בדיקות נוספות שעלולות להיות מושפעות.</a:t>
            </a:r>
            <a:endParaRPr/>
          </a:p>
          <a:p xmlns:a="http://schemas.openxmlformats.org/drawingml/2006/main">
            <a:pPr marL="0" lvl="0" indent="0" algn="l">
              <a:spcBef>
                <a:spcPts val="0"/>
              </a:spcBef>
              <a:spcAft>
                <a:spcPts val="0"/>
              </a:spcAft>
              <a:buNone/>
            </a:pPr>
            <a:r>
              <a:t>אל תמחק ואל תחליש בדיקה כדי להציג הצלחה.</a:t>
            </a:r>
            <a:endParaRPr/>
          </a:p>
          <a:p xmlns:a="http://schemas.openxmlformats.org/drawingml/2006/main">
            <a:pPr marL="0" lvl="0" indent="0" algn="l">
              <a:spcBef>
                <a:spcPts val="0"/>
              </a:spcBef>
              <a:spcAft>
                <a:spcPts val="0"/>
              </a:spcAft>
              <a:buNone/>
            </a:pPr>
            <a:r>
              <a:t>הפעל תת־סוכן לסקירה עצמאית אם אפשר להגדיר לו משימה מועילה.</a:t>
            </a:r>
            <a:endParaRPr/>
          </a:p>
          <a:p xmlns:a="http://schemas.openxmlformats.org/drawingml/2006/main">
            <a:pPr marL="0" lvl="0" indent="0" algn="l">
              <a:spcBef>
                <a:spcPts val="0"/>
              </a:spcBef>
              <a:spcAft>
                <a:spcPts val="0"/>
              </a:spcAft>
              <a:buNone/>
            </a:pPr>
            <a:r>
              <a:t>העבר לו את האפיון, הקבצים הרלוונטיים וגבולות הסקירה.</a:t>
            </a:r>
            <a:endParaRPr/>
          </a:p>
          <a:p xmlns:a="http://schemas.openxmlformats.org/drawingml/2006/main">
            <a:pPr marL="0" lvl="0" indent="0" algn="l">
              <a:spcBef>
                <a:spcPts val="0"/>
              </a:spcBef>
              <a:spcAft>
                <a:spcPts val="0"/>
              </a:spcAft>
              <a:buNone/>
            </a:pPr>
            <a:r>
              <a:t>בדוק את הממצאים ואמת את התוצאה לאחר שילוב התיקונים.</a:t>
            </a:r>
            <a:endParaRPr/>
          </a:p>
          <a:p xmlns:a="http://schemas.openxmlformats.org/drawingml/2006/main">
            <a:pPr marL="0" lvl="0" indent="0" algn="l">
              <a:spcBef>
                <a:spcPts val="0"/>
              </a:spcBef>
              <a:spcAft>
                <a:spcPts val="0"/>
              </a:spcAft>
              <a:buNone/>
            </a:pPr>
            <a:r>
              <a:t>עדכן את מסמכי הפרויקט כך שישקפו את המצב בסיום.</a:t>
            </a:r>
            <a:endParaRPr/>
          </a:p>
          <a:p xmlns:a="http://schemas.openxmlformats.org/drawingml/2006/main">
            <a:pPr marL="0" lvl="0" indent="0" algn="l">
              <a:spcBef>
                <a:spcPts val="0"/>
              </a:spcBef>
              <a:spcAft>
                <a:spcPts val="0"/>
              </a:spcAft>
              <a:buNone/>
            </a:pPr>
            <a:r>
              <a:t>החזר סיכום: שינויים, פקודות ותוצאות בדיקה, פערים והצעד הבא.</a:t>
            </a:r>
            <a:endParaRPr/>
          </a:p>
          <a:p xmlns:a="http://schemas.openxmlformats.org/drawingml/2006/main">
            <a:pPr marL="0" lvl="0" indent="0" algn="l">
              <a:spcBef>
                <a:spcPts val="0"/>
              </a:spcBef>
              <a:spcAft>
                <a:spcPts val="0"/>
              </a:spcAft>
              <a:buNone/>
            </a:pPr>
            <a:r>
              <a:t>אם בדיקה לא הורצה, ציין זאת ואת הסיבה במפורש.</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תת־סוכן עובד על משימה מואצלת בהקשר נפרד ומחזיר ממצאים. אין להניח שהוא יודע את כל השיחה. מעבירים אליו את המידע הנחוץ. פיצול מוסיף זמן, עלות ותיאום, ולכן במשימה קצרה עדיף לעיתים לעבוד עם סוכן אחד.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https://code.claude.com/docs/en/sub-agents</a:t>
            </a:r>
            <a:endParaRPr/>
          </a:p>
          <a:p xmlns:a="http://schemas.openxmlformats.org/drawingml/2006/main">
            <a:pPr marL="0" lvl="0" indent="0" algn="l">
              <a:spcBef>
                <a:spcPts val="0"/>
              </a:spcBef>
              <a:spcAft>
                <a:spcPts val="0"/>
              </a:spcAft>
              <a:buNone/>
            </a:pPr>
            <a:r>
              <a:t>https://learn.chatgpt.com/docs/agent-configuration/subagents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הקובץ נשמר בנתיב .claude/agents/spec-reviewer.md. שם ותיאור ב־YAML frontmatter, ולאחריהם הוראות Markdown. הכלים Read, Grep, Glob מאפשרים סקירה ללא כלי עריכה או הרצת shell. מבקשים מהסוכן הראשי להשתמש ב־spec-reviewer. בגרסאות שבהן נוצרה תיקיית agents חדשה, מתחילים שיחה חדשה כדי לוודא טעינה.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https://code.claude.com/docs/en/sub-agents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זהו הפורמט לפי התיעוד שנבדק ב־13.10.2026. בקובץ TOML של הסוכן name, description ו־developer_instructions הם שדות נדרשים. sandbox_mode הוא הגבלה נוספת. זמינות התכונה ומסלולי ההגדרה תלויים בגרסת הכלי. אין להעתיק קובץ YAML של Claude כקובץ הגדרה של Codex.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https://learn.chatgpt.com/docs/agent-configuration/subagents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דוגמה כללית לחלוקת עבודה: מימוש, סקירה ובדיקת התאמה לאפיון. בוחרים משימות עצמאיות ונמנעים מעריכה חופפת ללא תיאום.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https://code.claude.com/docs/en/sub-agents</a:t>
            </a:r>
            <a:endParaRPr/>
          </a:p>
          <a:p xmlns:a="http://schemas.openxmlformats.org/drawingml/2006/main">
            <a:pPr marL="0" lvl="0" indent="0" algn="l">
              <a:spcBef>
                <a:spcPts val="0"/>
              </a:spcBef>
              <a:spcAft>
                <a:spcPts val="0"/>
              </a:spcAft>
              <a:buNone/>
            </a:pPr>
            <a:r>
              <a:t>https://learn.chatgpt.com/docs/agent-configuration/subagents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הפעל תת־סוכן לסקירת השינוי הנוכחי מול האפיון.</a:t>
            </a:r>
            <a:endParaRPr/>
          </a:p>
          <a:p xmlns:a="http://schemas.openxmlformats.org/drawingml/2006/main">
            <a:pPr marL="0" lvl="0" indent="0" algn="l">
              <a:spcBef>
                <a:spcPts val="0"/>
              </a:spcBef>
              <a:spcAft>
                <a:spcPts val="0"/>
              </a:spcAft>
              <a:buNone/>
            </a:pPr>
            <a:r>
              <a:t>מסור לו את ההנחיות הבאות ואת נתיבי הקבצים שהשתנו:</a:t>
            </a:r>
            <a:endParaRPr/>
          </a:p>
          <a:p xmlns:a="http://schemas.openxmlformats.org/drawingml/2006/main">
            <a:pPr marL="0" lvl="0" indent="0" algn="l">
              <a:spcBef>
                <a:spcPts val="0"/>
              </a:spcBef>
              <a:spcAft>
                <a:spcPts val="0"/>
              </a:spcAft>
              <a:buNone/>
            </a:pPr>
            <a:r>
              <a:t>תפקידך לבדוק התאמה לדרישות, בלי לערוך קבצים.</a:t>
            </a:r>
            <a:endParaRPr/>
          </a:p>
          <a:p xmlns:a="http://schemas.openxmlformats.org/drawingml/2006/main">
            <a:pPr marL="0" lvl="0" indent="0" algn="l">
              <a:spcBef>
                <a:spcPts val="0"/>
              </a:spcBef>
              <a:spcAft>
                <a:spcPts val="0"/>
              </a:spcAft>
              <a:buNone/>
            </a:pPr>
            <a:r>
              <a:t>קרא את docs/spec.md ואת החלטות הפרויקט הרלוונטיות.</a:t>
            </a:r>
            <a:endParaRPr/>
          </a:p>
          <a:p xmlns:a="http://schemas.openxmlformats.org/drawingml/2006/main">
            <a:pPr marL="0" lvl="0" indent="0" algn="l">
              <a:spcBef>
                <a:spcPts val="0"/>
              </a:spcBef>
              <a:spcAft>
                <a:spcPts val="0"/>
              </a:spcAft>
              <a:buNone/>
            </a:pPr>
            <a:r>
              <a:t>בדוק את הקוד ואת הבדיקות עבור [המשימה ותנאי הקבלה].</a:t>
            </a:r>
            <a:endParaRPr/>
          </a:p>
          <a:p xmlns:a="http://schemas.openxmlformats.org/drawingml/2006/main">
            <a:pPr marL="0" lvl="0" indent="0" algn="l">
              <a:spcBef>
                <a:spcPts val="0"/>
              </a:spcBef>
              <a:spcAft>
                <a:spcPts val="0"/>
              </a:spcAft>
              <a:buNone/>
            </a:pPr>
            <a:r>
              <a:t>חפש התנהגות חסרה, מקרי קצה ופערים בבדיקות או בהרשאות.</a:t>
            </a:r>
            <a:endParaRPr/>
          </a:p>
          <a:p xmlns:a="http://schemas.openxmlformats.org/drawingml/2006/main">
            <a:pPr marL="0" lvl="0" indent="0" algn="l">
              <a:spcBef>
                <a:spcPts val="0"/>
              </a:spcBef>
              <a:spcAft>
                <a:spcPts val="0"/>
              </a:spcAft>
              <a:buNone/>
            </a:pPr>
            <a:r>
              <a:t>לכל ממצא, ציין קובץ, מיקום, דרישה והסבר להשפעה.</a:t>
            </a:r>
            <a:endParaRPr/>
          </a:p>
          <a:p xmlns:a="http://schemas.openxmlformats.org/drawingml/2006/main">
            <a:pPr marL="0" lvl="0" indent="0" algn="l">
              <a:spcBef>
                <a:spcPts val="0"/>
              </a:spcBef>
              <a:spcAft>
                <a:spcPts val="0"/>
              </a:spcAft>
              <a:buNone/>
            </a:pPr>
            <a:r>
              <a:t>הבחן בין תקלה מוכחת, חשד ושאלה שמצריכה החלטה.</a:t>
            </a:r>
            <a:endParaRPr/>
          </a:p>
          <a:p xmlns:a="http://schemas.openxmlformats.org/drawingml/2006/main">
            <a:pPr marL="0" lvl="0" indent="0" algn="l">
              <a:spcBef>
                <a:spcPts val="0"/>
              </a:spcBef>
              <a:spcAft>
                <a:spcPts val="0"/>
              </a:spcAft>
              <a:buNone/>
            </a:pPr>
            <a:r>
              <a:t>החזר ממצאים לפי חשיבות וציין גם מה לא יכולת לבדוק.</a:t>
            </a:r>
            <a:endParaRPr/>
          </a:p>
          <a:p xmlns:a="http://schemas.openxmlformats.org/drawingml/2006/main">
            <a:pPr marL="0" lvl="0" indent="0" algn="l">
              <a:spcBef>
                <a:spcPts val="0"/>
              </a:spcBef>
              <a:spcAft>
                <a:spcPts val="0"/>
              </a:spcAft>
              <a:buNone/>
            </a:pPr>
            <a:r>
              <a:t>לאחר קבלת הסקירה, בדוק את הממצאים כסוכן הראשי.</a:t>
            </a:r>
            <a:endParaRPr/>
          </a:p>
          <a:p xmlns:a="http://schemas.openxmlformats.org/drawingml/2006/main">
            <a:pPr marL="0" lvl="0" indent="0" algn="l">
              <a:spcBef>
                <a:spcPts val="0"/>
              </a:spcBef>
              <a:spcAft>
                <a:spcPts val="0"/>
              </a:spcAft>
              <a:buNone/>
            </a:pPr>
            <a:r>
              <a:t>תקן פערים מאומתים, הרץ בדיקות ודווח על התוצאה המשולבת.</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סוכן יכול לבצע פעולות ממשיות באמצעות הכלים הזמינים לו. הרשאות לכלי אינן תחליף להגדרת גבולות המשימה. סביבת בדיקה, סקירת שינויים וניהול סודות נדרשים בהתאם לפרויקט.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דוגמת תהליך Git פשוטה. Commit הוא נקודת ציון בגרסאות ואינו גיבוי מרוחק בפני עצמו. בפרויקט משותף עדיף לבטל באמצעות revert מתאים מאשר לשכתב היסטוריה. אין לבצע פקודות הרסניות בלי להבין מה יאבד.</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זו תמצית טכנית, ולא חזרה לשיעור השיווק והפרסום שנדחה. פריסה אינה מבטיחה שמיגרציות מסד ירוצו או שמדיניות ההרשאות נכונה. סביבת preview עלולה לגשת למסד production אם הוגדרה כך. מגדירים נתוני בדיקה וסביבה נפרדת בהתאם לצורך.</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https://vercel.com/docs/deployments</a:t>
            </a:r>
            <a:endParaRPr/>
          </a:p>
          <a:p xmlns:a="http://schemas.openxmlformats.org/drawingml/2006/main">
            <a:pPr marL="0" lvl="0" indent="0" algn="l">
              <a:spcBef>
                <a:spcPts val="0"/>
              </a:spcBef>
              <a:spcAft>
                <a:spcPts val="0"/>
              </a:spcAft>
              <a:buNone/>
            </a:pPr>
            <a:r>
              <a:t>https://supabase.com/docs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דוגמה למבנה של status, ולא דיווח על משימה שבוצעה. מציינים רק בדיקות שבאמת הורצו ומפנים לקבצים הרלוונטיים.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פרומפט להעתקה. מחליפים את הטקסט בסוגריים מרובעים בפרטים של הפרויקט. בהדבקה מאחדים את כל חלקי אותו פרומפט.</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הפרומפט המלא בשקף:</a:t>
            </a:r>
            <a:endParaRPr/>
          </a:p>
          <a:p xmlns:a="http://schemas.openxmlformats.org/drawingml/2006/main">
            <a:pPr marL="0" lvl="0" indent="0" algn="l">
              <a:spcBef>
                <a:spcPts val="0"/>
              </a:spcBef>
              <a:spcAft>
                <a:spcPts val="0"/>
              </a:spcAft>
              <a:buNone/>
            </a:pPr>
            <a:r>
              <a:t>המשך את הפרויקט מתוך הקבצים, ללא הנחה שיש לך שיחה קודמת.</a:t>
            </a:r>
            <a:endParaRPr/>
          </a:p>
          <a:p xmlns:a="http://schemas.openxmlformats.org/drawingml/2006/main">
            <a:pPr marL="0" lvl="0" indent="0" algn="l">
              <a:spcBef>
                <a:spcPts val="0"/>
              </a:spcBef>
              <a:spcAft>
                <a:spcPts val="0"/>
              </a:spcAft>
              <a:buNone/>
            </a:pPr>
            <a:r>
              <a:t>קרא את הנחיות הסוכן, README.md ואת מסמכי האפיון וההחלטות.</a:t>
            </a:r>
            <a:endParaRPr/>
          </a:p>
          <a:p xmlns:a="http://schemas.openxmlformats.org/drawingml/2006/main">
            <a:pPr marL="0" lvl="0" indent="0" algn="l">
              <a:spcBef>
                <a:spcPts val="0"/>
              </a:spcBef>
              <a:spcAft>
                <a:spcPts val="0"/>
              </a:spcAft>
              <a:buNone/>
            </a:pPr>
            <a:r>
              <a:t>קרא את docs/status.md ובדוק את מצב הקוד והבדיקות הרלוונטיות.</a:t>
            </a:r>
            <a:endParaRPr/>
          </a:p>
          <a:p xmlns:a="http://schemas.openxmlformats.org/drawingml/2006/main">
            <a:pPr marL="0" lvl="0" indent="0" algn="l">
              <a:spcBef>
                <a:spcPts val="0"/>
              </a:spcBef>
              <a:spcAft>
                <a:spcPts val="0"/>
              </a:spcAft>
              <a:buNone/>
            </a:pPr>
            <a:r>
              <a:t>סכם בקצרה את מטרת המוצר, מה הושלם ומה נשאר פתוח.</a:t>
            </a:r>
            <a:endParaRPr/>
          </a:p>
          <a:p xmlns:a="http://schemas.openxmlformats.org/drawingml/2006/main">
            <a:pPr marL="0" lvl="0" indent="0" algn="l">
              <a:spcBef>
                <a:spcPts val="0"/>
              </a:spcBef>
              <a:spcAft>
                <a:spcPts val="0"/>
              </a:spcAft>
              <a:buNone/>
            </a:pPr>
            <a:r>
              <a:t>הבחן בין מידע מתועד לבין הנחות ודברים שטרם אומתו.</a:t>
            </a:r>
            <a:endParaRPr/>
          </a:p>
          <a:p xmlns:a="http://schemas.openxmlformats.org/drawingml/2006/main">
            <a:pPr marL="0" lvl="0" indent="0" algn="l">
              <a:spcBef>
                <a:spcPts val="0"/>
              </a:spcBef>
              <a:spcAft>
                <a:spcPts val="0"/>
              </a:spcAft>
              <a:buNone/>
            </a:pPr>
            <a:r>
              <a:t>אם הקוד והתיעוד סותרים זה את זה, הצג את הפער לפני שינוי הדרישה.</a:t>
            </a:r>
            <a:endParaRPr/>
          </a:p>
          <a:p xmlns:a="http://schemas.openxmlformats.org/drawingml/2006/main">
            <a:pPr marL="0" lvl="0" indent="0" algn="l">
              <a:spcBef>
                <a:spcPts val="0"/>
              </a:spcBef>
              <a:spcAft>
                <a:spcPts val="0"/>
              </a:spcAft>
              <a:buNone/>
            </a:pPr>
            <a:r>
              <a:t>בחר את המשימה הבאה מתוך התוכנית והסבר למה היא הבאה בתור.</a:t>
            </a:r>
            <a:endParaRPr/>
          </a:p>
          <a:p xmlns:a="http://schemas.openxmlformats.org/drawingml/2006/main">
            <a:pPr marL="0" lvl="0" indent="0" algn="l">
              <a:spcBef>
                <a:spcPts val="0"/>
              </a:spcBef>
              <a:spcAft>
                <a:spcPts val="0"/>
              </a:spcAft>
              <a:buNone/>
            </a:pPr>
            <a:r>
              <a:t>אם חסרה החלטה שמשנה את המוצר, שאל שאלה ממוקדת.</a:t>
            </a:r>
            <a:endParaRPr/>
          </a:p>
          <a:p xmlns:a="http://schemas.openxmlformats.org/drawingml/2006/main">
            <a:pPr marL="0" lvl="0" indent="0" algn="l">
              <a:spcBef>
                <a:spcPts val="0"/>
              </a:spcBef>
              <a:spcAft>
                <a:spcPts val="0"/>
              </a:spcAft>
              <a:buNone/>
            </a:pPr>
            <a:r>
              <a:t>אחרת, בצע את המשימה בשיטת TDD לפי תנאי הקבלה באפיון.</a:t>
            </a:r>
            <a:endParaRPr/>
          </a:p>
          <a:p xmlns:a="http://schemas.openxmlformats.org/drawingml/2006/main">
            <a:pPr marL="0" lvl="0" indent="0" algn="l">
              <a:spcBef>
                <a:spcPts val="0"/>
              </a:spcBef>
              <a:spcAft>
                <a:spcPts val="0"/>
              </a:spcAft>
              <a:buNone/>
            </a:pPr>
            <a:r>
              <a:t>בסיום עדכן את המצב, ההחלטות והתיעוד הרלוונטי.</a:t>
            </a:r>
            <a:endParaRPr/>
          </a:p>
          <a:p xmlns:a="http://schemas.openxmlformats.org/drawingml/2006/main">
            <a:pPr marL="0" lvl="0" indent="0" algn="l">
              <a:spcBef>
                <a:spcPts val="0"/>
              </a:spcBef>
              <a:spcAft>
                <a:spcPts val="0"/>
              </a:spcAft>
              <a:buNone/>
            </a:pPr>
            <a:r>
              <a:t>דווח מה השתנה, מה נבדק בפועל והיכן הסוכן הבא צריך להמשיך.</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בוחרים שינוי קטן בפרויקט כלשהו. אפשר לתרגל עם תיקיית אפיון בלבד. החנות היא אפשרות לדוגמה בלבד. המבחן הוא יכולת להעביר את ההקשר באמצעות הקבצים.</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שאלת סיום לכיתה: אם נאבד את חלון הצ׳אט, האם נוכל להפעיל את הפרויקט, להבין את הדרישות ולהמשיך לפתח? הקבצים המתועדים חייבים לשקף את מצב הפרויקט בפועל.</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מקורות ותאריך בדיקה: 13.10.2026</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6c8e8902604e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d7930551b1497d" /></Relationships>
</file>

<file path=ppt/slideLayouts/slideLayout1.xml><?xml version="1.0" encoding="utf-8"?>
<p:sldLayout xmlns:p="http://schemas.openxmlformats.org/presentationml/2006/main" matchingName="Slide master 1">
  <p:cSld name="Slide master 1">
    <p:spTree>
      <p:nvGrpSpPr>
        <p:cNvPr id="1" name=""/>
        <p:cNvGrpSpPr/>
        <p:nvPr/>
      </p:nvGrpSpPr>
      <p:grpSpPr>
        <a:xfrm xmlns:a="http://schemas.openxmlformats.org/drawingml/2006/main"/>
      </p:grpSpPr>
      <p:sp>
        <p:nvSpPr>
          <p:cNvPr id="11" name="Google Shape;11;p2">
            <a:extLst xmlns:a="http://schemas.openxmlformats.org/drawingml/2006/main">
              <a:ext uri="{FF2B5EF4-FFF2-40B4-BE49-F238E27FC236}">
                <a16:creationId xmlns:a16="http://schemas.microsoft.com/office/drawing/2014/main" id="{4B0E85B1-A44B-4D73-825A-7F3AFB90888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6F4F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 name="Google Shape;12;p2">
            <a:extLst xmlns:a="http://schemas.openxmlformats.org/drawingml/2006/main">
              <a:ext uri="{FF2B5EF4-FFF2-40B4-BE49-F238E27FC236}">
                <a16:creationId xmlns:a16="http://schemas.microsoft.com/office/drawing/2014/main" id="{BB3A584D-55F9-4CCA-9004-CEA1D3BC3F6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cSld>
</p:sldLayout>
</file>

<file path=ppt/slideLayouts/slideLayout2.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6c4826f46f4046" /><Relationship Type="http://schemas.openxmlformats.org/officeDocument/2006/relationships/slideLayout" Target="/ppt/slideLayouts/slideLayout1.xml" Id="R25de81b3b01b4b91" /><Relationship Type="http://schemas.openxmlformats.org/officeDocument/2006/relationships/slideLayout" Target="/ppt/slideLayouts/slideLayout2.xml" Id="R03cb6690dafe400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5de81b3b01b4b91"/>
    <p:sldLayoutId xmlns:r="http://schemas.openxmlformats.org/officeDocument/2006/relationships" id="2147483650" r:id="R03cb6690dafe400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2f3deb07c448dc" /><Relationship Type="http://schemas.openxmlformats.org/officeDocument/2006/relationships/image" Target="/ppt/media/image.png" Id="Rb27dd2aa4dad4d0b" /><Relationship Type="http://schemas.openxmlformats.org/officeDocument/2006/relationships/notesSlide" Target="/ppt/notesSlides/notesSlide1.xml" Id="R6fea9f3e514a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ddcd3eb47d449e" /><Relationship Type="http://schemas.openxmlformats.org/officeDocument/2006/relationships/image" Target="/ppt/media/image2.png" Id="Raf367f00cb2c438a" /><Relationship Type="http://schemas.openxmlformats.org/officeDocument/2006/relationships/notesSlide" Target="/ppt/notesSlides/notesSlide2.xml" Id="R4a5e8f79343648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56b67cf9ae4874" /><Relationship Type="http://schemas.openxmlformats.org/officeDocument/2006/relationships/notesSlide" Target="/ppt/notesSlides/notesSlide3.xml" Id="Rf34afbee6a7043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c7d0e6c72a4656" /><Relationship Type="http://schemas.openxmlformats.org/officeDocument/2006/relationships/image" Target="/ppt/media/image3.png" Id="R108686830d054473" /><Relationship Type="http://schemas.openxmlformats.org/officeDocument/2006/relationships/notesSlide" Target="/ppt/notesSlides/notesSlide4.xml" Id="Ra3fc046c7ca642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53ac0e942749da" /><Relationship Type="http://schemas.openxmlformats.org/officeDocument/2006/relationships/notesSlide" Target="/ppt/notesSlides/notesSlide5.xml" Id="R475cf9d9bbfa43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d37e2d47a944f7" /><Relationship Type="http://schemas.openxmlformats.org/officeDocument/2006/relationships/notesSlide" Target="/ppt/notesSlides/notesSlide6.xml" Id="R8fdb8e5e81964c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1f8981e53d466d" /><Relationship Type="http://schemas.openxmlformats.org/officeDocument/2006/relationships/notesSlide" Target="/ppt/notesSlides/notesSlide7.xml" Id="Rde8acc9071a045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a8ad72e19949c9" /><Relationship Type="http://schemas.openxmlformats.org/officeDocument/2006/relationships/notesSlide" Target="/ppt/notesSlides/notesSlide8.xml" Id="R55afb874392b48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d07ea1f4f549fd" /><Relationship Type="http://schemas.openxmlformats.org/officeDocument/2006/relationships/notesSlide" Target="/ppt/notesSlides/notesSlide9.xml" Id="R3c37dd1a859847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f22a5efd4b4902" /><Relationship Type="http://schemas.openxmlformats.org/officeDocument/2006/relationships/image" Target="/ppt/media/image4.png" Id="R83486b181d3949e2" /><Relationship Type="http://schemas.openxmlformats.org/officeDocument/2006/relationships/notesSlide" Target="/ppt/notesSlides/notesSlide10.xml" Id="R4e1268f2b20a48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4e517647204475" /><Relationship Type="http://schemas.openxmlformats.org/officeDocument/2006/relationships/image" Target="/ppt/media/image5.png" Id="R980a59741bcd40a9" /><Relationship Type="http://schemas.openxmlformats.org/officeDocument/2006/relationships/notesSlide" Target="/ppt/notesSlides/notesSlide11.xml" Id="Ra2ca4d75d17c48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4bd65ce5144a24" /><Relationship Type="http://schemas.openxmlformats.org/officeDocument/2006/relationships/image" Target="/ppt/media/image6.png" Id="R3192b01113604e6f" /><Relationship Type="http://schemas.openxmlformats.org/officeDocument/2006/relationships/notesSlide" Target="/ppt/notesSlides/notesSlide12.xml" Id="Reec5f44ada6c4c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6a0f30bd3d438e" /><Relationship Type="http://schemas.openxmlformats.org/officeDocument/2006/relationships/notesSlide" Target="/ppt/notesSlides/notesSlide13.xml" Id="R7a8730bb09ff4f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1f8565eb714b63" /><Relationship Type="http://schemas.openxmlformats.org/officeDocument/2006/relationships/notesSlide" Target="/ppt/notesSlides/notesSlide14.xml" Id="Ra92bd96aaa454e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91c3856e1040fd" /><Relationship Type="http://schemas.openxmlformats.org/officeDocument/2006/relationships/notesSlide" Target="/ppt/notesSlides/notesSlide15.xml" Id="R7929586cd18845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51089cebf94d7f" /><Relationship Type="http://schemas.openxmlformats.org/officeDocument/2006/relationships/notesSlide" Target="/ppt/notesSlides/notesSlide16.xml" Id="R7fd75dfebf2f47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7d1a8bc5624e0e" /><Relationship Type="http://schemas.openxmlformats.org/officeDocument/2006/relationships/image" Target="/ppt/media/image7.png" Id="R6d6737f515174111" /><Relationship Type="http://schemas.openxmlformats.org/officeDocument/2006/relationships/notesSlide" Target="/ppt/notesSlides/notesSlide17.xml" Id="R1723908bb85a49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40f3b23a6b34551" /><Relationship Type="http://schemas.openxmlformats.org/officeDocument/2006/relationships/image" Target="/ppt/media/image8.png" Id="Re096586901434b77" /><Relationship Type="http://schemas.openxmlformats.org/officeDocument/2006/relationships/notesSlide" Target="/ppt/notesSlides/notesSlide18.xml" Id="R1d66bb422d4e49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a9a56f9801c4232" /><Relationship Type="http://schemas.openxmlformats.org/officeDocument/2006/relationships/notesSlide" Target="/ppt/notesSlides/notesSlide19.xml" Id="R7be481fa1e2f49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93024b3bd424f8f" /><Relationship Type="http://schemas.openxmlformats.org/officeDocument/2006/relationships/image" Target="/ppt/media/image9.png" Id="R4b990f04dd17413c" /><Relationship Type="http://schemas.openxmlformats.org/officeDocument/2006/relationships/notesSlide" Target="/ppt/notesSlides/notesSlide20.xml" Id="R20529e30f97949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1931eafdba14ee7" /><Relationship Type="http://schemas.openxmlformats.org/officeDocument/2006/relationships/notesSlide" Target="/ppt/notesSlides/notesSlide21.xml" Id="R2fbba687aee941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9618dad92694996" /><Relationship Type="http://schemas.openxmlformats.org/officeDocument/2006/relationships/notesSlide" Target="/ppt/notesSlides/notesSlide22.xml" Id="Rfb3f35c9433a4a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725dd0b697b48b2" /><Relationship Type="http://schemas.openxmlformats.org/officeDocument/2006/relationships/notesSlide" Target="/ppt/notesSlides/notesSlide23.xml" Id="R161ced705d654ee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f7ef59bfad04e2a" /><Relationship Type="http://schemas.openxmlformats.org/officeDocument/2006/relationships/notesSlide" Target="/ppt/notesSlides/notesSlide24.xml" Id="Rce95ed748a864c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8416be12aac4f16" /><Relationship Type="http://schemas.openxmlformats.org/officeDocument/2006/relationships/notesSlide" Target="/ppt/notesSlides/notesSlide25.xml" Id="Rec15661be1dd4f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31cf2ec0f55422d" /><Relationship Type="http://schemas.openxmlformats.org/officeDocument/2006/relationships/notesSlide" Target="/ppt/notesSlides/notesSlide26.xml" Id="R5c98c54acbf3474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f0442f1365d4bb5" /><Relationship Type="http://schemas.openxmlformats.org/officeDocument/2006/relationships/notesSlide" Target="/ppt/notesSlides/notesSlide27.xml" Id="R16352efb65c84f9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84386908a6641ca" /><Relationship Type="http://schemas.openxmlformats.org/officeDocument/2006/relationships/notesSlide" Target="/ppt/notesSlides/notesSlide28.xml" Id="R78e41488d94145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3d91bdb31794073" /><Relationship Type="http://schemas.openxmlformats.org/officeDocument/2006/relationships/notesSlide" Target="/ppt/notesSlides/notesSlide29.xml" Id="Rad23b2e10b6641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0b00685cead4b63" /><Relationship Type="http://schemas.openxmlformats.org/officeDocument/2006/relationships/image" Target="/ppt/media/image10.png" Id="R222c7268082d4c94" /><Relationship Type="http://schemas.openxmlformats.org/officeDocument/2006/relationships/notesSlide" Target="/ppt/notesSlides/notesSlide30.xml" Id="R2dc2bc913cc44f7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e1d516bedf94965" /><Relationship Type="http://schemas.openxmlformats.org/officeDocument/2006/relationships/image" Target="/ppt/media/image11.png" Id="Rb8d1f1f35ef142de" /><Relationship Type="http://schemas.openxmlformats.org/officeDocument/2006/relationships/notesSlide" Target="/ppt/notesSlides/notesSlide31.xml" Id="R506b8aa127d04d5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5e6295878554ab7" /><Relationship Type="http://schemas.openxmlformats.org/officeDocument/2006/relationships/notesSlide" Target="/ppt/notesSlides/notesSlide32.xml" Id="Rc8784ffd9e4a464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fb4e0636d0d46df" /><Relationship Type="http://schemas.openxmlformats.org/officeDocument/2006/relationships/notesSlide" Target="/ppt/notesSlides/notesSlide33.xml" Id="R9e4dd332ba6a433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7f8a047c3324bdf" /><Relationship Type="http://schemas.openxmlformats.org/officeDocument/2006/relationships/notesSlide" Target="/ppt/notesSlides/notesSlide34.xml" Id="Rbe6223e839a6424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13d56f4e35a4358" /><Relationship Type="http://schemas.openxmlformats.org/officeDocument/2006/relationships/notesSlide" Target="/ppt/notesSlides/notesSlide35.xml" Id="R596bbb42499843b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8337140b084700" /><Relationship Type="http://schemas.openxmlformats.org/officeDocument/2006/relationships/notesSlide" Target="/ppt/notesSlides/notesSlide36.xml" Id="R8ae69784f6e542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69bf085edb7404d" /><Relationship Type="http://schemas.openxmlformats.org/officeDocument/2006/relationships/image" Target="/ppt/media/image12.png" Id="Re1d97e3e04d94aeb" /><Relationship Type="http://schemas.openxmlformats.org/officeDocument/2006/relationships/notesSlide" Target="/ppt/notesSlides/notesSlide37.xml" Id="Rce7e597300804f1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ebee7ec8e4143da" /><Relationship Type="http://schemas.openxmlformats.org/officeDocument/2006/relationships/notesSlide" Target="/ppt/notesSlides/notesSlide38.xml" Id="R656d9340793a4f2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de0e5f535a74fd6" /><Relationship Type="http://schemas.openxmlformats.org/officeDocument/2006/relationships/notesSlide" Target="/ppt/notesSlides/notesSlide39.xml" Id="R0149e5f8520e4b5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39fd357b8824d39" /><Relationship Type="http://schemas.openxmlformats.org/officeDocument/2006/relationships/notesSlide" Target="/ppt/notesSlides/notesSlide40.xml" Id="R79982dea15dd4aa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500e26d98704af8" /><Relationship Type="http://schemas.openxmlformats.org/officeDocument/2006/relationships/notesSlide" Target="/ppt/notesSlides/notesSlide41.xml" Id="R7dafc6cd2113479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a677e4c70b347dc" /><Relationship Type="http://schemas.openxmlformats.org/officeDocument/2006/relationships/image" Target="/ppt/media/image13.png" Id="Rb03528aaccb949c0" /><Relationship Type="http://schemas.openxmlformats.org/officeDocument/2006/relationships/notesSlide" Target="/ppt/notesSlides/notesSlide42.xml" Id="R8f11bc28f8014d7c"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6" name="">
            <a:extLst>
              <a:ext uri="{FF2B5EF4-FFF2-40B4-BE49-F238E27FC236}">
                <ns2:creationId id="{62A3D3DD-3B8F-4797-82AB-8089961A8A4C}"/>
              </a:ext>
            </a:extLst>
          </p:cNvPr>
          <p:cNvSpPr>
            <a:spLocks noGrp="1"/>
          </p:cNvSpPr>
          <p:nvPr/>
        </p:nvSpPr>
        <p:spPr>
          <a:xfrm>
            <a:off x="5715000" y="0"/>
            <a:ext cx="3429000" cy="5143500"/>
          </a:xfrm>
          <a:prstGeom prst="rect">
            <a:avLst/>
          </a:prstGeom>
          <a:solidFill>
            <a:srgbClr val="F4D4F7"/>
          </a:solidFill>
          <a:ln w="0">
            <a:noFill/>
          </a:ln>
        </p:spPr>
      </p:sp>
      <p:pic>
        <p:nvPicPr>
          <p:cNvPr id="7" name=""/>
          <p:cNvPicPr>
            <a:picLocks noChangeAspect="1"/>
          </p:cNvPicPr>
          <p:nvPr/>
        </p:nvPicPr>
        <p:blipFill>
          <a:blip ns3:embed="Rb27dd2aa4dad4d0b"/>
          <a:stretch/>
        </p:blipFill>
        <p:spPr>
          <a:xfrm>
            <a:off x="6048375" y="1095375"/>
            <a:ext cx="2762250" cy="2762250"/>
          </a:xfrm>
          <a:prstGeom prst="rect">
            <a:avLst/>
          </a:prstGeom>
        </p:spPr>
      </p:pic>
      <p:sp>
        <p:nvSpPr>
          <p:cNvPr id="3" name="text">
            <a:extLst>
              <a:ext uri="{FF2B5EF4-FFF2-40B4-BE49-F238E27FC236}">
                <ns2:creationId id="{E8D07CEB-10A3-4017-9F28-4210A4A1884B}"/>
              </a:ext>
            </a:extLst>
          </p:cNvPr>
          <p:cNvSpPr>
            <a:spLocks noGrp="1"/>
          </p:cNvSpPr>
          <p:nvPr/>
        </p:nvSpPr>
        <p:spPr>
          <a:xfrm>
            <a:off x="523875" y="1571625"/>
            <a:ext cx="4762500" cy="1000125"/>
          </a:xfrm>
          <a:prstGeom prst="rect">
            <a:avLst/>
          </a:prstGeom>
          <a:noFill/>
          <a:ln w="0">
            <a:noFill/>
          </a:ln>
        </p:spPr>
        <p:txBody>
          <a:bodyPr wrap="square" lIns="0" tIns="0" rIns="0" bIns="0" anchor="t">
            <a:noAutofit/>
          </a:bodyPr>
          <a:lstStyle/>
          <a:p>
            <a:pPr algn="ctr" rtl="1">
              <a:defRPr sz="3300" b="1">
                <a:solidFill>
                  <a:srgbClr val="D75BE2"/>
                </a:solidFill>
                <a:latin typeface="Inter"/>
                <a:ea typeface="Inter"/>
                <a:cs typeface="Inter"/>
              </a:defRPr>
            </a:pPr>
            <a:r>
              <a:rPr sz="3300" b="1" lang="he-IL">
                <a:solidFill>
                  <a:srgbClr val="D75BE2"/>
                </a:solidFill>
                <a:latin typeface="Inter"/>
                <a:ea typeface="Inter"/>
                <a:cs typeface="Arial"/>
              </a:rPr>
              <a:t>פיתוח עם סוכני-קוד</a:t>
            </a:r>
          </a:p>
        </p:txBody>
      </p:sp>
      <p:sp>
        <p:nvSpPr>
          <p:cNvPr id="4" name="text">
            <a:extLst>
              <a:ext uri="{FF2B5EF4-FFF2-40B4-BE49-F238E27FC236}">
                <ns2:creationId id="{D9F86F58-B1DC-4E4B-AE63-9C7376A9ED7A}"/>
              </a:ext>
            </a:extLst>
          </p:cNvPr>
          <p:cNvSpPr>
            <a:spLocks noGrp="1"/>
          </p:cNvSpPr>
          <p:nvPr/>
        </p:nvSpPr>
        <p:spPr>
          <a:xfrm>
            <a:off x="523875" y="2809875"/>
            <a:ext cx="4762500" cy="628650"/>
          </a:xfrm>
          <a:prstGeom prst="rect">
            <a:avLst/>
          </a:prstGeom>
          <a:noFill/>
          <a:ln w="0">
            <a:noFill/>
          </a:ln>
        </p:spPr>
        <p:txBody>
          <a:bodyPr wrap="square" lIns="0" tIns="0" rIns="0" bIns="0" anchor="t">
            <a:noAutofit/>
          </a:bodyPr>
          <a:lstStyle/>
          <a:p>
            <a:pPr algn="ctr" rtl="1">
              <a:defRPr sz="1875" b="0">
                <a:solidFill>
                  <a:srgbClr val="272525"/>
                </a:solidFill>
                <a:latin typeface="Inter"/>
                <a:ea typeface="Inter"/>
                <a:cs typeface="Inter"/>
              </a:defRPr>
            </a:pPr>
            <a:r>
              <a:rPr sz="1875" b="0" lang="he-IL">
                <a:solidFill>
                  <a:srgbClr val="272525"/>
                </a:solidFill>
                <a:latin typeface="Inter"/>
                <a:ea typeface="Inter"/>
                <a:cs typeface="Arial"/>
              </a:rPr>
              <a:t>פיתוח ב־Vibe Coding עם Claude Code</a:t>
            </a:r>
          </a:p>
          <a:p>
            <a:pPr algn="ctr" rtl="1">
              <a:defRPr sz="1875" b="0">
                <a:solidFill>
                  <a:srgbClr val="272525"/>
                </a:solidFill>
                <a:latin typeface="Inter"/>
                <a:ea typeface="Inter"/>
                <a:cs typeface="Inter"/>
              </a:defRPr>
            </a:pPr>
            <a:r>
              <a:rPr sz="1875" b="0" lang="he-IL">
                <a:solidFill>
                  <a:srgbClr val="272525"/>
                </a:solidFill>
                <a:latin typeface="Inter"/>
                <a:ea typeface="Inter"/>
                <a:cs typeface="Arial"/>
              </a:rPr>
              <a:t>ועם ChatGPT / Codex</a:t>
            </a:r>
          </a:p>
        </p:txBody>
      </p:sp>
      <p:sp>
        <p:nvSpPr>
          <p:cNvPr id="5" name="text">
            <a:extLst>
              <a:ext uri="{FF2B5EF4-FFF2-40B4-BE49-F238E27FC236}">
                <ns2:creationId id="{CA30389E-83C5-4ED5-B1E6-143184560234}"/>
              </a:ext>
            </a:extLst>
          </p:cNvPr>
          <p:cNvSpPr>
            <a:spLocks noGrp="1"/>
          </p:cNvSpPr>
          <p:nvPr/>
        </p:nvSpPr>
        <p:spPr>
          <a:xfrm>
            <a:off x="619125" y="3762375"/>
            <a:ext cx="4572000" cy="619125"/>
          </a:xfrm>
          <a:prstGeom prst="rect">
            <a:avLst/>
          </a:prstGeom>
          <a:noFill/>
          <a:ln w="0">
            <a:noFill/>
          </a:ln>
        </p:spPr>
        <p:txBody>
          <a:bodyPr wrap="square" lIns="0" tIns="0" rIns="0" bIns="0" anchor="t">
            <a:noAutofit/>
          </a:bodyPr>
          <a:lstStyle/>
          <a:p>
            <a:pPr algn="ctr" rtl="1">
              <a:defRPr sz="1650" b="0">
                <a:solidFill>
                  <a:srgbClr val="272525"/>
                </a:solidFill>
                <a:latin typeface="Inter"/>
                <a:ea typeface="Inter"/>
                <a:cs typeface="Inter"/>
              </a:defRPr>
            </a:pPr>
            <a:r>
              <a:rPr sz="1650" b="0" lang="he-IL">
                <a:solidFill>
                  <a:srgbClr val="272525"/>
                </a:solidFill>
                <a:latin typeface="Inter"/>
                <a:ea typeface="Inter"/>
                <a:cs typeface="Arial"/>
              </a:rPr>
              <a:t>אפיון, תיעוד ובדיקות שמאפשרים להמשיך גם מחר</a:t>
            </a:r>
          </a:p>
        </p:txBody>
      </p:sp>
    </p:spTree>
    <p:extLst>
      <p:ext uri="{BB962C8B-B14F-4D97-AF65-F5344CB8AC3E}">
        <ns4:creationId val="953106519"/>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7" name="text">
            <a:extLst>
              <a:ext uri="{FF2B5EF4-FFF2-40B4-BE49-F238E27FC236}">
                <ns2:creationId id="{1BA30089-C979-4C2A-A892-45DDC1B3C85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סוכן ותיקייה: מתחילים בקלוד</a:t>
            </a:r>
          </a:p>
        </p:txBody>
      </p:sp>
      <p:sp>
        <p:nvSpPr>
          <p:cNvPr id="2" name="text">
            <a:extLst>
              <a:ext uri="{FF2B5EF4-FFF2-40B4-BE49-F238E27FC236}">
                <ns2:creationId id="{49BB93E7-A5E2-40B9-AC4D-0093BB7F52AD}"/>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09BB4E08-2A10-4491-9054-1E0E30CD4BED}"/>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a:t>
            </a:r>
          </a:p>
        </p:txBody>
      </p:sp>
      <p:pic>
        <p:nvPicPr>
          <p:cNvPr id="10" name=""/>
          <p:cNvPicPr>
            <a:picLocks noChangeAspect="1"/>
          </p:cNvPicPr>
          <p:nvPr/>
        </p:nvPicPr>
        <p:blipFill>
          <a:blip ns3:embed="Raf367f00cb2c438a"/>
          <a:stretch/>
        </p:blipFill>
        <p:spPr>
          <a:xfrm>
            <a:off x="1268267" y="971550"/>
            <a:ext cx="6607466" cy="3143250"/>
          </a:xfrm>
          <a:prstGeom prst="rect">
            <a:avLst/>
          </a:prstGeom>
        </p:spPr>
      </p:pic>
      <p:sp>
        <p:nvSpPr>
          <p:cNvPr id="5" name="">
            <a:extLst>
              <a:ext uri="{FF2B5EF4-FFF2-40B4-BE49-F238E27FC236}">
                <ns2:creationId id="{D7E2076C-423A-4D98-A679-C5B38321E0FB}"/>
              </a:ext>
            </a:extLst>
          </p:cNvPr>
          <p:cNvSpPr>
            <a:spLocks noGrp="1"/>
          </p:cNvSpPr>
          <p:nvPr/>
        </p:nvSpPr>
        <p:spPr>
          <a:xfrm>
            <a:off x="457200" y="4305300"/>
            <a:ext cx="8229600" cy="466725"/>
          </a:xfrm>
          <a:prstGeom prst="rect">
            <a:avLst/>
          </a:prstGeom>
          <a:solidFill>
            <a:srgbClr val="F4D4F7"/>
          </a:solidFill>
          <a:ln w="0">
            <a:noFill/>
          </a:ln>
        </p:spPr>
      </p:sp>
      <p:sp>
        <p:nvSpPr>
          <p:cNvPr id="6" name="text">
            <a:extLst>
              <a:ext uri="{FF2B5EF4-FFF2-40B4-BE49-F238E27FC236}">
                <ns2:creationId id="{C27A39FA-403E-4803-9C9D-13B2FEB2B302}"/>
              </a:ext>
            </a:extLst>
          </p:cNvPr>
          <p:cNvSpPr>
            <a:spLocks noGrp="1"/>
          </p:cNvSpPr>
          <p:nvPr/>
        </p:nvSpPr>
        <p:spPr>
          <a:xfrm>
            <a:off x="619125" y="440055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בתפריט + בוחרים Add folder ומחברים את תיקיית הפרויקט. אפשר גם בלי VS Code.</a:t>
            </a:r>
          </a:p>
        </p:txBody>
      </p:sp>
    </p:spTree>
    <p:extLst>
      <p:ext uri="{BB962C8B-B14F-4D97-AF65-F5344CB8AC3E}">
        <ns4:creationId val="953106519"/>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0" name="text">
            <a:extLst>
              <a:ext uri="{FF2B5EF4-FFF2-40B4-BE49-F238E27FC236}">
                <ns2:creationId id="{8D79F420-BDCF-455E-AF2F-12C184AA3FEF}"/>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מה ההבדל בין מודל שפה לסוכן?</a:t>
            </a:r>
          </a:p>
        </p:txBody>
      </p:sp>
      <p:sp>
        <p:nvSpPr>
          <p:cNvPr id="2" name="text">
            <a:extLst>
              <a:ext uri="{FF2B5EF4-FFF2-40B4-BE49-F238E27FC236}">
                <ns2:creationId id="{1E1026F9-7285-4386-8216-D289BC3EAE11}"/>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2EAC8B1B-55C5-4DD9-BFB8-0C1B177DD805}"/>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a:t>
            </a:r>
          </a:p>
        </p:txBody>
      </p:sp>
      <p:sp>
        <p:nvSpPr>
          <p:cNvPr id="4" name="text">
            <a:extLst>
              <a:ext uri="{FF2B5EF4-FFF2-40B4-BE49-F238E27FC236}">
                <ns2:creationId id="{E505625B-B786-4EE4-9AFC-225A4986F17F}"/>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מודל שפה: LLM</a:t>
            </a:r>
          </a:p>
        </p:txBody>
      </p:sp>
      <p:sp>
        <p:nvSpPr>
          <p:cNvPr id="5" name="text">
            <a:extLst>
              <a:ext uri="{FF2B5EF4-FFF2-40B4-BE49-F238E27FC236}">
                <ns2:creationId id="{09CBFDD9-FFE1-4B5B-90BE-0A1848DB518D}"/>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מבין הקשר ומייצר תשובה או קוד. לבדו הוא אינו קורא או משנה את התיקייה.</a:t>
            </a:r>
          </a:p>
        </p:txBody>
      </p:sp>
      <p:sp>
        <p:nvSpPr>
          <p:cNvPr id="6" name="text">
            <a:extLst>
              <a:ext uri="{FF2B5EF4-FFF2-40B4-BE49-F238E27FC236}">
                <ns2:creationId id="{5AE0B42D-760D-44A8-BD8E-D547FB7293B6}"/>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סוכן: מודל בתוך סביבת עבודה</a:t>
            </a:r>
          </a:p>
        </p:txBody>
      </p:sp>
      <p:sp>
        <p:nvSpPr>
          <p:cNvPr id="7" name="text">
            <a:extLst>
              <a:ext uri="{FF2B5EF4-FFF2-40B4-BE49-F238E27FC236}">
                <ns2:creationId id="{F56610EC-9091-40F9-9D1F-9BD98CB20346}"/>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בוחר כלי, מפעיל אותו דרך הסביבה, קורא את התוצאה ומחליט איך להמשיך.</a:t>
            </a:r>
          </a:p>
        </p:txBody>
      </p:sp>
      <p:sp>
        <p:nvSpPr>
          <p:cNvPr id="8" name="text">
            <a:extLst>
              <a:ext uri="{FF2B5EF4-FFF2-40B4-BE49-F238E27FC236}">
                <ns2:creationId id="{09DFABD5-BDC8-4096-A31C-B5D5A36C375B}"/>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הכלים שעומדים לרשותו</a:t>
            </a:r>
          </a:p>
        </p:txBody>
      </p:sp>
      <p:sp>
        <p:nvSpPr>
          <p:cNvPr id="9" name="text">
            <a:extLst>
              <a:ext uri="{FF2B5EF4-FFF2-40B4-BE49-F238E27FC236}">
                <ns2:creationId id="{7C58BFA7-2D96-4EED-B0F4-61EFC3115159}"/>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קבצים ותיקיות, טרמינל ובדיקות, וגם חיבורי MCP לקבצים ולשירותים.</a:t>
            </a:r>
          </a:p>
        </p:txBody>
      </p:sp>
    </p:spTree>
    <p:extLst>
      <p:ext uri="{BB962C8B-B14F-4D97-AF65-F5344CB8AC3E}">
        <ns3:creationId val="953106519"/>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778276DD-8BB1-495D-810C-C3F937897F38}"/>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מה נוכל לבצע בסוף השיעור</a:t>
            </a:r>
          </a:p>
        </p:txBody>
      </p:sp>
      <p:sp>
        <p:nvSpPr>
          <p:cNvPr id="2" name="text">
            <a:extLst>
              <a:ext uri="{FF2B5EF4-FFF2-40B4-BE49-F238E27FC236}">
                <ns2:creationId id="{C76E9054-A37F-4E98-B954-96A09AEDB4C2}"/>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0DCF2898-AB57-4296-BA42-96EDF570471C}"/>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4</a:t>
            </a:r>
          </a:p>
        </p:txBody>
      </p:sp>
      <p:pic>
        <p:nvPicPr>
          <p:cNvPr id="14" name=""/>
          <p:cNvPicPr>
            <a:picLocks noChangeAspect="1"/>
          </p:cNvPicPr>
          <p:nvPr/>
        </p:nvPicPr>
        <p:blipFill>
          <a:blip ns3:embed="R108686830d054473"/>
          <a:stretch/>
        </p:blipFill>
        <p:spPr>
          <a:xfrm>
            <a:off x="718893" y="1333500"/>
            <a:ext cx="2000739" cy="3000375"/>
          </a:xfrm>
          <a:prstGeom prst="rect">
            <a:avLst/>
          </a:prstGeom>
        </p:spPr>
      </p:pic>
      <p:sp>
        <p:nvSpPr>
          <p:cNvPr id="5" name="text">
            <a:extLst>
              <a:ext uri="{FF2B5EF4-FFF2-40B4-BE49-F238E27FC236}">
                <ns2:creationId id="{047928C2-F013-4FDB-9F39-927126FEDEE4}"/>
              </a:ext>
            </a:extLst>
          </p:cNvPr>
          <p:cNvSpPr>
            <a:spLocks noGrp="1"/>
          </p:cNvSpPr>
          <p:nvPr/>
        </p:nvSpPr>
        <p:spPr>
          <a:xfrm>
            <a:off x="3429000" y="1333500"/>
            <a:ext cx="52387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להתחיל פרויקט</a:t>
            </a:r>
          </a:p>
        </p:txBody>
      </p:sp>
      <p:sp>
        <p:nvSpPr>
          <p:cNvPr id="6" name="text">
            <a:extLst>
              <a:ext uri="{FF2B5EF4-FFF2-40B4-BE49-F238E27FC236}">
                <ns2:creationId id="{99B5E550-DCA2-40D7-9206-35A32BC95B2D}"/>
              </a:ext>
            </a:extLst>
          </p:cNvPr>
          <p:cNvSpPr>
            <a:spLocks noGrp="1"/>
          </p:cNvSpPr>
          <p:nvPr/>
        </p:nvSpPr>
        <p:spPr>
          <a:xfrm>
            <a:off x="3429000" y="1666875"/>
            <a:ext cx="52387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לפתוח תיקייה, לחבר סוכן ולהפעיל את הפרויקט מקומית.</a:t>
            </a:r>
          </a:p>
        </p:txBody>
      </p:sp>
      <p:sp>
        <p:nvSpPr>
          <p:cNvPr id="7" name="text">
            <a:extLst>
              <a:ext uri="{FF2B5EF4-FFF2-40B4-BE49-F238E27FC236}">
                <ns2:creationId id="{0EDD433E-5054-4124-B338-D1C1B92083F8}"/>
              </a:ext>
            </a:extLst>
          </p:cNvPr>
          <p:cNvSpPr>
            <a:spLocks noGrp="1"/>
          </p:cNvSpPr>
          <p:nvPr/>
        </p:nvSpPr>
        <p:spPr>
          <a:xfrm>
            <a:off x="3429000" y="2390775"/>
            <a:ext cx="52387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לפתח פיצ׳ר שאפשר לבדוק</a:t>
            </a:r>
          </a:p>
        </p:txBody>
      </p:sp>
      <p:sp>
        <p:nvSpPr>
          <p:cNvPr id="8" name="text">
            <a:extLst>
              <a:ext uri="{FF2B5EF4-FFF2-40B4-BE49-F238E27FC236}">
                <ns2:creationId id="{811664E5-51A2-4493-B8AA-651AA4476FFF}"/>
              </a:ext>
            </a:extLst>
          </p:cNvPr>
          <p:cNvSpPr>
            <a:spLocks noGrp="1"/>
          </p:cNvSpPr>
          <p:nvPr/>
        </p:nvSpPr>
        <p:spPr>
          <a:xfrm>
            <a:off x="3429000" y="2724150"/>
            <a:ext cx="52387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לנסח תנאי קבלה למשימה ולעבוד במחזור של בדיקה ומימוש.</a:t>
            </a:r>
          </a:p>
        </p:txBody>
      </p:sp>
      <p:sp>
        <p:nvSpPr>
          <p:cNvPr id="9" name="text">
            <a:extLst>
              <a:ext uri="{FF2B5EF4-FFF2-40B4-BE49-F238E27FC236}">
                <ns2:creationId id="{A792E444-D6E1-4B6E-8AEC-2A68F3855092}"/>
              </a:ext>
            </a:extLst>
          </p:cNvPr>
          <p:cNvSpPr>
            <a:spLocks noGrp="1"/>
          </p:cNvSpPr>
          <p:nvPr/>
        </p:nvSpPr>
        <p:spPr>
          <a:xfrm>
            <a:off x="3429000" y="3448050"/>
            <a:ext cx="52387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להמשיך בשיחה חדשה</a:t>
            </a:r>
          </a:p>
        </p:txBody>
      </p:sp>
      <p:sp>
        <p:nvSpPr>
          <p:cNvPr id="10" name="text">
            <a:extLst>
              <a:ext uri="{FF2B5EF4-FFF2-40B4-BE49-F238E27FC236}">
                <ns2:creationId id="{554A1A9D-A314-4367-BE94-8AA2BABF2F67}"/>
              </a:ext>
            </a:extLst>
          </p:cNvPr>
          <p:cNvSpPr>
            <a:spLocks noGrp="1"/>
          </p:cNvSpPr>
          <p:nvPr/>
        </p:nvSpPr>
        <p:spPr>
          <a:xfrm>
            <a:off x="3429000" y="3781425"/>
            <a:ext cx="52387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להעביר לסוכן הבא אפיון, החלטות ומצב עבודה מעודכן.</a:t>
            </a:r>
          </a:p>
        </p:txBody>
      </p:sp>
    </p:spTree>
    <p:extLst>
      <p:ext uri="{BB962C8B-B14F-4D97-AF65-F5344CB8AC3E}">
        <ns4:creationId val="953106519"/>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87E41CC3-CCA3-4204-B45C-A09B7066AFD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תשתיות לפיתוח עצמאי</a:t>
            </a:r>
          </a:p>
        </p:txBody>
      </p:sp>
      <p:sp>
        <p:nvSpPr>
          <p:cNvPr id="2" name="text">
            <a:extLst>
              <a:ext uri="{FF2B5EF4-FFF2-40B4-BE49-F238E27FC236}">
                <ns2:creationId id="{001EACBE-28D6-439C-A701-2CDF2CE76BAD}"/>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98212CE2-178C-473E-9004-2603F2FC426F}"/>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5</a:t>
            </a:r>
          </a:p>
        </p:txBody>
      </p:sp>
      <p:sp>
        <p:nvSpPr>
          <p:cNvPr id="4" name="text">
            <a:extLst>
              <a:ext uri="{FF2B5EF4-FFF2-40B4-BE49-F238E27FC236}">
                <ns2:creationId id="{7108D692-5B9B-4089-8255-0A13173BAE6A}"/>
              </a:ext>
            </a:extLst>
          </p:cNvPr>
          <p:cNvSpPr>
            <a:spLocks noGrp="1"/>
          </p:cNvSpPr>
          <p:nvPr/>
        </p:nvSpPr>
        <p:spPr>
          <a:xfrm>
            <a:off x="457200" y="11620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שכבת היישום: Next.js</a:t>
            </a:r>
          </a:p>
        </p:txBody>
      </p:sp>
      <p:sp>
        <p:nvSpPr>
          <p:cNvPr id="5" name="text">
            <a:extLst>
              <a:ext uri="{FF2B5EF4-FFF2-40B4-BE49-F238E27FC236}">
                <ns2:creationId id="{C51CE39C-2CDE-48D7-908B-05BF4ACF384C}"/>
              </a:ext>
            </a:extLst>
          </p:cNvPr>
          <p:cNvSpPr>
            <a:spLocks noGrp="1"/>
          </p:cNvSpPr>
          <p:nvPr/>
        </p:nvSpPr>
        <p:spPr>
          <a:xfrm>
            <a:off x="457200" y="14954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ממשק המשתמש ולוגיקת השרת של היישום.</a:t>
            </a:r>
          </a:p>
        </p:txBody>
      </p:sp>
      <p:sp>
        <p:nvSpPr>
          <p:cNvPr id="6" name="text">
            <a:extLst>
              <a:ext uri="{FF2B5EF4-FFF2-40B4-BE49-F238E27FC236}">
                <ns2:creationId id="{F9296694-2D16-439F-B0FB-04DAA4D5F4D2}"/>
              </a:ext>
            </a:extLst>
          </p:cNvPr>
          <p:cNvSpPr>
            <a:spLocks noGrp="1"/>
          </p:cNvSpPr>
          <p:nvPr/>
        </p:nvSpPr>
        <p:spPr>
          <a:xfrm>
            <a:off x="457200" y="20955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שכבת הנתונים: Supabase</a:t>
            </a:r>
          </a:p>
        </p:txBody>
      </p:sp>
      <p:sp>
        <p:nvSpPr>
          <p:cNvPr id="7" name="text">
            <a:extLst>
              <a:ext uri="{FF2B5EF4-FFF2-40B4-BE49-F238E27FC236}">
                <ns2:creationId id="{C1F74579-FE25-4877-AA65-29621DD66E14}"/>
              </a:ext>
            </a:extLst>
          </p:cNvPr>
          <p:cNvSpPr>
            <a:spLocks noGrp="1"/>
          </p:cNvSpPr>
          <p:nvPr/>
        </p:nvSpPr>
        <p:spPr>
          <a:xfrm>
            <a:off x="457200" y="24288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מסד PostgreSQL, התחברות משתמשים, הרשאות ואחסון קבצים.</a:t>
            </a:r>
          </a:p>
        </p:txBody>
      </p:sp>
      <p:sp>
        <p:nvSpPr>
          <p:cNvPr id="8" name="text">
            <a:extLst>
              <a:ext uri="{FF2B5EF4-FFF2-40B4-BE49-F238E27FC236}">
                <ns2:creationId id="{6CBB329A-C450-4ABA-AE30-4B91B4DD7681}"/>
              </a:ext>
            </a:extLst>
          </p:cNvPr>
          <p:cNvSpPr>
            <a:spLocks noGrp="1"/>
          </p:cNvSpPr>
          <p:nvPr/>
        </p:nvSpPr>
        <p:spPr>
          <a:xfrm>
            <a:off x="457200" y="30289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פריסה והרצה: Vercel</a:t>
            </a:r>
          </a:p>
        </p:txBody>
      </p:sp>
      <p:sp>
        <p:nvSpPr>
          <p:cNvPr id="9" name="text">
            <a:extLst>
              <a:ext uri="{FF2B5EF4-FFF2-40B4-BE49-F238E27FC236}">
                <ns2:creationId id="{F4FC9F53-3284-4EF3-AF95-08A1879C8E1A}"/>
              </a:ext>
            </a:extLst>
          </p:cNvPr>
          <p:cNvSpPr>
            <a:spLocks noGrp="1"/>
          </p:cNvSpPr>
          <p:nvPr/>
        </p:nvSpPr>
        <p:spPr>
          <a:xfrm>
            <a:off x="457200" y="33623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אירוח היישום, גרסאות תצוגה מקדימה ופריסה מתוך מאגר הקוד.</a:t>
            </a:r>
          </a:p>
        </p:txBody>
      </p:sp>
      <p:sp>
        <p:nvSpPr>
          <p:cNvPr id="10" name="">
            <a:extLst>
              <a:ext uri="{FF2B5EF4-FFF2-40B4-BE49-F238E27FC236}">
                <ns2:creationId id="{5F3BC53E-4E9C-465C-AD4E-8717669D33EF}"/>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3DDCC5A3-985A-4511-9B97-20605354C37F}"/>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כשאתם בוחרים את הכלים ומחברים אותם באמצעות סוכנים, השמיים הם הגבול.</a:t>
            </a:r>
          </a:p>
        </p:txBody>
      </p:sp>
    </p:spTree>
    <p:extLst>
      <p:ext uri="{BB962C8B-B14F-4D97-AF65-F5344CB8AC3E}">
        <ns3:creationId val="953106519"/>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0" name="text">
            <a:extLst>
              <a:ext uri="{FF2B5EF4-FFF2-40B4-BE49-F238E27FC236}">
                <ns2:creationId id="{BE36AF67-2089-426A-881A-7F263AB8B8D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כלים מקומיים וחיבורי MCP</a:t>
            </a:r>
          </a:p>
        </p:txBody>
      </p:sp>
      <p:sp>
        <p:nvSpPr>
          <p:cNvPr id="2" name="text">
            <a:extLst>
              <a:ext uri="{FF2B5EF4-FFF2-40B4-BE49-F238E27FC236}">
                <ns2:creationId id="{F3AF166B-E151-4C02-B2B0-C84063D933B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6E764A9F-F12A-4781-94DA-17852FC566ED}"/>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6</a:t>
            </a:r>
          </a:p>
        </p:txBody>
      </p:sp>
      <p:sp>
        <p:nvSpPr>
          <p:cNvPr id="4" name="text">
            <a:extLst>
              <a:ext uri="{FF2B5EF4-FFF2-40B4-BE49-F238E27FC236}">
                <ns2:creationId id="{0CBA8E8D-8BE2-44AA-A18B-2E668A8B4572}"/>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עבודה בתיקייה</a:t>
            </a:r>
          </a:p>
        </p:txBody>
      </p:sp>
      <p:sp>
        <p:nvSpPr>
          <p:cNvPr id="5" name="text">
            <a:extLst>
              <a:ext uri="{FF2B5EF4-FFF2-40B4-BE49-F238E27FC236}">
                <ns2:creationId id="{AA8FFFA0-1274-48F4-B43A-31B7521B0EBE}"/>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הסוכן מחפש, קורא, יוצר ועורך קבצים. הוא יכול להריץ פקודות ובדיקות.</a:t>
            </a:r>
          </a:p>
        </p:txBody>
      </p:sp>
      <p:sp>
        <p:nvSpPr>
          <p:cNvPr id="6" name="text">
            <a:extLst>
              <a:ext uri="{FF2B5EF4-FFF2-40B4-BE49-F238E27FC236}">
                <ns2:creationId id="{80A1B72D-8228-4EBD-AB95-63A56DBF87A4}"/>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חיבורי MCP</a:t>
            </a:r>
          </a:p>
        </p:txBody>
      </p:sp>
      <p:sp>
        <p:nvSpPr>
          <p:cNvPr id="7" name="text">
            <a:extLst>
              <a:ext uri="{FF2B5EF4-FFF2-40B4-BE49-F238E27FC236}">
                <ns2:creationId id="{20A73E16-3B42-4E48-9149-9B4809C4471A}"/>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מחברים כלים נוספים לעבודה על מסמכים וקבצים, מסדי נתונים ושירותים.</a:t>
            </a:r>
          </a:p>
        </p:txBody>
      </p:sp>
      <p:sp>
        <p:nvSpPr>
          <p:cNvPr id="8" name="text">
            <a:extLst>
              <a:ext uri="{FF2B5EF4-FFF2-40B4-BE49-F238E27FC236}">
                <ns2:creationId id="{C26C133F-69EB-4587-8FC0-069270D78908}"/>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בדיקת היכולת בפועל</a:t>
            </a:r>
          </a:p>
        </p:txBody>
      </p:sp>
      <p:sp>
        <p:nvSpPr>
          <p:cNvPr id="9" name="text">
            <a:extLst>
              <a:ext uri="{FF2B5EF4-FFF2-40B4-BE49-F238E27FC236}">
                <ns2:creationId id="{69182C59-F87C-4887-B428-83A37A5CEA0E}"/>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מוודאים איזה כלי מחובר, לאילו קבצים הוא ניגש ואיזו פעולה הוא מאפשר.</a:t>
            </a:r>
          </a:p>
        </p:txBody>
      </p:sp>
    </p:spTree>
    <p:extLst>
      <p:ext uri="{BB962C8B-B14F-4D97-AF65-F5344CB8AC3E}">
        <ns3:creationId val="953106519"/>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057FB25B-3639-4FE8-B940-1BDF04AE258B}"/>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מה מוסיף לנו העורך VS Code?</a:t>
            </a:r>
          </a:p>
        </p:txBody>
      </p:sp>
      <p:sp>
        <p:nvSpPr>
          <p:cNvPr id="2" name="text">
            <a:extLst>
              <a:ext uri="{FF2B5EF4-FFF2-40B4-BE49-F238E27FC236}">
                <ns2:creationId id="{1DEC1623-CDC7-4A7C-B020-796D218510F9}"/>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30B5ECD6-5EA6-43B9-B25B-D515B14CBBB9}"/>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7</a:t>
            </a:r>
          </a:p>
        </p:txBody>
      </p:sp>
      <p:sp>
        <p:nvSpPr>
          <p:cNvPr id="4" name="text">
            <a:extLst>
              <a:ext uri="{FF2B5EF4-FFF2-40B4-BE49-F238E27FC236}">
                <ns2:creationId id="{FF3C94A1-F1E9-4564-8B5C-F3482C60E17E}"/>
              </a:ext>
            </a:extLst>
          </p:cNvPr>
          <p:cNvSpPr>
            <a:spLocks noGrp="1"/>
          </p:cNvSpPr>
          <p:nvPr/>
        </p:nvSpPr>
        <p:spPr>
          <a:xfrm>
            <a:off x="457200" y="11906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מעבר נוח בין סוכנים</a:t>
            </a:r>
          </a:p>
        </p:txBody>
      </p:sp>
      <p:sp>
        <p:nvSpPr>
          <p:cNvPr id="5" name="text">
            <a:extLst>
              <a:ext uri="{FF2B5EF4-FFF2-40B4-BE49-F238E27FC236}">
                <ns2:creationId id="{0928B4B4-F402-49B4-AF5C-79E57CDD4066}"/>
              </a:ext>
            </a:extLst>
          </p:cNvPr>
          <p:cNvSpPr>
            <a:spLocks noGrp="1"/>
          </p:cNvSpPr>
          <p:nvPr/>
        </p:nvSpPr>
        <p:spPr>
          <a:xfrm>
            <a:off x="457200" y="15240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פותחים את אותה תיקייה עם תוספים כמו Claude Code ו־Codex.</a:t>
            </a:r>
          </a:p>
        </p:txBody>
      </p:sp>
      <p:sp>
        <p:nvSpPr>
          <p:cNvPr id="6" name="text">
            <a:extLst>
              <a:ext uri="{FF2B5EF4-FFF2-40B4-BE49-F238E27FC236}">
                <ns2:creationId id="{117CAD2F-83A1-406E-A464-FC9FF697ED1A}"/>
              </a:ext>
            </a:extLst>
          </p:cNvPr>
          <p:cNvSpPr>
            <a:spLocks noGrp="1"/>
          </p:cNvSpPr>
          <p:nvPr/>
        </p:nvSpPr>
        <p:spPr>
          <a:xfrm>
            <a:off x="457200" y="21526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כלים לעבודה עם קבצים</a:t>
            </a:r>
          </a:p>
        </p:txBody>
      </p:sp>
      <p:sp>
        <p:nvSpPr>
          <p:cNvPr id="7" name="text">
            <a:extLst>
              <a:ext uri="{FF2B5EF4-FFF2-40B4-BE49-F238E27FC236}">
                <ns2:creationId id="{D2A812D2-0B60-4475-A13F-B60D84DB7586}"/>
              </a:ext>
            </a:extLst>
          </p:cNvPr>
          <p:cNvSpPr>
            <a:spLocks noGrp="1"/>
          </p:cNvSpPr>
          <p:nvPr/>
        </p:nvSpPr>
        <p:spPr>
          <a:xfrm>
            <a:off x="457200" y="24860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תוספים לתצוגת Markdown, לעבודה עם נתונים, לעיצוב קוד ולהשוואת שינויים.</a:t>
            </a:r>
          </a:p>
        </p:txBody>
      </p:sp>
      <p:sp>
        <p:nvSpPr>
          <p:cNvPr id="8" name="text">
            <a:extLst>
              <a:ext uri="{FF2B5EF4-FFF2-40B4-BE49-F238E27FC236}">
                <ns2:creationId id="{3D5D365B-AA0B-4487-8898-440666EBD2FA}"/>
              </a:ext>
            </a:extLst>
          </p:cNvPr>
          <p:cNvSpPr>
            <a:spLocks noGrp="1"/>
          </p:cNvSpPr>
          <p:nvPr/>
        </p:nvSpPr>
        <p:spPr>
          <a:xfrm>
            <a:off x="457200" y="311467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סביבת עבודה מרוכזת</a:t>
            </a:r>
          </a:p>
        </p:txBody>
      </p:sp>
      <p:sp>
        <p:nvSpPr>
          <p:cNvPr id="9" name="text">
            <a:extLst>
              <a:ext uri="{FF2B5EF4-FFF2-40B4-BE49-F238E27FC236}">
                <ns2:creationId id="{92931180-DF91-45BA-9E56-A45969ED041E}"/>
              </a:ext>
            </a:extLst>
          </p:cNvPr>
          <p:cNvSpPr>
            <a:spLocks noGrp="1"/>
          </p:cNvSpPr>
          <p:nvPr/>
        </p:nvSpPr>
        <p:spPr>
          <a:xfrm>
            <a:off x="457200" y="344805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קבצים, חלונית הסוכן, טרמינל ובקרת גרסאות באותו חלון.</a:t>
            </a:r>
          </a:p>
        </p:txBody>
      </p:sp>
      <p:sp>
        <p:nvSpPr>
          <p:cNvPr id="10" name="">
            <a:extLst>
              <a:ext uri="{FF2B5EF4-FFF2-40B4-BE49-F238E27FC236}">
                <ns2:creationId id="{B8437CF2-B1CB-4120-BBD8-AC4545DBF967}"/>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2B230197-9F36-48D6-AA2C-98A5BED9F58C}"/>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בוחרים את הסביבה שנוחה לנו. הידע והתוצרים נשארים בתיקייה.</a:t>
            </a:r>
          </a:p>
        </p:txBody>
      </p:sp>
    </p:spTree>
    <p:extLst>
      <p:ext uri="{BB962C8B-B14F-4D97-AF65-F5344CB8AC3E}">
        <ns3:creationId val="953106519"/>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CF75EF4A-FED7-480A-989D-2E8E54EC12CC}"/>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התקנת העורך VS Code</a:t>
            </a:r>
          </a:p>
        </p:txBody>
      </p:sp>
      <p:sp>
        <p:nvSpPr>
          <p:cNvPr id="2" name="text">
            <a:extLst>
              <a:ext uri="{FF2B5EF4-FFF2-40B4-BE49-F238E27FC236}">
                <ns2:creationId id="{123D1C80-41F0-4C06-8009-D784B534DEF9}"/>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0F740A1A-DB5C-4CD5-84AC-6E090F075042}"/>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8</a:t>
            </a:r>
          </a:p>
        </p:txBody>
      </p:sp>
      <p:sp>
        <p:nvSpPr>
          <p:cNvPr id="4" name="text">
            <a:extLst>
              <a:ext uri="{FF2B5EF4-FFF2-40B4-BE49-F238E27FC236}">
                <ns2:creationId id="{D77EDCE3-DD99-4EB1-A060-A41B12D0FBC2}"/>
              </a:ext>
            </a:extLst>
          </p:cNvPr>
          <p:cNvSpPr>
            <a:spLocks noGrp="1"/>
          </p:cNvSpPr>
          <p:nvPr/>
        </p:nvSpPr>
        <p:spPr>
          <a:xfrm>
            <a:off x="457200" y="12001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הורדה</a:t>
            </a:r>
          </a:p>
        </p:txBody>
      </p:sp>
      <p:sp>
        <p:nvSpPr>
          <p:cNvPr id="5" name="text">
            <a:extLst>
              <a:ext uri="{FF2B5EF4-FFF2-40B4-BE49-F238E27FC236}">
                <ns2:creationId id="{06C4239C-FB2D-43D9-BE57-2D00B00A2EB5}"/>
              </a:ext>
            </a:extLst>
          </p:cNvPr>
          <p:cNvSpPr>
            <a:spLocks noGrp="1"/>
          </p:cNvSpPr>
          <p:nvPr/>
        </p:nvSpPr>
        <p:spPr>
          <a:xfrm>
            <a:off x="457200" y="15335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נכנסים לאתר code.visualstudio.com/download ובוחרים את מערכת ההפעלה.</a:t>
            </a:r>
          </a:p>
        </p:txBody>
      </p:sp>
      <p:sp>
        <p:nvSpPr>
          <p:cNvPr id="6" name="text">
            <a:extLst>
              <a:ext uri="{FF2B5EF4-FFF2-40B4-BE49-F238E27FC236}">
                <ns2:creationId id="{6A41583D-1F78-4DCE-B54A-FF151DCC06AD}"/>
              </a:ext>
            </a:extLst>
          </p:cNvPr>
          <p:cNvSpPr>
            <a:spLocks noGrp="1"/>
          </p:cNvSpPr>
          <p:nvPr/>
        </p:nvSpPr>
        <p:spPr>
          <a:xfrm>
            <a:off x="457200" y="21812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התקנה</a:t>
            </a:r>
          </a:p>
        </p:txBody>
      </p:sp>
      <p:sp>
        <p:nvSpPr>
          <p:cNvPr id="7" name="text">
            <a:extLst>
              <a:ext uri="{FF2B5EF4-FFF2-40B4-BE49-F238E27FC236}">
                <ns2:creationId id="{D1F9E298-FCCE-4683-95D6-93D4EF6120D3}"/>
              </a:ext>
            </a:extLst>
          </p:cNvPr>
          <p:cNvSpPr>
            <a:spLocks noGrp="1"/>
          </p:cNvSpPr>
          <p:nvPr/>
        </p:nvSpPr>
        <p:spPr>
          <a:xfrm>
            <a:off x="457200" y="25146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ב־Windows מפעילים את המתקין. ב־Mac מעבירים את היישום לתיקיית Applications.</a:t>
            </a:r>
          </a:p>
        </p:txBody>
      </p:sp>
      <p:sp>
        <p:nvSpPr>
          <p:cNvPr id="8" name="text">
            <a:extLst>
              <a:ext uri="{FF2B5EF4-FFF2-40B4-BE49-F238E27FC236}">
                <ns2:creationId id="{7DDB7F86-71F5-464A-AF80-82737D7BF688}"/>
              </a:ext>
            </a:extLst>
          </p:cNvPr>
          <p:cNvSpPr>
            <a:spLocks noGrp="1"/>
          </p:cNvSpPr>
          <p:nvPr/>
        </p:nvSpPr>
        <p:spPr>
          <a:xfrm>
            <a:off x="457200" y="31623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פתיחה ראשונה</a:t>
            </a:r>
          </a:p>
        </p:txBody>
      </p:sp>
      <p:sp>
        <p:nvSpPr>
          <p:cNvPr id="9" name="text">
            <a:extLst>
              <a:ext uri="{FF2B5EF4-FFF2-40B4-BE49-F238E27FC236}">
                <ns2:creationId id="{07D1CDF8-0E3E-4036-A06C-B46571A44DB4}"/>
              </a:ext>
            </a:extLst>
          </p:cNvPr>
          <p:cNvSpPr>
            <a:spLocks noGrp="1"/>
          </p:cNvSpPr>
          <p:nvPr/>
        </p:nvSpPr>
        <p:spPr>
          <a:xfrm>
            <a:off x="457200" y="34956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מפעילים את העורך ופותחים את תיקיית הקורס דרך File ואז Open Folder.</a:t>
            </a:r>
          </a:p>
        </p:txBody>
      </p:sp>
      <p:sp>
        <p:nvSpPr>
          <p:cNvPr id="10" name="">
            <a:extLst>
              <a:ext uri="{FF2B5EF4-FFF2-40B4-BE49-F238E27FC236}">
                <ns2:creationId id="{9998826D-8E3C-458B-8977-27C10B66B333}"/>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28A10DDB-0F0C-4AF6-AE21-20A688A6D88A}"/>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במהלך הקורס נשתמש בעורך לעבודה עם סוכנים, קבצים ותוספים.</a:t>
            </a:r>
          </a:p>
        </p:txBody>
      </p:sp>
    </p:spTree>
    <p:extLst>
      <p:ext uri="{BB962C8B-B14F-4D97-AF65-F5344CB8AC3E}">
        <ns3:creationId val="953106519"/>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C01585C4-50ED-4370-9B26-856A16C4B22B}"/>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התקנת סביבת Antigravity</a:t>
            </a:r>
          </a:p>
        </p:txBody>
      </p:sp>
      <p:sp>
        <p:nvSpPr>
          <p:cNvPr id="2" name="text">
            <a:extLst>
              <a:ext uri="{FF2B5EF4-FFF2-40B4-BE49-F238E27FC236}">
                <ns2:creationId id="{D00DF9FE-EB10-425B-AB84-966EB2AC18C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5CD70018-3F4B-4900-A5BD-0CA606152479}"/>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9</a:t>
            </a:r>
          </a:p>
        </p:txBody>
      </p:sp>
      <p:sp>
        <p:nvSpPr>
          <p:cNvPr id="4" name="text">
            <a:extLst>
              <a:ext uri="{FF2B5EF4-FFF2-40B4-BE49-F238E27FC236}">
                <ns2:creationId id="{C77BE9A0-4BA6-4C5B-9C9F-2FF4930B5D6E}"/>
              </a:ext>
            </a:extLst>
          </p:cNvPr>
          <p:cNvSpPr>
            <a:spLocks noGrp="1"/>
          </p:cNvSpPr>
          <p:nvPr/>
        </p:nvSpPr>
        <p:spPr>
          <a:xfrm>
            <a:off x="457200" y="12001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הורדה</a:t>
            </a:r>
          </a:p>
        </p:txBody>
      </p:sp>
      <p:sp>
        <p:nvSpPr>
          <p:cNvPr id="5" name="text">
            <a:extLst>
              <a:ext uri="{FF2B5EF4-FFF2-40B4-BE49-F238E27FC236}">
                <ns2:creationId id="{130F9A33-508D-4B50-AAAC-CAF9F087A71E}"/>
              </a:ext>
            </a:extLst>
          </p:cNvPr>
          <p:cNvSpPr>
            <a:spLocks noGrp="1"/>
          </p:cNvSpPr>
          <p:nvPr/>
        </p:nvSpPr>
        <p:spPr>
          <a:xfrm>
            <a:off x="457200" y="15335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נכנסים לאתר antigravity.google/download ובוחרים Antigravity IDE.</a:t>
            </a:r>
          </a:p>
        </p:txBody>
      </p:sp>
      <p:sp>
        <p:nvSpPr>
          <p:cNvPr id="6" name="text">
            <a:extLst>
              <a:ext uri="{FF2B5EF4-FFF2-40B4-BE49-F238E27FC236}">
                <ns2:creationId id="{90B9D6B4-8F93-4645-87F6-BB38DDA3276B}"/>
              </a:ext>
            </a:extLst>
          </p:cNvPr>
          <p:cNvSpPr>
            <a:spLocks noGrp="1"/>
          </p:cNvSpPr>
          <p:nvPr/>
        </p:nvSpPr>
        <p:spPr>
          <a:xfrm>
            <a:off x="457200" y="21812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התקנה והתחברות</a:t>
            </a:r>
          </a:p>
        </p:txBody>
      </p:sp>
      <p:sp>
        <p:nvSpPr>
          <p:cNvPr id="7" name="text">
            <a:extLst>
              <a:ext uri="{FF2B5EF4-FFF2-40B4-BE49-F238E27FC236}">
                <ns2:creationId id="{8BC8ADC0-A29B-4960-A02C-EC480163D64F}"/>
              </a:ext>
            </a:extLst>
          </p:cNvPr>
          <p:cNvSpPr>
            <a:spLocks noGrp="1"/>
          </p:cNvSpPr>
          <p:nvPr/>
        </p:nvSpPr>
        <p:spPr>
          <a:xfrm>
            <a:off x="457200" y="25146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מורידים את הגרסה המתאימה למחשב, מתקינים ומתחברים לפי ההנחיות.</a:t>
            </a:r>
          </a:p>
        </p:txBody>
      </p:sp>
      <p:sp>
        <p:nvSpPr>
          <p:cNvPr id="8" name="text">
            <a:extLst>
              <a:ext uri="{FF2B5EF4-FFF2-40B4-BE49-F238E27FC236}">
                <ns2:creationId id="{38BB411D-492A-4346-95BB-14994F042AC0}"/>
              </a:ext>
            </a:extLst>
          </p:cNvPr>
          <p:cNvSpPr>
            <a:spLocks noGrp="1"/>
          </p:cNvSpPr>
          <p:nvPr/>
        </p:nvSpPr>
        <p:spPr>
          <a:xfrm>
            <a:off x="457200" y="31623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תיקיית העבודה</a:t>
            </a:r>
          </a:p>
        </p:txBody>
      </p:sp>
      <p:sp>
        <p:nvSpPr>
          <p:cNvPr id="9" name="text">
            <a:extLst>
              <a:ext uri="{FF2B5EF4-FFF2-40B4-BE49-F238E27FC236}">
                <ns2:creationId id="{21199246-0AF7-4FCE-8A43-5F9A0B3D91FC}"/>
              </a:ext>
            </a:extLst>
          </p:cNvPr>
          <p:cNvSpPr>
            <a:spLocks noGrp="1"/>
          </p:cNvSpPr>
          <p:nvPr/>
        </p:nvSpPr>
        <p:spPr>
          <a:xfrm>
            <a:off x="457200" y="34956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פותחים את אותה תיקיית פרויקט ומתחילים לעבוד עם הסוכן מתוך העורך.</a:t>
            </a:r>
          </a:p>
        </p:txBody>
      </p:sp>
      <p:sp>
        <p:nvSpPr>
          <p:cNvPr id="10" name="">
            <a:extLst>
              <a:ext uri="{FF2B5EF4-FFF2-40B4-BE49-F238E27FC236}">
                <ns2:creationId id="{2B22ABD1-F909-4DBE-B7BA-48082F613EAF}"/>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A37D4997-1510-4D98-B9C6-ED75F5399729}"/>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נתנסה בשתי הסביבות במהלך הקורס, עם אותם קבצים ותיעוד.</a:t>
            </a:r>
          </a:p>
        </p:txBody>
      </p:sp>
    </p:spTree>
    <p:extLst>
      <p:ext uri="{BB962C8B-B14F-4D97-AF65-F5344CB8AC3E}">
        <ns3:creationId val="953106519"/>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2D924716-97B8-4461-B8CC-13D51912714D}"/>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פתיחת התיקייה ב־VS Code</a:t>
            </a:r>
          </a:p>
        </p:txBody>
      </p:sp>
      <p:sp>
        <p:nvSpPr>
          <p:cNvPr id="2" name="text">
            <a:extLst>
              <a:ext uri="{FF2B5EF4-FFF2-40B4-BE49-F238E27FC236}">
                <ns2:creationId id="{F17792CB-9866-4CE9-AECF-EB7406F51271}"/>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3CFA7B5E-843D-4DB8-AB02-F8912069030A}"/>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10</a:t>
            </a:r>
          </a:p>
        </p:txBody>
      </p:sp>
      <p:sp>
        <p:nvSpPr>
          <p:cNvPr id="4" name="text">
            <a:extLst>
              <a:ext uri="{FF2B5EF4-FFF2-40B4-BE49-F238E27FC236}">
                <ns2:creationId id="{D2FC70C5-BC8E-4F1C-93D1-24F35A6C31EF}"/>
              </a:ext>
            </a:extLst>
          </p:cNvPr>
          <p:cNvSpPr>
            <a:spLocks noGrp="1"/>
          </p:cNvSpPr>
          <p:nvPr/>
        </p:nvSpPr>
        <p:spPr>
          <a:xfrm>
            <a:off x="457200" y="1047750"/>
            <a:ext cx="8229600" cy="333375"/>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בתפריט File בוחרים Open Folder…</a:t>
            </a:r>
          </a:p>
        </p:txBody>
      </p:sp>
      <p:pic>
        <p:nvPicPr>
          <p:cNvPr id="15" name=""/>
          <p:cNvPicPr>
            <a:picLocks noChangeAspect="1"/>
          </p:cNvPicPr>
          <p:nvPr/>
        </p:nvPicPr>
        <p:blipFill>
          <a:blip ns3:embed="R83486b181d3949e2"/>
          <a:srcRect l="0" t="0" r="60000" b="60000"/>
          <a:stretch/>
        </p:blipFill>
        <p:spPr>
          <a:xfrm>
            <a:off x="457200" y="1582862"/>
            <a:ext cx="5191125" cy="2806452"/>
          </a:xfrm>
          <a:prstGeom prst="rect">
            <a:avLst/>
          </a:prstGeom>
        </p:spPr>
      </p:pic>
      <p:sp>
        <p:nvSpPr>
          <p:cNvPr id="6" name="text">
            <a:extLst>
              <a:ext uri="{FF2B5EF4-FFF2-40B4-BE49-F238E27FC236}">
                <ns2:creationId id="{1D286033-417C-4D62-9E70-26D9751209FF}"/>
              </a:ext>
            </a:extLst>
          </p:cNvPr>
          <p:cNvSpPr>
            <a:spLocks noGrp="1"/>
          </p:cNvSpPr>
          <p:nvPr/>
        </p:nvSpPr>
        <p:spPr>
          <a:xfrm>
            <a:off x="6048375" y="1628775"/>
            <a:ext cx="26193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בוחרים את התיקייה</a:t>
            </a:r>
          </a:p>
        </p:txBody>
      </p:sp>
      <p:sp>
        <p:nvSpPr>
          <p:cNvPr id="7" name="text">
            <a:extLst>
              <a:ext uri="{FF2B5EF4-FFF2-40B4-BE49-F238E27FC236}">
                <ns2:creationId id="{C3A1C6D6-8F5B-4F45-B583-8A39EDACC5E6}"/>
              </a:ext>
            </a:extLst>
          </p:cNvPr>
          <p:cNvSpPr>
            <a:spLocks noGrp="1"/>
          </p:cNvSpPr>
          <p:nvPr/>
        </p:nvSpPr>
        <p:spPr>
          <a:xfrm>
            <a:off x="6048375" y="1962150"/>
            <a:ext cx="261937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פותחים את my-project כולה, כדי שהסוכן יראה את הפרויקט.</a:t>
            </a:r>
          </a:p>
        </p:txBody>
      </p:sp>
      <p:sp>
        <p:nvSpPr>
          <p:cNvPr id="8" name="text">
            <a:extLst>
              <a:ext uri="{FF2B5EF4-FFF2-40B4-BE49-F238E27FC236}">
                <ns2:creationId id="{9429D608-BD8D-4E8B-AEDA-E43DD85BD341}"/>
              </a:ext>
            </a:extLst>
          </p:cNvPr>
          <p:cNvSpPr>
            <a:spLocks noGrp="1"/>
          </p:cNvSpPr>
          <p:nvPr/>
        </p:nvSpPr>
        <p:spPr>
          <a:xfrm>
            <a:off x="6048375" y="2990850"/>
            <a:ext cx="26193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בודקים אמון בתיקייה</a:t>
            </a:r>
          </a:p>
        </p:txBody>
      </p:sp>
      <p:sp>
        <p:nvSpPr>
          <p:cNvPr id="9" name="text">
            <a:extLst>
              <a:ext uri="{FF2B5EF4-FFF2-40B4-BE49-F238E27FC236}">
                <ns2:creationId id="{C5A0F7EC-6853-4744-96D4-B702E2F78FC3}"/>
              </a:ext>
            </a:extLst>
          </p:cNvPr>
          <p:cNvSpPr>
            <a:spLocks noGrp="1"/>
          </p:cNvSpPr>
          <p:nvPr/>
        </p:nvSpPr>
        <p:spPr>
          <a:xfrm>
            <a:off x="6048375" y="3324225"/>
            <a:ext cx="261937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מאשרים אמון רק בתיקייה שיצרנו או שמקורה מוכר לנו.</a:t>
            </a:r>
          </a:p>
        </p:txBody>
      </p:sp>
      <p:sp>
        <p:nvSpPr>
          <p:cNvPr id="10" name="text">
            <a:extLst>
              <a:ext uri="{FF2B5EF4-FFF2-40B4-BE49-F238E27FC236}">
                <ns2:creationId id="{77C018AE-F283-44B0-B29C-05179722D9C7}"/>
              </a:ext>
            </a:extLst>
          </p:cNvPr>
          <p:cNvSpPr>
            <a:spLocks noGrp="1"/>
          </p:cNvSpPr>
          <p:nvPr/>
        </p:nvSpPr>
        <p:spPr>
          <a:xfrm>
            <a:off x="457200" y="4514850"/>
            <a:ext cx="8229600" cy="257175"/>
          </a:xfrm>
          <a:prstGeom prst="rect">
            <a:avLst/>
          </a:prstGeom>
          <a:noFill/>
          <a:ln w="0">
            <a:noFill/>
          </a:ln>
        </p:spPr>
        <p:txBody>
          <a:bodyPr wrap="square" lIns="0" tIns="0" rIns="0" bIns="0" anchor="t">
            <a:noAutofit/>
          </a:bodyPr>
          <a:lstStyle/>
          <a:p>
            <a:pPr algn="r" rtl="1">
              <a:defRPr sz="1125" b="0">
                <a:solidFill>
                  <a:srgbClr val="705B73"/>
                </a:solidFill>
                <a:latin typeface="Inter"/>
                <a:ea typeface="Inter"/>
                <a:cs typeface="Inter"/>
              </a:defRPr>
            </a:pPr>
            <a:r>
              <a:rPr sz="1125" b="0" lang="he-IL">
                <a:solidFill>
                  <a:srgbClr val="705B73"/>
                </a:solidFill>
                <a:latin typeface="Inter"/>
                <a:ea typeface="Inter"/>
                <a:cs typeface="Arial"/>
              </a:rPr>
              <a:t>צילום הדרכה ב־Windows מגרסה קודמת. ב־Mac התפריט נמצא בראש המסך.</a:t>
            </a:r>
          </a:p>
        </p:txBody>
      </p:sp>
    </p:spTree>
    <p:extLst>
      <p:ext uri="{BB962C8B-B14F-4D97-AF65-F5344CB8AC3E}">
        <ns4:creationId val="953106519"/>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A61D9E4B-9BD5-4C4A-8539-CC3618723284}"/>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היכרות עם חלון הקבצים</a:t>
            </a:r>
          </a:p>
        </p:txBody>
      </p:sp>
      <p:sp>
        <p:nvSpPr>
          <p:cNvPr id="2" name="text">
            <a:extLst>
              <a:ext uri="{FF2B5EF4-FFF2-40B4-BE49-F238E27FC236}">
                <ns2:creationId id="{104D3346-2F1F-4100-ACA7-720566E1CB05}"/>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FAF1E707-5B06-4848-9BE6-5184D1E772F5}"/>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11</a:t>
            </a:r>
          </a:p>
        </p:txBody>
      </p:sp>
      <p:pic>
        <p:nvPicPr>
          <p:cNvPr id="14" name=""/>
          <p:cNvPicPr>
            <a:picLocks noChangeAspect="1"/>
          </p:cNvPicPr>
          <p:nvPr/>
        </p:nvPicPr>
        <p:blipFill>
          <a:blip ns3:embed="R980a59741bcd40a9"/>
          <a:stretch/>
        </p:blipFill>
        <p:spPr>
          <a:xfrm>
            <a:off x="987982" y="1333500"/>
            <a:ext cx="3939061" cy="2952750"/>
          </a:xfrm>
          <a:prstGeom prst="rect">
            <a:avLst/>
          </a:prstGeom>
        </p:spPr>
      </p:pic>
      <p:sp>
        <p:nvSpPr>
          <p:cNvPr id="5" name="text">
            <a:extLst>
              <a:ext uri="{FF2B5EF4-FFF2-40B4-BE49-F238E27FC236}">
                <ns2:creationId id="{25A689CD-2563-4E17-A248-7263EE7F90F1}"/>
              </a:ext>
            </a:extLst>
          </p:cNvPr>
          <p:cNvSpPr>
            <a:spLocks noGrp="1"/>
          </p:cNvSpPr>
          <p:nvPr/>
        </p:nvSpPr>
        <p:spPr>
          <a:xfrm>
            <a:off x="5953125" y="1285875"/>
            <a:ext cx="27336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חלון הקבצים: Explorer</a:t>
            </a:r>
          </a:p>
        </p:txBody>
      </p:sp>
      <p:sp>
        <p:nvSpPr>
          <p:cNvPr id="6" name="text">
            <a:extLst>
              <a:ext uri="{FF2B5EF4-FFF2-40B4-BE49-F238E27FC236}">
                <ns2:creationId id="{4C83BFB2-AB2A-4A93-93F7-8B4FD9910036}"/>
              </a:ext>
            </a:extLst>
          </p:cNvPr>
          <p:cNvSpPr>
            <a:spLocks noGrp="1"/>
          </p:cNvSpPr>
          <p:nvPr/>
        </p:nvSpPr>
        <p:spPr>
          <a:xfrm>
            <a:off x="5953125" y="1619250"/>
            <a:ext cx="273367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כאן רואים את תיקיית הפרויקט ואת הקבצים שבתוכה.</a:t>
            </a:r>
          </a:p>
        </p:txBody>
      </p:sp>
      <p:sp>
        <p:nvSpPr>
          <p:cNvPr id="7" name="text">
            <a:extLst>
              <a:ext uri="{FF2B5EF4-FFF2-40B4-BE49-F238E27FC236}">
                <ns2:creationId id="{28618659-B947-4DF5-A7F1-439EB6063D01}"/>
              </a:ext>
            </a:extLst>
          </p:cNvPr>
          <p:cNvSpPr>
            <a:spLocks noGrp="1"/>
          </p:cNvSpPr>
          <p:nvPr/>
        </p:nvSpPr>
        <p:spPr>
          <a:xfrm>
            <a:off x="5953125" y="2362200"/>
            <a:ext cx="27336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הקובץ README.md</a:t>
            </a:r>
          </a:p>
        </p:txBody>
      </p:sp>
      <p:sp>
        <p:nvSpPr>
          <p:cNvPr id="8" name="text">
            <a:extLst>
              <a:ext uri="{FF2B5EF4-FFF2-40B4-BE49-F238E27FC236}">
                <ns2:creationId id="{95809140-8486-42BC-8A3B-7C6FEEA77B50}"/>
              </a:ext>
            </a:extLst>
          </p:cNvPr>
          <p:cNvSpPr>
            <a:spLocks noGrp="1"/>
          </p:cNvSpPr>
          <p:nvPr/>
        </p:nvSpPr>
        <p:spPr>
          <a:xfrm>
            <a:off x="5953125" y="2695575"/>
            <a:ext cx="273367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נכתוב מה הפרויקט עושה ואיך מפעילים אותו.</a:t>
            </a:r>
          </a:p>
        </p:txBody>
      </p:sp>
      <p:sp>
        <p:nvSpPr>
          <p:cNvPr id="9" name="text">
            <a:extLst>
              <a:ext uri="{FF2B5EF4-FFF2-40B4-BE49-F238E27FC236}">
                <ns2:creationId id="{43339EF7-05EB-4706-A570-30C9044534FE}"/>
              </a:ext>
            </a:extLst>
          </p:cNvPr>
          <p:cNvSpPr>
            <a:spLocks noGrp="1"/>
          </p:cNvSpPr>
          <p:nvPr/>
        </p:nvSpPr>
        <p:spPr>
          <a:xfrm>
            <a:off x="5953125" y="3438525"/>
            <a:ext cx="27336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תיקייה שלמה</a:t>
            </a:r>
          </a:p>
        </p:txBody>
      </p:sp>
      <p:sp>
        <p:nvSpPr>
          <p:cNvPr id="10" name="text">
            <a:extLst>
              <a:ext uri="{FF2B5EF4-FFF2-40B4-BE49-F238E27FC236}">
                <ns2:creationId id="{18F598FC-1680-48B0-A80A-75D2A9FEB671}"/>
              </a:ext>
            </a:extLst>
          </p:cNvPr>
          <p:cNvSpPr>
            <a:spLocks noGrp="1"/>
          </p:cNvSpPr>
          <p:nvPr/>
        </p:nvSpPr>
        <p:spPr>
          <a:xfrm>
            <a:off x="5953125" y="3771900"/>
            <a:ext cx="273367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קבצים נלווים מאפשרים לסוכן להבין את מבנה הפרויקט.</a:t>
            </a:r>
          </a:p>
        </p:txBody>
      </p:sp>
    </p:spTree>
    <p:extLst>
      <p:ext uri="{BB962C8B-B14F-4D97-AF65-F5344CB8AC3E}">
        <ns4:creationId val="953106519"/>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088B4A39-E810-4D80-A319-5C73650C0C9F}"/>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התקנת תוסף הסוכן</a:t>
            </a:r>
          </a:p>
        </p:txBody>
      </p:sp>
      <p:sp>
        <p:nvSpPr>
          <p:cNvPr id="2" name="text">
            <a:extLst>
              <a:ext uri="{FF2B5EF4-FFF2-40B4-BE49-F238E27FC236}">
                <ns2:creationId id="{CCCBBB93-E7C3-4748-A0BD-9DAA169C55B2}"/>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7B7935A6-853F-4AF9-A018-962943D3C2CF}"/>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12</a:t>
            </a:r>
          </a:p>
        </p:txBody>
      </p:sp>
      <p:pic>
        <p:nvPicPr>
          <p:cNvPr id="14" name=""/>
          <p:cNvPicPr>
            <a:picLocks noChangeAspect="1"/>
          </p:cNvPicPr>
          <p:nvPr/>
        </p:nvPicPr>
        <p:blipFill>
          <a:blip ns3:embed="R3192b01113604e6f"/>
          <a:stretch/>
        </p:blipFill>
        <p:spPr>
          <a:xfrm>
            <a:off x="457200" y="1917600"/>
            <a:ext cx="4762500" cy="1727400"/>
          </a:xfrm>
          <a:prstGeom prst="rect">
            <a:avLst/>
          </a:prstGeom>
        </p:spPr>
      </p:pic>
      <p:sp>
        <p:nvSpPr>
          <p:cNvPr id="5" name="text">
            <a:extLst>
              <a:ext uri="{FF2B5EF4-FFF2-40B4-BE49-F238E27FC236}">
                <ns2:creationId id="{7A9A80E6-A23D-4E09-AA95-7378E13879A2}"/>
              </a:ext>
            </a:extLst>
          </p:cNvPr>
          <p:cNvSpPr>
            <a:spLocks noGrp="1"/>
          </p:cNvSpPr>
          <p:nvPr/>
        </p:nvSpPr>
        <p:spPr>
          <a:xfrm>
            <a:off x="5667375" y="1238250"/>
            <a:ext cx="30194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פותחים את Extensions</a:t>
            </a:r>
          </a:p>
        </p:txBody>
      </p:sp>
      <p:sp>
        <p:nvSpPr>
          <p:cNvPr id="6" name="text">
            <a:extLst>
              <a:ext uri="{FF2B5EF4-FFF2-40B4-BE49-F238E27FC236}">
                <ns2:creationId id="{644C5E70-8F16-441F-B514-76B8DAE0E099}"/>
              </a:ext>
            </a:extLst>
          </p:cNvPr>
          <p:cNvSpPr>
            <a:spLocks noGrp="1"/>
          </p:cNvSpPr>
          <p:nvPr/>
        </p:nvSpPr>
        <p:spPr>
          <a:xfrm>
            <a:off x="5667375" y="1571625"/>
            <a:ext cx="301942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ב־Windows: Ctrl+Shift+X</a:t>
            </a:r>
          </a:p>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ב־Mac: Cmd+Shift+X</a:t>
            </a:r>
          </a:p>
        </p:txBody>
      </p:sp>
      <p:sp>
        <p:nvSpPr>
          <p:cNvPr id="7" name="text">
            <a:extLst>
              <a:ext uri="{FF2B5EF4-FFF2-40B4-BE49-F238E27FC236}">
                <ns2:creationId id="{A124A4AD-E8F8-45A3-83B4-65547B6F4912}"/>
              </a:ext>
            </a:extLst>
          </p:cNvPr>
          <p:cNvSpPr>
            <a:spLocks noGrp="1"/>
          </p:cNvSpPr>
          <p:nvPr/>
        </p:nvSpPr>
        <p:spPr>
          <a:xfrm>
            <a:off x="5667375" y="2314575"/>
            <a:ext cx="30194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בוחרים תוסף רשמי</a:t>
            </a:r>
          </a:p>
        </p:txBody>
      </p:sp>
      <p:sp>
        <p:nvSpPr>
          <p:cNvPr id="8" name="text">
            <a:extLst>
              <a:ext uri="{FF2B5EF4-FFF2-40B4-BE49-F238E27FC236}">
                <ns2:creationId id="{B2D83988-1DFC-4754-928F-591C56DB19F2}"/>
              </a:ext>
            </a:extLst>
          </p:cNvPr>
          <p:cNvSpPr>
            <a:spLocks noGrp="1"/>
          </p:cNvSpPr>
          <p:nvPr/>
        </p:nvSpPr>
        <p:spPr>
          <a:xfrm>
            <a:off x="5667375" y="2647950"/>
            <a:ext cx="301942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הכלי Claude Code מאת Anthropic</a:t>
            </a:r>
          </a:p>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הכלי Codex מאת OpenAI</a:t>
            </a:r>
          </a:p>
        </p:txBody>
      </p:sp>
      <p:sp>
        <p:nvSpPr>
          <p:cNvPr id="9" name="text">
            <a:extLst>
              <a:ext uri="{FF2B5EF4-FFF2-40B4-BE49-F238E27FC236}">
                <ns2:creationId id="{9DD1F8BE-B7D1-4B21-A23D-29868F4AB3B0}"/>
              </a:ext>
            </a:extLst>
          </p:cNvPr>
          <p:cNvSpPr>
            <a:spLocks noGrp="1"/>
          </p:cNvSpPr>
          <p:nvPr/>
        </p:nvSpPr>
        <p:spPr>
          <a:xfrm>
            <a:off x="5667375" y="3390900"/>
            <a:ext cx="30194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מתחברים לחשבון</a:t>
            </a:r>
          </a:p>
        </p:txBody>
      </p:sp>
      <p:sp>
        <p:nvSpPr>
          <p:cNvPr id="10" name="text">
            <a:extLst>
              <a:ext uri="{FF2B5EF4-FFF2-40B4-BE49-F238E27FC236}">
                <ns2:creationId id="{0F352DC8-5D1A-46DD-9B6D-76C9936D37B8}"/>
              </a:ext>
            </a:extLst>
          </p:cNvPr>
          <p:cNvSpPr>
            <a:spLocks noGrp="1"/>
          </p:cNvSpPr>
          <p:nvPr/>
        </p:nvSpPr>
        <p:spPr>
          <a:xfrm>
            <a:off x="5667375" y="3724275"/>
            <a:ext cx="3019425" cy="5524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לוחצים Install, פותחים את הסוכן ומשלימים Sign in.</a:t>
            </a:r>
          </a:p>
        </p:txBody>
      </p:sp>
    </p:spTree>
    <p:extLst>
      <p:ext uri="{BB962C8B-B14F-4D97-AF65-F5344CB8AC3E}">
        <ns4:creationId val="953106519"/>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7B0CEA8B-45E6-4F0F-807E-E05C4D63B89D}"/>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צפייה חיה ב־HTML עם Live Server</a:t>
            </a:r>
          </a:p>
        </p:txBody>
      </p:sp>
      <p:sp>
        <p:nvSpPr>
          <p:cNvPr id="2" name="text">
            <a:extLst>
              <a:ext uri="{FF2B5EF4-FFF2-40B4-BE49-F238E27FC236}">
                <ns2:creationId id="{23BFAA7B-DE52-4D64-936D-C1FDB8DE2394}"/>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CDD56D40-802B-4B2D-9F2F-759F5AF98C68}"/>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13</a:t>
            </a:r>
          </a:p>
        </p:txBody>
      </p:sp>
      <p:sp>
        <p:nvSpPr>
          <p:cNvPr id="4" name="text">
            <a:extLst>
              <a:ext uri="{FF2B5EF4-FFF2-40B4-BE49-F238E27FC236}">
                <ns2:creationId id="{45B666AF-0F11-4BC5-995F-7571672C301F}"/>
              </a:ext>
            </a:extLst>
          </p:cNvPr>
          <p:cNvSpPr>
            <a:spLocks noGrp="1"/>
          </p:cNvSpPr>
          <p:nvPr/>
        </p:nvSpPr>
        <p:spPr>
          <a:xfrm>
            <a:off x="457200" y="12001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התקנת התוסף</a:t>
            </a:r>
          </a:p>
        </p:txBody>
      </p:sp>
      <p:sp>
        <p:nvSpPr>
          <p:cNvPr id="5" name="text">
            <a:extLst>
              <a:ext uri="{FF2B5EF4-FFF2-40B4-BE49-F238E27FC236}">
                <ns2:creationId id="{43F88C84-893E-427C-84D2-5551BABD6D86}"/>
              </a:ext>
            </a:extLst>
          </p:cNvPr>
          <p:cNvSpPr>
            <a:spLocks noGrp="1"/>
          </p:cNvSpPr>
          <p:nvPr/>
        </p:nvSpPr>
        <p:spPr>
          <a:xfrm>
            <a:off x="457200" y="15335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בחלון Extensions מחפשים Live Server מאת Ritwick Dey ולוחצים Install.</a:t>
            </a:r>
          </a:p>
        </p:txBody>
      </p:sp>
      <p:sp>
        <p:nvSpPr>
          <p:cNvPr id="6" name="text">
            <a:extLst>
              <a:ext uri="{FF2B5EF4-FFF2-40B4-BE49-F238E27FC236}">
                <ns2:creationId id="{BA11CE7C-1F2D-4AA1-A4E8-E0A9D1E300FC}"/>
              </a:ext>
            </a:extLst>
          </p:cNvPr>
          <p:cNvSpPr>
            <a:spLocks noGrp="1"/>
          </p:cNvSpPr>
          <p:nvPr/>
        </p:nvSpPr>
        <p:spPr>
          <a:xfrm>
            <a:off x="457200" y="21812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צפייה בדף</a:t>
            </a:r>
          </a:p>
        </p:txBody>
      </p:sp>
      <p:sp>
        <p:nvSpPr>
          <p:cNvPr id="7" name="text">
            <a:extLst>
              <a:ext uri="{FF2B5EF4-FFF2-40B4-BE49-F238E27FC236}">
                <ns2:creationId id="{80790D23-BAC3-49F4-8EC5-786791889B89}"/>
              </a:ext>
            </a:extLst>
          </p:cNvPr>
          <p:cNvSpPr>
            <a:spLocks noGrp="1"/>
          </p:cNvSpPr>
          <p:nvPr/>
        </p:nvSpPr>
        <p:spPr>
          <a:xfrm>
            <a:off x="457200" y="25146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פותחים index.html בתיקיית הפרויקט ובוחרים Open with Live Server.</a:t>
            </a:r>
          </a:p>
        </p:txBody>
      </p:sp>
      <p:sp>
        <p:nvSpPr>
          <p:cNvPr id="8" name="text">
            <a:extLst>
              <a:ext uri="{FF2B5EF4-FFF2-40B4-BE49-F238E27FC236}">
                <ns2:creationId id="{68191C86-018C-432B-8C33-F45C5F70240C}"/>
              </a:ext>
            </a:extLst>
          </p:cNvPr>
          <p:cNvSpPr>
            <a:spLocks noGrp="1"/>
          </p:cNvSpPr>
          <p:nvPr/>
        </p:nvSpPr>
        <p:spPr>
          <a:xfrm>
            <a:off x="457200" y="31623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בדיקה קצרה</a:t>
            </a:r>
          </a:p>
        </p:txBody>
      </p:sp>
      <p:sp>
        <p:nvSpPr>
          <p:cNvPr id="9" name="text">
            <a:extLst>
              <a:ext uri="{FF2B5EF4-FFF2-40B4-BE49-F238E27FC236}">
                <ns2:creationId id="{B764B888-687C-4773-83A0-F38D6CF0A83B}"/>
              </a:ext>
            </a:extLst>
          </p:cNvPr>
          <p:cNvSpPr>
            <a:spLocks noGrp="1"/>
          </p:cNvSpPr>
          <p:nvPr/>
        </p:nvSpPr>
        <p:spPr>
          <a:xfrm>
            <a:off x="457200" y="34956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משנים כותרת ושומרים. רואים את העדכון בדפדפן דרך השרת המקומי.</a:t>
            </a:r>
          </a:p>
        </p:txBody>
      </p:sp>
      <p:sp>
        <p:nvSpPr>
          <p:cNvPr id="10" name="">
            <a:extLst>
              <a:ext uri="{FF2B5EF4-FFF2-40B4-BE49-F238E27FC236}">
                <ns2:creationId id="{3855B9C4-25D3-4C7C-B2A3-ACBED5464A25}"/>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988CE58A-AD33-47D0-9AC6-F8D456DFB898}"/>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לתצוגת HTML משתמשים ב־Live Server. לפרויקט Next.js מפעילים npm run dev.</a:t>
            </a:r>
          </a:p>
        </p:txBody>
      </p:sp>
    </p:spTree>
    <p:extLst>
      <p:ext uri="{BB962C8B-B14F-4D97-AF65-F5344CB8AC3E}">
        <ns3:creationId val="95310651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CACE0D2B-D607-4563-B222-BF779EFEA136}"/>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צפייה במסמכים עם Office Viewer</a:t>
            </a:r>
          </a:p>
        </p:txBody>
      </p:sp>
      <p:sp>
        <p:nvSpPr>
          <p:cNvPr id="2" name="text">
            <a:extLst>
              <a:ext uri="{FF2B5EF4-FFF2-40B4-BE49-F238E27FC236}">
                <ns2:creationId id="{2E503891-C8B6-416C-886E-2C7016EDCE6E}"/>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70006781-7BEA-49DB-9020-90ED88A8757A}"/>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14</a:t>
            </a:r>
          </a:p>
        </p:txBody>
      </p:sp>
      <p:sp>
        <p:nvSpPr>
          <p:cNvPr id="4" name="text">
            <a:extLst>
              <a:ext uri="{FF2B5EF4-FFF2-40B4-BE49-F238E27FC236}">
                <ns2:creationId id="{5C61E55E-1DAA-4E57-A45D-D373846EF363}"/>
              </a:ext>
            </a:extLst>
          </p:cNvPr>
          <p:cNvSpPr>
            <a:spLocks noGrp="1"/>
          </p:cNvSpPr>
          <p:nvPr/>
        </p:nvSpPr>
        <p:spPr>
          <a:xfrm>
            <a:off x="457200" y="12001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התקנת התוסף</a:t>
            </a:r>
          </a:p>
        </p:txBody>
      </p:sp>
      <p:sp>
        <p:nvSpPr>
          <p:cNvPr id="5" name="text">
            <a:extLst>
              <a:ext uri="{FF2B5EF4-FFF2-40B4-BE49-F238E27FC236}">
                <ns2:creationId id="{C56DA5DE-D098-4804-9A6E-38537CDE3641}"/>
              </a:ext>
            </a:extLst>
          </p:cNvPr>
          <p:cNvSpPr>
            <a:spLocks noGrp="1"/>
          </p:cNvSpPr>
          <p:nvPr/>
        </p:nvSpPr>
        <p:spPr>
          <a:xfrm>
            <a:off x="457200" y="15335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בחלון Extensions מחפשים Office Viewer מאת cweijan ולוחצים Install.</a:t>
            </a:r>
          </a:p>
        </p:txBody>
      </p:sp>
      <p:sp>
        <p:nvSpPr>
          <p:cNvPr id="6" name="text">
            <a:extLst>
              <a:ext uri="{FF2B5EF4-FFF2-40B4-BE49-F238E27FC236}">
                <ns2:creationId id="{DFDC55EF-831B-4BBD-AB3D-5CAB7D1E2001}"/>
              </a:ext>
            </a:extLst>
          </p:cNvPr>
          <p:cNvSpPr>
            <a:spLocks noGrp="1"/>
          </p:cNvSpPr>
          <p:nvPr/>
        </p:nvSpPr>
        <p:spPr>
          <a:xfrm>
            <a:off x="457200" y="21812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פתיחת תוצרי הסוכן</a:t>
            </a:r>
          </a:p>
        </p:txBody>
      </p:sp>
      <p:sp>
        <p:nvSpPr>
          <p:cNvPr id="7" name="text">
            <a:extLst>
              <a:ext uri="{FF2B5EF4-FFF2-40B4-BE49-F238E27FC236}">
                <ns2:creationId id="{92C21DA1-0BB8-4568-845A-746BDB4F0C86}"/>
              </a:ext>
            </a:extLst>
          </p:cNvPr>
          <p:cNvSpPr>
            <a:spLocks noGrp="1"/>
          </p:cNvSpPr>
          <p:nvPr/>
        </p:nvSpPr>
        <p:spPr>
          <a:xfrm>
            <a:off x="457200" y="25146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פותחים קובץ DOCX, XLSX, PPTX או PDF מתוך תיקיית הפרויקט.</a:t>
            </a:r>
          </a:p>
        </p:txBody>
      </p:sp>
      <p:sp>
        <p:nvSpPr>
          <p:cNvPr id="8" name="text">
            <a:extLst>
              <a:ext uri="{FF2B5EF4-FFF2-40B4-BE49-F238E27FC236}">
                <ns2:creationId id="{5AA953A4-8EC9-46EA-9F48-A73EA17B861F}"/>
              </a:ext>
            </a:extLst>
          </p:cNvPr>
          <p:cNvSpPr>
            <a:spLocks noGrp="1"/>
          </p:cNvSpPr>
          <p:nvPr/>
        </p:nvSpPr>
        <p:spPr>
          <a:xfrm>
            <a:off x="457200" y="31623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בחירת התצוגה</a:t>
            </a:r>
          </a:p>
        </p:txBody>
      </p:sp>
      <p:sp>
        <p:nvSpPr>
          <p:cNvPr id="9" name="text">
            <a:extLst>
              <a:ext uri="{FF2B5EF4-FFF2-40B4-BE49-F238E27FC236}">
                <ns2:creationId id="{17269B25-F680-47D6-8D01-01F26226EABF}"/>
              </a:ext>
            </a:extLst>
          </p:cNvPr>
          <p:cNvSpPr>
            <a:spLocks noGrp="1"/>
          </p:cNvSpPr>
          <p:nvPr/>
        </p:nvSpPr>
        <p:spPr>
          <a:xfrm>
            <a:off x="457200" y="34956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אם צריך, בוחרים Reopen Editor With ואת הצופה המתאים לסוג הקובץ.</a:t>
            </a:r>
          </a:p>
        </p:txBody>
      </p:sp>
      <p:sp>
        <p:nvSpPr>
          <p:cNvPr id="10" name="">
            <a:extLst>
              <a:ext uri="{FF2B5EF4-FFF2-40B4-BE49-F238E27FC236}">
                <ns2:creationId id="{853DE9E3-AD3B-4C72-B559-ED9D3D00347C}"/>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C8A1E7E9-C2DD-49DF-8CBE-1998502694BB}"/>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בדיקת ההתקנה: פותחים מסמך מהתיקייה ורואים את התוכן בתוך העורך.</a:t>
            </a:r>
          </a:p>
        </p:txBody>
      </p:sp>
    </p:spTree>
    <p:extLst>
      <p:ext uri="{BB962C8B-B14F-4D97-AF65-F5344CB8AC3E}">
        <ns3:creationId val="953106519"/>
      </p:ext>
    </p:extLst>
  </p:cSld>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A5CF978B-9303-42BB-925C-39BC76F4A10D}"/>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להקמת פרויקט: חלק א׳</a:t>
            </a:r>
          </a:p>
        </p:txBody>
      </p:sp>
      <p:sp>
        <p:nvSpPr>
          <p:cNvPr id="2" name="text">
            <a:extLst>
              <a:ext uri="{FF2B5EF4-FFF2-40B4-BE49-F238E27FC236}">
                <ns2:creationId id="{C542063B-B763-4943-BC16-28C35CCEC1B0}"/>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72AD64C7-D352-440A-9207-D47E4579955A}"/>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15</a:t>
            </a:r>
          </a:p>
        </p:txBody>
      </p:sp>
      <p:sp>
        <p:nvSpPr>
          <p:cNvPr id="4" name="text">
            <a:extLst>
              <a:ext uri="{FF2B5EF4-FFF2-40B4-BE49-F238E27FC236}">
                <ns2:creationId id="{C7D3E5D4-600A-412C-8E42-8CBAE1AEC378}"/>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פעל כסוכן פיתוח שמלווה אותי מהרעיון לגרסה ראשונה עובדת.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המוצר שאני רוצה לבנות: [תיאור הרעיון וקהל היעד].</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הפעולה המרכזית שהמשתמש צריך לבצע: [תיאור הפעולה].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התחל בהבנת הדרישה ובסקירת החומרים שסיפקתי בתיקייה.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קרא הנחיות קיימות, קוד ומסמכים. שמור עבודה קיימת.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הצג מה הבנת, מה כבר קיים ואילו פרטים דרושים להחלטה.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שאל שאלות ממוקדות רק כשחסר מידע שמשנה את המוצר.</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הצע גרסה ראשונה ממוקדת, כולל מה יישאר לשלב הבא.</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הצע שימוש ב־Next.js, ב־Supabase וב־Vercel לפי הצורך.</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הסבר מה כל כלי ייתן למוצר ואילו חיבורים נוספים יקדמו אותו.</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בדוק אילו כלים וחיבורי MCP זמינים לך לעבודה על החומרים.</a:t>
            </a:r>
          </a:p>
        </p:txBody>
      </p:sp>
    </p:spTree>
    <p:extLst>
      <p:ext uri="{BB962C8B-B14F-4D97-AF65-F5344CB8AC3E}">
        <ns3:creationId val="953106519"/>
      </p:ext>
    </p:extLst>
  </p:cSld>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45EE883A-BEEA-4CAF-A48E-452903117DB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להקמת פרויקט: חלק ב׳</a:t>
            </a:r>
          </a:p>
        </p:txBody>
      </p:sp>
      <p:sp>
        <p:nvSpPr>
          <p:cNvPr id="2" name="text">
            <a:extLst>
              <a:ext uri="{FF2B5EF4-FFF2-40B4-BE49-F238E27FC236}">
                <ns2:creationId id="{F57E9AF3-C96F-49D0-857E-4D140695EC65}"/>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7E1C84CC-DDE3-4F1C-9642-C4FA03B56371}"/>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16</a:t>
            </a:r>
          </a:p>
        </p:txBody>
      </p:sp>
      <p:sp>
        <p:nvSpPr>
          <p:cNvPr id="4" name="text">
            <a:extLst>
              <a:ext uri="{FF2B5EF4-FFF2-40B4-BE49-F238E27FC236}">
                <ns2:creationId id="{73D58017-243A-4568-9BBE-62754C42C18A}"/>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כתוב בקובץ docs/spec.md את המטרה, קהל היעד וגבולות הגרסה.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הוסף תרחישי שימוש, נתונים, הרשאות ותנאי קבלה מדידים.</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שמור החלטות והנמקות בקובץ docs/decisions.md.</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צור הוראות עבודה ב־AGENTS.md והתאם אותן לכלי שבו אנו עובדים.</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בשימוש ב־Claude Code הוסף CLAUDE.md שמפנה להנחיות המשותפות.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תעד בקובץ README.md התקנה, הפעלה ופקודות בדיקה.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חלק את העבודה למשימות קטנות ושמור אותן ב־docs/status.md.</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הצג לי את האפיון ואת התוכנית לקבלת החלטה לפני המימוש.</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לאחר אישור, בנה תרחיש שימוש שלם אחד עם נתוני דוגמה.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כתוב בדיקות להתנהגות, הרץ אותן ובדוק את התוצאה בממשק.</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בסיום דווח מה עובד, מה נבדק בפועל ומה המשימה הבאה.</a:t>
            </a:r>
          </a:p>
        </p:txBody>
      </p:sp>
    </p:spTree>
    <p:extLst>
      <p:ext uri="{BB962C8B-B14F-4D97-AF65-F5344CB8AC3E}">
        <ns3:creationId val="953106519"/>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9" name="text">
            <a:extLst>
              <a:ext uri="{FF2B5EF4-FFF2-40B4-BE49-F238E27FC236}">
                <ns2:creationId id="{C0187382-E34E-4180-9A6D-CF3985FC719C}"/>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הפעלת הפרויקט במחשב</a:t>
            </a:r>
          </a:p>
        </p:txBody>
      </p:sp>
      <p:sp>
        <p:nvSpPr>
          <p:cNvPr id="2" name="text">
            <a:extLst>
              <a:ext uri="{FF2B5EF4-FFF2-40B4-BE49-F238E27FC236}">
                <ns2:creationId id="{A6E54687-35CC-4961-B628-14F93692D8AA}"/>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F5DBC3B2-5869-4047-B451-473F2A735CC2}"/>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17</a:t>
            </a:r>
          </a:p>
        </p:txBody>
      </p:sp>
      <p:pic>
        <p:nvPicPr>
          <p:cNvPr id="12" name=""/>
          <p:cNvPicPr>
            <a:picLocks noChangeAspect="1"/>
          </p:cNvPicPr>
          <p:nvPr/>
        </p:nvPicPr>
        <p:blipFill>
          <a:blip ns3:embed="R6d6737f515174111"/>
          <a:stretch/>
        </p:blipFill>
        <p:spPr>
          <a:xfrm>
            <a:off x="457200" y="2228099"/>
            <a:ext cx="4857750" cy="1068302"/>
          </a:xfrm>
          <a:prstGeom prst="rect">
            <a:avLst/>
          </a:prstGeom>
        </p:spPr>
      </p:pic>
      <p:sp>
        <p:nvSpPr>
          <p:cNvPr id="5" name="text">
            <a:extLst>
              <a:ext uri="{FF2B5EF4-FFF2-40B4-BE49-F238E27FC236}">
                <ns2:creationId id="{71A6A5A2-391A-407F-9A8E-F827D92026B6}"/>
              </a:ext>
            </a:extLst>
          </p:cNvPr>
          <p:cNvSpPr>
            <a:spLocks noGrp="1"/>
          </p:cNvSpPr>
          <p:nvPr/>
        </p:nvSpPr>
        <p:spPr>
          <a:xfrm>
            <a:off x="5619750" y="1238250"/>
            <a:ext cx="3048000" cy="628650"/>
          </a:xfrm>
          <a:prstGeom prst="rect">
            <a:avLst/>
          </a:prstGeom>
          <a:noFill/>
          <a:ln w="0">
            <a:noFill/>
          </a:ln>
        </p:spPr>
        <p:txBody>
          <a:bodyPr wrap="square" lIns="0" tIns="0" rIns="0" bIns="0" anchor="t">
            <a:noAutofit/>
          </a:bodyPr>
          <a:lstStyle/>
          <a:p>
            <a:pPr algn="r" rtl="1">
              <a:defRPr sz="1800" b="1">
                <a:solidFill>
                  <a:srgbClr val="272525"/>
                </a:solidFill>
                <a:latin typeface="Inter"/>
                <a:ea typeface="Inter"/>
                <a:cs typeface="Inter"/>
              </a:defRPr>
            </a:pPr>
            <a:r>
              <a:rPr sz="1800" b="1" lang="he-IL">
                <a:solidFill>
                  <a:srgbClr val="272525"/>
                </a:solidFill>
                <a:latin typeface="Inter"/>
                <a:ea typeface="Inter"/>
                <a:cs typeface="Arial"/>
              </a:rPr>
              <a:t>בתפריט Terminal בוחרים New Terminal</a:t>
            </a:r>
          </a:p>
        </p:txBody>
      </p:sp>
      <p:sp>
        <p:nvSpPr>
          <p:cNvPr id="6" name="">
            <a:extLst>
              <a:ext uri="{FF2B5EF4-FFF2-40B4-BE49-F238E27FC236}">
                <ns2:creationId id="{AE2C5305-9ED9-4A33-8C77-E19B4316FD86}"/>
              </a:ext>
            </a:extLst>
          </p:cNvPr>
          <p:cNvSpPr>
            <a:spLocks noGrp="1"/>
          </p:cNvSpPr>
          <p:nvPr/>
        </p:nvSpPr>
        <p:spPr>
          <a:xfrm>
            <a:off x="5638800" y="2009775"/>
            <a:ext cx="2933700" cy="990600"/>
          </a:xfrm>
          <a:prstGeom prst="rect">
            <a:avLst/>
          </a:prstGeom>
          <a:solidFill>
            <a:srgbClr val="F7F5F8"/>
          </a:solidFill>
          <a:ln w="0">
            <a:noFill/>
          </a:ln>
        </p:spPr>
      </p:sp>
      <p:sp>
        <p:nvSpPr>
          <p:cNvPr id="7" name="code">
            <a:extLst>
              <a:ext uri="{FF2B5EF4-FFF2-40B4-BE49-F238E27FC236}">
                <ns2:creationId id="{EA6552E4-4D79-4B37-B159-7997DF4AF935}"/>
              </a:ext>
            </a:extLst>
          </p:cNvPr>
          <p:cNvSpPr>
            <a:spLocks noGrp="1"/>
          </p:cNvSpPr>
          <p:nvPr/>
        </p:nvSpPr>
        <p:spPr>
          <a:xfrm>
            <a:off x="5772150" y="2124075"/>
            <a:ext cx="2667000" cy="762000"/>
          </a:xfrm>
          <a:prstGeom prst="rect">
            <a:avLst/>
          </a:prstGeom>
          <a:noFill/>
          <a:ln w="0">
            <a:noFill/>
          </a:ln>
        </p:spPr>
        <p:txBody>
          <a:bodyPr wrap="square" lIns="0" tIns="0" rIns="0" bIns="0" anchor="t">
            <a:noAutofit/>
          </a:bodyPr>
          <a:lstStyle/>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npm install</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npm run dev</a:t>
            </a:r>
          </a:p>
        </p:txBody>
      </p:sp>
      <p:sp>
        <p:nvSpPr>
          <p:cNvPr id="8" name="text">
            <a:extLst>
              <a:ext uri="{FF2B5EF4-FFF2-40B4-BE49-F238E27FC236}">
                <ns2:creationId id="{9FF8196C-E225-4D85-A1BE-16B06106838D}"/>
              </a:ext>
            </a:extLst>
          </p:cNvPr>
          <p:cNvSpPr>
            <a:spLocks noGrp="1"/>
          </p:cNvSpPr>
          <p:nvPr/>
        </p:nvSpPr>
        <p:spPr>
          <a:xfrm>
            <a:off x="5638800" y="3381375"/>
            <a:ext cx="3048000" cy="1009650"/>
          </a:xfrm>
          <a:prstGeom prst="rect">
            <a:avLst/>
          </a:prstGeom>
          <a:noFill/>
          <a:ln w="0">
            <a:noFill/>
          </a:ln>
        </p:spPr>
        <p:txBody>
          <a:bodyPr wrap="square" lIns="0" tIns="0" rIns="0" bIns="0" anchor="t">
            <a:noAutofit/>
          </a:bodyPr>
          <a:lstStyle/>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אחרי שהסוכן יצר את הפרויקט:</a:t>
            </a:r>
          </a:p>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מתקינים תלויות, מפעילים ופותחים</a:t>
            </a:r>
          </a:p>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את הכתובת שמופיעה בטרמינל.</a:t>
            </a:r>
          </a:p>
          <a:p>
            <a:pPr algn="r" rtl="1">
              <a:defRPr sz="1500" b="0">
                <a:solidFill>
                  <a:srgbClr val="272525"/>
                </a:solidFill>
                <a:latin typeface="Inter"/>
                <a:ea typeface="Inter"/>
                <a:cs typeface="Inter"/>
              </a:defRPr>
            </a:pPr>
            <a:r>
              <a:rPr sz="1500" b="0" lang="he-IL">
                <a:solidFill>
                  <a:srgbClr val="272525"/>
                </a:solidFill>
                <a:latin typeface="Inter"/>
                <a:ea typeface="Inter"/>
                <a:cs typeface="Arial"/>
              </a:rPr>
              <a:t>בדרך כלל: http://localhost:3000</a:t>
            </a:r>
          </a:p>
        </p:txBody>
      </p:sp>
    </p:spTree>
    <p:extLst>
      <p:ext uri="{BB962C8B-B14F-4D97-AF65-F5344CB8AC3E}">
        <ns4:creationId val="953106519"/>
      </p:ext>
    </p:extLst>
  </p:cSld>
</p:sld>
</file>

<file path=ppt/slides/slide18.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5" name=""/>
          <p:cNvPicPr>
            <a:picLocks noChangeAspect="1"/>
          </p:cNvPicPr>
          <p:nvPr/>
        </p:nvPicPr>
        <p:blipFill>
          <a:blip ns2:embed="Re096586901434b77"/>
          <a:srcRect l="0" t="0" r="0" b="0"/>
          <a:stretch>
            <a:fillRect l="0" t="0" r="0" b="0"/>
          </a:stretch>
        </p:blipFill>
        <p:spPr>
          <a:xfrm>
            <a:off x="5715000" y="0"/>
            <a:ext cx="3429000" cy="5143500"/>
          </a:xfrm>
          <a:prstGeom prst="rect">
            <a:avLst/>
          </a:prstGeom>
        </p:spPr>
      </p:pic>
      <p:sp>
        <p:nvSpPr>
          <p:cNvPr id="2" name="text">
            <a:extLst>
              <a:ext uri="{FF2B5EF4-FFF2-40B4-BE49-F238E27FC236}">
                <ns3:creationId id="{C78561D8-86B3-4E70-9A8C-B58BC5158D13}"/>
              </a:ext>
            </a:extLst>
          </p:cNvPr>
          <p:cNvSpPr>
            <a:spLocks noGrp="1"/>
          </p:cNvSpPr>
          <p:nvPr/>
        </p:nvSpPr>
        <p:spPr>
          <a:xfrm>
            <a:off x="571500" y="1666875"/>
            <a:ext cx="4572000" cy="361950"/>
          </a:xfrm>
          <a:prstGeom prst="rect">
            <a:avLst/>
          </a:prstGeom>
          <a:noFill/>
          <a:ln w="0">
            <a:noFill/>
          </a:ln>
        </p:spPr>
        <p:txBody>
          <a:bodyPr wrap="square" lIns="0" tIns="0" rIns="0" bIns="0" anchor="t">
            <a:noAutofit/>
          </a:bodyPr>
          <a:lstStyle/>
          <a:p>
            <a:pPr algn="ctr" rtl="1">
              <a:defRPr sz="2100" b="1">
                <a:solidFill>
                  <a:srgbClr val="D75BE2"/>
                </a:solidFill>
                <a:latin typeface="Inter"/>
                <a:ea typeface="Inter"/>
                <a:cs typeface="Inter"/>
              </a:defRPr>
            </a:pPr>
            <a:r>
              <a:rPr sz="2100" b="1" lang="he-IL">
                <a:solidFill>
                  <a:srgbClr val="D75BE2"/>
                </a:solidFill>
                <a:latin typeface="Inter"/>
                <a:ea typeface="Inter"/>
                <a:cs typeface="Arial"/>
              </a:rPr>
              <a:t>פרק ב׳</a:t>
            </a:r>
          </a:p>
        </p:txBody>
      </p:sp>
      <p:sp>
        <p:nvSpPr>
          <p:cNvPr id="3" name="text">
            <a:extLst>
              <a:ext uri="{FF2B5EF4-FFF2-40B4-BE49-F238E27FC236}">
                <ns3:creationId id="{67270918-F66B-4ABC-82EF-0C94C3605216}"/>
              </a:ext>
            </a:extLst>
          </p:cNvPr>
          <p:cNvSpPr>
            <a:spLocks noGrp="1"/>
          </p:cNvSpPr>
          <p:nvPr/>
        </p:nvSpPr>
        <p:spPr>
          <a:xfrm>
            <a:off x="476250" y="2143125"/>
            <a:ext cx="4762500" cy="952500"/>
          </a:xfrm>
          <a:prstGeom prst="rect">
            <a:avLst/>
          </a:prstGeom>
          <a:noFill/>
          <a:ln w="0">
            <a:noFill/>
          </a:ln>
        </p:spPr>
        <p:txBody>
          <a:bodyPr wrap="square" lIns="0" tIns="0" rIns="0" bIns="0" anchor="t">
            <a:noAutofit/>
          </a:bodyPr>
          <a:lstStyle/>
          <a:p>
            <a:pPr algn="ctr" rtl="1">
              <a:defRPr sz="3300" b="1">
                <a:solidFill>
                  <a:srgbClr val="D75BE2"/>
                </a:solidFill>
                <a:latin typeface="Inter"/>
                <a:ea typeface="Inter"/>
                <a:cs typeface="Inter"/>
              </a:defRPr>
            </a:pPr>
            <a:r>
              <a:rPr sz="3300" b="1" lang="he-IL">
                <a:solidFill>
                  <a:srgbClr val="D75BE2"/>
                </a:solidFill>
                <a:latin typeface="Inter"/>
                <a:ea typeface="Inter"/>
                <a:cs typeface="Arial"/>
              </a:rPr>
              <a:t>הזיכרון של הפרויקט</a:t>
            </a:r>
          </a:p>
        </p:txBody>
      </p:sp>
      <p:sp>
        <p:nvSpPr>
          <p:cNvPr id="4" name="text">
            <a:extLst>
              <a:ext uri="{FF2B5EF4-FFF2-40B4-BE49-F238E27FC236}">
                <ns3:creationId id="{B5ECB146-7EA5-49A6-824C-42D29AB27024}"/>
              </a:ext>
            </a:extLst>
          </p:cNvPr>
          <p:cNvSpPr>
            <a:spLocks noGrp="1"/>
          </p:cNvSpPr>
          <p:nvPr/>
        </p:nvSpPr>
        <p:spPr>
          <a:xfrm>
            <a:off x="619125" y="3286125"/>
            <a:ext cx="4476750" cy="904875"/>
          </a:xfrm>
          <a:prstGeom prst="rect">
            <a:avLst/>
          </a:prstGeom>
          <a:noFill/>
          <a:ln w="0">
            <a:noFill/>
          </a:ln>
        </p:spPr>
        <p:txBody>
          <a:bodyPr wrap="square" lIns="0" tIns="0" rIns="0" bIns="0" anchor="t">
            <a:noAutofit/>
          </a:bodyPr>
          <a:lstStyle/>
          <a:p>
            <a:pPr algn="ctr" rtl="1">
              <a:defRPr sz="1800" b="0">
                <a:solidFill>
                  <a:srgbClr val="272525"/>
                </a:solidFill>
                <a:latin typeface="Inter"/>
                <a:ea typeface="Inter"/>
                <a:cs typeface="Inter"/>
              </a:defRPr>
            </a:pPr>
            <a:r>
              <a:rPr sz="1800" b="0" lang="he-IL">
                <a:solidFill>
                  <a:srgbClr val="272525"/>
                </a:solidFill>
                <a:latin typeface="Inter"/>
                <a:ea typeface="Inter"/>
                <a:cs typeface="Arial"/>
              </a:rPr>
              <a:t>איך הסוכן של מחר ממשיך את העבודה של היום?</a:t>
            </a:r>
          </a:p>
        </p:txBody>
      </p:sp>
    </p:spTree>
    <p:extLst>
      <p:ext uri="{BB962C8B-B14F-4D97-AF65-F5344CB8AC3E}">
        <ns4:creationId val="953106519"/>
      </p:ext>
    </p:extLst>
  </p:cSld>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1F0EE897-AE50-476E-B2DC-5063DE4504C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כשפותחים שיחה חדשה</a:t>
            </a:r>
          </a:p>
        </p:txBody>
      </p:sp>
      <p:sp>
        <p:nvSpPr>
          <p:cNvPr id="2" name="text">
            <a:extLst>
              <a:ext uri="{FF2B5EF4-FFF2-40B4-BE49-F238E27FC236}">
                <ns2:creationId id="{39279757-F9E7-4D85-AAF0-534526CFCC40}"/>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35590955-BC23-467D-B072-F28C264C61F1}"/>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19</a:t>
            </a:r>
          </a:p>
        </p:txBody>
      </p:sp>
      <p:sp>
        <p:nvSpPr>
          <p:cNvPr id="4" name="text">
            <a:extLst>
              <a:ext uri="{FF2B5EF4-FFF2-40B4-BE49-F238E27FC236}">
                <ns2:creationId id="{8051648F-FB14-4C47-ACDC-F47136078177}"/>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ההחלטה של אתמול</a:t>
            </a:r>
          </a:p>
        </p:txBody>
      </p:sp>
      <p:sp>
        <p:nvSpPr>
          <p:cNvPr id="5" name="text">
            <a:extLst>
              <a:ext uri="{FF2B5EF4-FFF2-40B4-BE49-F238E27FC236}">
                <ns2:creationId id="{6BC114F7-E744-476E-8BFB-4408EBC49E06}"/>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בחרנו התנהגות רצויה, הגדרנו גבולות וסיימנו חלק מהמשימה.</a:t>
            </a:r>
          </a:p>
        </p:txBody>
      </p:sp>
      <p:sp>
        <p:nvSpPr>
          <p:cNvPr id="6" name="text">
            <a:extLst>
              <a:ext uri="{FF2B5EF4-FFF2-40B4-BE49-F238E27FC236}">
                <ns2:creationId id="{6FE24DF4-2751-4069-9FB6-70947124D636}"/>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הבקשה של היום</a:t>
            </a:r>
          </a:p>
        </p:txBody>
      </p:sp>
      <p:sp>
        <p:nvSpPr>
          <p:cNvPr id="7" name="text">
            <a:extLst>
              <a:ext uri="{FF2B5EF4-FFF2-40B4-BE49-F238E27FC236}">
                <ns2:creationId id="{540962EE-AA98-48BE-A2B7-1627D2A305CA}"/>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״תמשיך מאיפה שעצרנו״. הסוכן החדש צריך לדעת איפה עצרנו ולמה.</a:t>
            </a:r>
          </a:p>
        </p:txBody>
      </p:sp>
      <p:sp>
        <p:nvSpPr>
          <p:cNvPr id="8" name="text">
            <a:extLst>
              <a:ext uri="{FF2B5EF4-FFF2-40B4-BE49-F238E27FC236}">
                <ns2:creationId id="{E89D7740-D3B1-44BC-8569-848E3A270A7F}"/>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המידע שצריך להישאר</a:t>
            </a:r>
          </a:p>
        </p:txBody>
      </p:sp>
      <p:sp>
        <p:nvSpPr>
          <p:cNvPr id="9" name="text">
            <a:extLst>
              <a:ext uri="{FF2B5EF4-FFF2-40B4-BE49-F238E27FC236}">
                <ns2:creationId id="{38793942-A658-443A-B46F-FF914688AA5F}"/>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אפיון מעודכן, החלטות, מה נבדק ומה עדיין פתוח.</a:t>
            </a:r>
          </a:p>
        </p:txBody>
      </p:sp>
      <p:sp>
        <p:nvSpPr>
          <p:cNvPr id="10" name="">
            <a:extLst>
              <a:ext uri="{FF2B5EF4-FFF2-40B4-BE49-F238E27FC236}">
                <ns2:creationId id="{E510BEF5-E5A2-4D6A-8F1D-CBF62910CF53}"/>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024A66C4-59CA-494F-9414-D1BFFA6ED6DE}"/>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התיקייה צריכה לאפשר המשך עבודה גם ללא היסטוריית השיחה.</a:t>
            </a:r>
          </a:p>
        </p:txBody>
      </p:sp>
    </p:spTree>
    <p:extLst>
      <p:ext uri="{BB962C8B-B14F-4D97-AF65-F5344CB8AC3E}">
        <ns3:creationId val="953106519"/>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text">
            <a:extLst>
              <a:ext uri="{FF2B5EF4-FFF2-40B4-BE49-F238E27FC236}">
                <ns2:creationId id="{74A73F92-F232-4AC7-8A2E-CEA99AE14FB6}"/>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קובצי Markdown והקונטקסט</a:t>
            </a:r>
          </a:p>
        </p:txBody>
      </p:sp>
      <p:sp>
        <p:nvSpPr>
          <p:cNvPr id="2" name="text">
            <a:extLst>
              <a:ext uri="{FF2B5EF4-FFF2-40B4-BE49-F238E27FC236}">
                <ns2:creationId id="{FBDF3101-B53C-4D9D-8E53-4D2FFC37D973}"/>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643BBEB4-2E0E-4880-B298-D4DF8A9E56E2}"/>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20</a:t>
            </a:r>
          </a:p>
        </p:txBody>
      </p:sp>
      <p:pic>
        <p:nvPicPr>
          <p:cNvPr id="16" name=""/>
          <p:cNvPicPr>
            <a:picLocks noChangeAspect="1"/>
          </p:cNvPicPr>
          <p:nvPr/>
        </p:nvPicPr>
        <p:blipFill>
          <a:blip ns3:embed="R4b990f04dd17413c"/>
          <a:stretch/>
        </p:blipFill>
        <p:spPr>
          <a:xfrm>
            <a:off x="457200" y="1452563"/>
            <a:ext cx="2524125" cy="2524125"/>
          </a:xfrm>
          <a:prstGeom prst="rect">
            <a:avLst/>
          </a:prstGeom>
        </p:spPr>
      </p:pic>
      <p:sp>
        <p:nvSpPr>
          <p:cNvPr id="5" name="text">
            <a:extLst>
              <a:ext uri="{FF2B5EF4-FFF2-40B4-BE49-F238E27FC236}">
                <ns2:creationId id="{9704AF81-9FC6-41D8-8140-E508C0ACF176}"/>
              </a:ext>
            </a:extLst>
          </p:cNvPr>
          <p:cNvSpPr>
            <a:spLocks noGrp="1"/>
          </p:cNvSpPr>
          <p:nvPr/>
        </p:nvSpPr>
        <p:spPr>
          <a:xfrm>
            <a:off x="3476625" y="1238250"/>
            <a:ext cx="52101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ידע מחוץ לשיחה</a:t>
            </a:r>
          </a:p>
        </p:txBody>
      </p:sp>
      <p:sp>
        <p:nvSpPr>
          <p:cNvPr id="6" name="text">
            <a:extLst>
              <a:ext uri="{FF2B5EF4-FFF2-40B4-BE49-F238E27FC236}">
                <ns2:creationId id="{B6FC0135-BFCD-4A67-9E77-03AA6EAD9121}"/>
              </a:ext>
            </a:extLst>
          </p:cNvPr>
          <p:cNvSpPr>
            <a:spLocks noGrp="1"/>
          </p:cNvSpPr>
          <p:nvPr/>
        </p:nvSpPr>
        <p:spPr>
          <a:xfrm>
            <a:off x="3476625" y="1571625"/>
            <a:ext cx="521017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קובצי טקסט בסיומת md נשארים בתיקייה אחרי סיום השיחה.</a:t>
            </a:r>
          </a:p>
        </p:txBody>
      </p:sp>
      <p:sp>
        <p:nvSpPr>
          <p:cNvPr id="7" name="text">
            <a:extLst>
              <a:ext uri="{FF2B5EF4-FFF2-40B4-BE49-F238E27FC236}">
                <ns2:creationId id="{BE4EA4AB-E042-47CD-8186-D4B15EDADC53}"/>
              </a:ext>
            </a:extLst>
          </p:cNvPr>
          <p:cNvSpPr>
            <a:spLocks noGrp="1"/>
          </p:cNvSpPr>
          <p:nvPr/>
        </p:nvSpPr>
        <p:spPr>
          <a:xfrm>
            <a:off x="3476625" y="2266950"/>
            <a:ext cx="52101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טעינה לפי המשימה</a:t>
            </a:r>
          </a:p>
        </p:txBody>
      </p:sp>
      <p:sp>
        <p:nvSpPr>
          <p:cNvPr id="8" name="text">
            <a:extLst>
              <a:ext uri="{FF2B5EF4-FFF2-40B4-BE49-F238E27FC236}">
                <ns2:creationId id="{3994EB88-59E2-4942-A6FB-9DEB9684FBD7}"/>
              </a:ext>
            </a:extLst>
          </p:cNvPr>
          <p:cNvSpPr>
            <a:spLocks noGrp="1"/>
          </p:cNvSpPr>
          <p:nvPr/>
        </p:nvSpPr>
        <p:spPr>
          <a:xfrm>
            <a:off x="3476625" y="2600325"/>
            <a:ext cx="521017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הסוכן קורא את ההנחיות ואת חלקי האפיון הרלוונטיים.</a:t>
            </a:r>
          </a:p>
        </p:txBody>
      </p:sp>
      <p:sp>
        <p:nvSpPr>
          <p:cNvPr id="9" name="text">
            <a:extLst>
              <a:ext uri="{FF2B5EF4-FFF2-40B4-BE49-F238E27FC236}">
                <ns2:creationId id="{A87D505A-376C-4113-A28F-9F96B6BE2E06}"/>
              </a:ext>
            </a:extLst>
          </p:cNvPr>
          <p:cNvSpPr>
            <a:spLocks noGrp="1"/>
          </p:cNvSpPr>
          <p:nvPr/>
        </p:nvSpPr>
        <p:spPr>
          <a:xfrm>
            <a:off x="3476625" y="3295650"/>
            <a:ext cx="521017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תחזוקה במקום הצטברות</a:t>
            </a:r>
          </a:p>
        </p:txBody>
      </p:sp>
      <p:sp>
        <p:nvSpPr>
          <p:cNvPr id="10" name="text">
            <a:extLst>
              <a:ext uri="{FF2B5EF4-FFF2-40B4-BE49-F238E27FC236}">
                <ns2:creationId id="{ED516041-7F0A-470B-8199-18223C9CAD46}"/>
              </a:ext>
            </a:extLst>
          </p:cNvPr>
          <p:cNvSpPr>
            <a:spLocks noGrp="1"/>
          </p:cNvSpPr>
          <p:nvPr/>
        </p:nvSpPr>
        <p:spPr>
          <a:xfrm>
            <a:off x="3476625" y="3629025"/>
            <a:ext cx="521017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מעדכנים החלטות ומצב. מסירים מידע שהתיישן.</a:t>
            </a:r>
          </a:p>
        </p:txBody>
      </p:sp>
      <p:sp>
        <p:nvSpPr>
          <p:cNvPr id="11" name="">
            <a:extLst>
              <a:ext uri="{FF2B5EF4-FFF2-40B4-BE49-F238E27FC236}">
                <ns2:creationId id="{00B82C86-E804-4F6C-867A-80ADF990CDC1}"/>
              </a:ext>
            </a:extLst>
          </p:cNvPr>
          <p:cNvSpPr>
            <a:spLocks noGrp="1"/>
          </p:cNvSpPr>
          <p:nvPr/>
        </p:nvSpPr>
        <p:spPr>
          <a:xfrm>
            <a:off x="457200" y="4248150"/>
            <a:ext cx="8229600" cy="466725"/>
          </a:xfrm>
          <a:prstGeom prst="rect">
            <a:avLst/>
          </a:prstGeom>
          <a:solidFill>
            <a:srgbClr val="F4D4F7"/>
          </a:solidFill>
          <a:ln w="0">
            <a:noFill/>
          </a:ln>
        </p:spPr>
      </p:sp>
      <p:sp>
        <p:nvSpPr>
          <p:cNvPr id="12" name="text">
            <a:extLst>
              <a:ext uri="{FF2B5EF4-FFF2-40B4-BE49-F238E27FC236}">
                <ns2:creationId id="{8DBF3D8B-DE2D-42EF-90BD-D5ED8719261F}"/>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קבצים מאפשרים לשחזר הקשר. מגבלת הקונטקסט עדיין קיימת.</a:t>
            </a:r>
          </a:p>
        </p:txBody>
      </p:sp>
    </p:spTree>
    <p:extLst>
      <p:ext uri="{BB962C8B-B14F-4D97-AF65-F5344CB8AC3E}">
        <ns4:creationId val="953106519"/>
      </p:ext>
    </p:extLst>
  </p:cSld>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0191582D-55C7-48DC-9AD9-E3B0FF402FDF}"/>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שלושה קבצים עם תפקידים שונים</a:t>
            </a:r>
          </a:p>
        </p:txBody>
      </p:sp>
      <p:sp>
        <p:nvSpPr>
          <p:cNvPr id="2" name="text">
            <a:extLst>
              <a:ext uri="{FF2B5EF4-FFF2-40B4-BE49-F238E27FC236}">
                <ns2:creationId id="{9A50BFE0-BB99-494F-877B-CA145DE9F513}"/>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CBAB6333-5A00-445B-9518-E57255A51672}"/>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21</a:t>
            </a:r>
          </a:p>
        </p:txBody>
      </p:sp>
      <p:sp>
        <p:nvSpPr>
          <p:cNvPr id="4" name="text">
            <a:extLst>
              <a:ext uri="{FF2B5EF4-FFF2-40B4-BE49-F238E27FC236}">
                <ns2:creationId id="{4BE76BE6-B1CA-4559-9271-EFEDD71F2232}"/>
              </a:ext>
            </a:extLst>
          </p:cNvPr>
          <p:cNvSpPr>
            <a:spLocks noGrp="1"/>
          </p:cNvSpPr>
          <p:nvPr/>
        </p:nvSpPr>
        <p:spPr>
          <a:xfrm>
            <a:off x="457200" y="12192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הקובץ README.md</a:t>
            </a:r>
          </a:p>
        </p:txBody>
      </p:sp>
      <p:sp>
        <p:nvSpPr>
          <p:cNvPr id="5" name="text">
            <a:extLst>
              <a:ext uri="{FF2B5EF4-FFF2-40B4-BE49-F238E27FC236}">
                <ns2:creationId id="{E6390F5F-5275-482A-90DB-B911A8D0E53E}"/>
              </a:ext>
            </a:extLst>
          </p:cNvPr>
          <p:cNvSpPr>
            <a:spLocks noGrp="1"/>
          </p:cNvSpPr>
          <p:nvPr/>
        </p:nvSpPr>
        <p:spPr>
          <a:xfrm>
            <a:off x="457200" y="15525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הפרויקט עושה, איך מתקינים, איך מפעילים ואיך מריצים בדיקות.</a:t>
            </a:r>
          </a:p>
        </p:txBody>
      </p:sp>
      <p:sp>
        <p:nvSpPr>
          <p:cNvPr id="6" name="text">
            <a:extLst>
              <a:ext uri="{FF2B5EF4-FFF2-40B4-BE49-F238E27FC236}">
                <ns2:creationId id="{846F10D7-5786-466A-8802-D156C4A5236C}"/>
              </a:ext>
            </a:extLst>
          </p:cNvPr>
          <p:cNvSpPr>
            <a:spLocks noGrp="1"/>
          </p:cNvSpPr>
          <p:nvPr/>
        </p:nvSpPr>
        <p:spPr>
          <a:xfrm>
            <a:off x="457200" y="22098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הקובץ AGENTS.md</a:t>
            </a:r>
          </a:p>
        </p:txBody>
      </p:sp>
      <p:sp>
        <p:nvSpPr>
          <p:cNvPr id="7" name="text">
            <a:extLst>
              <a:ext uri="{FF2B5EF4-FFF2-40B4-BE49-F238E27FC236}">
                <ns2:creationId id="{066EA1FB-8A11-4E47-83DD-4A0E2595045E}"/>
              </a:ext>
            </a:extLst>
          </p:cNvPr>
          <p:cNvSpPr>
            <a:spLocks noGrp="1"/>
          </p:cNvSpPr>
          <p:nvPr/>
        </p:nvSpPr>
        <p:spPr>
          <a:xfrm>
            <a:off x="457200" y="25431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כללי עבודה לסוכן: מקורות מידע, גבולות השינוי ופקודות אימות.</a:t>
            </a:r>
          </a:p>
        </p:txBody>
      </p:sp>
      <p:sp>
        <p:nvSpPr>
          <p:cNvPr id="8" name="text">
            <a:extLst>
              <a:ext uri="{FF2B5EF4-FFF2-40B4-BE49-F238E27FC236}">
                <ns2:creationId id="{EB61A3E8-6887-4411-AD9D-2D4BCE7FDD1A}"/>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הקובץ CLAUDE.md</a:t>
            </a:r>
          </a:p>
        </p:txBody>
      </p:sp>
      <p:sp>
        <p:nvSpPr>
          <p:cNvPr id="9" name="text">
            <a:extLst>
              <a:ext uri="{FF2B5EF4-FFF2-40B4-BE49-F238E27FC236}">
                <ns2:creationId id="{25EEB61F-4BDD-4EFF-A69C-7B789DE06611}"/>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הנחיות ל־Claude Code. אפשר לייבא ממנו את ההנחיות המשותפות.</a:t>
            </a:r>
          </a:p>
        </p:txBody>
      </p:sp>
      <p:sp>
        <p:nvSpPr>
          <p:cNvPr id="10" name="">
            <a:extLst>
              <a:ext uri="{FF2B5EF4-FFF2-40B4-BE49-F238E27FC236}">
                <ns2:creationId id="{2D49C8FD-8F06-49F6-8269-5DA4A2053465}"/>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1781E989-B51B-4FB8-A21A-7127FE1C8033}"/>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השם AGENTS.md מתייחס להוראות לסוכנים, לא להגדרת תת־סוכן.</a:t>
            </a:r>
          </a:p>
        </p:txBody>
      </p:sp>
    </p:spTree>
    <p:extLst>
      <p:ext uri="{BB962C8B-B14F-4D97-AF65-F5344CB8AC3E}">
        <ns3:creationId val="953106519"/>
      </p:ext>
    </p:extLst>
  </p:cSld>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796CD561-BEFB-4718-A9C0-42125B6C33DC}"/>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מבנה תיקיית הפרויקט</a:t>
            </a:r>
          </a:p>
        </p:txBody>
      </p:sp>
      <p:sp>
        <p:nvSpPr>
          <p:cNvPr id="2" name="text">
            <a:extLst>
              <a:ext uri="{FF2B5EF4-FFF2-40B4-BE49-F238E27FC236}">
                <ns2:creationId id="{334BFC82-9031-4468-9382-8E046AAB3B1D}"/>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D55CC414-5EE2-4837-A4D1-61487D537207}"/>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22</a:t>
            </a:r>
          </a:p>
        </p:txBody>
      </p:sp>
      <p:sp>
        <p:nvSpPr>
          <p:cNvPr id="4" name="">
            <a:extLst>
              <a:ext uri="{FF2B5EF4-FFF2-40B4-BE49-F238E27FC236}">
                <ns2:creationId id="{5D63F6C6-86F1-4423-9485-7A5E43657B0C}"/>
              </a:ext>
            </a:extLst>
          </p:cNvPr>
          <p:cNvSpPr>
            <a:spLocks noGrp="1"/>
          </p:cNvSpPr>
          <p:nvPr/>
        </p:nvSpPr>
        <p:spPr>
          <a:xfrm>
            <a:off x="533400" y="1219200"/>
            <a:ext cx="3409950" cy="3324225"/>
          </a:xfrm>
          <a:prstGeom prst="rect">
            <a:avLst/>
          </a:prstGeom>
          <a:solidFill>
            <a:srgbClr val="F7F5F8"/>
          </a:solidFill>
          <a:ln w="0">
            <a:noFill/>
          </a:ln>
        </p:spPr>
      </p:sp>
      <p:sp>
        <p:nvSpPr>
          <p:cNvPr id="5" name="code">
            <a:extLst>
              <a:ext uri="{FF2B5EF4-FFF2-40B4-BE49-F238E27FC236}">
                <ns2:creationId id="{56889BBE-7E87-46C1-85C7-9989F81C768E}"/>
              </a:ext>
            </a:extLst>
          </p:cNvPr>
          <p:cNvSpPr>
            <a:spLocks noGrp="1"/>
          </p:cNvSpPr>
          <p:nvPr/>
        </p:nvSpPr>
        <p:spPr>
          <a:xfrm>
            <a:off x="666750" y="1333500"/>
            <a:ext cx="3143250" cy="3095625"/>
          </a:xfrm>
          <a:prstGeom prst="rect">
            <a:avLst/>
          </a:prstGeom>
          <a:noFill/>
          <a:ln w="0">
            <a:noFill/>
          </a:ln>
        </p:spPr>
        <p:txBody>
          <a:bodyPr wrap="square" lIns="0" tIns="0" rIns="0" bIns="0" anchor="t">
            <a:noAutofit/>
          </a:bodyPr>
          <a:lstStyle/>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my-project/</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README.md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AGENTS.md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CLAUDE.md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docs/</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spec.md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decisions.md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status.md</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src/</a:t>
            </a:r>
          </a:p>
          <a:p>
            <a:pPr algn="l" rtl="0">
              <a:defRPr sz="1725" b="0">
                <a:solidFill>
                  <a:srgbClr val="272525"/>
                </a:solidFill>
                <a:latin typeface="Arial"/>
                <a:ea typeface="Arial"/>
                <a:cs typeface="Arial"/>
              </a:defRPr>
            </a:pPr>
            <a:r>
              <a:rPr sz="1725" b="0" lang="en-US">
                <a:solidFill>
                  <a:srgbClr val="272525"/>
                </a:solidFill>
                <a:latin typeface="Arial"/>
                <a:ea typeface="Arial"/>
                <a:cs typeface="Arial"/>
              </a:rPr>
              <a:t>  tests/</a:t>
            </a:r>
          </a:p>
        </p:txBody>
      </p:sp>
      <p:sp>
        <p:nvSpPr>
          <p:cNvPr id="6" name="text">
            <a:extLst>
              <a:ext uri="{FF2B5EF4-FFF2-40B4-BE49-F238E27FC236}">
                <ns2:creationId id="{E1DE20D6-C69B-4551-BB40-C48F959437EE}"/>
              </a:ext>
            </a:extLst>
          </p:cNvPr>
          <p:cNvSpPr>
            <a:spLocks noGrp="1"/>
          </p:cNvSpPr>
          <p:nvPr/>
        </p:nvSpPr>
        <p:spPr>
          <a:xfrm>
            <a:off x="4667250" y="1333500"/>
            <a:ext cx="40195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האפיון: docs/spec.md</a:t>
            </a:r>
          </a:p>
        </p:txBody>
      </p:sp>
      <p:sp>
        <p:nvSpPr>
          <p:cNvPr id="7" name="text">
            <a:extLst>
              <a:ext uri="{FF2B5EF4-FFF2-40B4-BE49-F238E27FC236}">
                <ns2:creationId id="{2EC78FA9-7FDE-4304-82E2-0934AAE956A2}"/>
              </a:ext>
            </a:extLst>
          </p:cNvPr>
          <p:cNvSpPr>
            <a:spLocks noGrp="1"/>
          </p:cNvSpPr>
          <p:nvPr/>
        </p:nvSpPr>
        <p:spPr>
          <a:xfrm>
            <a:off x="4667250" y="1666875"/>
            <a:ext cx="40195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מטרות הפרויקט, דרישות ותנאי קבלה.</a:t>
            </a:r>
          </a:p>
        </p:txBody>
      </p:sp>
      <p:sp>
        <p:nvSpPr>
          <p:cNvPr id="8" name="text">
            <a:extLst>
              <a:ext uri="{FF2B5EF4-FFF2-40B4-BE49-F238E27FC236}">
                <ns2:creationId id="{7A3239EE-493B-4C9C-980C-8B148BBC24A3}"/>
              </a:ext>
            </a:extLst>
          </p:cNvPr>
          <p:cNvSpPr>
            <a:spLocks noGrp="1"/>
          </p:cNvSpPr>
          <p:nvPr/>
        </p:nvSpPr>
        <p:spPr>
          <a:xfrm>
            <a:off x="4667250" y="2390775"/>
            <a:ext cx="40195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ההחלטות: docs/decisions.md</a:t>
            </a:r>
          </a:p>
        </p:txBody>
      </p:sp>
      <p:sp>
        <p:nvSpPr>
          <p:cNvPr id="9" name="text">
            <a:extLst>
              <a:ext uri="{FF2B5EF4-FFF2-40B4-BE49-F238E27FC236}">
                <ns2:creationId id="{D7E776A0-9DD0-406B-AE87-2F4D3044F4FE}"/>
              </a:ext>
            </a:extLst>
          </p:cNvPr>
          <p:cNvSpPr>
            <a:spLocks noGrp="1"/>
          </p:cNvSpPr>
          <p:nvPr/>
        </p:nvSpPr>
        <p:spPr>
          <a:xfrm>
            <a:off x="4667250" y="2724150"/>
            <a:ext cx="40195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בחרנו, למה, ומה ההשלכות.</a:t>
            </a:r>
          </a:p>
        </p:txBody>
      </p:sp>
      <p:sp>
        <p:nvSpPr>
          <p:cNvPr id="10" name="text">
            <a:extLst>
              <a:ext uri="{FF2B5EF4-FFF2-40B4-BE49-F238E27FC236}">
                <ns2:creationId id="{097BBBF5-02CE-4A1C-B4E3-C3295C356DAD}"/>
              </a:ext>
            </a:extLst>
          </p:cNvPr>
          <p:cNvSpPr>
            <a:spLocks noGrp="1"/>
          </p:cNvSpPr>
          <p:nvPr/>
        </p:nvSpPr>
        <p:spPr>
          <a:xfrm>
            <a:off x="4667250" y="3448050"/>
            <a:ext cx="40195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המצב: docs/status.md</a:t>
            </a:r>
          </a:p>
        </p:txBody>
      </p:sp>
      <p:sp>
        <p:nvSpPr>
          <p:cNvPr id="11" name="text">
            <a:extLst>
              <a:ext uri="{FF2B5EF4-FFF2-40B4-BE49-F238E27FC236}">
                <ns2:creationId id="{8F02A714-948D-4C7F-8811-62F9D1E3C913}"/>
              </a:ext>
            </a:extLst>
          </p:cNvPr>
          <p:cNvSpPr>
            <a:spLocks noGrp="1"/>
          </p:cNvSpPr>
          <p:nvPr/>
        </p:nvSpPr>
        <p:spPr>
          <a:xfrm>
            <a:off x="4667250" y="3781425"/>
            <a:ext cx="40195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אומת, מה פתוח ומה הצעד הבא.</a:t>
            </a:r>
          </a:p>
        </p:txBody>
      </p:sp>
    </p:spTree>
    <p:extLst>
      <p:ext uri="{BB962C8B-B14F-4D97-AF65-F5344CB8AC3E}">
        <ns3:creationId val="953106519"/>
      </p:ext>
    </p:extLst>
  </p:cSld>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230E060F-1FF6-4761-8827-3BA257F0467E}"/>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הנחיות משותפות לשני הכלים</a:t>
            </a:r>
          </a:p>
        </p:txBody>
      </p:sp>
      <p:sp>
        <p:nvSpPr>
          <p:cNvPr id="2" name="text">
            <a:extLst>
              <a:ext uri="{FF2B5EF4-FFF2-40B4-BE49-F238E27FC236}">
                <ns2:creationId id="{6FD08982-B3DF-42FC-82F6-CE1D0974DF4D}"/>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D662C019-9A4E-4881-B0DD-6848484D626A}"/>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23</a:t>
            </a:r>
          </a:p>
        </p:txBody>
      </p:sp>
      <p:sp>
        <p:nvSpPr>
          <p:cNvPr id="4" name="text">
            <a:extLst>
              <a:ext uri="{FF2B5EF4-FFF2-40B4-BE49-F238E27FC236}">
                <ns2:creationId id="{2F3A0CF4-762B-4686-B2AC-BB78C479FE4A}"/>
              </a:ext>
            </a:extLst>
          </p:cNvPr>
          <p:cNvSpPr>
            <a:spLocks noGrp="1"/>
          </p:cNvSpPr>
          <p:nvPr/>
        </p:nvSpPr>
        <p:spPr>
          <a:xfrm>
            <a:off x="4714875" y="1190625"/>
            <a:ext cx="3952875" cy="3619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בקובץ AGENTS.md</a:t>
            </a:r>
          </a:p>
        </p:txBody>
      </p:sp>
      <p:sp>
        <p:nvSpPr>
          <p:cNvPr id="5" name="text">
            <a:extLst>
              <a:ext uri="{FF2B5EF4-FFF2-40B4-BE49-F238E27FC236}">
                <ns2:creationId id="{7C9E0880-086E-48DB-A418-9B9E27366517}"/>
              </a:ext>
            </a:extLst>
          </p:cNvPr>
          <p:cNvSpPr>
            <a:spLocks noGrp="1"/>
          </p:cNvSpPr>
          <p:nvPr/>
        </p:nvSpPr>
        <p:spPr>
          <a:xfrm>
            <a:off x="4714875" y="1724025"/>
            <a:ext cx="3952875" cy="2343150"/>
          </a:xfrm>
          <a:prstGeom prst="rect">
            <a:avLst/>
          </a:prstGeom>
          <a:noFill/>
          <a:ln w="0">
            <a:noFill/>
          </a:ln>
        </p:spPr>
        <p:txBody>
          <a:bodyPr wrap="square" lIns="0" tIns="0" rIns="0" bIns="0" anchor="t">
            <a:noAutofit/>
          </a:bodyPr>
          <a:lstStyle/>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קרא תחילה את האפיון ואת מצב הפרויקט.</a:t>
            </a:r>
          </a:p>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בצע שינוי התנהגותי אחד בכל פעם.</a:t>
            </a:r>
          </a:p>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הגדר תנאי קבלה וכתוב בדיקה לפני המימוש.</a:t>
            </a:r>
          </a:p>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הפעל את פקודות הבדיקה שב־README.</a:t>
            </a:r>
          </a:p>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בסיום עדכן את האפיון ואת מצב הפרויקט.</a:t>
            </a:r>
          </a:p>
          <a:p>
            <a:pPr algn="r" rtl="1">
              <a:defRPr sz="1575" b="0">
                <a:solidFill>
                  <a:srgbClr val="272525"/>
                </a:solidFill>
                <a:latin typeface="Inter"/>
                <a:ea typeface="Inter"/>
                <a:cs typeface="Inter"/>
              </a:defRPr>
            </a:pPr>
            <a:r>
              <a:rPr sz="1575" b="0" lang="he-IL">
                <a:solidFill>
                  <a:srgbClr val="272525"/>
                </a:solidFill>
                <a:latin typeface="Inter"/>
                <a:ea typeface="Inter"/>
                <a:cs typeface="Arial"/>
              </a:rPr>
              <a:t>דווח רק על בדיקות שהורצו בפועל.</a:t>
            </a:r>
          </a:p>
        </p:txBody>
      </p:sp>
      <p:sp>
        <p:nvSpPr>
          <p:cNvPr id="6" name="text">
            <a:extLst>
              <a:ext uri="{FF2B5EF4-FFF2-40B4-BE49-F238E27FC236}">
                <ns2:creationId id="{9DD55DA3-97D3-46FA-897D-760908280AC9}"/>
              </a:ext>
            </a:extLst>
          </p:cNvPr>
          <p:cNvSpPr>
            <a:spLocks noGrp="1"/>
          </p:cNvSpPr>
          <p:nvPr/>
        </p:nvSpPr>
        <p:spPr>
          <a:xfrm>
            <a:off x="476250" y="1190625"/>
            <a:ext cx="3429000" cy="3619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בקובץ CLAUDE.md</a:t>
            </a:r>
          </a:p>
        </p:txBody>
      </p:sp>
      <p:sp>
        <p:nvSpPr>
          <p:cNvPr id="7" name="">
            <a:extLst>
              <a:ext uri="{FF2B5EF4-FFF2-40B4-BE49-F238E27FC236}">
                <ns2:creationId id="{9DFC96C3-645F-4894-8324-974E7CA1A65E}"/>
              </a:ext>
            </a:extLst>
          </p:cNvPr>
          <p:cNvSpPr>
            <a:spLocks noGrp="1"/>
          </p:cNvSpPr>
          <p:nvPr/>
        </p:nvSpPr>
        <p:spPr>
          <a:xfrm>
            <a:off x="533400" y="1724025"/>
            <a:ext cx="3219450" cy="847725"/>
          </a:xfrm>
          <a:prstGeom prst="rect">
            <a:avLst/>
          </a:prstGeom>
          <a:solidFill>
            <a:srgbClr val="F7F5F8"/>
          </a:solidFill>
          <a:ln w="0">
            <a:noFill/>
          </a:ln>
        </p:spPr>
      </p:sp>
      <p:sp>
        <p:nvSpPr>
          <p:cNvPr id="8" name="code">
            <a:extLst>
              <a:ext uri="{FF2B5EF4-FFF2-40B4-BE49-F238E27FC236}">
                <ns2:creationId id="{3C775F7B-5E3E-48E1-9D94-AF59F9EC0DC0}"/>
              </a:ext>
            </a:extLst>
          </p:cNvPr>
          <p:cNvSpPr>
            <a:spLocks noGrp="1"/>
          </p:cNvSpPr>
          <p:nvPr/>
        </p:nvSpPr>
        <p:spPr>
          <a:xfrm>
            <a:off x="666750" y="1838325"/>
            <a:ext cx="2952750" cy="619125"/>
          </a:xfrm>
          <a:prstGeom prst="rect">
            <a:avLst/>
          </a:prstGeom>
          <a:noFill/>
          <a:ln w="0">
            <a:noFill/>
          </a:ln>
        </p:spPr>
        <p:txBody>
          <a:bodyPr wrap="square" lIns="0" tIns="0" rIns="0" bIns="0" anchor="t">
            <a:noAutofit/>
          </a:bodyPr>
          <a:lstStyle/>
          <a:p>
            <a:pPr algn="l" rtl="0">
              <a:defRPr sz="2175" b="0">
                <a:solidFill>
                  <a:srgbClr val="272525"/>
                </a:solidFill>
                <a:latin typeface="Arial"/>
                <a:ea typeface="Arial"/>
                <a:cs typeface="Arial"/>
              </a:defRPr>
            </a:pPr>
            <a:r>
              <a:rPr sz="2175" b="0" lang="en-US">
                <a:solidFill>
                  <a:srgbClr val="272525"/>
                </a:solidFill>
                <a:latin typeface="Arial"/>
                <a:ea typeface="Arial"/>
                <a:cs typeface="Arial"/>
              </a:rPr>
              <a:t>@AGENTS.md</a:t>
            </a:r>
          </a:p>
        </p:txBody>
      </p:sp>
      <p:sp>
        <p:nvSpPr>
          <p:cNvPr id="9" name="text">
            <a:extLst>
              <a:ext uri="{FF2B5EF4-FFF2-40B4-BE49-F238E27FC236}">
                <ns2:creationId id="{57758F8B-688A-41B0-B87E-28A54F92AD36}"/>
              </a:ext>
            </a:extLst>
          </p:cNvPr>
          <p:cNvSpPr>
            <a:spLocks noGrp="1"/>
          </p:cNvSpPr>
          <p:nvPr/>
        </p:nvSpPr>
        <p:spPr>
          <a:xfrm>
            <a:off x="476250" y="2924175"/>
            <a:ext cx="3429000" cy="10001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שומרים את הכללים במקום אחד.</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ב־Claude Code אפשר להשתמש</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בייבוא המפורש הזה.</a:t>
            </a:r>
          </a:p>
        </p:txBody>
      </p:sp>
      <p:sp>
        <p:nvSpPr>
          <p:cNvPr id="10" name="">
            <a:extLst>
              <a:ext uri="{FF2B5EF4-FFF2-40B4-BE49-F238E27FC236}">
                <ns2:creationId id="{FFF550BE-DDB1-4461-93AD-4740C788ED3E}"/>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AFDF3110-0B23-4D90-9EB5-5B5EADC0806A}"/>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כבר בשיחה הראשונה מבקשים מהסוכן לציין אילו קובצי הנחיות קרא.</a:t>
            </a:r>
          </a:p>
        </p:txBody>
      </p:sp>
    </p:spTree>
    <p:extLst>
      <p:ext uri="{BB962C8B-B14F-4D97-AF65-F5344CB8AC3E}">
        <ns3:creationId val="953106519"/>
      </p:ext>
    </p:extLst>
  </p:cSld>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3DBC387E-3741-4F54-938F-3C0851C95A48}"/>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פיתוח לפי אפיון: Spec-driven development</a:t>
            </a:r>
          </a:p>
        </p:txBody>
      </p:sp>
      <p:sp>
        <p:nvSpPr>
          <p:cNvPr id="2" name="text">
            <a:extLst>
              <a:ext uri="{FF2B5EF4-FFF2-40B4-BE49-F238E27FC236}">
                <ns2:creationId id="{E970BB14-C8DB-4D60-ADB4-3B134E42F92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1C965CB1-08B7-4828-8952-C5324B7BED3B}"/>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24</a:t>
            </a:r>
          </a:p>
        </p:txBody>
      </p:sp>
      <p:sp>
        <p:nvSpPr>
          <p:cNvPr id="4" name="text">
            <a:extLst>
              <a:ext uri="{FF2B5EF4-FFF2-40B4-BE49-F238E27FC236}">
                <ns2:creationId id="{53DE0C71-F1F8-4FAD-85F2-4D41AEC2F8E8}"/>
              </a:ext>
            </a:extLst>
          </p:cNvPr>
          <p:cNvSpPr>
            <a:spLocks noGrp="1"/>
          </p:cNvSpPr>
          <p:nvPr/>
        </p:nvSpPr>
        <p:spPr>
          <a:xfrm>
            <a:off x="457200" y="12573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לפני המימוש</a:t>
            </a:r>
          </a:p>
        </p:txBody>
      </p:sp>
      <p:sp>
        <p:nvSpPr>
          <p:cNvPr id="5" name="text">
            <a:extLst>
              <a:ext uri="{FF2B5EF4-FFF2-40B4-BE49-F238E27FC236}">
                <ns2:creationId id="{4A9B65E0-B52D-4BA1-A7BD-21D95D97E796}"/>
              </a:ext>
            </a:extLst>
          </p:cNvPr>
          <p:cNvSpPr>
            <a:spLocks noGrp="1"/>
          </p:cNvSpPr>
          <p:nvPr/>
        </p:nvSpPr>
        <p:spPr>
          <a:xfrm>
            <a:off x="457200" y="15906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מנסחים דרישה, גבולות ותנאי קבלה שאפשר לבדוק.</a:t>
            </a:r>
          </a:p>
        </p:txBody>
      </p:sp>
      <p:sp>
        <p:nvSpPr>
          <p:cNvPr id="6" name="text">
            <a:extLst>
              <a:ext uri="{FF2B5EF4-FFF2-40B4-BE49-F238E27FC236}">
                <ns2:creationId id="{D918C8D9-CFB1-4672-9CF3-75DFA2EE2101}"/>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בזמן הפיתוח</a:t>
            </a:r>
          </a:p>
        </p:txBody>
      </p:sp>
      <p:sp>
        <p:nvSpPr>
          <p:cNvPr id="7" name="text">
            <a:extLst>
              <a:ext uri="{FF2B5EF4-FFF2-40B4-BE49-F238E27FC236}">
                <ns2:creationId id="{EC5F0E91-23CC-4FF3-8F9B-EFC1AF2D0865}"/>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הסוכן מקשר בין הדרישה, הבדיקה והשינוי בקוד.</a:t>
            </a:r>
          </a:p>
        </p:txBody>
      </p:sp>
      <p:sp>
        <p:nvSpPr>
          <p:cNvPr id="8" name="text">
            <a:extLst>
              <a:ext uri="{FF2B5EF4-FFF2-40B4-BE49-F238E27FC236}">
                <ns2:creationId id="{795D2E2E-1D8D-4B7E-A7F9-7E5A777C8E7C}"/>
              </a:ext>
            </a:extLst>
          </p:cNvPr>
          <p:cNvSpPr>
            <a:spLocks noGrp="1"/>
          </p:cNvSpPr>
          <p:nvPr/>
        </p:nvSpPr>
        <p:spPr>
          <a:xfrm>
            <a:off x="457200" y="31813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אחרי הפיתוח</a:t>
            </a:r>
          </a:p>
        </p:txBody>
      </p:sp>
      <p:sp>
        <p:nvSpPr>
          <p:cNvPr id="9" name="text">
            <a:extLst>
              <a:ext uri="{FF2B5EF4-FFF2-40B4-BE49-F238E27FC236}">
                <ns2:creationId id="{280198C8-F0EB-459A-B4F6-4E25B7E15116}"/>
              </a:ext>
            </a:extLst>
          </p:cNvPr>
          <p:cNvSpPr>
            <a:spLocks noGrp="1"/>
          </p:cNvSpPr>
          <p:nvPr/>
        </p:nvSpPr>
        <p:spPr>
          <a:xfrm>
            <a:off x="457200" y="35147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בודקים תוצאות ומעדכנים את התיעוד ואת מצב המשימה.</a:t>
            </a:r>
          </a:p>
        </p:txBody>
      </p:sp>
      <p:sp>
        <p:nvSpPr>
          <p:cNvPr id="10" name="">
            <a:extLst>
              <a:ext uri="{FF2B5EF4-FFF2-40B4-BE49-F238E27FC236}">
                <ns2:creationId id="{BE034313-4538-4EA2-930C-171578486DFC}"/>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1A10A6DF-6CFD-4498-A435-2D3E758ACD70}"/>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האפיון הוא מקור האמת לדרישות. הקוד והבדיקות מראים מה קיים בפועל.</a:t>
            </a:r>
          </a:p>
        </p:txBody>
      </p:sp>
    </p:spTree>
    <p:extLst>
      <p:ext uri="{BB962C8B-B14F-4D97-AF65-F5344CB8AC3E}">
        <ns3:creationId val="953106519"/>
      </p:ext>
    </p:extLst>
  </p:cSld>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0" name="text">
            <a:extLst>
              <a:ext uri="{FF2B5EF4-FFF2-40B4-BE49-F238E27FC236}">
                <ns2:creationId id="{E5C91C6A-7BC9-40CF-AA8D-5F6A25D74E9A}"/>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דרישה שאפשר לבדוק</a:t>
            </a:r>
          </a:p>
        </p:txBody>
      </p:sp>
      <p:sp>
        <p:nvSpPr>
          <p:cNvPr id="2" name="text">
            <a:extLst>
              <a:ext uri="{FF2B5EF4-FFF2-40B4-BE49-F238E27FC236}">
                <ns2:creationId id="{A01278CE-08F2-4262-A504-A010095CC456}"/>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C8D8E415-A6CD-4ED6-82E9-CB03D3FDD266}"/>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25</a:t>
            </a:r>
          </a:p>
        </p:txBody>
      </p:sp>
      <p:sp>
        <p:nvSpPr>
          <p:cNvPr id="4" name="text">
            <a:extLst>
              <a:ext uri="{FF2B5EF4-FFF2-40B4-BE49-F238E27FC236}">
                <ns2:creationId id="{0778B95A-6A51-4ABB-B8D0-EF3130E19722}"/>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הבקשה הכללית</a:t>
            </a:r>
          </a:p>
        </p:txBody>
      </p:sp>
      <p:sp>
        <p:nvSpPr>
          <p:cNvPr id="5" name="text">
            <a:extLst>
              <a:ext uri="{FF2B5EF4-FFF2-40B4-BE49-F238E27FC236}">
                <ns2:creationId id="{F53BCB84-F025-46AC-B164-370C21F17B03}"/>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״הוסף הנחה״ אינה מגדירה למי מגיעה הנחה או כיצד מחשבים אותה.</a:t>
            </a:r>
          </a:p>
        </p:txBody>
      </p:sp>
      <p:sp>
        <p:nvSpPr>
          <p:cNvPr id="6" name="text">
            <a:extLst>
              <a:ext uri="{FF2B5EF4-FFF2-40B4-BE49-F238E27FC236}">
                <ns2:creationId id="{A929C596-E2AC-4865-97E7-D610912D8504}"/>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תנאי קבלה</a:t>
            </a:r>
          </a:p>
        </p:txBody>
      </p:sp>
      <p:sp>
        <p:nvSpPr>
          <p:cNvPr id="7" name="text">
            <a:extLst>
              <a:ext uri="{FF2B5EF4-FFF2-40B4-BE49-F238E27FC236}">
                <ns2:creationId id="{D58EC581-651E-4278-94F5-34D1BE62E357}"/>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לדוגמה בחנות: הנחה של 10% מסכום של 200 ₪, עד תקרה של 50 ₪.</a:t>
            </a:r>
          </a:p>
        </p:txBody>
      </p:sp>
      <p:sp>
        <p:nvSpPr>
          <p:cNvPr id="8" name="text">
            <a:extLst>
              <a:ext uri="{FF2B5EF4-FFF2-40B4-BE49-F238E27FC236}">
                <ns2:creationId id="{D5B323DB-FAE3-4F81-8243-26930DA48428}"/>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לפני המימוש</a:t>
            </a:r>
          </a:p>
        </p:txBody>
      </p:sp>
      <p:sp>
        <p:nvSpPr>
          <p:cNvPr id="9" name="text">
            <a:extLst>
              <a:ext uri="{FF2B5EF4-FFF2-40B4-BE49-F238E27FC236}">
                <ns2:creationId id="{2736AB92-A579-4BC2-895A-6B0955D0601C}"/>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מבהירים חריגים ושומרים את הכללים באפיון. אחר כך כותבים בדיקות.</a:t>
            </a:r>
          </a:p>
        </p:txBody>
      </p:sp>
    </p:spTree>
    <p:extLst>
      <p:ext uri="{BB962C8B-B14F-4D97-AF65-F5344CB8AC3E}">
        <ns3:creationId val="953106519"/>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0" name="text">
            <a:extLst>
              <a:ext uri="{FF2B5EF4-FFF2-40B4-BE49-F238E27FC236}">
                <ns2:creationId id="{F5BD9D88-7D17-4A34-8FF7-E23DEAD6457B}"/>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פיתוח עם בדיקות: TDD</a:t>
            </a:r>
          </a:p>
        </p:txBody>
      </p:sp>
      <p:sp>
        <p:nvSpPr>
          <p:cNvPr id="2" name="text">
            <a:extLst>
              <a:ext uri="{FF2B5EF4-FFF2-40B4-BE49-F238E27FC236}">
                <ns2:creationId id="{7B479902-8C4C-4744-B9DB-AC38E4B49679}"/>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894798BF-A239-4A8A-B46F-59FCC8A06AC3}"/>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26</a:t>
            </a:r>
          </a:p>
        </p:txBody>
      </p:sp>
      <p:sp>
        <p:nvSpPr>
          <p:cNvPr id="4" name="text">
            <a:extLst>
              <a:ext uri="{FF2B5EF4-FFF2-40B4-BE49-F238E27FC236}">
                <ns2:creationId id="{5E33C132-B0C9-4C96-A85A-9163D9D34ABF}"/>
              </a:ext>
            </a:extLst>
          </p:cNvPr>
          <p:cNvSpPr>
            <a:spLocks noGrp="1"/>
          </p:cNvSpPr>
          <p:nvPr/>
        </p:nvSpPr>
        <p:spPr>
          <a:xfrm>
            <a:off x="457200" y="128587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בדיקה נכשלת: Red</a:t>
            </a:r>
          </a:p>
        </p:txBody>
      </p:sp>
      <p:sp>
        <p:nvSpPr>
          <p:cNvPr id="5" name="text">
            <a:extLst>
              <a:ext uri="{FF2B5EF4-FFF2-40B4-BE49-F238E27FC236}">
                <ns2:creationId id="{DB6A8015-8C08-43A6-B3CB-273763C8616E}"/>
              </a:ext>
            </a:extLst>
          </p:cNvPr>
          <p:cNvSpPr>
            <a:spLocks noGrp="1"/>
          </p:cNvSpPr>
          <p:nvPr/>
        </p:nvSpPr>
        <p:spPr>
          <a:xfrm>
            <a:off x="457200" y="161925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כותבים בדיקה להתנהגות הרצויה ומריצים. מוודאים שהיא נכשלת מהסיבה הצפויה.</a:t>
            </a:r>
          </a:p>
        </p:txBody>
      </p:sp>
      <p:sp>
        <p:nvSpPr>
          <p:cNvPr id="6" name="text">
            <a:extLst>
              <a:ext uri="{FF2B5EF4-FFF2-40B4-BE49-F238E27FC236}">
                <ns2:creationId id="{5A902FAA-B0A4-458E-8B8D-C7BFB7FB9860}"/>
              </a:ext>
            </a:extLst>
          </p:cNvPr>
          <p:cNvSpPr>
            <a:spLocks noGrp="1"/>
          </p:cNvSpPr>
          <p:nvPr/>
        </p:nvSpPr>
        <p:spPr>
          <a:xfrm>
            <a:off x="457200" y="22860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מימוש עובד: Green</a:t>
            </a:r>
          </a:p>
        </p:txBody>
      </p:sp>
      <p:sp>
        <p:nvSpPr>
          <p:cNvPr id="7" name="text">
            <a:extLst>
              <a:ext uri="{FF2B5EF4-FFF2-40B4-BE49-F238E27FC236}">
                <ns2:creationId id="{2A482BC2-8E5B-4D79-874C-178438991BE1}"/>
              </a:ext>
            </a:extLst>
          </p:cNvPr>
          <p:cNvSpPr>
            <a:spLocks noGrp="1"/>
          </p:cNvSpPr>
          <p:nvPr/>
        </p:nvSpPr>
        <p:spPr>
          <a:xfrm>
            <a:off x="457200" y="26193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מממשים את הכלל הדרוש ומריצים שוב עד שהבדיקה עוברת.</a:t>
            </a:r>
          </a:p>
        </p:txBody>
      </p:sp>
      <p:sp>
        <p:nvSpPr>
          <p:cNvPr id="8" name="text">
            <a:extLst>
              <a:ext uri="{FF2B5EF4-FFF2-40B4-BE49-F238E27FC236}">
                <ns2:creationId id="{6A83DA60-49A7-400D-A0CA-1C59D648A8DE}"/>
              </a:ext>
            </a:extLst>
          </p:cNvPr>
          <p:cNvSpPr>
            <a:spLocks noGrp="1"/>
          </p:cNvSpPr>
          <p:nvPr/>
        </p:nvSpPr>
        <p:spPr>
          <a:xfrm>
            <a:off x="457200" y="32861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שיפור הקוד: Refactor</a:t>
            </a:r>
          </a:p>
        </p:txBody>
      </p:sp>
      <p:sp>
        <p:nvSpPr>
          <p:cNvPr id="9" name="text">
            <a:extLst>
              <a:ext uri="{FF2B5EF4-FFF2-40B4-BE49-F238E27FC236}">
                <ns2:creationId id="{C8EBAA95-1E07-409F-B171-F4C10D9C6178}"/>
              </a:ext>
            </a:extLst>
          </p:cNvPr>
          <p:cNvSpPr>
            <a:spLocks noGrp="1"/>
          </p:cNvSpPr>
          <p:nvPr/>
        </p:nvSpPr>
        <p:spPr>
          <a:xfrm>
            <a:off x="457200" y="36195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מסדרים את הקוד בלי לשנות את ההתנהגות ושוב מריצים את הבדיקות.</a:t>
            </a:r>
          </a:p>
        </p:txBody>
      </p:sp>
    </p:spTree>
    <p:extLst>
      <p:ext uri="{BB962C8B-B14F-4D97-AF65-F5344CB8AC3E}">
        <ns3:creationId val="953106519"/>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43EEBDB6-9A1E-45F4-8134-E78989CEEFC5}"/>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איך יודעים שהסוכן הצליח?</a:t>
            </a:r>
          </a:p>
        </p:txBody>
      </p:sp>
      <p:sp>
        <p:nvSpPr>
          <p:cNvPr id="2" name="text">
            <a:extLst>
              <a:ext uri="{FF2B5EF4-FFF2-40B4-BE49-F238E27FC236}">
                <ns2:creationId id="{AAAD024B-5742-4A1C-86FD-B4271973AE4B}"/>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898E9714-6606-4A3C-B509-D656EB364156}"/>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27</a:t>
            </a:r>
          </a:p>
        </p:txBody>
      </p:sp>
      <p:sp>
        <p:nvSpPr>
          <p:cNvPr id="4" name="text">
            <a:extLst>
              <a:ext uri="{FF2B5EF4-FFF2-40B4-BE49-F238E27FC236}">
                <ns2:creationId id="{5285750B-D13F-401B-86AC-D4FB27153B15}"/>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התנהגות צפויה</a:t>
            </a:r>
          </a:p>
        </p:txBody>
      </p:sp>
      <p:sp>
        <p:nvSpPr>
          <p:cNvPr id="5" name="text">
            <a:extLst>
              <a:ext uri="{FF2B5EF4-FFF2-40B4-BE49-F238E27FC236}">
                <ns2:creationId id="{CB53C9BF-587F-4B76-B780-CB5CAC5B9DFD}"/>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בודקים מקרה רגיל מול התוצאה שהאפיון דורש.</a:t>
            </a:r>
          </a:p>
        </p:txBody>
      </p:sp>
      <p:sp>
        <p:nvSpPr>
          <p:cNvPr id="6" name="text">
            <a:extLst>
              <a:ext uri="{FF2B5EF4-FFF2-40B4-BE49-F238E27FC236}">
                <ns2:creationId id="{5015D697-FD62-4725-AB84-2B207C6009C8}"/>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גבולות וכישלונות</a:t>
            </a:r>
          </a:p>
        </p:txBody>
      </p:sp>
      <p:sp>
        <p:nvSpPr>
          <p:cNvPr id="7" name="text">
            <a:extLst>
              <a:ext uri="{FF2B5EF4-FFF2-40B4-BE49-F238E27FC236}">
                <ns2:creationId id="{2BC47C80-B040-4965-9885-C4B9CC5EDE23}"/>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בודקים ערך גבולי, קלט שגוי ופעולה שאינה מורשית.</a:t>
            </a:r>
          </a:p>
        </p:txBody>
      </p:sp>
      <p:sp>
        <p:nvSpPr>
          <p:cNvPr id="8" name="text">
            <a:extLst>
              <a:ext uri="{FF2B5EF4-FFF2-40B4-BE49-F238E27FC236}">
                <ns2:creationId id="{FB086F83-7E4B-45A7-B7FD-66097F6787AD}"/>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ראיות לביצוע</a:t>
            </a:r>
          </a:p>
        </p:txBody>
      </p:sp>
      <p:sp>
        <p:nvSpPr>
          <p:cNvPr id="9" name="text">
            <a:extLst>
              <a:ext uri="{FF2B5EF4-FFF2-40B4-BE49-F238E27FC236}">
                <ns2:creationId id="{824F9985-4511-42EE-80B4-41100B7C7672}"/>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מבקשים את הפקודה שהורצה, תוצאתה והחלקים שעדיין לא אומתו.</a:t>
            </a:r>
          </a:p>
        </p:txBody>
      </p:sp>
      <p:sp>
        <p:nvSpPr>
          <p:cNvPr id="10" name="">
            <a:extLst>
              <a:ext uri="{FF2B5EF4-FFF2-40B4-BE49-F238E27FC236}">
                <ns2:creationId id="{2CEDA0DD-F746-4580-B1FB-BB8210DAE063}"/>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1FB0B12C-0B67-4167-A8FE-A5E28F8059C8}"/>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הודעת ״סיימתי״ של הסוכן צריכה להישען על בדיקה בפועל.</a:t>
            </a:r>
          </a:p>
        </p:txBody>
      </p:sp>
    </p:spTree>
    <p:extLst>
      <p:ext uri="{BB962C8B-B14F-4D97-AF65-F5344CB8AC3E}">
        <ns3:creationId val="953106519"/>
      </p:ext>
    </p:extLst>
  </p:cSld>
</p:sld>
</file>

<file path=ppt/slides/slide2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0F2B2169-1B78-458D-872B-176897123AB7}"/>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לפיתוח בשיטת TDD: חלק א׳</a:t>
            </a:r>
          </a:p>
        </p:txBody>
      </p:sp>
      <p:sp>
        <p:nvSpPr>
          <p:cNvPr id="2" name="text">
            <a:extLst>
              <a:ext uri="{FF2B5EF4-FFF2-40B4-BE49-F238E27FC236}">
                <ns2:creationId id="{E9AC4D3A-3FCB-4277-B661-67E19F19073D}"/>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67017A3D-CD2F-4E0B-909F-09334ADE7833}"/>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28</a:t>
            </a:r>
          </a:p>
        </p:txBody>
      </p:sp>
      <p:sp>
        <p:nvSpPr>
          <p:cNvPr id="4" name="text">
            <a:extLst>
              <a:ext uri="{FF2B5EF4-FFF2-40B4-BE49-F238E27FC236}">
                <ns2:creationId id="{5B932183-FA26-43BC-9541-CBB37C23CF84}"/>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פעל כסוכן פיתוח בפרויקט הנוכחי והשלם את המשימה הבאה: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השינוי המבוקש: [תיאור ההתנהגות הרצויה].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תנאי הקבלה: [תוצאה צפויה, גבולות ומקרי כישלון].</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קרא את הנחיות הסוכן, את README.md ואת docs/spec.md.</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עיין גם ב־docs/decisions.md וב־docs/status.md ובקוד הרלוונטי.</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התיעוד הוא מקור האמת לדרישות, ולא היסטוריית הצ׳אט.</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אם הדרישה החדשה סותרת את האפיון, הצג את הסתירה וברר אותה.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תעד החלטה שאושרה ועדכן את האפיון לפני המימוש.</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סכם את ההתנהגות שיש להוסיף ואת הדרך שבה תבדוק אותה.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חלק את המשימה לשינויים קטנים שאפשר לבדוק בנפרד.</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שמור על מוסכמות הפרויקט ועל שינויים קיימים שאינם חלק מהמשימה.</a:t>
            </a:r>
          </a:p>
        </p:txBody>
      </p:sp>
    </p:spTree>
    <p:extLst>
      <p:ext uri="{BB962C8B-B14F-4D97-AF65-F5344CB8AC3E}">
        <ns3:creationId val="953106519"/>
      </p:ext>
    </p:extLst>
  </p:cSld>
</p:sld>
</file>

<file path=ppt/slides/slide2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91921214-AFF0-44FB-8406-D2FE212D67A9}"/>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לפיתוח בשיטת TDD: חלק ב׳</a:t>
            </a:r>
          </a:p>
        </p:txBody>
      </p:sp>
      <p:sp>
        <p:nvSpPr>
          <p:cNvPr id="2" name="text">
            <a:extLst>
              <a:ext uri="{FF2B5EF4-FFF2-40B4-BE49-F238E27FC236}">
                <ns2:creationId id="{C92A91C5-88BE-4C34-9616-C8E60BF889C6}"/>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B7DA1E7C-05D8-4CDE-A39A-A9E053376696}"/>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29</a:t>
            </a:r>
          </a:p>
        </p:txBody>
      </p:sp>
      <p:sp>
        <p:nvSpPr>
          <p:cNvPr id="4" name="text">
            <a:extLst>
              <a:ext uri="{FF2B5EF4-FFF2-40B4-BE49-F238E27FC236}">
                <ns2:creationId id="{EE01A264-4976-4D11-89D5-FD8C311EF66D}"/>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לכל שינוי התנהגותי, כתוב תחילה בדיקה שנגזרת מתנאי הקבלה.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הרץ אותה וודא שהיא נכשלת בגלל ההתנהגות החסרה.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ממש את השינוי הדרוש, הרץ שוב וודא שהבדיקה עוברת.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שפר את הקוד והריץ בדיקות נוספות שעלולות להיות מושפעות.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אל תמחק ואל תחליש בדיקה כדי להציג הצלחה.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הפעל תת־סוכן לסקירה עצמאית אם אפשר להגדיר לו משימה מועילה.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העבר לו את האפיון, הקבצים הרלוונטיים וגבולות הסקירה.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בדוק את הממצאים ואמת את התוצאה לאחר שילוב התיקונים.</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עדכן את מסמכי הפרויקט כך שישקפו את המצב בסיום.</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החזר סיכום: שינויים, פקודות ותוצאות בדיקה, פערים והצעד הבא.</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אם בדיקה לא הורצה, ציין זאת ואת הסיבה במפורש.</a:t>
            </a:r>
          </a:p>
        </p:txBody>
      </p:sp>
    </p:spTree>
    <p:extLst>
      <p:ext uri="{BB962C8B-B14F-4D97-AF65-F5344CB8AC3E}">
        <ns3:creationId val="953106519"/>
      </p:ext>
    </p:extLst>
  </p:cSld>
</p:sld>
</file>

<file path=ppt/slides/slide30.xml><?xml version="1.0" encoding="utf-8"?>
<p:sld xmlns:a="http://schemas.openxmlformats.org/drawingml/2006/main" xmlns:ns2="http://schemas.openxmlformats.org/officeDocument/2006/relationships" xmlns:ns3="http://schemas.microsoft.com/office/drawing/2014/main"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5" name=""/>
          <p:cNvPicPr>
            <a:picLocks noChangeAspect="1"/>
          </p:cNvPicPr>
          <p:nvPr/>
        </p:nvPicPr>
        <p:blipFill>
          <a:blip ns2:embed="R222c7268082d4c94"/>
          <a:srcRect l="0" t="0" r="0" b="0"/>
          <a:stretch>
            <a:fillRect l="0" t="0" r="0" b="0"/>
          </a:stretch>
        </p:blipFill>
        <p:spPr>
          <a:xfrm>
            <a:off x="5715000" y="0"/>
            <a:ext cx="3429000" cy="5143500"/>
          </a:xfrm>
          <a:prstGeom prst="rect">
            <a:avLst/>
          </a:prstGeom>
        </p:spPr>
      </p:pic>
      <p:sp>
        <p:nvSpPr>
          <p:cNvPr id="2" name="text">
            <a:extLst>
              <a:ext uri="{FF2B5EF4-FFF2-40B4-BE49-F238E27FC236}">
                <ns3:creationId id="{1739354F-2C3C-4904-8BCF-4C98DDCE6121}"/>
              </a:ext>
            </a:extLst>
          </p:cNvPr>
          <p:cNvSpPr>
            <a:spLocks noGrp="1"/>
          </p:cNvSpPr>
          <p:nvPr/>
        </p:nvSpPr>
        <p:spPr>
          <a:xfrm>
            <a:off x="571500" y="1666875"/>
            <a:ext cx="4572000" cy="361950"/>
          </a:xfrm>
          <a:prstGeom prst="rect">
            <a:avLst/>
          </a:prstGeom>
          <a:noFill/>
          <a:ln w="0">
            <a:noFill/>
          </a:ln>
        </p:spPr>
        <p:txBody>
          <a:bodyPr wrap="square" lIns="0" tIns="0" rIns="0" bIns="0" anchor="t">
            <a:noAutofit/>
          </a:bodyPr>
          <a:lstStyle/>
          <a:p>
            <a:pPr algn="ctr" rtl="1">
              <a:defRPr sz="2100" b="1">
                <a:solidFill>
                  <a:srgbClr val="D75BE2"/>
                </a:solidFill>
                <a:latin typeface="Inter"/>
                <a:ea typeface="Inter"/>
                <a:cs typeface="Inter"/>
              </a:defRPr>
            </a:pPr>
            <a:r>
              <a:rPr sz="2100" b="1" lang="he-IL">
                <a:solidFill>
                  <a:srgbClr val="D75BE2"/>
                </a:solidFill>
                <a:latin typeface="Inter"/>
                <a:ea typeface="Inter"/>
                <a:cs typeface="Arial"/>
              </a:rPr>
              <a:t>פרק ג׳</a:t>
            </a:r>
          </a:p>
        </p:txBody>
      </p:sp>
      <p:sp>
        <p:nvSpPr>
          <p:cNvPr id="3" name="text">
            <a:extLst>
              <a:ext uri="{FF2B5EF4-FFF2-40B4-BE49-F238E27FC236}">
                <ns3:creationId id="{D38F703E-84EE-43FD-B3C4-1E372068F05F}"/>
              </a:ext>
            </a:extLst>
          </p:cNvPr>
          <p:cNvSpPr>
            <a:spLocks noGrp="1"/>
          </p:cNvSpPr>
          <p:nvPr/>
        </p:nvSpPr>
        <p:spPr>
          <a:xfrm>
            <a:off x="476250" y="2143125"/>
            <a:ext cx="4762500" cy="952500"/>
          </a:xfrm>
          <a:prstGeom prst="rect">
            <a:avLst/>
          </a:prstGeom>
          <a:noFill/>
          <a:ln w="0">
            <a:noFill/>
          </a:ln>
        </p:spPr>
        <p:txBody>
          <a:bodyPr wrap="square" lIns="0" tIns="0" rIns="0" bIns="0" anchor="t">
            <a:noAutofit/>
          </a:bodyPr>
          <a:lstStyle/>
          <a:p>
            <a:pPr algn="ctr" rtl="1">
              <a:defRPr sz="3300" b="1">
                <a:solidFill>
                  <a:srgbClr val="D75BE2"/>
                </a:solidFill>
                <a:latin typeface="Inter"/>
                <a:ea typeface="Inter"/>
                <a:cs typeface="Inter"/>
              </a:defRPr>
            </a:pPr>
            <a:r>
              <a:rPr sz="3300" b="1" lang="he-IL">
                <a:solidFill>
                  <a:srgbClr val="D75BE2"/>
                </a:solidFill>
                <a:latin typeface="Inter"/>
                <a:ea typeface="Inter"/>
                <a:cs typeface="Arial"/>
              </a:rPr>
              <a:t>עבודה עם תת־סוכנים</a:t>
            </a:r>
          </a:p>
        </p:txBody>
      </p:sp>
      <p:sp>
        <p:nvSpPr>
          <p:cNvPr id="4" name="text">
            <a:extLst>
              <a:ext uri="{FF2B5EF4-FFF2-40B4-BE49-F238E27FC236}">
                <ns3:creationId id="{2F9F5484-2A27-4AB1-87DF-47C0A71104C7}"/>
              </a:ext>
            </a:extLst>
          </p:cNvPr>
          <p:cNvSpPr>
            <a:spLocks noGrp="1"/>
          </p:cNvSpPr>
          <p:nvPr/>
        </p:nvSpPr>
        <p:spPr>
          <a:xfrm>
            <a:off x="619125" y="3286125"/>
            <a:ext cx="4476750" cy="904875"/>
          </a:xfrm>
          <a:prstGeom prst="rect">
            <a:avLst/>
          </a:prstGeom>
          <a:noFill/>
          <a:ln w="0">
            <a:noFill/>
          </a:ln>
        </p:spPr>
        <p:txBody>
          <a:bodyPr wrap="square" lIns="0" tIns="0" rIns="0" bIns="0" anchor="t">
            <a:noAutofit/>
          </a:bodyPr>
          <a:lstStyle/>
          <a:p>
            <a:pPr algn="ctr" rtl="1">
              <a:defRPr sz="1800" b="0">
                <a:solidFill>
                  <a:srgbClr val="272525"/>
                </a:solidFill>
                <a:latin typeface="Inter"/>
                <a:ea typeface="Inter"/>
                <a:cs typeface="Inter"/>
              </a:defRPr>
            </a:pPr>
            <a:r>
              <a:rPr sz="1800" b="0" lang="he-IL">
                <a:solidFill>
                  <a:srgbClr val="272525"/>
                </a:solidFill>
                <a:latin typeface="Inter"/>
                <a:ea typeface="Inter"/>
                <a:cs typeface="Arial"/>
              </a:rPr>
              <a:t>הגדרת משימות, כלים ובדיקת התוצרים</a:t>
            </a:r>
          </a:p>
        </p:txBody>
      </p:sp>
    </p:spTree>
    <p:extLst>
      <p:ext uri="{BB962C8B-B14F-4D97-AF65-F5344CB8AC3E}">
        <ns4:creationId val="953106519"/>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68CDC4B6-51E4-4972-86BD-1CAB6E3DB8C0}"/>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מהו תת־סוכן?</a:t>
            </a:r>
          </a:p>
        </p:txBody>
      </p:sp>
      <p:sp>
        <p:nvSpPr>
          <p:cNvPr id="2" name="text">
            <a:extLst>
              <a:ext uri="{FF2B5EF4-FFF2-40B4-BE49-F238E27FC236}">
                <ns2:creationId id="{CC83A7BA-11D7-4DB0-8B61-59E78422F1AA}"/>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C82B953E-83F8-44C9-9856-2D24B7A79482}"/>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31</a:t>
            </a:r>
          </a:p>
        </p:txBody>
      </p:sp>
      <p:pic>
        <p:nvPicPr>
          <p:cNvPr id="14" name=""/>
          <p:cNvPicPr>
            <a:picLocks noChangeAspect="1"/>
          </p:cNvPicPr>
          <p:nvPr/>
        </p:nvPicPr>
        <p:blipFill>
          <a:blip ns3:embed="Rb8d1f1f35ef142de"/>
          <a:stretch/>
        </p:blipFill>
        <p:spPr>
          <a:xfrm>
            <a:off x="466725" y="1466850"/>
            <a:ext cx="2600325" cy="2600325"/>
          </a:xfrm>
          <a:prstGeom prst="rect">
            <a:avLst/>
          </a:prstGeom>
        </p:spPr>
      </p:pic>
      <p:sp>
        <p:nvSpPr>
          <p:cNvPr id="5" name="text">
            <a:extLst>
              <a:ext uri="{FF2B5EF4-FFF2-40B4-BE49-F238E27FC236}">
                <ns2:creationId id="{406022B0-271F-4955-B3B1-B8747680D8CA}"/>
              </a:ext>
            </a:extLst>
          </p:cNvPr>
          <p:cNvSpPr>
            <a:spLocks noGrp="1"/>
          </p:cNvSpPr>
          <p:nvPr/>
        </p:nvSpPr>
        <p:spPr>
          <a:xfrm>
            <a:off x="3667125" y="1276350"/>
            <a:ext cx="50006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הסוכן הראשי</a:t>
            </a:r>
          </a:p>
        </p:txBody>
      </p:sp>
      <p:sp>
        <p:nvSpPr>
          <p:cNvPr id="6" name="text">
            <a:extLst>
              <a:ext uri="{FF2B5EF4-FFF2-40B4-BE49-F238E27FC236}">
                <ns2:creationId id="{0748EEF4-2B6F-4B15-A963-83721A117014}"/>
              </a:ext>
            </a:extLst>
          </p:cNvPr>
          <p:cNvSpPr>
            <a:spLocks noGrp="1"/>
          </p:cNvSpPr>
          <p:nvPr/>
        </p:nvSpPr>
        <p:spPr>
          <a:xfrm>
            <a:off x="3667125" y="1609725"/>
            <a:ext cx="500062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מבין את היעד, מחלק עבודה ובודק את התוצרים לפני שילובם.</a:t>
            </a:r>
          </a:p>
        </p:txBody>
      </p:sp>
      <p:sp>
        <p:nvSpPr>
          <p:cNvPr id="7" name="text">
            <a:extLst>
              <a:ext uri="{FF2B5EF4-FFF2-40B4-BE49-F238E27FC236}">
                <ns2:creationId id="{10BD93AE-9E8E-4C2F-ABFA-95CE4D222DA4}"/>
              </a:ext>
            </a:extLst>
          </p:cNvPr>
          <p:cNvSpPr>
            <a:spLocks noGrp="1"/>
          </p:cNvSpPr>
          <p:nvPr/>
        </p:nvSpPr>
        <p:spPr>
          <a:xfrm>
            <a:off x="3667125" y="2324100"/>
            <a:ext cx="50006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משימה מצומצמת</a:t>
            </a:r>
          </a:p>
        </p:txBody>
      </p:sp>
      <p:sp>
        <p:nvSpPr>
          <p:cNvPr id="8" name="text">
            <a:extLst>
              <a:ext uri="{FF2B5EF4-FFF2-40B4-BE49-F238E27FC236}">
                <ns2:creationId id="{B23A3541-EE3A-4B7E-A528-B7F9D10BB822}"/>
              </a:ext>
            </a:extLst>
          </p:cNvPr>
          <p:cNvSpPr>
            <a:spLocks noGrp="1"/>
          </p:cNvSpPr>
          <p:nvPr/>
        </p:nvSpPr>
        <p:spPr>
          <a:xfrm>
            <a:off x="3667125" y="2657475"/>
            <a:ext cx="500062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למשל: סקירת השינוי מול האפיון, בלי לשנות קוד.</a:t>
            </a:r>
          </a:p>
        </p:txBody>
      </p:sp>
      <p:sp>
        <p:nvSpPr>
          <p:cNvPr id="9" name="text">
            <a:extLst>
              <a:ext uri="{FF2B5EF4-FFF2-40B4-BE49-F238E27FC236}">
                <ns2:creationId id="{BDE85D03-9C45-423A-82C3-FBC7DD6B9A1F}"/>
              </a:ext>
            </a:extLst>
          </p:cNvPr>
          <p:cNvSpPr>
            <a:spLocks noGrp="1"/>
          </p:cNvSpPr>
          <p:nvPr/>
        </p:nvSpPr>
        <p:spPr>
          <a:xfrm>
            <a:off x="3667125" y="3371850"/>
            <a:ext cx="5000625"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הגדרה מפורשת</a:t>
            </a:r>
          </a:p>
        </p:txBody>
      </p:sp>
      <p:sp>
        <p:nvSpPr>
          <p:cNvPr id="10" name="text">
            <a:extLst>
              <a:ext uri="{FF2B5EF4-FFF2-40B4-BE49-F238E27FC236}">
                <ns2:creationId id="{5F02DB1D-6CF1-42BB-91A9-E9B295B5F772}"/>
              </a:ext>
            </a:extLst>
          </p:cNvPr>
          <p:cNvSpPr>
            <a:spLocks noGrp="1"/>
          </p:cNvSpPr>
          <p:nvPr/>
        </p:nvSpPr>
        <p:spPr>
          <a:xfrm>
            <a:off x="3667125" y="3705225"/>
            <a:ext cx="5000625"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תפקיד, מקורות, כלים מותרים ופורמט התשובה.</a:t>
            </a:r>
          </a:p>
        </p:txBody>
      </p:sp>
    </p:spTree>
    <p:extLst>
      <p:ext uri="{BB962C8B-B14F-4D97-AF65-F5344CB8AC3E}">
        <ns4:creationId val="95310651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9" name="text">
            <a:extLst>
              <a:ext uri="{FF2B5EF4-FFF2-40B4-BE49-F238E27FC236}">
                <ns2:creationId id="{27CC8345-E058-40B8-B50B-392D38E1B8BC}"/>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הגדרת תת־סוכן ב־Claude Code</a:t>
            </a:r>
          </a:p>
        </p:txBody>
      </p:sp>
      <p:sp>
        <p:nvSpPr>
          <p:cNvPr id="2" name="text">
            <a:extLst>
              <a:ext uri="{FF2B5EF4-FFF2-40B4-BE49-F238E27FC236}">
                <ns2:creationId id="{A3566F0F-FC5A-4760-84C8-9DDED34AE009}"/>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D493FA76-E2FC-466D-8FCE-AC413CD67B20}"/>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32</a:t>
            </a:r>
          </a:p>
        </p:txBody>
      </p:sp>
      <p:sp>
        <p:nvSpPr>
          <p:cNvPr id="4" name="text">
            <a:extLst>
              <a:ext uri="{FF2B5EF4-FFF2-40B4-BE49-F238E27FC236}">
                <ns2:creationId id="{54567071-A729-455B-A51E-4AA51F9E32EA}"/>
              </a:ext>
            </a:extLst>
          </p:cNvPr>
          <p:cNvSpPr>
            <a:spLocks noGrp="1"/>
          </p:cNvSpPr>
          <p:nvPr/>
        </p:nvSpPr>
        <p:spPr>
          <a:xfrm>
            <a:off x="457200" y="1076325"/>
            <a:ext cx="8229600" cy="314325"/>
          </a:xfrm>
          <a:prstGeom prst="rect">
            <a:avLst/>
          </a:prstGeom>
          <a:noFill/>
          <a:ln w="0">
            <a:noFill/>
          </a:ln>
        </p:spPr>
        <p:txBody>
          <a:bodyPr wrap="square" lIns="0" tIns="0" rIns="0" bIns="0" anchor="t">
            <a:noAutofit/>
          </a:bodyPr>
          <a:lstStyle/>
          <a:p>
            <a:pPr algn="r" rtl="1">
              <a:defRPr sz="1725" b="1">
                <a:solidFill>
                  <a:srgbClr val="272525"/>
                </a:solidFill>
                <a:latin typeface="Inter"/>
                <a:ea typeface="Inter"/>
                <a:cs typeface="Inter"/>
              </a:defRPr>
            </a:pPr>
            <a:r>
              <a:rPr sz="1725" b="1" lang="he-IL">
                <a:solidFill>
                  <a:srgbClr val="272525"/>
                </a:solidFill>
                <a:latin typeface="Inter"/>
                <a:ea typeface="Inter"/>
                <a:cs typeface="Arial"/>
              </a:rPr>
              <a:t>בקובץ ‎.claude/agents/spec-reviewer.md</a:t>
            </a:r>
          </a:p>
        </p:txBody>
      </p:sp>
      <p:sp>
        <p:nvSpPr>
          <p:cNvPr id="5" name="">
            <a:extLst>
              <a:ext uri="{FF2B5EF4-FFF2-40B4-BE49-F238E27FC236}">
                <ns2:creationId id="{004AA0E0-3790-423E-9FE4-BA3EFC8CA76D}"/>
              </a:ext>
            </a:extLst>
          </p:cNvPr>
          <p:cNvSpPr>
            <a:spLocks noGrp="1"/>
          </p:cNvSpPr>
          <p:nvPr/>
        </p:nvSpPr>
        <p:spPr>
          <a:xfrm>
            <a:off x="495300" y="1543050"/>
            <a:ext cx="5457825" cy="2819400"/>
          </a:xfrm>
          <a:prstGeom prst="rect">
            <a:avLst/>
          </a:prstGeom>
          <a:solidFill>
            <a:srgbClr val="F7F5F8"/>
          </a:solidFill>
          <a:ln w="0">
            <a:noFill/>
          </a:ln>
        </p:spPr>
      </p:sp>
      <p:sp>
        <p:nvSpPr>
          <p:cNvPr id="6" name="code">
            <a:extLst>
              <a:ext uri="{FF2B5EF4-FFF2-40B4-BE49-F238E27FC236}">
                <ns2:creationId id="{721256AF-23ED-4975-9399-45976AB7768F}"/>
              </a:ext>
            </a:extLst>
          </p:cNvPr>
          <p:cNvSpPr>
            <a:spLocks noGrp="1"/>
          </p:cNvSpPr>
          <p:nvPr/>
        </p:nvSpPr>
        <p:spPr>
          <a:xfrm>
            <a:off x="628650" y="1657350"/>
            <a:ext cx="5191125" cy="2590800"/>
          </a:xfrm>
          <a:prstGeom prst="rect">
            <a:avLst/>
          </a:prstGeom>
          <a:noFill/>
          <a:ln w="0">
            <a:noFill/>
          </a:ln>
        </p:spPr>
        <p:txBody>
          <a:bodyPr wrap="square" lIns="0" tIns="0" rIns="0" bIns="0" anchor="t">
            <a:noAutofit/>
          </a:bodyPr>
          <a:lstStyle/>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name: spec-reviewer</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description: Review changes against the spec</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tools: Read, Grep, Glob</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Read docs/spec.md and relevant code.</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Check requirements and missing tests.</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Do not edit files.</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Return findings with file references.</a:t>
            </a:r>
          </a:p>
        </p:txBody>
      </p:sp>
      <p:sp>
        <p:nvSpPr>
          <p:cNvPr id="7" name="text">
            <a:extLst>
              <a:ext uri="{FF2B5EF4-FFF2-40B4-BE49-F238E27FC236}">
                <ns2:creationId id="{CA4661CB-8636-4AE5-AEAC-7DA4BB8DDC20}"/>
              </a:ext>
            </a:extLst>
          </p:cNvPr>
          <p:cNvSpPr>
            <a:spLocks noGrp="1"/>
          </p:cNvSpPr>
          <p:nvPr/>
        </p:nvSpPr>
        <p:spPr>
          <a:xfrm>
            <a:off x="6267450" y="1714500"/>
            <a:ext cx="2381250" cy="190500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השם מזהה את הסוכן.</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התיאור מסביר מתי להפעיל אותו.</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הכלים מגבילים את היכולות.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ההוראות מגדירות את התוצר.</a:t>
            </a:r>
          </a:p>
        </p:txBody>
      </p:sp>
      <p:sp>
        <p:nvSpPr>
          <p:cNvPr id="8" name="text">
            <a:extLst>
              <a:ext uri="{FF2B5EF4-FFF2-40B4-BE49-F238E27FC236}">
                <ns2:creationId id="{F55BA815-CC83-496F-8038-ABF8419CBC3F}"/>
              </a:ext>
            </a:extLst>
          </p:cNvPr>
          <p:cNvSpPr>
            <a:spLocks noGrp="1"/>
          </p:cNvSpPr>
          <p:nvPr/>
        </p:nvSpPr>
        <p:spPr>
          <a:xfrm>
            <a:off x="6172200" y="3819525"/>
            <a:ext cx="2505075" cy="666750"/>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בקשה: הפעל את הסוכן</a:t>
            </a:r>
          </a:p>
          <a:p>
            <a:pPr algn="r" rtl="0">
              <a:defRPr sz="1575" b="1">
                <a:solidFill>
                  <a:srgbClr val="272525"/>
                </a:solidFill>
                <a:latin typeface="Inter"/>
                <a:ea typeface="Inter"/>
                <a:cs typeface="Inter"/>
              </a:defRPr>
            </a:pPr>
            <a:r>
              <a:rPr sz="1575" b="1" lang="en-US">
                <a:solidFill>
                  <a:srgbClr val="272525"/>
                </a:solidFill>
                <a:latin typeface="Inter"/>
                <a:ea typeface="Inter"/>
                <a:cs typeface="Arial"/>
              </a:rPr>
              <a:t>spec-reviewer</a:t>
            </a:r>
          </a:p>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לסקירת השינוי מול האפיון.</a:t>
            </a:r>
          </a:p>
        </p:txBody>
      </p:sp>
    </p:spTree>
    <p:extLst>
      <p:ext uri="{BB962C8B-B14F-4D97-AF65-F5344CB8AC3E}">
        <ns3:creationId val="953106519"/>
      </p:ext>
    </p:extLst>
  </p:cSld>
</p:sld>
</file>

<file path=ppt/slides/slide3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8" name="text">
            <a:extLst>
              <a:ext uri="{FF2B5EF4-FFF2-40B4-BE49-F238E27FC236}">
                <ns2:creationId id="{38E96959-638B-4A2E-89B0-64EC9EF21CB3}"/>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הגדרת תת־סוכן ב־Codex</a:t>
            </a:r>
          </a:p>
        </p:txBody>
      </p:sp>
      <p:sp>
        <p:nvSpPr>
          <p:cNvPr id="2" name="text">
            <a:extLst>
              <a:ext uri="{FF2B5EF4-FFF2-40B4-BE49-F238E27FC236}">
                <ns2:creationId id="{0CA75BA7-E5AD-47D3-90DB-A199ABB0C22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C04069EC-DE92-43B7-8BA2-D7954BE157AF}"/>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33</a:t>
            </a:r>
          </a:p>
        </p:txBody>
      </p:sp>
      <p:sp>
        <p:nvSpPr>
          <p:cNvPr id="4" name="text">
            <a:extLst>
              <a:ext uri="{FF2B5EF4-FFF2-40B4-BE49-F238E27FC236}">
                <ns2:creationId id="{7CC1DFD2-C838-46E6-83D2-7CB75C23E4DA}"/>
              </a:ext>
            </a:extLst>
          </p:cNvPr>
          <p:cNvSpPr>
            <a:spLocks noGrp="1"/>
          </p:cNvSpPr>
          <p:nvPr/>
        </p:nvSpPr>
        <p:spPr>
          <a:xfrm>
            <a:off x="457200" y="1076325"/>
            <a:ext cx="8229600" cy="314325"/>
          </a:xfrm>
          <a:prstGeom prst="rect">
            <a:avLst/>
          </a:prstGeom>
          <a:noFill/>
          <a:ln w="0">
            <a:noFill/>
          </a:ln>
        </p:spPr>
        <p:txBody>
          <a:bodyPr wrap="square" lIns="0" tIns="0" rIns="0" bIns="0" anchor="t">
            <a:noAutofit/>
          </a:bodyPr>
          <a:lstStyle/>
          <a:p>
            <a:pPr algn="r" rtl="1">
              <a:defRPr sz="1725" b="1">
                <a:solidFill>
                  <a:srgbClr val="272525"/>
                </a:solidFill>
                <a:latin typeface="Inter"/>
                <a:ea typeface="Inter"/>
                <a:cs typeface="Inter"/>
              </a:defRPr>
            </a:pPr>
            <a:r>
              <a:rPr sz="1725" b="1" lang="he-IL">
                <a:solidFill>
                  <a:srgbClr val="272525"/>
                </a:solidFill>
                <a:latin typeface="Inter"/>
                <a:ea typeface="Inter"/>
                <a:cs typeface="Arial"/>
              </a:rPr>
              <a:t>בקובץ ‎.codex/agents/spec-reviewer.toml</a:t>
            </a:r>
          </a:p>
        </p:txBody>
      </p:sp>
      <p:sp>
        <p:nvSpPr>
          <p:cNvPr id="5" name="">
            <a:extLst>
              <a:ext uri="{FF2B5EF4-FFF2-40B4-BE49-F238E27FC236}">
                <ns2:creationId id="{10FE1CBE-C9BF-4972-93A4-79A0C0859FEA}"/>
              </a:ext>
            </a:extLst>
          </p:cNvPr>
          <p:cNvSpPr>
            <a:spLocks noGrp="1"/>
          </p:cNvSpPr>
          <p:nvPr/>
        </p:nvSpPr>
        <p:spPr>
          <a:xfrm>
            <a:off x="495300" y="1543050"/>
            <a:ext cx="5457825" cy="2819400"/>
          </a:xfrm>
          <a:prstGeom prst="rect">
            <a:avLst/>
          </a:prstGeom>
          <a:solidFill>
            <a:srgbClr val="F7F5F8"/>
          </a:solidFill>
          <a:ln w="0">
            <a:noFill/>
          </a:ln>
        </p:spPr>
      </p:sp>
      <p:sp>
        <p:nvSpPr>
          <p:cNvPr id="6" name="code">
            <a:extLst>
              <a:ext uri="{FF2B5EF4-FFF2-40B4-BE49-F238E27FC236}">
                <ns2:creationId id="{930521B2-DCFB-42F5-9295-9A97FCF2B3B3}"/>
              </a:ext>
            </a:extLst>
          </p:cNvPr>
          <p:cNvSpPr>
            <a:spLocks noGrp="1"/>
          </p:cNvSpPr>
          <p:nvPr/>
        </p:nvSpPr>
        <p:spPr>
          <a:xfrm>
            <a:off x="628650" y="1657350"/>
            <a:ext cx="5191125" cy="2590800"/>
          </a:xfrm>
          <a:prstGeom prst="rect">
            <a:avLst/>
          </a:prstGeom>
          <a:noFill/>
          <a:ln w="0">
            <a:noFill/>
          </a:ln>
        </p:spPr>
        <p:txBody>
          <a:bodyPr wrap="square" lIns="0" tIns="0" rIns="0" bIns="0" anchor="t">
            <a:noAutofit/>
          </a:bodyPr>
          <a:lstStyle/>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name = "spec_reviewer"</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description = "Review changes against the spec"</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sandbox_mode = "read-only"</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developer_instructions = """</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Read docs/spec.md and relevant code.</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Check requirements and missing tests.</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Do not edit files.</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Return findings with file references.</a:t>
            </a:r>
          </a:p>
          <a:p>
            <a:pPr algn="l" rtl="0">
              <a:defRPr sz="1425" b="0">
                <a:solidFill>
                  <a:srgbClr val="272525"/>
                </a:solidFill>
                <a:latin typeface="Arial"/>
                <a:ea typeface="Arial"/>
                <a:cs typeface="Arial"/>
              </a:defRPr>
            </a:pPr>
            <a:r>
              <a:rPr sz="1425" b="0" lang="en-US">
                <a:solidFill>
                  <a:srgbClr val="272525"/>
                </a:solidFill>
                <a:latin typeface="Arial"/>
                <a:ea typeface="Arial"/>
                <a:cs typeface="Arial"/>
              </a:rPr>
              <a:t>"""</a:t>
            </a:r>
          </a:p>
        </p:txBody>
      </p:sp>
      <p:sp>
        <p:nvSpPr>
          <p:cNvPr id="7" name="text">
            <a:extLst>
              <a:ext uri="{FF2B5EF4-FFF2-40B4-BE49-F238E27FC236}">
                <ns2:creationId id="{53138475-14B9-4AE1-B048-D466E49A05B0}"/>
              </a:ext>
            </a:extLst>
          </p:cNvPr>
          <p:cNvSpPr>
            <a:spLocks noGrp="1"/>
          </p:cNvSpPr>
          <p:nvPr/>
        </p:nvSpPr>
        <p:spPr>
          <a:xfrm>
            <a:off x="6191250" y="1809750"/>
            <a:ext cx="2495550" cy="217170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אותו תפקיד עסקי,</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בפורמט ההגדרות של הכלי.</a:t>
            </a:r>
          </a:p>
          <a:p>
            <a:pPr rtl="0" algn="r"/>
            <a:r>
              <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בקשה: השתמש בסוכן</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spec_reviewer כדי לבדוק</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את השינוי מול האפיון.</a:t>
            </a:r>
          </a:p>
        </p:txBody>
      </p:sp>
    </p:spTree>
    <p:extLst>
      <p:ext uri="{BB962C8B-B14F-4D97-AF65-F5344CB8AC3E}">
        <ns3:creationId val="953106519"/>
      </p:ext>
    </p:extLst>
  </p:cSld>
</p:sld>
</file>

<file path=ppt/slides/slide3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0117184C-F361-4C81-ACE1-E69559023E58}"/>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חלוקת עבודה בין סוכנים</a:t>
            </a:r>
          </a:p>
        </p:txBody>
      </p:sp>
      <p:sp>
        <p:nvSpPr>
          <p:cNvPr id="2" name="text">
            <a:extLst>
              <a:ext uri="{FF2B5EF4-FFF2-40B4-BE49-F238E27FC236}">
                <ns2:creationId id="{6EEC592B-8140-4A02-8C25-E353E0295C16}"/>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D2E3A249-FD69-4DE8-ABFE-B86E955E0EA4}"/>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34</a:t>
            </a:r>
          </a:p>
        </p:txBody>
      </p:sp>
      <p:sp>
        <p:nvSpPr>
          <p:cNvPr id="4" name="text">
            <a:extLst>
              <a:ext uri="{FF2B5EF4-FFF2-40B4-BE49-F238E27FC236}">
                <ns2:creationId id="{58008F85-7227-445F-84BE-7BE775A944A8}"/>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המימוש</a:t>
            </a:r>
          </a:p>
        </p:txBody>
      </p:sp>
      <p:sp>
        <p:nvSpPr>
          <p:cNvPr id="5" name="text">
            <a:extLst>
              <a:ext uri="{FF2B5EF4-FFF2-40B4-BE49-F238E27FC236}">
                <ns2:creationId id="{B0C0D0C2-3AEA-46DA-BEEA-44B0C4FCA21F}"/>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הסוכן הראשי מטפל בשינוי ובבדיקות ההתנהגות.</a:t>
            </a:r>
          </a:p>
        </p:txBody>
      </p:sp>
      <p:sp>
        <p:nvSpPr>
          <p:cNvPr id="6" name="text">
            <a:extLst>
              <a:ext uri="{FF2B5EF4-FFF2-40B4-BE49-F238E27FC236}">
                <ns2:creationId id="{5A65BBCA-D0EF-4C31-9361-B75C6EA726CC}"/>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הסקירה</a:t>
            </a:r>
          </a:p>
        </p:txBody>
      </p:sp>
      <p:sp>
        <p:nvSpPr>
          <p:cNvPr id="7" name="text">
            <a:extLst>
              <a:ext uri="{FF2B5EF4-FFF2-40B4-BE49-F238E27FC236}">
                <ns2:creationId id="{461BE86F-238F-411B-80D7-C0C623FC30FD}"/>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תת־סוכן קורא את האפיון ומחפש פערים, מקרי קצה והרשאות חסרות.</a:t>
            </a:r>
          </a:p>
        </p:txBody>
      </p:sp>
      <p:sp>
        <p:nvSpPr>
          <p:cNvPr id="8" name="text">
            <a:extLst>
              <a:ext uri="{FF2B5EF4-FFF2-40B4-BE49-F238E27FC236}">
                <ns2:creationId id="{5F0B9004-0714-48AD-B19A-D50DCE60E762}"/>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השילוב</a:t>
            </a:r>
          </a:p>
        </p:txBody>
      </p:sp>
      <p:sp>
        <p:nvSpPr>
          <p:cNvPr id="9" name="text">
            <a:extLst>
              <a:ext uri="{FF2B5EF4-FFF2-40B4-BE49-F238E27FC236}">
                <ns2:creationId id="{FCBD3F4C-F71A-4524-B6F1-439BE6982AA5}"/>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הסוכן הראשי בודק את הממצאים ומאמת את התוצאה לאחר השילוב.</a:t>
            </a:r>
          </a:p>
        </p:txBody>
      </p:sp>
      <p:sp>
        <p:nvSpPr>
          <p:cNvPr id="10" name="">
            <a:extLst>
              <a:ext uri="{FF2B5EF4-FFF2-40B4-BE49-F238E27FC236}">
                <ns2:creationId id="{E4E9EBC4-C8CF-41A3-8721-C9835D616F2F}"/>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4AFD183E-13C2-4E3D-B4FC-4B56D8ED3DB8}"/>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לכל תת־סוכן מגדירים משימה, גבולות ותוצר שאפשר לבדוק.</a:t>
            </a:r>
          </a:p>
        </p:txBody>
      </p:sp>
    </p:spTree>
    <p:extLst>
      <p:ext uri="{BB962C8B-B14F-4D97-AF65-F5344CB8AC3E}">
        <ns3:creationId val="953106519"/>
      </p:ext>
    </p:extLst>
  </p:cSld>
</p:sld>
</file>

<file path=ppt/slides/slide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C6C1006F-FCD0-43D4-9FE6-5D7D1E730675}"/>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להפעלת תת־סוכן לסקירה</a:t>
            </a:r>
          </a:p>
        </p:txBody>
      </p:sp>
      <p:sp>
        <p:nvSpPr>
          <p:cNvPr id="2" name="text">
            <a:extLst>
              <a:ext uri="{FF2B5EF4-FFF2-40B4-BE49-F238E27FC236}">
                <ns2:creationId id="{16B5DDC7-683D-47ED-878E-90D642EDAC1A}"/>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54048185-15FB-46B3-BBE1-A4D88D37248E}"/>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35</a:t>
            </a:r>
          </a:p>
        </p:txBody>
      </p:sp>
      <p:sp>
        <p:nvSpPr>
          <p:cNvPr id="4" name="text">
            <a:extLst>
              <a:ext uri="{FF2B5EF4-FFF2-40B4-BE49-F238E27FC236}">
                <ns2:creationId id="{6284B5E3-6952-4D64-A766-4C8EC7160A02}"/>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הפעל תת־סוכן לסקירת השינוי הנוכחי מול האפיון.</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מסור לו את ההנחיות הבאות ואת נתיבי הקבצים שהשתנו:</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תפקידך לבדוק התאמה לדרישות, בלי לערוך קבצים.</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קרא את docs/spec.md ואת החלטות הפרויקט הרלוונטיות.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בדוק את הקוד ואת הבדיקות עבור [המשימה ותנאי הקבלה].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חפש התנהגות חסרה, מקרי קצה ופערים בבדיקות או בהרשאות.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לכל ממצא, ציין קובץ, מיקום, דרישה והסבר להשפעה.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הבחן בין תקלה מוכחת, חשד ושאלה שמצריכה החלטה.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החזר ממצאים לפי חשיבות וציין גם מה לא יכולת לבדוק.</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לאחר קבלת הסקירה, בדוק את הממצאים כסוכן הראשי.</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תקן פערים מאומתים, הרץ בדיקות ודווח על התוצאה המשולבת.</a:t>
            </a:r>
          </a:p>
        </p:txBody>
      </p:sp>
    </p:spTree>
    <p:extLst>
      <p:ext uri="{BB962C8B-B14F-4D97-AF65-F5344CB8AC3E}">
        <ns3:creationId val="953106519"/>
      </p:ext>
    </p:extLst>
  </p:cSld>
</p:sld>
</file>

<file path=ppt/slides/slide3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0" name="text">
            <a:extLst>
              <a:ext uri="{FF2B5EF4-FFF2-40B4-BE49-F238E27FC236}">
                <ns2:creationId id="{7DF5FFC9-CDF8-4AB6-94E1-F58EF47F4DB4}"/>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הרשאות ובקרה בעבודה עם סוכן</a:t>
            </a:r>
          </a:p>
        </p:txBody>
      </p:sp>
      <p:sp>
        <p:nvSpPr>
          <p:cNvPr id="2" name="text">
            <a:extLst>
              <a:ext uri="{FF2B5EF4-FFF2-40B4-BE49-F238E27FC236}">
                <ns2:creationId id="{01F3ED23-1951-4BC1-B67D-1398D82FABBA}"/>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A3D2AFC7-9FF4-449B-85D5-37F92C72C989}"/>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36</a:t>
            </a:r>
          </a:p>
        </p:txBody>
      </p:sp>
      <p:sp>
        <p:nvSpPr>
          <p:cNvPr id="4" name="text">
            <a:extLst>
              <a:ext uri="{FF2B5EF4-FFF2-40B4-BE49-F238E27FC236}">
                <ns2:creationId id="{0A9C70F9-BB87-42C5-93FE-D9D2CD5782DF}"/>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גישה לפי המשימה</a:t>
            </a:r>
          </a:p>
        </p:txBody>
      </p:sp>
      <p:sp>
        <p:nvSpPr>
          <p:cNvPr id="5" name="text">
            <a:extLst>
              <a:ext uri="{FF2B5EF4-FFF2-40B4-BE49-F238E27FC236}">
                <ns2:creationId id="{234736A9-1470-43A5-B43E-72C331591381}"/>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מגדירים אילו תיקיות, שירותים ופעולות דרושים לסוכן.</a:t>
            </a:r>
          </a:p>
        </p:txBody>
      </p:sp>
      <p:sp>
        <p:nvSpPr>
          <p:cNvPr id="6" name="text">
            <a:extLst>
              <a:ext uri="{FF2B5EF4-FFF2-40B4-BE49-F238E27FC236}">
                <ns2:creationId id="{A274F893-E624-4A9F-8193-3E8279474758}"/>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בדיקת השינויים</a:t>
            </a:r>
          </a:p>
        </p:txBody>
      </p:sp>
      <p:sp>
        <p:nvSpPr>
          <p:cNvPr id="7" name="text">
            <a:extLst>
              <a:ext uri="{FF2B5EF4-FFF2-40B4-BE49-F238E27FC236}">
                <ns2:creationId id="{11D84C3A-D993-47C5-A915-3EC2BC4A71A9}"/>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קוראים את ההבדלים ובודקים שהסוכן טיפל במשימה שהוגדרה.</a:t>
            </a:r>
          </a:p>
        </p:txBody>
      </p:sp>
      <p:sp>
        <p:nvSpPr>
          <p:cNvPr id="8" name="text">
            <a:extLst>
              <a:ext uri="{FF2B5EF4-FFF2-40B4-BE49-F238E27FC236}">
                <ns2:creationId id="{59344EE9-B9F3-44B7-ADCA-AF18CF52385C}"/>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נתונים וסודות</a:t>
            </a:r>
          </a:p>
        </p:txBody>
      </p:sp>
      <p:sp>
        <p:nvSpPr>
          <p:cNvPr id="9" name="text">
            <a:extLst>
              <a:ext uri="{FF2B5EF4-FFF2-40B4-BE49-F238E27FC236}">
                <ns2:creationId id="{6468AFE4-7187-492B-A60D-F2F58A9C85A7}"/>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משתמשים בנתוני דוגמה ושומרים מפתחות מחוץ לקוד ולתיעוד משותף.</a:t>
            </a:r>
          </a:p>
        </p:txBody>
      </p:sp>
    </p:spTree>
    <p:extLst>
      <p:ext uri="{BB962C8B-B14F-4D97-AF65-F5344CB8AC3E}">
        <ns3:creationId val="953106519"/>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9AD97AF2-8318-4965-B43F-1C9ABD57B05D}"/>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נקודת חזרה לפני שינוי</a:t>
            </a:r>
          </a:p>
        </p:txBody>
      </p:sp>
      <p:sp>
        <p:nvSpPr>
          <p:cNvPr id="2" name="text">
            <a:extLst>
              <a:ext uri="{FF2B5EF4-FFF2-40B4-BE49-F238E27FC236}">
                <ns2:creationId id="{395C6F5F-DCBF-459B-8D15-DB261AC333FE}"/>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9568D16F-3743-4665-8528-E23A10AF5A41}"/>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37</a:t>
            </a:r>
          </a:p>
        </p:txBody>
      </p:sp>
      <p:pic>
        <p:nvPicPr>
          <p:cNvPr id="14" name=""/>
          <p:cNvPicPr>
            <a:picLocks noChangeAspect="1"/>
          </p:cNvPicPr>
          <p:nvPr/>
        </p:nvPicPr>
        <p:blipFill>
          <a:blip ns3:embed="Re1d97e3e04d94aeb"/>
          <a:stretch/>
        </p:blipFill>
        <p:spPr>
          <a:xfrm>
            <a:off x="783991" y="1314450"/>
            <a:ext cx="1918168" cy="2876550"/>
          </a:xfrm>
          <a:prstGeom prst="rect">
            <a:avLst/>
          </a:prstGeom>
        </p:spPr>
      </p:pic>
      <p:sp>
        <p:nvSpPr>
          <p:cNvPr id="5" name="text">
            <a:extLst>
              <a:ext uri="{FF2B5EF4-FFF2-40B4-BE49-F238E27FC236}">
                <ns2:creationId id="{DDC868B5-AC6C-4D04-BA44-18C2F24B4B7A}"/>
              </a:ext>
            </a:extLst>
          </p:cNvPr>
          <p:cNvSpPr>
            <a:spLocks noGrp="1"/>
          </p:cNvSpPr>
          <p:nvPr/>
        </p:nvSpPr>
        <p:spPr>
          <a:xfrm>
            <a:off x="3619500" y="127635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לפני המשימה</a:t>
            </a:r>
          </a:p>
        </p:txBody>
      </p:sp>
      <p:sp>
        <p:nvSpPr>
          <p:cNvPr id="6" name="text">
            <a:extLst>
              <a:ext uri="{FF2B5EF4-FFF2-40B4-BE49-F238E27FC236}">
                <ns2:creationId id="{850EC7BB-0D03-4E51-87A8-C34524D35ABE}"/>
              </a:ext>
            </a:extLst>
          </p:cNvPr>
          <p:cNvSpPr>
            <a:spLocks noGrp="1"/>
          </p:cNvSpPr>
          <p:nvPr/>
        </p:nvSpPr>
        <p:spPr>
          <a:xfrm>
            <a:off x="3619500" y="160972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בודקים את מצב הקבצים ושומרים גרסה עובדת ב־Git.</a:t>
            </a:r>
          </a:p>
        </p:txBody>
      </p:sp>
      <p:sp>
        <p:nvSpPr>
          <p:cNvPr id="7" name="text">
            <a:extLst>
              <a:ext uri="{FF2B5EF4-FFF2-40B4-BE49-F238E27FC236}">
                <ns2:creationId id="{6471DCFB-EB4C-4904-87DD-79FA357BD2B1}"/>
              </a:ext>
            </a:extLst>
          </p:cNvPr>
          <p:cNvSpPr>
            <a:spLocks noGrp="1"/>
          </p:cNvSpPr>
          <p:nvPr/>
        </p:nvSpPr>
        <p:spPr>
          <a:xfrm>
            <a:off x="3619500" y="234315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אחרי השינוי</a:t>
            </a:r>
          </a:p>
        </p:txBody>
      </p:sp>
      <p:sp>
        <p:nvSpPr>
          <p:cNvPr id="8" name="text">
            <a:extLst>
              <a:ext uri="{FF2B5EF4-FFF2-40B4-BE49-F238E27FC236}">
                <ns2:creationId id="{DA6B946C-35FE-4A0D-9B55-9FA175D06EE5}"/>
              </a:ext>
            </a:extLst>
          </p:cNvPr>
          <p:cNvSpPr>
            <a:spLocks noGrp="1"/>
          </p:cNvSpPr>
          <p:nvPr/>
        </p:nvSpPr>
        <p:spPr>
          <a:xfrm>
            <a:off x="3619500" y="267652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קוראים את ההבדלים: אילו קבצים השתנו והאם השינוי שייך למשימה?</a:t>
            </a:r>
          </a:p>
        </p:txBody>
      </p:sp>
      <p:sp>
        <p:nvSpPr>
          <p:cNvPr id="9" name="text">
            <a:extLst>
              <a:ext uri="{FF2B5EF4-FFF2-40B4-BE49-F238E27FC236}">
                <ns2:creationId id="{D066F770-E64A-4B1D-BBC1-CD50C215AB55}"/>
              </a:ext>
            </a:extLst>
          </p:cNvPr>
          <p:cNvSpPr>
            <a:spLocks noGrp="1"/>
          </p:cNvSpPr>
          <p:nvPr/>
        </p:nvSpPr>
        <p:spPr>
          <a:xfrm>
            <a:off x="3619500" y="340995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לאחר האימות</a:t>
            </a:r>
          </a:p>
        </p:txBody>
      </p:sp>
      <p:sp>
        <p:nvSpPr>
          <p:cNvPr id="10" name="text">
            <a:extLst>
              <a:ext uri="{FF2B5EF4-FFF2-40B4-BE49-F238E27FC236}">
                <ns2:creationId id="{63BF5E02-8685-46EC-8735-BF6E2FFCB742}"/>
              </a:ext>
            </a:extLst>
          </p:cNvPr>
          <p:cNvSpPr>
            <a:spLocks noGrp="1"/>
          </p:cNvSpPr>
          <p:nvPr/>
        </p:nvSpPr>
        <p:spPr>
          <a:xfrm>
            <a:off x="3619500" y="374332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שומרים Commit שמתאר את הפיצ׳ר ואת התיעוד המעודכן.</a:t>
            </a:r>
          </a:p>
        </p:txBody>
      </p:sp>
    </p:spTree>
    <p:extLst>
      <p:ext uri="{BB962C8B-B14F-4D97-AF65-F5344CB8AC3E}">
        <ns4:creationId val="953106519"/>
      </p:ext>
    </p:extLst>
  </p:cSld>
</p:sld>
</file>

<file path=ppt/slides/slide3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73E4F2E0-6317-4495-A55C-EBBA8C131A8F}"/>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הפעלת היישום ברשת</a:t>
            </a:r>
          </a:p>
        </p:txBody>
      </p:sp>
      <p:sp>
        <p:nvSpPr>
          <p:cNvPr id="2" name="text">
            <a:extLst>
              <a:ext uri="{FF2B5EF4-FFF2-40B4-BE49-F238E27FC236}">
                <ns2:creationId id="{E69093C6-2F02-48CB-BAB6-9C8187BC4A89}"/>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958188FD-CA38-405C-83B6-956D9D8D8E0B}"/>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38</a:t>
            </a:r>
          </a:p>
        </p:txBody>
      </p:sp>
      <p:sp>
        <p:nvSpPr>
          <p:cNvPr id="4" name="text">
            <a:extLst>
              <a:ext uri="{FF2B5EF4-FFF2-40B4-BE49-F238E27FC236}">
                <ns2:creationId id="{BD2A080D-A8DE-4054-B2C8-5C438943A6A3}"/>
              </a:ext>
            </a:extLst>
          </p:cNvPr>
          <p:cNvSpPr>
            <a:spLocks noGrp="1"/>
          </p:cNvSpPr>
          <p:nvPr/>
        </p:nvSpPr>
        <p:spPr>
          <a:xfrm>
            <a:off x="457200" y="128587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חיבור הפרויקט ל־Vercel</a:t>
            </a:r>
          </a:p>
        </p:txBody>
      </p:sp>
      <p:sp>
        <p:nvSpPr>
          <p:cNvPr id="5" name="text">
            <a:extLst>
              <a:ext uri="{FF2B5EF4-FFF2-40B4-BE49-F238E27FC236}">
                <ns2:creationId id="{76BCB23B-CA7C-4E6B-8749-AF98D552858C}"/>
              </a:ext>
            </a:extLst>
          </p:cNvPr>
          <p:cNvSpPr>
            <a:spLocks noGrp="1"/>
          </p:cNvSpPr>
          <p:nvPr/>
        </p:nvSpPr>
        <p:spPr>
          <a:xfrm>
            <a:off x="457200" y="161925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מייבאים את מאגר הקוד ומוודאים שפקודת הבנייה מצליחה.</a:t>
            </a:r>
          </a:p>
        </p:txBody>
      </p:sp>
      <p:sp>
        <p:nvSpPr>
          <p:cNvPr id="6" name="text">
            <a:extLst>
              <a:ext uri="{FF2B5EF4-FFF2-40B4-BE49-F238E27FC236}">
                <ns2:creationId id="{A7DD435E-A25F-4A25-B87A-9D4786D82186}"/>
              </a:ext>
            </a:extLst>
          </p:cNvPr>
          <p:cNvSpPr>
            <a:spLocks noGrp="1"/>
          </p:cNvSpPr>
          <p:nvPr/>
        </p:nvSpPr>
        <p:spPr>
          <a:xfrm>
            <a:off x="457200" y="22574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חיבור ל־Supabase</a:t>
            </a:r>
          </a:p>
        </p:txBody>
      </p:sp>
      <p:sp>
        <p:nvSpPr>
          <p:cNvPr id="7" name="text">
            <a:extLst>
              <a:ext uri="{FF2B5EF4-FFF2-40B4-BE49-F238E27FC236}">
                <ns2:creationId id="{5A039E42-DFB5-44EA-B722-4244ABAA591D}"/>
              </a:ext>
            </a:extLst>
          </p:cNvPr>
          <p:cNvSpPr>
            <a:spLocks noGrp="1"/>
          </p:cNvSpPr>
          <p:nvPr/>
        </p:nvSpPr>
        <p:spPr>
          <a:xfrm>
            <a:off x="457200" y="25908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מגדירים משתני סביבה מתאימים, כתובות התחברות וסכמת נתונים.</a:t>
            </a:r>
          </a:p>
        </p:txBody>
      </p:sp>
      <p:sp>
        <p:nvSpPr>
          <p:cNvPr id="8" name="text">
            <a:extLst>
              <a:ext uri="{FF2B5EF4-FFF2-40B4-BE49-F238E27FC236}">
                <ns2:creationId id="{D81C8669-F6AA-4E16-9A08-A8B0692ACCF8}"/>
              </a:ext>
            </a:extLst>
          </p:cNvPr>
          <p:cNvSpPr>
            <a:spLocks noGrp="1"/>
          </p:cNvSpPr>
          <p:nvPr/>
        </p:nvSpPr>
        <p:spPr>
          <a:xfrm>
            <a:off x="457200" y="322897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בדיקה בכתובת Preview</a:t>
            </a:r>
          </a:p>
        </p:txBody>
      </p:sp>
      <p:sp>
        <p:nvSpPr>
          <p:cNvPr id="9" name="text">
            <a:extLst>
              <a:ext uri="{FF2B5EF4-FFF2-40B4-BE49-F238E27FC236}">
                <ns2:creationId id="{C947D3F7-29E6-4EE8-9157-9F099832B5A6}"/>
              </a:ext>
            </a:extLst>
          </p:cNvPr>
          <p:cNvSpPr>
            <a:spLocks noGrp="1"/>
          </p:cNvSpPr>
          <p:nvPr/>
        </p:nvSpPr>
        <p:spPr>
          <a:xfrm>
            <a:off x="457200" y="356235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בודקים את תרחישי השימוש מהאפיון עם נתוני דוגמה לפני פרסום.</a:t>
            </a:r>
          </a:p>
        </p:txBody>
      </p:sp>
      <p:sp>
        <p:nvSpPr>
          <p:cNvPr id="10" name="">
            <a:extLst>
              <a:ext uri="{FF2B5EF4-FFF2-40B4-BE49-F238E27FC236}">
                <ns2:creationId id="{42FCB779-2B36-4DC4-BC50-5210D34E004C}"/>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FB50FDC9-2CA3-499B-BF01-8B733EFD3E15}"/>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הסוכן מבצע את הפריסה. אנחנו בודקים את התוצאה בכתובת שהתקבלה.</a:t>
            </a:r>
          </a:p>
        </p:txBody>
      </p:sp>
    </p:spTree>
    <p:extLst>
      <p:ext uri="{BB962C8B-B14F-4D97-AF65-F5344CB8AC3E}">
        <ns3:creationId val="953106519"/>
      </p:ext>
    </p:extLst>
  </p:cSld>
</p:sld>
</file>

<file path=ppt/slides/slide3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7EC1D570-1401-4D45-91E4-E46AB58FAAF7}"/>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סיום יום העבודה</a:t>
            </a:r>
          </a:p>
        </p:txBody>
      </p:sp>
      <p:sp>
        <p:nvSpPr>
          <p:cNvPr id="2" name="text">
            <a:extLst>
              <a:ext uri="{FF2B5EF4-FFF2-40B4-BE49-F238E27FC236}">
                <ns2:creationId id="{2A9DA927-F5AA-46F8-BC90-3CF6CFF00DA0}"/>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B6EF560D-86BE-4C69-B13A-2A597717D231}"/>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39</a:t>
            </a:r>
          </a:p>
        </p:txBody>
      </p:sp>
      <p:sp>
        <p:nvSpPr>
          <p:cNvPr id="4" name="text">
            <a:extLst>
              <a:ext uri="{FF2B5EF4-FFF2-40B4-BE49-F238E27FC236}">
                <ns2:creationId id="{3DDCA451-8BDD-4237-AD52-3C9B861C0F46}"/>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הושלם ואומת</a:t>
            </a:r>
          </a:p>
        </p:txBody>
      </p:sp>
      <p:sp>
        <p:nvSpPr>
          <p:cNvPr id="5" name="text">
            <a:extLst>
              <a:ext uri="{FF2B5EF4-FFF2-40B4-BE49-F238E27FC236}">
                <ns2:creationId id="{3EEE7FE9-148F-4B42-9C29-A83F6F8D291A}"/>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השתנה, לאיזו דרישה הוא קשור ואיזו בדיקה עברה.</a:t>
            </a:r>
          </a:p>
        </p:txBody>
      </p:sp>
      <p:sp>
        <p:nvSpPr>
          <p:cNvPr id="6" name="text">
            <a:extLst>
              <a:ext uri="{FF2B5EF4-FFF2-40B4-BE49-F238E27FC236}">
                <ns2:creationId id="{72F67287-CECC-4BB8-A348-EF711016A4F6}"/>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עדיין פתוח</a:t>
            </a:r>
          </a:p>
        </p:txBody>
      </p:sp>
      <p:sp>
        <p:nvSpPr>
          <p:cNvPr id="7" name="text">
            <a:extLst>
              <a:ext uri="{FF2B5EF4-FFF2-40B4-BE49-F238E27FC236}">
                <ns2:creationId id="{E2EF3044-D5E3-4518-A1C2-CC4C210579AD}"/>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חסר, מה לא נבדק והאם קיימת החלטה שצריך לקבל.</a:t>
            </a:r>
          </a:p>
        </p:txBody>
      </p:sp>
      <p:sp>
        <p:nvSpPr>
          <p:cNvPr id="8" name="text">
            <a:extLst>
              <a:ext uri="{FF2B5EF4-FFF2-40B4-BE49-F238E27FC236}">
                <ns2:creationId id="{911EA189-6AE4-46A7-ABD8-4E324B33E35C}"/>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המשימה הבאה</a:t>
            </a:r>
          </a:p>
        </p:txBody>
      </p:sp>
      <p:sp>
        <p:nvSpPr>
          <p:cNvPr id="9" name="text">
            <a:extLst>
              <a:ext uri="{FF2B5EF4-FFF2-40B4-BE49-F238E27FC236}">
                <ns2:creationId id="{C9697B91-F9DE-4E9F-B94C-940FB6282452}"/>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מה הפעולה הבאה ואילו קבצים צריך לקרוא כדי לבצע אותה.</a:t>
            </a:r>
          </a:p>
        </p:txBody>
      </p:sp>
      <p:sp>
        <p:nvSpPr>
          <p:cNvPr id="10" name="">
            <a:extLst>
              <a:ext uri="{FF2B5EF4-FFF2-40B4-BE49-F238E27FC236}">
                <ns2:creationId id="{BD6C3DF3-3309-4343-9A00-E90DEA49CAC0}"/>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95DB731D-399F-432A-A415-C1D92F9B89FE}"/>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הקובץ docs/status.md נותן לסוכן הבא נקודת התחלה ברורה.</a:t>
            </a:r>
          </a:p>
        </p:txBody>
      </p:sp>
    </p:spTree>
    <p:extLst>
      <p:ext uri="{BB962C8B-B14F-4D97-AF65-F5344CB8AC3E}">
        <ns3:creationId val="953106519"/>
      </p:ext>
    </p:extLst>
  </p:cSld>
</p:sld>
</file>

<file path=ppt/slides/slide4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 name="text">
            <a:extLst>
              <a:ext uri="{FF2B5EF4-FFF2-40B4-BE49-F238E27FC236}">
                <ns2:creationId id="{054726D9-E7B6-4D5A-9DB5-0F10196B64C0}"/>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פרומפט להמשך עבודה בשיחה חדשה</a:t>
            </a:r>
          </a:p>
        </p:txBody>
      </p:sp>
      <p:sp>
        <p:nvSpPr>
          <p:cNvPr id="2" name="text">
            <a:extLst>
              <a:ext uri="{FF2B5EF4-FFF2-40B4-BE49-F238E27FC236}">
                <ns2:creationId id="{A520E859-AA46-45E6-8D9D-1320C50FEF2E}"/>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65972A60-4D9D-48BB-B5A5-DE0FF89DBB11}"/>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40</a:t>
            </a:r>
          </a:p>
        </p:txBody>
      </p:sp>
      <p:sp>
        <p:nvSpPr>
          <p:cNvPr id="4" name="text">
            <a:extLst>
              <a:ext uri="{FF2B5EF4-FFF2-40B4-BE49-F238E27FC236}">
                <ns2:creationId id="{61E5218B-5500-4EC8-8604-EE8B776D4B76}"/>
              </a:ext>
            </a:extLst>
          </p:cNvPr>
          <p:cNvSpPr>
            <a:spLocks noGrp="1"/>
          </p:cNvSpPr>
          <p:nvPr/>
        </p:nvSpPr>
        <p:spPr>
          <a:xfrm>
            <a:off x="523875" y="1133475"/>
            <a:ext cx="8096250" cy="3552825"/>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המשך את הפרויקט מתוך הקבצים, ללא הנחה שיש לך שיחה קודמת.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קרא את הנחיות הסוכן, README.md ואת מסמכי האפיון וההחלטות.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קרא את docs/status.md ובדוק את מצב הקוד והבדיקות הרלוונטיות.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סכם בקצרה את מטרת המוצר, מה הושלם ומה נשאר פתוח.</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הבחן בין מידע מתועד לבין הנחות ודברים שטרם אומתו.</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אם הקוד והתיעוד סותרים זה את זה, הצג את הפער לפני שינוי הדרישה.</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בחר את המשימה הבאה מתוך התוכנית והסבר למה היא הבאה בתור.</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אם חסרה החלטה שמשנה את המוצר, שאל שאלה ממוקדת.</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אחרת, בצע את המשימה בשיטת TDD לפי תנאי הקבלה באפיון.</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בסיום עדכן את המצב, ההחלטות והתיעוד הרלוונטי.</a:t>
            </a:r>
          </a:p>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דווח מה השתנה, מה נבדק בפועל והיכן הסוכן הבא צריך להמשיך.</a:t>
            </a:r>
          </a:p>
        </p:txBody>
      </p:sp>
    </p:spTree>
    <p:extLst>
      <p:ext uri="{BB962C8B-B14F-4D97-AF65-F5344CB8AC3E}">
        <ns3:creationId val="953106519"/>
      </p:ext>
    </p:extLst>
  </p:cSld>
</p:sld>
</file>

<file path=ppt/slides/slide4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2" name="text">
            <a:extLst>
              <a:ext uri="{FF2B5EF4-FFF2-40B4-BE49-F238E27FC236}">
                <ns2:creationId id="{25FC02AA-34FA-43DE-9126-0A80C3EEEE58}"/>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תרגול: הסוכן של מחר</a:t>
            </a:r>
          </a:p>
        </p:txBody>
      </p:sp>
      <p:sp>
        <p:nvSpPr>
          <p:cNvPr id="2" name="text">
            <a:extLst>
              <a:ext uri="{FF2B5EF4-FFF2-40B4-BE49-F238E27FC236}">
                <ns2:creationId id="{5BA78687-B0F7-48E7-B004-74A1DCAFBBC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E7032F73-F592-4FC6-9D33-85CD2D6DA6E4}"/>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41</a:t>
            </a:r>
          </a:p>
        </p:txBody>
      </p:sp>
      <p:sp>
        <p:nvSpPr>
          <p:cNvPr id="4" name="text">
            <a:extLst>
              <a:ext uri="{FF2B5EF4-FFF2-40B4-BE49-F238E27FC236}">
                <ns2:creationId id="{0B7C3134-8BE5-4533-B878-100338ABDDFE}"/>
              </a:ext>
            </a:extLst>
          </p:cNvPr>
          <p:cNvSpPr>
            <a:spLocks noGrp="1"/>
          </p:cNvSpPr>
          <p:nvPr/>
        </p:nvSpPr>
        <p:spPr>
          <a:xfrm>
            <a:off x="457200" y="123825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שלב ראשון: הגדרת המשימה</a:t>
            </a:r>
          </a:p>
        </p:txBody>
      </p:sp>
      <p:sp>
        <p:nvSpPr>
          <p:cNvPr id="5" name="text">
            <a:extLst>
              <a:ext uri="{FF2B5EF4-FFF2-40B4-BE49-F238E27FC236}">
                <ns2:creationId id="{552E90CA-5B2F-4BBF-BAE5-6C28CD06DC77}"/>
              </a:ext>
            </a:extLst>
          </p:cNvPr>
          <p:cNvSpPr>
            <a:spLocks noGrp="1"/>
          </p:cNvSpPr>
          <p:nvPr/>
        </p:nvSpPr>
        <p:spPr>
          <a:xfrm>
            <a:off x="457200" y="157162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בוחרים שינוי קטן ושומרים אפיון, הנחיות ומצב עבודה.</a:t>
            </a:r>
          </a:p>
        </p:txBody>
      </p:sp>
      <p:sp>
        <p:nvSpPr>
          <p:cNvPr id="6" name="text">
            <a:extLst>
              <a:ext uri="{FF2B5EF4-FFF2-40B4-BE49-F238E27FC236}">
                <ns2:creationId id="{32797E44-36FA-4A47-874C-539930709E05}"/>
              </a:ext>
            </a:extLst>
          </p:cNvPr>
          <p:cNvSpPr>
            <a:spLocks noGrp="1"/>
          </p:cNvSpPr>
          <p:nvPr/>
        </p:nvSpPr>
        <p:spPr>
          <a:xfrm>
            <a:off x="457200" y="2219325"/>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שלב שני: פיתוח ובקרה</a:t>
            </a:r>
          </a:p>
        </p:txBody>
      </p:sp>
      <p:sp>
        <p:nvSpPr>
          <p:cNvPr id="7" name="text">
            <a:extLst>
              <a:ext uri="{FF2B5EF4-FFF2-40B4-BE49-F238E27FC236}">
                <ns2:creationId id="{87A76646-29C4-4EC0-BC6F-3E0C0D4711FD}"/>
              </a:ext>
            </a:extLst>
          </p:cNvPr>
          <p:cNvSpPr>
            <a:spLocks noGrp="1"/>
          </p:cNvSpPr>
          <p:nvPr/>
        </p:nvSpPr>
        <p:spPr>
          <a:xfrm>
            <a:off x="457200" y="2552700"/>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מממשים התנהגות אחת בשיטת TDD ומבקשים סקירה ממוקדת.</a:t>
            </a:r>
          </a:p>
        </p:txBody>
      </p:sp>
      <p:sp>
        <p:nvSpPr>
          <p:cNvPr id="8" name="text">
            <a:extLst>
              <a:ext uri="{FF2B5EF4-FFF2-40B4-BE49-F238E27FC236}">
                <ns2:creationId id="{8B2EC29D-0ABF-4F67-88FE-442F8F2AC89B}"/>
              </a:ext>
            </a:extLst>
          </p:cNvPr>
          <p:cNvSpPr>
            <a:spLocks noGrp="1"/>
          </p:cNvSpPr>
          <p:nvPr/>
        </p:nvSpPr>
        <p:spPr>
          <a:xfrm>
            <a:off x="457200" y="3200400"/>
            <a:ext cx="822960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שלב שלישי: שיחה חדשה</a:t>
            </a:r>
          </a:p>
        </p:txBody>
      </p:sp>
      <p:sp>
        <p:nvSpPr>
          <p:cNvPr id="9" name="text">
            <a:extLst>
              <a:ext uri="{FF2B5EF4-FFF2-40B4-BE49-F238E27FC236}">
                <ns2:creationId id="{8681D1D8-B020-4C68-BB56-0D4C0E6696ED}"/>
              </a:ext>
            </a:extLst>
          </p:cNvPr>
          <p:cNvSpPr>
            <a:spLocks noGrp="1"/>
          </p:cNvSpPr>
          <p:nvPr/>
        </p:nvSpPr>
        <p:spPr>
          <a:xfrm>
            <a:off x="457200" y="3533775"/>
            <a:ext cx="822960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מבקשים מסוכן חדש להסביר את המצב ולהציע את הצעד הבא מתוך הקבצים.</a:t>
            </a:r>
          </a:p>
        </p:txBody>
      </p:sp>
      <p:sp>
        <p:nvSpPr>
          <p:cNvPr id="10" name="">
            <a:extLst>
              <a:ext uri="{FF2B5EF4-FFF2-40B4-BE49-F238E27FC236}">
                <ns2:creationId id="{98B67E66-4638-4A4B-A5AC-A4F8A289F0E4}"/>
              </a:ext>
            </a:extLst>
          </p:cNvPr>
          <p:cNvSpPr>
            <a:spLocks noGrp="1"/>
          </p:cNvSpPr>
          <p:nvPr/>
        </p:nvSpPr>
        <p:spPr>
          <a:xfrm>
            <a:off x="457200" y="4248150"/>
            <a:ext cx="8229600" cy="466725"/>
          </a:xfrm>
          <a:prstGeom prst="rect">
            <a:avLst/>
          </a:prstGeom>
          <a:solidFill>
            <a:srgbClr val="F4D4F7"/>
          </a:solidFill>
          <a:ln w="0">
            <a:noFill/>
          </a:ln>
        </p:spPr>
      </p:sp>
      <p:sp>
        <p:nvSpPr>
          <p:cNvPr id="11" name="text">
            <a:extLst>
              <a:ext uri="{FF2B5EF4-FFF2-40B4-BE49-F238E27FC236}">
                <ns2:creationId id="{3D60BACD-277B-4B80-B344-7B17C493123F}"/>
              </a:ext>
            </a:extLst>
          </p:cNvPr>
          <p:cNvSpPr>
            <a:spLocks noGrp="1"/>
          </p:cNvSpPr>
          <p:nvPr/>
        </p:nvSpPr>
        <p:spPr>
          <a:xfrm>
            <a:off x="619125" y="4343400"/>
            <a:ext cx="7905750" cy="333375"/>
          </a:xfrm>
          <a:prstGeom prst="rect">
            <a:avLst/>
          </a:prstGeom>
          <a:noFill/>
          <a:ln w="0">
            <a:noFill/>
          </a:ln>
        </p:spPr>
        <p:txBody>
          <a:bodyPr wrap="square" lIns="0" tIns="0" rIns="0" bIns="0" anchor="t">
            <a:noAutofit/>
          </a:bodyPr>
          <a:lstStyle/>
          <a:p>
            <a:pPr algn="r" rtl="1">
              <a:defRPr sz="1575" b="1">
                <a:solidFill>
                  <a:srgbClr val="272525"/>
                </a:solidFill>
                <a:latin typeface="Inter"/>
                <a:ea typeface="Inter"/>
                <a:cs typeface="Inter"/>
              </a:defRPr>
            </a:pPr>
            <a:r>
              <a:rPr sz="1575" b="1" lang="he-IL">
                <a:solidFill>
                  <a:srgbClr val="272525"/>
                </a:solidFill>
                <a:latin typeface="Inter"/>
                <a:ea typeface="Inter"/>
                <a:cs typeface="Arial"/>
              </a:rPr>
              <a:t>מבחן ההצלחה: המשך עבודה ללא הסבר מחדש של הפרויקט.</a:t>
            </a:r>
          </a:p>
        </p:txBody>
      </p:sp>
    </p:spTree>
    <p:extLst>
      <p:ext uri="{BB962C8B-B14F-4D97-AF65-F5344CB8AC3E}">
        <ns3:creationId val="953106519"/>
      </p:ext>
    </p:extLst>
  </p:cSld>
</p:sld>
</file>

<file path=ppt/slides/slide4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text">
            <a:extLst>
              <a:ext uri="{FF2B5EF4-FFF2-40B4-BE49-F238E27FC236}">
                <ns2:creationId id="{F935BCA9-B6D2-4BD2-A120-0B3E5557716F}"/>
              </a:ext>
            </a:extLst>
          </p:cNvPr>
          <p:cNvSpPr>
            <a:spLocks noGrp="1"/>
          </p:cNvSpPr>
          <p:nvPr/>
        </p:nvSpPr>
        <p:spPr>
          <a:xfrm>
            <a:off x="457200" y="323850"/>
            <a:ext cx="8229600" cy="571500"/>
          </a:xfrm>
          <a:prstGeom prst="rect">
            <a:avLst/>
          </a:prstGeom>
          <a:noFill/>
          <a:ln w="0">
            <a:noFill/>
          </a:ln>
        </p:spPr>
        <p:txBody>
          <a:bodyPr wrap="square" lIns="0" tIns="0" rIns="0" bIns="0" anchor="t">
            <a:noAutofit/>
          </a:bodyPr>
          <a:lstStyle/>
          <a:p>
            <a:pPr algn="r" rtl="1">
              <a:defRPr sz="2850" b="1">
                <a:solidFill>
                  <a:srgbClr val="D75BE2"/>
                </a:solidFill>
                <a:latin typeface="Inter"/>
                <a:ea typeface="Inter"/>
                <a:cs typeface="Inter"/>
              </a:defRPr>
            </a:pPr>
            <a:r>
              <a:rPr sz="2850" b="1" lang="he-IL">
                <a:solidFill>
                  <a:srgbClr val="D75BE2"/>
                </a:solidFill>
                <a:latin typeface="Inter"/>
                <a:ea typeface="Inter"/>
                <a:cs typeface="Arial"/>
              </a:rPr>
              <a:t>מה נשאר בתיקייה בסיום?</a:t>
            </a:r>
          </a:p>
        </p:txBody>
      </p:sp>
      <p:sp>
        <p:nvSpPr>
          <p:cNvPr id="2" name="text">
            <a:extLst>
              <a:ext uri="{FF2B5EF4-FFF2-40B4-BE49-F238E27FC236}">
                <ns2:creationId id="{C4B52E30-DF3B-4E32-9876-453CD01C3087}"/>
              </a:ext>
            </a:extLst>
          </p:cNvPr>
          <p:cNvSpPr>
            <a:spLocks noGrp="1"/>
          </p:cNvSpPr>
          <p:nvPr/>
        </p:nvSpPr>
        <p:spPr>
          <a:xfrm>
            <a:off x="5905500" y="4876800"/>
            <a:ext cx="2781300" cy="152400"/>
          </a:xfrm>
          <a:prstGeom prst="rect">
            <a:avLst/>
          </a:prstGeom>
          <a:noFill/>
          <a:ln w="0">
            <a:noFill/>
          </a:ln>
        </p:spPr>
        <p:txBody>
          <a:bodyPr wrap="square" lIns="0" tIns="0" rIns="0" bIns="0" anchor="t">
            <a:noAutofit/>
          </a:bodyPr>
          <a:lstStyle/>
          <a:p>
            <a:pPr algn="r" rtl="1">
              <a:defRPr sz="825" b="0">
                <a:solidFill>
                  <a:srgbClr val="705B73"/>
                </a:solidFill>
                <a:latin typeface="Inter"/>
                <a:ea typeface="Inter"/>
                <a:cs typeface="Inter"/>
              </a:defRPr>
            </a:pPr>
            <a:r>
              <a:rPr sz="825" b="0" lang="he-IL">
                <a:solidFill>
                  <a:srgbClr val="705B73"/>
                </a:solidFill>
                <a:latin typeface="Inter"/>
                <a:ea typeface="Inter"/>
                <a:cs typeface="Arial"/>
              </a:rPr>
              <a:t>שיעור: פיתוח עם סוכני־קוד</a:t>
            </a:r>
          </a:p>
        </p:txBody>
      </p:sp>
      <p:sp>
        <p:nvSpPr>
          <p:cNvPr id="3" name="code">
            <a:extLst>
              <a:ext uri="{FF2B5EF4-FFF2-40B4-BE49-F238E27FC236}">
                <ns2:creationId id="{23064224-3B82-4770-B53F-57D1F34DA996}"/>
              </a:ext>
            </a:extLst>
          </p:cNvPr>
          <p:cNvSpPr>
            <a:spLocks noGrp="1"/>
          </p:cNvSpPr>
          <p:nvPr/>
        </p:nvSpPr>
        <p:spPr>
          <a:xfrm>
            <a:off x="457200" y="4876800"/>
            <a:ext cx="333375" cy="152400"/>
          </a:xfrm>
          <a:prstGeom prst="rect">
            <a:avLst/>
          </a:prstGeom>
          <a:noFill/>
          <a:ln w="0">
            <a:noFill/>
          </a:ln>
        </p:spPr>
        <p:txBody>
          <a:bodyPr wrap="square" lIns="0" tIns="0" rIns="0" bIns="0" anchor="t">
            <a:noAutofit/>
          </a:bodyPr>
          <a:lstStyle/>
          <a:p>
            <a:pPr algn="l" rtl="0">
              <a:defRPr sz="825" b="0">
                <a:solidFill>
                  <a:srgbClr val="705B73"/>
                </a:solidFill>
                <a:latin typeface="Inter"/>
                <a:ea typeface="Inter"/>
                <a:cs typeface="Inter"/>
              </a:defRPr>
            </a:pPr>
            <a:r>
              <a:rPr sz="825" b="0" lang="en-US">
                <a:solidFill>
                  <a:srgbClr val="705B73"/>
                </a:solidFill>
                <a:latin typeface="Inter"/>
                <a:ea typeface="Inter"/>
                <a:cs typeface="Arial"/>
              </a:rPr>
              <a:t>42</a:t>
            </a:r>
          </a:p>
        </p:txBody>
      </p:sp>
      <p:pic>
        <p:nvPicPr>
          <p:cNvPr id="14" name=""/>
          <p:cNvPicPr>
            <a:picLocks noChangeAspect="1"/>
          </p:cNvPicPr>
          <p:nvPr/>
        </p:nvPicPr>
        <p:blipFill>
          <a:blip ns3:embed="Rb03528aaccb949c0"/>
          <a:stretch/>
        </p:blipFill>
        <p:spPr>
          <a:xfrm>
            <a:off x="790333" y="1238250"/>
            <a:ext cx="1981684" cy="2971800"/>
          </a:xfrm>
          <a:prstGeom prst="rect">
            <a:avLst/>
          </a:prstGeom>
        </p:spPr>
      </p:pic>
      <p:sp>
        <p:nvSpPr>
          <p:cNvPr id="5" name="text">
            <a:extLst>
              <a:ext uri="{FF2B5EF4-FFF2-40B4-BE49-F238E27FC236}">
                <ns2:creationId id="{00A27DBA-C346-4B4C-B935-8962C746DD9B}"/>
              </a:ext>
            </a:extLst>
          </p:cNvPr>
          <p:cNvSpPr>
            <a:spLocks noGrp="1"/>
          </p:cNvSpPr>
          <p:nvPr/>
        </p:nvSpPr>
        <p:spPr>
          <a:xfrm>
            <a:off x="3619500" y="125730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ידע שאפשר להעביר</a:t>
            </a:r>
          </a:p>
        </p:txBody>
      </p:sp>
      <p:sp>
        <p:nvSpPr>
          <p:cNvPr id="6" name="text">
            <a:extLst>
              <a:ext uri="{FF2B5EF4-FFF2-40B4-BE49-F238E27FC236}">
                <ns2:creationId id="{EDDEDFB2-50F0-4B19-86A9-DA3234461D43}"/>
              </a:ext>
            </a:extLst>
          </p:cNvPr>
          <p:cNvSpPr>
            <a:spLocks noGrp="1"/>
          </p:cNvSpPr>
          <p:nvPr/>
        </p:nvSpPr>
        <p:spPr>
          <a:xfrm>
            <a:off x="3619500" y="159067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אפיון עדכני, החלטות מתועדות והוראות הפעלה.</a:t>
            </a:r>
          </a:p>
        </p:txBody>
      </p:sp>
      <p:sp>
        <p:nvSpPr>
          <p:cNvPr id="7" name="text">
            <a:extLst>
              <a:ext uri="{FF2B5EF4-FFF2-40B4-BE49-F238E27FC236}">
                <ns2:creationId id="{1AF01A25-146A-41BF-BBEE-841CC120F05F}"/>
              </a:ext>
            </a:extLst>
          </p:cNvPr>
          <p:cNvSpPr>
            <a:spLocks noGrp="1"/>
          </p:cNvSpPr>
          <p:nvPr/>
        </p:nvSpPr>
        <p:spPr>
          <a:xfrm>
            <a:off x="3619500" y="230505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תוצר שאפשר לבדוק</a:t>
            </a:r>
          </a:p>
        </p:txBody>
      </p:sp>
      <p:sp>
        <p:nvSpPr>
          <p:cNvPr id="8" name="text">
            <a:extLst>
              <a:ext uri="{FF2B5EF4-FFF2-40B4-BE49-F238E27FC236}">
                <ns2:creationId id="{76104A6D-C5E5-4017-B4B6-04536BE35C11}"/>
              </a:ext>
            </a:extLst>
          </p:cNvPr>
          <p:cNvSpPr>
            <a:spLocks noGrp="1"/>
          </p:cNvSpPr>
          <p:nvPr/>
        </p:nvSpPr>
        <p:spPr>
          <a:xfrm>
            <a:off x="3619500" y="263842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קוד, בדיקות ותוצאות אימות שמקושרות לדרישות.</a:t>
            </a:r>
          </a:p>
        </p:txBody>
      </p:sp>
      <p:sp>
        <p:nvSpPr>
          <p:cNvPr id="9" name="text">
            <a:extLst>
              <a:ext uri="{FF2B5EF4-FFF2-40B4-BE49-F238E27FC236}">
                <ns2:creationId id="{2A165201-4817-4293-8DCB-A8A41A798C4E}"/>
              </a:ext>
            </a:extLst>
          </p:cNvPr>
          <p:cNvSpPr>
            <a:spLocks noGrp="1"/>
          </p:cNvSpPr>
          <p:nvPr/>
        </p:nvSpPr>
        <p:spPr>
          <a:xfrm>
            <a:off x="3619500" y="3352800"/>
            <a:ext cx="5048250" cy="285750"/>
          </a:xfrm>
          <a:prstGeom prst="rect">
            <a:avLst/>
          </a:prstGeom>
          <a:noFill/>
          <a:ln w="0">
            <a:noFill/>
          </a:ln>
        </p:spPr>
        <p:txBody>
          <a:bodyPr wrap="square" lIns="0" tIns="0" rIns="0" bIns="0" anchor="t">
            <a:noAutofit/>
          </a:bodyPr>
          <a:lstStyle/>
          <a:p>
            <a:pPr algn="r" rtl="1">
              <a:defRPr sz="1875" b="1">
                <a:solidFill>
                  <a:srgbClr val="272525"/>
                </a:solidFill>
                <a:latin typeface="Inter"/>
                <a:ea typeface="Inter"/>
                <a:cs typeface="Inter"/>
              </a:defRPr>
            </a:pPr>
            <a:r>
              <a:rPr sz="1875" b="1" lang="he-IL">
                <a:solidFill>
                  <a:srgbClr val="272525"/>
                </a:solidFill>
                <a:latin typeface="Inter"/>
                <a:ea typeface="Inter"/>
                <a:cs typeface="Arial"/>
              </a:rPr>
              <a:t>המשך עבודה ברור</a:t>
            </a:r>
          </a:p>
        </p:txBody>
      </p:sp>
      <p:sp>
        <p:nvSpPr>
          <p:cNvPr id="10" name="text">
            <a:extLst>
              <a:ext uri="{FF2B5EF4-FFF2-40B4-BE49-F238E27FC236}">
                <ns2:creationId id="{987AED57-F963-4BC2-B72C-C85B2BD3A36A}"/>
              </a:ext>
            </a:extLst>
          </p:cNvPr>
          <p:cNvSpPr>
            <a:spLocks noGrp="1"/>
          </p:cNvSpPr>
          <p:nvPr/>
        </p:nvSpPr>
        <p:spPr>
          <a:xfrm>
            <a:off x="3619500" y="3686175"/>
            <a:ext cx="5048250" cy="552450"/>
          </a:xfrm>
          <a:prstGeom prst="rect">
            <a:avLst/>
          </a:prstGeom>
          <a:noFill/>
          <a:ln w="0">
            <a:noFill/>
          </a:ln>
        </p:spPr>
        <p:txBody>
          <a:bodyPr wrap="square" lIns="0" tIns="0" rIns="0" bIns="0" anchor="t">
            <a:noAutofit/>
          </a:bodyPr>
          <a:lstStyle/>
          <a:p>
            <a:pPr algn="r" rtl="1">
              <a:defRPr sz="1650" b="0">
                <a:solidFill>
                  <a:srgbClr val="272525"/>
                </a:solidFill>
                <a:latin typeface="Inter"/>
                <a:ea typeface="Inter"/>
                <a:cs typeface="Inter"/>
              </a:defRPr>
            </a:pPr>
            <a:r>
              <a:rPr sz="1650" b="0" lang="he-IL">
                <a:solidFill>
                  <a:srgbClr val="272525"/>
                </a:solidFill>
                <a:latin typeface="Inter"/>
                <a:ea typeface="Inter"/>
                <a:cs typeface="Arial"/>
              </a:rPr>
              <a:t>מצב הפרויקט והמשימה הבאה, גם למי שלא קרא את השיחה.</a:t>
            </a:r>
          </a:p>
        </p:txBody>
      </p:sp>
    </p:spTree>
    <p:extLst>
      <p:ext uri="{BB962C8B-B14F-4D97-AF65-F5344CB8AC3E}">
        <ns4:creationId val="953106519"/>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2026-10-13T14:41:46.4160000Z</dcterms:created>
  <dcterms:modified xsi:type="dcterms:W3CDTF">2026-10-13T14:41:46.4160000Z</dcterms:modified>
</coreProperties>
</file>