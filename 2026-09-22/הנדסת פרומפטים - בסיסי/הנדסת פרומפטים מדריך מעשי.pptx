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</p:sldIdLst>
  <p:sldSz cy="8229600" cx="14630400"/>
  <p:notesSz cx="8229600" cy="14630400"/>
  <p:embeddedFontLst>
    <p:embeddedFont>
      <p:font typeface="Rubik Medium"/>
      <p:regular r:id="rId23"/>
      <p:bold r:id="rId24"/>
      <p:italic r:id="rId25"/>
      <p:boldItalic r:id="rId26"/>
    </p:embeddedFont>
    <p:embeddedFont>
      <p:font typeface="Open Sans"/>
      <p:regular r:id="rId27"/>
      <p:bold r:id="rId28"/>
      <p:italic r:id="rId29"/>
      <p:boldItalic r:id="rId3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31" roundtripDataSignature="AMtx7mjGdiKyehYVDEN0uu5ql7gADhU9M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6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4" Type="http://schemas.openxmlformats.org/officeDocument/2006/relationships/font" Target="fonts/RubikMedium-bold.fntdata"/><Relationship Id="rId23" Type="http://schemas.openxmlformats.org/officeDocument/2006/relationships/font" Target="fonts/RubikMedium-regular.fntdata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26" Type="http://schemas.openxmlformats.org/officeDocument/2006/relationships/font" Target="fonts/RubikMedium-boldItalic.fntdata"/><Relationship Id="rId25" Type="http://schemas.openxmlformats.org/officeDocument/2006/relationships/font" Target="fonts/RubikMedium-italic.fntdata"/><Relationship Id="rId28" Type="http://schemas.openxmlformats.org/officeDocument/2006/relationships/font" Target="fonts/OpenSans-bold.fntdata"/><Relationship Id="rId27" Type="http://schemas.openxmlformats.org/officeDocument/2006/relationships/font" Target="fonts/OpenSans-regular.fnt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29" Type="http://schemas.openxmlformats.org/officeDocument/2006/relationships/font" Target="fonts/OpenSans-italic.fntdata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31" Type="http://customschemas.google.com/relationships/presentationmetadata" Target="metadata"/><Relationship Id="rId30" Type="http://schemas.openxmlformats.org/officeDocument/2006/relationships/font" Target="fonts/OpenSans-boldItalic.fntdata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371850" y="1097275"/>
            <a:ext cx="5486650" cy="5486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822950" y="6949425"/>
            <a:ext cx="6583675" cy="658367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3" name="Google Shape;63;p1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1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" name="Google Shape;64;p1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1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2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72" name="Google Shape;72;p2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1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" name="Google Shape;73;p2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1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3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87" name="Google Shape;87;p3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1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" name="Google Shape;88;p3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1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4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97" name="Google Shape;97;p4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1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" name="Google Shape;98;p4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1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5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21" name="Google Shape;121;p5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1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" name="Google Shape;122;p5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1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6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44" name="Google Shape;144;p6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1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5" name="Google Shape;145;p6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1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7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75" name="Google Shape;175;p7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1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6" name="Google Shape;176;p7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1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8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90" name="Google Shape;190;p8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1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1" name="Google Shape;191;p8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1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9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13" name="Google Shape;213;p9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1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4" name="Google Shape;214;p9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1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10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34" name="Google Shape;234;p10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1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5" name="Google Shape;235;p10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1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11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61" name="Google Shape;261;p11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1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2" name="Google Shape;262;p11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1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12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74" name="Google Shape;274;p12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1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5" name="Google Shape;275;p12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1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p13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93" name="Google Shape;293;p13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1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4" name="Google Shape;294;p13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1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6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p14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08" name="Google Shape;308;p14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1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9" name="Google Shape;309;p14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1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7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p15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29" name="Google Shape;329;p15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1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0" name="Google Shape;330;p15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1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3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p16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45" name="Google Shape;345;p16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1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6" name="Google Shape;346;p16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1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6" name="Shape 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Google Shape;367;p17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68" name="Google Shape;368;p17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1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9" name="Google Shape;369;p17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1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5" name="Shape 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" name="Google Shape;386;p18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87" name="Google Shape;387;p18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1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8" name="Google Shape;388;p18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1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1 master">
  <p:cSld name="Slide 1 master">
    <p:bg>
      <p:bgPr>
        <a:solidFill>
          <a:srgbClr val="000000"/>
        </a:solidFill>
      </p:bgPr>
    </p:bg>
    <p:spTree>
      <p:nvGrpSpPr>
        <p:cNvPr id="6" name="Shape 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Google Shape;7;p2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" name="Google Shape;8;p2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2 master">
  <p:cSld name="Slide 2 master">
    <p:bg>
      <p:bgPr>
        <a:solidFill>
          <a:srgbClr val="000000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" name="Google Shape;11;p2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3 master">
  <p:cSld name="Slide 3 master">
    <p:bg>
      <p:bgPr>
        <a:solidFill>
          <a:srgbClr val="000000"/>
        </a:solidFill>
      </p:bgPr>
    </p:bg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22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22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4 master">
  <p:cSld name="Slide 4 master">
    <p:bg>
      <p:bgPr>
        <a:solidFill>
          <a:srgbClr val="000000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3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" name="Google Shape;17;p23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5 master">
  <p:cSld name="Slide 5 master">
    <p:bg>
      <p:bgPr>
        <a:solidFill>
          <a:srgbClr val="000000"/>
        </a:solidFill>
      </p:bgPr>
    </p:bg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24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" name="Google Shape;20;p24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6 master">
  <p:cSld name="Slide 6 master">
    <p:bg>
      <p:bgPr>
        <a:solidFill>
          <a:srgbClr val="000000"/>
        </a:solidFill>
      </p:bgPr>
    </p:bg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25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" name="Google Shape;23;p25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7 master">
  <p:cSld name="Slide 7 master">
    <p:bg>
      <p:bgPr>
        <a:solidFill>
          <a:srgbClr val="000000"/>
        </a:solidFill>
      </p:bgPr>
    </p:bg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26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" name="Google Shape;26;p26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8 master">
  <p:cSld name="Slide 8 master">
    <p:bg>
      <p:bgPr>
        <a:solidFill>
          <a:srgbClr val="000000"/>
        </a:solidFill>
      </p:bgPr>
    </p:bg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27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" name="Google Shape;29;p27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9 master">
  <p:cSld name="Slide 9 master">
    <p:bg>
      <p:bgPr>
        <a:solidFill>
          <a:srgbClr val="000000"/>
        </a:solidFill>
      </p:bgPr>
    </p:bg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28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" name="Google Shape;32;p28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10 master">
  <p:cSld name="Slide 10 master">
    <p:bg>
      <p:bgPr>
        <a:solidFill>
          <a:srgbClr val="000000"/>
        </a:solidFill>
      </p:bgPr>
    </p:bg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29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" name="Google Shape;35;p29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11 master">
  <p:cSld name="Slide 11 master">
    <p:bg>
      <p:bgPr>
        <a:solidFill>
          <a:srgbClr val="000000"/>
        </a:solidFill>
      </p:bgPr>
    </p:bg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3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" name="Google Shape;38;p3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12 master">
  <p:cSld name="Slide 12 master">
    <p:bg>
      <p:bgPr>
        <a:solidFill>
          <a:srgbClr val="000000"/>
        </a:solidFill>
      </p:bgPr>
    </p:bg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3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" name="Google Shape;41;p3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13 master">
  <p:cSld name="Slide 13 master">
    <p:bg>
      <p:bgPr>
        <a:solidFill>
          <a:srgbClr val="000000"/>
        </a:solidFill>
      </p:bgPr>
    </p:bg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32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" name="Google Shape;44;p32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14 master">
  <p:cSld name="Slide 14 master">
    <p:bg>
      <p:bgPr>
        <a:solidFill>
          <a:srgbClr val="000000"/>
        </a:solidFill>
      </p:bgPr>
    </p:bg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33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" name="Google Shape;47;p33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15 master">
  <p:cSld name="Slide 15 master">
    <p:bg>
      <p:bgPr>
        <a:solidFill>
          <a:srgbClr val="000000"/>
        </a:solidFill>
      </p:bgPr>
    </p:bg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34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" name="Google Shape;50;p34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16 master">
  <p:cSld name="Slide 16 master">
    <p:bg>
      <p:bgPr>
        <a:solidFill>
          <a:srgbClr val="000000"/>
        </a:solidFill>
      </p:bgPr>
    </p:bg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35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" name="Google Shape;53;p35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17 master">
  <p:cSld name="Slide 17 master">
    <p:bg>
      <p:bgPr>
        <a:solidFill>
          <a:srgbClr val="000000"/>
        </a:solidFill>
      </p:bgPr>
    </p:bg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36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" name="Google Shape;56;p36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18 master">
  <p:cSld name="Slide 18 master">
    <p:bg>
      <p:bgPr>
        <a:solidFill>
          <a:srgbClr val="000000"/>
        </a:solidFill>
      </p:bgPr>
    </p:bg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37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" name="Google Shape;59;p37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20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5" Type="http://schemas.openxmlformats.org/officeDocument/2006/relationships/slideLayout" Target="../slideLayouts/slideLayout5.xml"/><Relationship Id="rId19" Type="http://schemas.openxmlformats.org/officeDocument/2006/relationships/slideLayout" Target="../slideLayouts/slideLayout19.xml"/><Relationship Id="rId6" Type="http://schemas.openxmlformats.org/officeDocument/2006/relationships/slideLayout" Target="../slideLayouts/slideLayout6.xml"/><Relationship Id="rId18" Type="http://schemas.openxmlformats.org/officeDocument/2006/relationships/slideLayout" Target="../slideLayouts/slideLayout18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9.png"/><Relationship Id="rId4" Type="http://schemas.openxmlformats.org/officeDocument/2006/relationships/image" Target="../media/image4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7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8.png"/><Relationship Id="rId4" Type="http://schemas.openxmlformats.org/officeDocument/2006/relationships/image" Target="../media/image3.png"/><Relationship Id="rId5" Type="http://schemas.openxmlformats.org/officeDocument/2006/relationships/image" Target="../media/image19.png"/><Relationship Id="rId6" Type="http://schemas.openxmlformats.org/officeDocument/2006/relationships/image" Target="../media/image8.png"/><Relationship Id="rId7" Type="http://schemas.openxmlformats.org/officeDocument/2006/relationships/image" Target="../media/image2.png"/><Relationship Id="rId8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1.png"/><Relationship Id="rId4" Type="http://schemas.openxmlformats.org/officeDocument/2006/relationships/image" Target="../media/image16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6.png"/><Relationship Id="rId4" Type="http://schemas.openxmlformats.org/officeDocument/2006/relationships/image" Target="../media/image5.png"/><Relationship Id="rId5" Type="http://schemas.openxmlformats.org/officeDocument/2006/relationships/image" Target="../media/image10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2.png"/><Relationship Id="rId4" Type="http://schemas.openxmlformats.org/officeDocument/2006/relationships/image" Target="../media/image17.png"/><Relationship Id="rId5" Type="http://schemas.openxmlformats.org/officeDocument/2006/relationships/image" Target="../media/image15.png"/><Relationship Id="rId6" Type="http://schemas.openxmlformats.org/officeDocument/2006/relationships/image" Target="../media/image14.png"/><Relationship Id="rId7" Type="http://schemas.openxmlformats.org/officeDocument/2006/relationships/image" Target="../media/image20.png"/><Relationship Id="rId8" Type="http://schemas.openxmlformats.org/officeDocument/2006/relationships/image" Target="../media/image13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66" name="Google Shape;66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5486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67" name="Google Shape;67;p1"/>
          <p:cNvSpPr/>
          <p:nvPr/>
        </p:nvSpPr>
        <p:spPr>
          <a:xfrm>
            <a:off x="7081004" y="2409111"/>
            <a:ext cx="6755606" cy="7087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1" algn="r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D75BE2"/>
              </a:buClr>
              <a:buSzPts val="4450"/>
              <a:buFont typeface="Rubik Medium"/>
              <a:buNone/>
            </a:pPr>
            <a:r>
              <a:rPr b="0" i="0" lang="en-US" sz="4450" u="none" cap="none" strike="noStrike">
                <a:solidFill>
                  <a:srgbClr val="D75BE2"/>
                </a:solidFill>
                <a:latin typeface="Rubik Medium"/>
                <a:ea typeface="Rubik Medium"/>
                <a:cs typeface="Rubik Medium"/>
                <a:sym typeface="Rubik Medium"/>
              </a:rPr>
              <a:t>הנדסת פרומפט: מדריך מעשי</a:t>
            </a:r>
            <a:endParaRPr b="0" i="0" sz="4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68" name="Google Shape;68;p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498919" y="3458051"/>
            <a:ext cx="3118842" cy="1381482"/>
          </a:xfrm>
          <a:prstGeom prst="rect">
            <a:avLst/>
          </a:prstGeom>
          <a:noFill/>
          <a:ln>
            <a:noFill/>
          </a:ln>
        </p:spPr>
      </p:pic>
      <p:sp>
        <p:nvSpPr>
          <p:cNvPr id="69" name="Google Shape;69;p1"/>
          <p:cNvSpPr/>
          <p:nvPr/>
        </p:nvSpPr>
        <p:spPr>
          <a:xfrm>
            <a:off x="6280190" y="5094684"/>
            <a:ext cx="7556421" cy="7258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1" algn="r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750"/>
              <a:buFont typeface="Open Sans"/>
              <a:buNone/>
            </a:pPr>
            <a:r>
              <a:rPr b="0" i="0" lang="en-US" sz="1750" u="none" cap="none" strike="noStrike">
                <a:solidFill>
                  <a:srgbClr val="272525"/>
                </a:solidFill>
                <a:latin typeface="Open Sans"/>
                <a:ea typeface="Open Sans"/>
                <a:cs typeface="Open Sans"/>
                <a:sym typeface="Open Sans"/>
              </a:rPr>
              <a:t>שליטה בהנדסת פרומפט מאפשרת לנצל את הפוטנציאל המלא של מודלים של בינה מלאכותית. מצגת זו מכסה עקרונות וטכניקות חיוניים ליצירת פרומפטים יעילים.</a:t>
            </a:r>
            <a:endParaRPr b="0" i="0" sz="1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"/>
          <p:cNvSpPr/>
          <p:nvPr/>
        </p:nvSpPr>
        <p:spPr>
          <a:xfrm>
            <a:off x="7736440" y="623768"/>
            <a:ext cx="6100171" cy="7087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1" algn="r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D75BE2"/>
              </a:buClr>
              <a:buSzPts val="4450"/>
              <a:buFont typeface="Rubik Medium"/>
              <a:buNone/>
            </a:pPr>
            <a:r>
              <a:rPr lang="en-US" sz="4450">
                <a:solidFill>
                  <a:srgbClr val="D75BE2"/>
                </a:solidFill>
                <a:latin typeface="Rubik Medium"/>
                <a:ea typeface="Rubik Medium"/>
                <a:cs typeface="Rubik Medium"/>
                <a:sym typeface="Rubik Medium"/>
              </a:rPr>
              <a:t>תוכן העניינים</a:t>
            </a:r>
            <a:endParaRPr sz="44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" name="Google Shape;76;p2"/>
          <p:cNvSpPr/>
          <p:nvPr/>
        </p:nvSpPr>
        <p:spPr>
          <a:xfrm>
            <a:off x="13326308" y="1672709"/>
            <a:ext cx="510302" cy="510302"/>
          </a:xfrm>
          <a:prstGeom prst="roundRect">
            <a:avLst>
              <a:gd fmla="val 18669" name="adj"/>
            </a:avLst>
          </a:prstGeom>
          <a:solidFill>
            <a:srgbClr val="F4D4F7"/>
          </a:solidFill>
          <a:ln cap="flat" cmpd="sng" w="9525">
            <a:solidFill>
              <a:srgbClr val="DABA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1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" name="Google Shape;77;p2"/>
          <p:cNvSpPr/>
          <p:nvPr/>
        </p:nvSpPr>
        <p:spPr>
          <a:xfrm>
            <a:off x="13411379" y="1715214"/>
            <a:ext cx="340162" cy="42529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2650"/>
              <a:buFont typeface="Rubik Medium"/>
              <a:buNone/>
            </a:pPr>
            <a:r>
              <a:rPr lang="en-US" sz="2650">
                <a:solidFill>
                  <a:srgbClr val="272525"/>
                </a:solidFill>
                <a:latin typeface="Rubik Medium"/>
                <a:ea typeface="Rubik Medium"/>
                <a:cs typeface="Rubik Medium"/>
                <a:sym typeface="Rubik Medium"/>
              </a:rPr>
              <a:t>1</a:t>
            </a:r>
            <a:endParaRPr sz="26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" name="Google Shape;78;p2"/>
          <p:cNvSpPr/>
          <p:nvPr/>
        </p:nvSpPr>
        <p:spPr>
          <a:xfrm>
            <a:off x="10264259" y="1750576"/>
            <a:ext cx="2835235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1"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2200"/>
              <a:buFont typeface="Rubik Medium"/>
              <a:buNone/>
            </a:pPr>
            <a:r>
              <a:rPr lang="en-US" sz="2200">
                <a:solidFill>
                  <a:srgbClr val="272525"/>
                </a:solidFill>
                <a:latin typeface="Rubik Medium"/>
                <a:ea typeface="Rubik Medium"/>
                <a:cs typeface="Rubik Medium"/>
                <a:sym typeface="Rubik Medium"/>
              </a:rPr>
              <a:t>מה זה?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" name="Google Shape;79;p2"/>
          <p:cNvSpPr/>
          <p:nvPr/>
        </p:nvSpPr>
        <p:spPr>
          <a:xfrm>
            <a:off x="13326308" y="2636639"/>
            <a:ext cx="510302" cy="510302"/>
          </a:xfrm>
          <a:prstGeom prst="roundRect">
            <a:avLst>
              <a:gd fmla="val 18669" name="adj"/>
            </a:avLst>
          </a:prstGeom>
          <a:solidFill>
            <a:srgbClr val="F4D4F7"/>
          </a:solidFill>
          <a:ln cap="flat" cmpd="sng" w="9525">
            <a:solidFill>
              <a:srgbClr val="DABA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1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p2"/>
          <p:cNvSpPr/>
          <p:nvPr/>
        </p:nvSpPr>
        <p:spPr>
          <a:xfrm>
            <a:off x="13411379" y="2679144"/>
            <a:ext cx="340162" cy="42529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2650"/>
              <a:buFont typeface="Rubik Medium"/>
              <a:buNone/>
            </a:pPr>
            <a:r>
              <a:rPr lang="en-US" sz="2650">
                <a:solidFill>
                  <a:srgbClr val="272525"/>
                </a:solidFill>
                <a:latin typeface="Rubik Medium"/>
                <a:ea typeface="Rubik Medium"/>
                <a:cs typeface="Rubik Medium"/>
                <a:sym typeface="Rubik Medium"/>
              </a:rPr>
              <a:t>2</a:t>
            </a:r>
            <a:endParaRPr sz="26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p2"/>
          <p:cNvSpPr/>
          <p:nvPr/>
        </p:nvSpPr>
        <p:spPr>
          <a:xfrm>
            <a:off x="8468916" y="2714506"/>
            <a:ext cx="4630579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1"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2200"/>
              <a:buFont typeface="Rubik Medium"/>
              <a:buNone/>
            </a:pPr>
            <a:r>
              <a:rPr lang="en-US" sz="2200">
                <a:solidFill>
                  <a:srgbClr val="272525"/>
                </a:solidFill>
                <a:latin typeface="Rubik Medium"/>
                <a:ea typeface="Rubik Medium"/>
                <a:cs typeface="Rubik Medium"/>
                <a:sym typeface="Rubik Medium"/>
              </a:rPr>
              <a:t>חקירת עקרונות מפתח להנדסת פרומפט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" name="Google Shape;82;p2"/>
          <p:cNvSpPr/>
          <p:nvPr/>
        </p:nvSpPr>
        <p:spPr>
          <a:xfrm>
            <a:off x="13326308" y="3600569"/>
            <a:ext cx="510302" cy="510302"/>
          </a:xfrm>
          <a:prstGeom prst="roundRect">
            <a:avLst>
              <a:gd fmla="val 18669" name="adj"/>
            </a:avLst>
          </a:prstGeom>
          <a:solidFill>
            <a:srgbClr val="F4D4F7"/>
          </a:solidFill>
          <a:ln cap="flat" cmpd="sng" w="9525">
            <a:solidFill>
              <a:srgbClr val="DABA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1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" name="Google Shape;83;p2"/>
          <p:cNvSpPr/>
          <p:nvPr/>
        </p:nvSpPr>
        <p:spPr>
          <a:xfrm>
            <a:off x="13411379" y="3643074"/>
            <a:ext cx="340162" cy="42529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2650"/>
              <a:buFont typeface="Rubik Medium"/>
              <a:buNone/>
            </a:pPr>
            <a:r>
              <a:rPr lang="en-US" sz="2650">
                <a:solidFill>
                  <a:srgbClr val="272525"/>
                </a:solidFill>
                <a:latin typeface="Rubik Medium"/>
                <a:ea typeface="Rubik Medium"/>
                <a:cs typeface="Rubik Medium"/>
                <a:sym typeface="Rubik Medium"/>
              </a:rPr>
              <a:t>3</a:t>
            </a:r>
            <a:endParaRPr sz="26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" name="Google Shape;84;p2"/>
          <p:cNvSpPr/>
          <p:nvPr/>
        </p:nvSpPr>
        <p:spPr>
          <a:xfrm>
            <a:off x="8880038" y="3678436"/>
            <a:ext cx="4219456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1"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2200"/>
              <a:buFont typeface="Rubik Medium"/>
              <a:buNone/>
            </a:pPr>
            <a:r>
              <a:rPr lang="en-US" sz="2200">
                <a:solidFill>
                  <a:srgbClr val="272525"/>
                </a:solidFill>
                <a:latin typeface="Rubik Medium"/>
                <a:ea typeface="Rubik Medium"/>
                <a:cs typeface="Rubik Medium"/>
                <a:sym typeface="Rubik Medium"/>
              </a:rPr>
              <a:t>דוגמאות של פרומפטים 'טובים ורעים'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90" name="Google Shape;90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5486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3"/>
          <p:cNvSpPr/>
          <p:nvPr/>
        </p:nvSpPr>
        <p:spPr>
          <a:xfrm>
            <a:off x="8166021" y="623768"/>
            <a:ext cx="5670590" cy="7087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1" algn="r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D75BE2"/>
              </a:buClr>
              <a:buSzPts val="4450"/>
              <a:buFont typeface="Rubik Medium"/>
              <a:buNone/>
            </a:pPr>
            <a:r>
              <a:rPr lang="en-US" sz="4450">
                <a:solidFill>
                  <a:srgbClr val="D75BE2"/>
                </a:solidFill>
                <a:latin typeface="Rubik Medium"/>
                <a:ea typeface="Rubik Medium"/>
                <a:cs typeface="Rubik Medium"/>
                <a:sym typeface="Rubik Medium"/>
              </a:rPr>
              <a:t>מה זה?</a:t>
            </a:r>
            <a:endParaRPr sz="44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3"/>
          <p:cNvSpPr/>
          <p:nvPr/>
        </p:nvSpPr>
        <p:spPr>
          <a:xfrm>
            <a:off x="6280190" y="1672709"/>
            <a:ext cx="7556421" cy="1685092"/>
          </a:xfrm>
          <a:prstGeom prst="roundRect">
            <a:avLst>
              <a:gd fmla="val 5654" name="adj"/>
            </a:avLst>
          </a:prstGeom>
          <a:solidFill>
            <a:srgbClr val="F4D4F7"/>
          </a:solidFill>
          <a:ln cap="flat" cmpd="sng" w="9525">
            <a:solidFill>
              <a:srgbClr val="DABA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1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3"/>
          <p:cNvSpPr/>
          <p:nvPr/>
        </p:nvSpPr>
        <p:spPr>
          <a:xfrm>
            <a:off x="10766941" y="1907143"/>
            <a:ext cx="2835235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1"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2200"/>
              <a:buFont typeface="Rubik Medium"/>
              <a:buNone/>
            </a:pPr>
            <a:r>
              <a:rPr lang="en-US" sz="2200">
                <a:solidFill>
                  <a:srgbClr val="272525"/>
                </a:solidFill>
                <a:latin typeface="Rubik Medium"/>
                <a:ea typeface="Rubik Medium"/>
                <a:cs typeface="Rubik Medium"/>
                <a:sym typeface="Rubik Medium"/>
              </a:rPr>
              <a:t>הנדסת פרומפט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3"/>
          <p:cNvSpPr/>
          <p:nvPr/>
        </p:nvSpPr>
        <p:spPr>
          <a:xfrm>
            <a:off x="6514624" y="2397562"/>
            <a:ext cx="7087553" cy="7258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1" algn="r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750"/>
              <a:buFont typeface="Open Sans"/>
              <a:buNone/>
            </a:pPr>
            <a:r>
              <a:rPr lang="en-US" sz="1750">
                <a:solidFill>
                  <a:srgbClr val="272525"/>
                </a:solidFill>
                <a:latin typeface="Open Sans"/>
                <a:ea typeface="Open Sans"/>
                <a:cs typeface="Open Sans"/>
                <a:sym typeface="Open Sans"/>
              </a:rPr>
              <a:t>הנדסת פרומפט מתייחסת לאופן שבו משתמשים יכולים לתת הוראות טובות לבינה מלאכותית יוצרת, כך שיקבלו את התוצאה האופטימלית ממנה.</a:t>
            </a:r>
            <a:endParaRPr sz="17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4"/>
          <p:cNvSpPr/>
          <p:nvPr/>
        </p:nvSpPr>
        <p:spPr>
          <a:xfrm>
            <a:off x="6627376" y="623768"/>
            <a:ext cx="7209234" cy="67341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1" algn="r">
              <a:lnSpc>
                <a:spcPct val="126190"/>
              </a:lnSpc>
              <a:spcBef>
                <a:spcPts val="0"/>
              </a:spcBef>
              <a:spcAft>
                <a:spcPts val="0"/>
              </a:spcAft>
              <a:buClr>
                <a:srgbClr val="D75BE2"/>
              </a:buClr>
              <a:buSzPts val="4200"/>
              <a:buFont typeface="Rubik Medium"/>
              <a:buNone/>
            </a:pPr>
            <a:r>
              <a:rPr lang="en-US" sz="4200">
                <a:solidFill>
                  <a:srgbClr val="D75BE2"/>
                </a:solidFill>
                <a:latin typeface="Rubik Medium"/>
                <a:ea typeface="Rubik Medium"/>
                <a:cs typeface="Rubik Medium"/>
                <a:sym typeface="Rubik Medium"/>
              </a:rPr>
              <a:t>טיפים לשיחה עם בינה מלאכותית</a:t>
            </a:r>
            <a:endParaRPr sz="4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01" name="Google Shape;101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297972" y="2280047"/>
            <a:ext cx="538639" cy="538639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4"/>
          <p:cNvSpPr/>
          <p:nvPr/>
        </p:nvSpPr>
        <p:spPr>
          <a:xfrm>
            <a:off x="10977682" y="3034070"/>
            <a:ext cx="2858929" cy="3365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1" algn="r">
              <a:lnSpc>
                <a:spcPct val="12619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2100"/>
              <a:buFont typeface="Rubik Medium"/>
              <a:buNone/>
            </a:pPr>
            <a:r>
              <a:rPr lang="en-US" sz="2100">
                <a:solidFill>
                  <a:srgbClr val="272525"/>
                </a:solidFill>
                <a:latin typeface="Rubik Medium"/>
                <a:ea typeface="Rubik Medium"/>
                <a:cs typeface="Rubik Medium"/>
                <a:sym typeface="Rubik Medium"/>
              </a:rPr>
              <a:t>1. היה ברור, ספציפי ופשוט</a:t>
            </a:r>
            <a:endParaRPr sz="2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4"/>
          <p:cNvSpPr/>
          <p:nvPr/>
        </p:nvSpPr>
        <p:spPr>
          <a:xfrm>
            <a:off x="9668589" y="3499842"/>
            <a:ext cx="4168021" cy="3448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1" algn="r">
              <a:lnSpc>
                <a:spcPct val="163636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650"/>
              <a:buFont typeface="Open Sans"/>
              <a:buNone/>
            </a:pPr>
            <a:r>
              <a:rPr lang="en-US" sz="1650">
                <a:solidFill>
                  <a:srgbClr val="272525"/>
                </a:solidFill>
                <a:latin typeface="Open Sans"/>
                <a:ea typeface="Open Sans"/>
                <a:cs typeface="Open Sans"/>
                <a:sym typeface="Open Sans"/>
              </a:rPr>
              <a:t>אמור בדיוק במה אתה צריך עזרה, בשפה פשוטה.</a:t>
            </a:r>
            <a:endParaRPr sz="16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04" name="Google Shape;104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860631" y="2280047"/>
            <a:ext cx="538639" cy="538639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4"/>
          <p:cNvSpPr/>
          <p:nvPr/>
        </p:nvSpPr>
        <p:spPr>
          <a:xfrm>
            <a:off x="5231249" y="3034070"/>
            <a:ext cx="4168021" cy="6731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1" algn="r">
              <a:lnSpc>
                <a:spcPct val="12619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2100"/>
              <a:buFont typeface="Rubik Medium"/>
              <a:buNone/>
            </a:pPr>
            <a:r>
              <a:rPr lang="en-US" sz="2100">
                <a:solidFill>
                  <a:srgbClr val="272525"/>
                </a:solidFill>
                <a:latin typeface="Rubik Medium"/>
                <a:ea typeface="Rubik Medium"/>
                <a:cs typeface="Rubik Medium"/>
                <a:sym typeface="Rubik Medium"/>
              </a:rPr>
              <a:t>2. הגדר את התפקיד של הבינה המלאכותית</a:t>
            </a:r>
            <a:endParaRPr sz="2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4"/>
          <p:cNvSpPr/>
          <p:nvPr/>
        </p:nvSpPr>
        <p:spPr>
          <a:xfrm>
            <a:off x="5231249" y="3836432"/>
            <a:ext cx="4168021" cy="103441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1" algn="r">
              <a:lnSpc>
                <a:spcPct val="163636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650"/>
              <a:buFont typeface="Open Sans"/>
              <a:buNone/>
            </a:pPr>
            <a:r>
              <a:rPr lang="en-US" sz="1650">
                <a:solidFill>
                  <a:srgbClr val="272525"/>
                </a:solidFill>
                <a:latin typeface="Open Sans"/>
                <a:ea typeface="Open Sans"/>
                <a:cs typeface="Open Sans"/>
                <a:sym typeface="Open Sans"/>
              </a:rPr>
              <a:t>ציין את התפקיד או הפרסונה שאתה רוצה שהבינה המלאכותית תהיה ואיך אתה רוצה שהיא תבצע את המשימה שלה.</a:t>
            </a:r>
            <a:endParaRPr sz="16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07" name="Google Shape;107;p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423291" y="2280047"/>
            <a:ext cx="538639" cy="538639"/>
          </a:xfrm>
          <a:prstGeom prst="rect">
            <a:avLst/>
          </a:prstGeom>
          <a:noFill/>
          <a:ln>
            <a:noFill/>
          </a:ln>
        </p:spPr>
      </p:pic>
      <p:sp>
        <p:nvSpPr>
          <p:cNvPr id="108" name="Google Shape;108;p4"/>
          <p:cNvSpPr/>
          <p:nvPr/>
        </p:nvSpPr>
        <p:spPr>
          <a:xfrm>
            <a:off x="2268379" y="3034070"/>
            <a:ext cx="2693551" cy="3365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1" algn="r">
              <a:lnSpc>
                <a:spcPct val="12619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2100"/>
              <a:buFont typeface="Rubik Medium"/>
              <a:buNone/>
            </a:pPr>
            <a:r>
              <a:rPr lang="en-US" sz="2100">
                <a:solidFill>
                  <a:srgbClr val="272525"/>
                </a:solidFill>
                <a:latin typeface="Rubik Medium"/>
                <a:ea typeface="Rubik Medium"/>
                <a:cs typeface="Rubik Medium"/>
                <a:sym typeface="Rubik Medium"/>
              </a:rPr>
              <a:t>3. ציין את הקהל</a:t>
            </a:r>
            <a:endParaRPr sz="2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4"/>
          <p:cNvSpPr/>
          <p:nvPr/>
        </p:nvSpPr>
        <p:spPr>
          <a:xfrm>
            <a:off x="793790" y="3499842"/>
            <a:ext cx="4168140" cy="6896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1" algn="r">
              <a:lnSpc>
                <a:spcPct val="163636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650"/>
              <a:buFont typeface="Open Sans"/>
              <a:buNone/>
            </a:pPr>
            <a:r>
              <a:rPr lang="en-US" sz="1650">
                <a:solidFill>
                  <a:srgbClr val="272525"/>
                </a:solidFill>
                <a:latin typeface="Open Sans"/>
                <a:ea typeface="Open Sans"/>
                <a:cs typeface="Open Sans"/>
                <a:sym typeface="Open Sans"/>
              </a:rPr>
              <a:t>ציין את הקהל (למשל מומחים או מתחילים) כדי להתאים את התשובה לרמת ההבנה שלהם.</a:t>
            </a:r>
            <a:endParaRPr sz="16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10" name="Google Shape;110;p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3297972" y="5113258"/>
            <a:ext cx="538639" cy="538639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4"/>
          <p:cNvSpPr/>
          <p:nvPr/>
        </p:nvSpPr>
        <p:spPr>
          <a:xfrm>
            <a:off x="11143059" y="5867281"/>
            <a:ext cx="2693551" cy="3365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1" algn="r">
              <a:lnSpc>
                <a:spcPct val="12619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2100"/>
              <a:buFont typeface="Rubik Medium"/>
              <a:buNone/>
            </a:pPr>
            <a:r>
              <a:rPr lang="en-US" sz="2100">
                <a:solidFill>
                  <a:srgbClr val="272525"/>
                </a:solidFill>
                <a:latin typeface="Rubik Medium"/>
                <a:ea typeface="Rubik Medium"/>
                <a:cs typeface="Rubik Medium"/>
                <a:sym typeface="Rubik Medium"/>
              </a:rPr>
              <a:t>4. אל תניח ידע קודם</a:t>
            </a:r>
            <a:endParaRPr sz="2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4"/>
          <p:cNvSpPr/>
          <p:nvPr/>
        </p:nvSpPr>
        <p:spPr>
          <a:xfrm>
            <a:off x="9668589" y="6333053"/>
            <a:ext cx="4168021" cy="6896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1" algn="r">
              <a:lnSpc>
                <a:spcPct val="163636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650"/>
              <a:buFont typeface="Open Sans"/>
              <a:buNone/>
            </a:pPr>
            <a:r>
              <a:rPr lang="en-US" sz="1650">
                <a:solidFill>
                  <a:srgbClr val="272525"/>
                </a:solidFill>
                <a:latin typeface="Open Sans"/>
                <a:ea typeface="Open Sans"/>
                <a:cs typeface="Open Sans"/>
                <a:sym typeface="Open Sans"/>
              </a:rPr>
              <a:t>אל תניח שהבינה המלאכותית יודעת על מה אתה מדבר.</a:t>
            </a:r>
            <a:endParaRPr sz="16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13" name="Google Shape;113;p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860631" y="5113258"/>
            <a:ext cx="538639" cy="538639"/>
          </a:xfrm>
          <a:prstGeom prst="rect">
            <a:avLst/>
          </a:prstGeom>
          <a:noFill/>
          <a:ln>
            <a:noFill/>
          </a:ln>
        </p:spPr>
      </p:pic>
      <p:sp>
        <p:nvSpPr>
          <p:cNvPr id="114" name="Google Shape;114;p4"/>
          <p:cNvSpPr/>
          <p:nvPr/>
        </p:nvSpPr>
        <p:spPr>
          <a:xfrm>
            <a:off x="6472952" y="5867281"/>
            <a:ext cx="2926318" cy="3365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1" algn="r">
              <a:lnSpc>
                <a:spcPct val="12619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2100"/>
              <a:buFont typeface="Rubik Medium"/>
              <a:buNone/>
            </a:pPr>
            <a:r>
              <a:rPr lang="en-US" sz="2100">
                <a:solidFill>
                  <a:srgbClr val="272525"/>
                </a:solidFill>
                <a:latin typeface="Rubik Medium"/>
                <a:ea typeface="Rubik Medium"/>
                <a:cs typeface="Rubik Medium"/>
                <a:sym typeface="Rubik Medium"/>
              </a:rPr>
              <a:t>5. עשה זאת צעד אחר צעד</a:t>
            </a:r>
            <a:endParaRPr sz="2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4"/>
          <p:cNvSpPr/>
          <p:nvPr/>
        </p:nvSpPr>
        <p:spPr>
          <a:xfrm>
            <a:off x="5231249" y="6333053"/>
            <a:ext cx="4168021" cy="3448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1" algn="r">
              <a:lnSpc>
                <a:spcPct val="163636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650"/>
              <a:buFont typeface="Open Sans"/>
              <a:buNone/>
            </a:pPr>
            <a:r>
              <a:rPr lang="en-US" sz="1650">
                <a:solidFill>
                  <a:srgbClr val="272525"/>
                </a:solidFill>
                <a:latin typeface="Open Sans"/>
                <a:ea typeface="Open Sans"/>
                <a:cs typeface="Open Sans"/>
                <a:sym typeface="Open Sans"/>
              </a:rPr>
              <a:t>למשימות גדולות, פרק אותן לחלקים קטנים יותר.</a:t>
            </a:r>
            <a:endParaRPr sz="16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16" name="Google Shape;116;p4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4423291" y="5113258"/>
            <a:ext cx="538639" cy="538639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4"/>
          <p:cNvSpPr/>
          <p:nvPr/>
        </p:nvSpPr>
        <p:spPr>
          <a:xfrm>
            <a:off x="2268379" y="5867281"/>
            <a:ext cx="2693551" cy="3365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1" algn="r">
              <a:lnSpc>
                <a:spcPct val="12619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2100"/>
              <a:buFont typeface="Rubik Medium"/>
              <a:buNone/>
            </a:pPr>
            <a:r>
              <a:rPr lang="en-US" sz="2100">
                <a:solidFill>
                  <a:srgbClr val="272525"/>
                </a:solidFill>
                <a:latin typeface="Rubik Medium"/>
                <a:ea typeface="Rubik Medium"/>
                <a:cs typeface="Rubik Medium"/>
                <a:sym typeface="Rubik Medium"/>
              </a:rPr>
              <a:t>6. היה סבלני ואיטרטיבי</a:t>
            </a:r>
            <a:endParaRPr sz="2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4"/>
          <p:cNvSpPr/>
          <p:nvPr/>
        </p:nvSpPr>
        <p:spPr>
          <a:xfrm>
            <a:off x="793790" y="6333053"/>
            <a:ext cx="4168140" cy="103441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1" algn="r">
              <a:lnSpc>
                <a:spcPct val="163636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650"/>
              <a:buFont typeface="Open Sans"/>
              <a:buNone/>
            </a:pPr>
            <a:r>
              <a:rPr lang="en-US" sz="1650">
                <a:solidFill>
                  <a:srgbClr val="272525"/>
                </a:solidFill>
                <a:latin typeface="Open Sans"/>
                <a:ea typeface="Open Sans"/>
                <a:cs typeface="Open Sans"/>
                <a:sym typeface="Open Sans"/>
              </a:rPr>
              <a:t>לפעמים אתה עשוי להזדקק לשאול כמה פעמים בדרכים שונות כדי לקבל את התשובה הטובה ביותר.</a:t>
            </a:r>
            <a:endParaRPr sz="16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5"/>
          <p:cNvSpPr/>
          <p:nvPr/>
        </p:nvSpPr>
        <p:spPr>
          <a:xfrm>
            <a:off x="7815263" y="623768"/>
            <a:ext cx="6021348" cy="7087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1" algn="r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D75BE2"/>
              </a:buClr>
              <a:buSzPts val="4450"/>
              <a:buFont typeface="Rubik Medium"/>
              <a:buNone/>
            </a:pPr>
            <a:r>
              <a:rPr lang="en-US" sz="4450">
                <a:solidFill>
                  <a:srgbClr val="D75BE2"/>
                </a:solidFill>
                <a:latin typeface="Rubik Medium"/>
                <a:ea typeface="Rubik Medium"/>
                <a:cs typeface="Rubik Medium"/>
                <a:sym typeface="Rubik Medium"/>
              </a:rPr>
              <a:t>1. היה ברור, ספציפי ופשוט</a:t>
            </a:r>
            <a:endParaRPr sz="44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5"/>
          <p:cNvSpPr/>
          <p:nvPr/>
        </p:nvSpPr>
        <p:spPr>
          <a:xfrm>
            <a:off x="9640252" y="1786176"/>
            <a:ext cx="4196358" cy="1685092"/>
          </a:xfrm>
          <a:prstGeom prst="roundRect">
            <a:avLst>
              <a:gd fmla="val 5654" name="adj"/>
            </a:avLst>
          </a:prstGeom>
          <a:solidFill>
            <a:srgbClr val="F4D4F7"/>
          </a:solidFill>
          <a:ln cap="flat" cmpd="sng" w="9525">
            <a:solidFill>
              <a:srgbClr val="DABA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1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5"/>
          <p:cNvSpPr/>
          <p:nvPr/>
        </p:nvSpPr>
        <p:spPr>
          <a:xfrm>
            <a:off x="9874687" y="2020610"/>
            <a:ext cx="3727490" cy="10629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1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2200"/>
              <a:buFont typeface="Rubik Medium"/>
              <a:buNone/>
            </a:pPr>
            <a:r>
              <a:rPr lang="en-US" sz="2200">
                <a:solidFill>
                  <a:srgbClr val="272525"/>
                </a:solidFill>
                <a:latin typeface="Rubik Medium"/>
                <a:ea typeface="Rubik Medium"/>
                <a:cs typeface="Rubik Medium"/>
                <a:sym typeface="Rubik Medium"/>
              </a:rPr>
              <a:t>ודא שהפרומפט שלך ברור וחד-משמעי, כתוב בצורה תמציתית ובשפה פשוטה.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5"/>
          <p:cNvSpPr/>
          <p:nvPr/>
        </p:nvSpPr>
        <p:spPr>
          <a:xfrm>
            <a:off x="5217081" y="1786176"/>
            <a:ext cx="4196358" cy="1685092"/>
          </a:xfrm>
          <a:prstGeom prst="roundRect">
            <a:avLst>
              <a:gd fmla="val 5654" name="adj"/>
            </a:avLst>
          </a:prstGeom>
          <a:solidFill>
            <a:srgbClr val="F4D4F7"/>
          </a:solidFill>
          <a:ln cap="flat" cmpd="sng" w="9525">
            <a:solidFill>
              <a:srgbClr val="DABA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1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5"/>
          <p:cNvSpPr/>
          <p:nvPr/>
        </p:nvSpPr>
        <p:spPr>
          <a:xfrm>
            <a:off x="5897642" y="2020610"/>
            <a:ext cx="2835235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1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2200"/>
              <a:buFont typeface="Rubik Medium"/>
              <a:buNone/>
            </a:pPr>
            <a:r>
              <a:rPr lang="en-US" sz="2200">
                <a:solidFill>
                  <a:srgbClr val="272525"/>
                </a:solidFill>
                <a:latin typeface="Rubik Medium"/>
                <a:ea typeface="Rubik Medium"/>
                <a:cs typeface="Rubik Medium"/>
                <a:sym typeface="Rubik Medium"/>
              </a:rPr>
              <a:t>הימנע מעמימות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5"/>
          <p:cNvSpPr/>
          <p:nvPr/>
        </p:nvSpPr>
        <p:spPr>
          <a:xfrm>
            <a:off x="5451515" y="2511028"/>
            <a:ext cx="3727490" cy="7258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1" algn="ctr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750"/>
              <a:buFont typeface="Open Sans"/>
              <a:buNone/>
            </a:pPr>
            <a:r>
              <a:rPr lang="en-US" sz="1750">
                <a:solidFill>
                  <a:srgbClr val="272525"/>
                </a:solidFill>
                <a:latin typeface="Open Sans"/>
                <a:ea typeface="Open Sans"/>
                <a:cs typeface="Open Sans"/>
                <a:sym typeface="Open Sans"/>
              </a:rPr>
              <a:t>השתמש בשפה מדויקת ובמשפטים שלמים כדי למנוע פירושים שגויים.</a:t>
            </a:r>
            <a:endParaRPr sz="17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5"/>
          <p:cNvSpPr/>
          <p:nvPr/>
        </p:nvSpPr>
        <p:spPr>
          <a:xfrm>
            <a:off x="793909" y="1786176"/>
            <a:ext cx="4196358" cy="1685092"/>
          </a:xfrm>
          <a:prstGeom prst="roundRect">
            <a:avLst>
              <a:gd fmla="val 5654" name="adj"/>
            </a:avLst>
          </a:prstGeom>
          <a:solidFill>
            <a:srgbClr val="F4D4F7"/>
          </a:solidFill>
          <a:ln cap="flat" cmpd="sng" w="9525">
            <a:solidFill>
              <a:srgbClr val="DABA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1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5"/>
          <p:cNvSpPr/>
          <p:nvPr/>
        </p:nvSpPr>
        <p:spPr>
          <a:xfrm>
            <a:off x="1435179" y="2020610"/>
            <a:ext cx="2913936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1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2200"/>
              <a:buFont typeface="Rubik Medium"/>
              <a:buNone/>
            </a:pPr>
            <a:r>
              <a:rPr lang="en-US" sz="2200">
                <a:solidFill>
                  <a:srgbClr val="272525"/>
                </a:solidFill>
                <a:latin typeface="Rubik Medium"/>
                <a:ea typeface="Rubik Medium"/>
                <a:cs typeface="Rubik Medium"/>
                <a:sym typeface="Rubik Medium"/>
              </a:rPr>
              <a:t>השתמש בהנחיות חיוביות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5"/>
          <p:cNvSpPr/>
          <p:nvPr/>
        </p:nvSpPr>
        <p:spPr>
          <a:xfrm>
            <a:off x="1028343" y="2511028"/>
            <a:ext cx="3727490" cy="7258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1" algn="ctr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750"/>
              <a:buFont typeface="Open Sans"/>
              <a:buNone/>
            </a:pPr>
            <a:r>
              <a:rPr lang="en-US" sz="1750">
                <a:solidFill>
                  <a:srgbClr val="272525"/>
                </a:solidFill>
                <a:latin typeface="Open Sans"/>
                <a:ea typeface="Open Sans"/>
                <a:cs typeface="Open Sans"/>
                <a:sym typeface="Open Sans"/>
              </a:rPr>
              <a:t>התמקד במה שהמודל צריך לעשות, לא במה שהוא לא צריך.</a:t>
            </a:r>
            <a:endParaRPr sz="17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5"/>
          <p:cNvSpPr/>
          <p:nvPr/>
        </p:nvSpPr>
        <p:spPr>
          <a:xfrm>
            <a:off x="9640252" y="3698081"/>
            <a:ext cx="4196358" cy="2047994"/>
          </a:xfrm>
          <a:prstGeom prst="roundRect">
            <a:avLst>
              <a:gd fmla="val 4652" name="adj"/>
            </a:avLst>
          </a:prstGeom>
          <a:solidFill>
            <a:srgbClr val="F4D4F7"/>
          </a:solidFill>
          <a:ln cap="flat" cmpd="sng" w="9525">
            <a:solidFill>
              <a:srgbClr val="DABA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1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5"/>
          <p:cNvSpPr/>
          <p:nvPr/>
        </p:nvSpPr>
        <p:spPr>
          <a:xfrm>
            <a:off x="10320814" y="3932515"/>
            <a:ext cx="2835235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1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2200"/>
              <a:buFont typeface="Rubik Medium"/>
              <a:buNone/>
            </a:pPr>
            <a:r>
              <a:rPr lang="en-US" sz="2200">
                <a:solidFill>
                  <a:srgbClr val="272525"/>
                </a:solidFill>
                <a:latin typeface="Rubik Medium"/>
                <a:ea typeface="Rubik Medium"/>
                <a:cs typeface="Rubik Medium"/>
                <a:sym typeface="Rubik Medium"/>
              </a:rPr>
              <a:t>הצהר בבירור על דרישות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5"/>
          <p:cNvSpPr/>
          <p:nvPr/>
        </p:nvSpPr>
        <p:spPr>
          <a:xfrm>
            <a:off x="9874687" y="4422934"/>
            <a:ext cx="3727490" cy="7258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1" algn="ctr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750"/>
              <a:buFont typeface="Open Sans"/>
              <a:buNone/>
            </a:pPr>
            <a:r>
              <a:rPr lang="en-US" sz="1750">
                <a:solidFill>
                  <a:srgbClr val="272525"/>
                </a:solidFill>
                <a:latin typeface="Open Sans"/>
                <a:ea typeface="Open Sans"/>
                <a:cs typeface="Open Sans"/>
                <a:sym typeface="Open Sans"/>
              </a:rPr>
              <a:t>ציין מילות מפתח מדויקות או תפוקות צפויות (למשל, נקודות, סיכומים).</a:t>
            </a:r>
            <a:endParaRPr sz="17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5"/>
          <p:cNvSpPr/>
          <p:nvPr/>
        </p:nvSpPr>
        <p:spPr>
          <a:xfrm>
            <a:off x="5217081" y="3698081"/>
            <a:ext cx="4196358" cy="2047994"/>
          </a:xfrm>
          <a:prstGeom prst="roundRect">
            <a:avLst>
              <a:gd fmla="val 4652" name="adj"/>
            </a:avLst>
          </a:prstGeom>
          <a:solidFill>
            <a:srgbClr val="F4D4F7"/>
          </a:solidFill>
          <a:ln cap="flat" cmpd="sng" w="9525">
            <a:solidFill>
              <a:srgbClr val="DABA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1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5"/>
          <p:cNvSpPr/>
          <p:nvPr/>
        </p:nvSpPr>
        <p:spPr>
          <a:xfrm>
            <a:off x="5897642" y="3932515"/>
            <a:ext cx="2835235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1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2200"/>
              <a:buFont typeface="Rubik Medium"/>
              <a:buNone/>
            </a:pPr>
            <a:r>
              <a:rPr lang="en-US" sz="2200">
                <a:solidFill>
                  <a:srgbClr val="272525"/>
                </a:solidFill>
                <a:latin typeface="Rubik Medium"/>
                <a:ea typeface="Rubik Medium"/>
                <a:cs typeface="Rubik Medium"/>
                <a:sym typeface="Rubik Medium"/>
              </a:rPr>
              <a:t>קבע ציפיות לאורך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5"/>
          <p:cNvSpPr/>
          <p:nvPr/>
        </p:nvSpPr>
        <p:spPr>
          <a:xfrm>
            <a:off x="5451515" y="4422934"/>
            <a:ext cx="3727490" cy="10887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1" algn="ctr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750"/>
              <a:buFont typeface="Open Sans"/>
              <a:buNone/>
            </a:pPr>
            <a:r>
              <a:rPr lang="en-US" sz="1750">
                <a:solidFill>
                  <a:srgbClr val="272525"/>
                </a:solidFill>
                <a:latin typeface="Open Sans"/>
                <a:ea typeface="Open Sans"/>
                <a:cs typeface="Open Sans"/>
                <a:sym typeface="Open Sans"/>
              </a:rPr>
              <a:t>הגדר את האורך או ההיקף הרצוי של התשובה (למשל, "הגבל את תשובתך ל-200 מילים").</a:t>
            </a:r>
            <a:endParaRPr sz="17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5"/>
          <p:cNvSpPr/>
          <p:nvPr/>
        </p:nvSpPr>
        <p:spPr>
          <a:xfrm>
            <a:off x="793909" y="3698081"/>
            <a:ext cx="4196358" cy="2047994"/>
          </a:xfrm>
          <a:prstGeom prst="roundRect">
            <a:avLst>
              <a:gd fmla="val 4652" name="adj"/>
            </a:avLst>
          </a:prstGeom>
          <a:solidFill>
            <a:srgbClr val="F4D4F7"/>
          </a:solidFill>
          <a:ln cap="flat" cmpd="sng" w="9525">
            <a:solidFill>
              <a:srgbClr val="DABA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1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5"/>
          <p:cNvSpPr/>
          <p:nvPr/>
        </p:nvSpPr>
        <p:spPr>
          <a:xfrm>
            <a:off x="1474470" y="3932515"/>
            <a:ext cx="2835235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1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2200"/>
              <a:buFont typeface="Rubik Medium"/>
              <a:buNone/>
            </a:pPr>
            <a:r>
              <a:rPr lang="en-US" sz="2200">
                <a:solidFill>
                  <a:srgbClr val="272525"/>
                </a:solidFill>
                <a:latin typeface="Rubik Medium"/>
                <a:ea typeface="Rubik Medium"/>
                <a:cs typeface="Rubik Medium"/>
                <a:sym typeface="Rubik Medium"/>
              </a:rPr>
              <a:t>הימנע מנימוס מיותר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5"/>
          <p:cNvSpPr/>
          <p:nvPr/>
        </p:nvSpPr>
        <p:spPr>
          <a:xfrm>
            <a:off x="1028343" y="4422934"/>
            <a:ext cx="3727490" cy="7258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1" algn="ctr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750"/>
              <a:buFont typeface="Open Sans"/>
              <a:buNone/>
            </a:pPr>
            <a:r>
              <a:rPr lang="en-US" sz="1750">
                <a:solidFill>
                  <a:srgbClr val="272525"/>
                </a:solidFill>
                <a:latin typeface="Open Sans"/>
                <a:ea typeface="Open Sans"/>
                <a:cs typeface="Open Sans"/>
                <a:sym typeface="Open Sans"/>
              </a:rPr>
              <a:t>היה תמציתי ודלג על ביטויים כמו "בבקשה" או "תודה".</a:t>
            </a:r>
            <a:endParaRPr sz="17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6"/>
          <p:cNvSpPr/>
          <p:nvPr/>
        </p:nvSpPr>
        <p:spPr>
          <a:xfrm>
            <a:off x="3331607" y="711756"/>
            <a:ext cx="10505003" cy="7087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1" algn="r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D75BE2"/>
              </a:buClr>
              <a:buSzPts val="4450"/>
              <a:buFont typeface="Rubik Medium"/>
              <a:buNone/>
            </a:pPr>
            <a:r>
              <a:rPr lang="en-US" sz="4450">
                <a:solidFill>
                  <a:srgbClr val="D75BE2"/>
                </a:solidFill>
                <a:latin typeface="Rubik Medium"/>
                <a:ea typeface="Rubik Medium"/>
                <a:cs typeface="Rubik Medium"/>
                <a:sym typeface="Rubik Medium"/>
              </a:rPr>
              <a:t>1. היה ברור, ספציפי ופשוט - דוגמאות פרומפט</a:t>
            </a:r>
            <a:endParaRPr sz="44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6"/>
          <p:cNvSpPr/>
          <p:nvPr/>
        </p:nvSpPr>
        <p:spPr>
          <a:xfrm>
            <a:off x="793790" y="1874163"/>
            <a:ext cx="13042821" cy="5731669"/>
          </a:xfrm>
          <a:prstGeom prst="roundRect">
            <a:avLst>
              <a:gd fmla="val 1662" name="adj"/>
            </a:avLst>
          </a:prstGeom>
          <a:noFill/>
          <a:ln cap="flat" cmpd="sng" w="9525">
            <a:solidFill>
              <a:srgbClr val="000000">
                <a:alpha val="7843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1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6"/>
          <p:cNvSpPr/>
          <p:nvPr/>
        </p:nvSpPr>
        <p:spPr>
          <a:xfrm>
            <a:off x="801410" y="1881783"/>
            <a:ext cx="13026271" cy="650319"/>
          </a:xfrm>
          <a:prstGeom prst="rect">
            <a:avLst/>
          </a:prstGeom>
          <a:solidFill>
            <a:srgbClr val="FFFFFF">
              <a:alpha val="3922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1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6"/>
          <p:cNvSpPr/>
          <p:nvPr/>
        </p:nvSpPr>
        <p:spPr>
          <a:xfrm>
            <a:off x="1029653" y="2025491"/>
            <a:ext cx="3884176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1" algn="r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750"/>
              <a:buFont typeface="Open Sans"/>
              <a:buNone/>
            </a:pPr>
            <a:r>
              <a:rPr b="1" lang="en-US" sz="1750">
                <a:solidFill>
                  <a:srgbClr val="272525"/>
                </a:solidFill>
                <a:latin typeface="Open Sans"/>
                <a:ea typeface="Open Sans"/>
                <a:cs typeface="Open Sans"/>
                <a:sym typeface="Open Sans"/>
              </a:rPr>
              <a:t>עיקרון</a:t>
            </a:r>
            <a:endParaRPr sz="17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6"/>
          <p:cNvSpPr/>
          <p:nvPr/>
        </p:nvSpPr>
        <p:spPr>
          <a:xfrm>
            <a:off x="5375077" y="2025491"/>
            <a:ext cx="3880366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1" algn="r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F44444"/>
              </a:buClr>
              <a:buSzPts val="1750"/>
              <a:buFont typeface="Open Sans"/>
              <a:buNone/>
            </a:pPr>
            <a:r>
              <a:rPr b="1" lang="en-US" sz="1750">
                <a:solidFill>
                  <a:srgbClr val="F44444"/>
                </a:solidFill>
                <a:latin typeface="Open Sans"/>
                <a:ea typeface="Open Sans"/>
                <a:cs typeface="Open Sans"/>
                <a:sym typeface="Open Sans"/>
              </a:rPr>
              <a:t>פרומפט גרוע</a:t>
            </a:r>
            <a:endParaRPr sz="17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6"/>
          <p:cNvSpPr/>
          <p:nvPr/>
        </p:nvSpPr>
        <p:spPr>
          <a:xfrm>
            <a:off x="9716691" y="2025491"/>
            <a:ext cx="3884176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1" algn="r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5CC97B"/>
              </a:buClr>
              <a:buSzPts val="1750"/>
              <a:buFont typeface="Open Sans"/>
              <a:buNone/>
            </a:pPr>
            <a:r>
              <a:rPr b="1" lang="en-US" sz="1750">
                <a:solidFill>
                  <a:srgbClr val="5CC97B"/>
                </a:solidFill>
                <a:latin typeface="Open Sans"/>
                <a:ea typeface="Open Sans"/>
                <a:cs typeface="Open Sans"/>
                <a:sym typeface="Open Sans"/>
              </a:rPr>
              <a:t>פרומפט טוב</a:t>
            </a:r>
            <a:endParaRPr sz="17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6"/>
          <p:cNvSpPr/>
          <p:nvPr/>
        </p:nvSpPr>
        <p:spPr>
          <a:xfrm>
            <a:off x="801410" y="2532102"/>
            <a:ext cx="13026271" cy="1013222"/>
          </a:xfrm>
          <a:prstGeom prst="rect">
            <a:avLst/>
          </a:prstGeom>
          <a:solidFill>
            <a:srgbClr val="000000">
              <a:alpha val="3922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1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6"/>
          <p:cNvSpPr/>
          <p:nvPr/>
        </p:nvSpPr>
        <p:spPr>
          <a:xfrm>
            <a:off x="1029653" y="2675811"/>
            <a:ext cx="3884176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1" algn="r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750"/>
              <a:buFont typeface="Open Sans"/>
              <a:buNone/>
            </a:pPr>
            <a:r>
              <a:rPr b="1" lang="en-US" sz="1750">
                <a:solidFill>
                  <a:srgbClr val="272525"/>
                </a:solidFill>
                <a:latin typeface="Open Sans"/>
                <a:ea typeface="Open Sans"/>
                <a:cs typeface="Open Sans"/>
                <a:sym typeface="Open Sans"/>
              </a:rPr>
              <a:t>הימנע מעמימות</a:t>
            </a:r>
            <a:endParaRPr sz="17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6"/>
          <p:cNvSpPr/>
          <p:nvPr/>
        </p:nvSpPr>
        <p:spPr>
          <a:xfrm>
            <a:off x="5375077" y="2675811"/>
            <a:ext cx="3880366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1" algn="r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750"/>
              <a:buFont typeface="Open Sans"/>
              <a:buNone/>
            </a:pPr>
            <a:r>
              <a:rPr lang="en-US" sz="1750">
                <a:solidFill>
                  <a:srgbClr val="272525"/>
                </a:solidFill>
                <a:latin typeface="Open Sans"/>
                <a:ea typeface="Open Sans"/>
                <a:cs typeface="Open Sans"/>
                <a:sym typeface="Open Sans"/>
              </a:rPr>
              <a:t>"ספר לי על הנושא הזה."</a:t>
            </a:r>
            <a:endParaRPr sz="17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6"/>
          <p:cNvSpPr/>
          <p:nvPr/>
        </p:nvSpPr>
        <p:spPr>
          <a:xfrm>
            <a:off x="9716691" y="2675811"/>
            <a:ext cx="3884176" cy="7258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1" algn="r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750"/>
              <a:buFont typeface="Open Sans"/>
              <a:buNone/>
            </a:pPr>
            <a:r>
              <a:rPr lang="en-US" sz="1750">
                <a:solidFill>
                  <a:srgbClr val="272525"/>
                </a:solidFill>
                <a:latin typeface="Open Sans"/>
                <a:ea typeface="Open Sans"/>
                <a:cs typeface="Open Sans"/>
                <a:sym typeface="Open Sans"/>
              </a:rPr>
              <a:t>"הסבר את היתרונות של מקורות אנרגיה מתחדשת להפחתת פליטות פחמן."</a:t>
            </a:r>
            <a:endParaRPr sz="17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6"/>
          <p:cNvSpPr/>
          <p:nvPr/>
        </p:nvSpPr>
        <p:spPr>
          <a:xfrm>
            <a:off x="801410" y="3545324"/>
            <a:ext cx="13026271" cy="1013222"/>
          </a:xfrm>
          <a:prstGeom prst="rect">
            <a:avLst/>
          </a:prstGeom>
          <a:solidFill>
            <a:srgbClr val="FFFFFF">
              <a:alpha val="3922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1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6"/>
          <p:cNvSpPr/>
          <p:nvPr/>
        </p:nvSpPr>
        <p:spPr>
          <a:xfrm>
            <a:off x="1029653" y="3689032"/>
            <a:ext cx="3884176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1" algn="r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750"/>
              <a:buFont typeface="Open Sans"/>
              <a:buNone/>
            </a:pPr>
            <a:r>
              <a:rPr b="1" lang="en-US" sz="1750">
                <a:solidFill>
                  <a:srgbClr val="272525"/>
                </a:solidFill>
                <a:latin typeface="Open Sans"/>
                <a:ea typeface="Open Sans"/>
                <a:cs typeface="Open Sans"/>
                <a:sym typeface="Open Sans"/>
              </a:rPr>
              <a:t>השתמש בהנחיות חיוביות</a:t>
            </a:r>
            <a:endParaRPr sz="17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6"/>
          <p:cNvSpPr/>
          <p:nvPr/>
        </p:nvSpPr>
        <p:spPr>
          <a:xfrm>
            <a:off x="5375077" y="3689032"/>
            <a:ext cx="3880366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1" algn="r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750"/>
              <a:buFont typeface="Open Sans"/>
              <a:buNone/>
            </a:pPr>
            <a:r>
              <a:rPr lang="en-US" sz="1750">
                <a:solidFill>
                  <a:srgbClr val="272525"/>
                </a:solidFill>
                <a:latin typeface="Open Sans"/>
                <a:ea typeface="Open Sans"/>
                <a:cs typeface="Open Sans"/>
                <a:sym typeface="Open Sans"/>
              </a:rPr>
              <a:t>"אל תכלול פרטים מיותרים בהסבר."</a:t>
            </a:r>
            <a:endParaRPr sz="17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6"/>
          <p:cNvSpPr/>
          <p:nvPr/>
        </p:nvSpPr>
        <p:spPr>
          <a:xfrm>
            <a:off x="9716691" y="3689032"/>
            <a:ext cx="3884176" cy="7258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1" algn="r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750"/>
              <a:buFont typeface="Open Sans"/>
              <a:buNone/>
            </a:pPr>
            <a:r>
              <a:rPr lang="en-US" sz="1750">
                <a:solidFill>
                  <a:srgbClr val="272525"/>
                </a:solidFill>
                <a:latin typeface="Open Sans"/>
                <a:ea typeface="Open Sans"/>
                <a:cs typeface="Open Sans"/>
                <a:sym typeface="Open Sans"/>
              </a:rPr>
              <a:t>"ספק הסבר תמציתי של היתרונות העיקריים של פעילות גופנית."</a:t>
            </a:r>
            <a:endParaRPr sz="17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6"/>
          <p:cNvSpPr/>
          <p:nvPr/>
        </p:nvSpPr>
        <p:spPr>
          <a:xfrm>
            <a:off x="801410" y="4558546"/>
            <a:ext cx="13026271" cy="1013222"/>
          </a:xfrm>
          <a:prstGeom prst="rect">
            <a:avLst/>
          </a:prstGeom>
          <a:solidFill>
            <a:srgbClr val="000000">
              <a:alpha val="3922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1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6"/>
          <p:cNvSpPr/>
          <p:nvPr/>
        </p:nvSpPr>
        <p:spPr>
          <a:xfrm>
            <a:off x="1029653" y="4702254"/>
            <a:ext cx="3884176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1" algn="r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750"/>
              <a:buFont typeface="Open Sans"/>
              <a:buNone/>
            </a:pPr>
            <a:r>
              <a:rPr b="1" lang="en-US" sz="1750">
                <a:solidFill>
                  <a:srgbClr val="272525"/>
                </a:solidFill>
                <a:latin typeface="Open Sans"/>
                <a:ea typeface="Open Sans"/>
                <a:cs typeface="Open Sans"/>
                <a:sym typeface="Open Sans"/>
              </a:rPr>
              <a:t>הצהר בבירור על דרישות</a:t>
            </a:r>
            <a:endParaRPr sz="17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6"/>
          <p:cNvSpPr/>
          <p:nvPr/>
        </p:nvSpPr>
        <p:spPr>
          <a:xfrm>
            <a:off x="5375077" y="4702254"/>
            <a:ext cx="3880366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1" algn="r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750"/>
              <a:buFont typeface="Open Sans"/>
              <a:buNone/>
            </a:pPr>
            <a:r>
              <a:rPr lang="en-US" sz="1750">
                <a:solidFill>
                  <a:srgbClr val="272525"/>
                </a:solidFill>
                <a:latin typeface="Open Sans"/>
                <a:ea typeface="Open Sans"/>
                <a:cs typeface="Open Sans"/>
                <a:sym typeface="Open Sans"/>
              </a:rPr>
              <a:t>"כתוב על שינוי האקלים."</a:t>
            </a:r>
            <a:endParaRPr sz="17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6"/>
          <p:cNvSpPr/>
          <p:nvPr/>
        </p:nvSpPr>
        <p:spPr>
          <a:xfrm>
            <a:off x="9716691" y="4702254"/>
            <a:ext cx="3884176" cy="7258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1" algn="r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750"/>
              <a:buFont typeface="Open Sans"/>
              <a:buNone/>
            </a:pPr>
            <a:r>
              <a:rPr lang="en-US" sz="1750">
                <a:solidFill>
                  <a:srgbClr val="272525"/>
                </a:solidFill>
                <a:latin typeface="Open Sans"/>
                <a:ea typeface="Open Sans"/>
                <a:cs typeface="Open Sans"/>
                <a:sym typeface="Open Sans"/>
              </a:rPr>
              <a:t>"כתוב סיכום של 3 נקודות עיקריות של הגורמים העיקריים לשינוי האקלים."</a:t>
            </a:r>
            <a:endParaRPr sz="17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6"/>
          <p:cNvSpPr/>
          <p:nvPr/>
        </p:nvSpPr>
        <p:spPr>
          <a:xfrm>
            <a:off x="801410" y="5571768"/>
            <a:ext cx="13026271" cy="1013222"/>
          </a:xfrm>
          <a:prstGeom prst="rect">
            <a:avLst/>
          </a:prstGeom>
          <a:solidFill>
            <a:srgbClr val="FFFFFF">
              <a:alpha val="3922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1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6"/>
          <p:cNvSpPr/>
          <p:nvPr/>
        </p:nvSpPr>
        <p:spPr>
          <a:xfrm>
            <a:off x="1029653" y="5715476"/>
            <a:ext cx="3884176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1" algn="r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750"/>
              <a:buFont typeface="Open Sans"/>
              <a:buNone/>
            </a:pPr>
            <a:r>
              <a:rPr b="1" lang="en-US" sz="1750">
                <a:solidFill>
                  <a:srgbClr val="272525"/>
                </a:solidFill>
                <a:latin typeface="Open Sans"/>
                <a:ea typeface="Open Sans"/>
                <a:cs typeface="Open Sans"/>
                <a:sym typeface="Open Sans"/>
              </a:rPr>
              <a:t>קבע ציפיות לאורך</a:t>
            </a:r>
            <a:endParaRPr sz="17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6"/>
          <p:cNvSpPr/>
          <p:nvPr/>
        </p:nvSpPr>
        <p:spPr>
          <a:xfrm>
            <a:off x="5375077" y="5715476"/>
            <a:ext cx="3880366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1" algn="r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750"/>
              <a:buFont typeface="Open Sans"/>
              <a:buNone/>
            </a:pPr>
            <a:r>
              <a:rPr lang="en-US" sz="1750">
                <a:solidFill>
                  <a:srgbClr val="272525"/>
                </a:solidFill>
                <a:latin typeface="Open Sans"/>
                <a:ea typeface="Open Sans"/>
                <a:cs typeface="Open Sans"/>
                <a:sym typeface="Open Sans"/>
              </a:rPr>
              <a:t>"סכם את המאמר הזה."</a:t>
            </a:r>
            <a:endParaRPr sz="17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6"/>
          <p:cNvSpPr/>
          <p:nvPr/>
        </p:nvSpPr>
        <p:spPr>
          <a:xfrm>
            <a:off x="9716691" y="5715476"/>
            <a:ext cx="3884176" cy="7258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1" algn="r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750"/>
              <a:buFont typeface="Open Sans"/>
              <a:buNone/>
            </a:pPr>
            <a:r>
              <a:rPr lang="en-US" sz="1750">
                <a:solidFill>
                  <a:srgbClr val="272525"/>
                </a:solidFill>
                <a:latin typeface="Open Sans"/>
                <a:ea typeface="Open Sans"/>
                <a:cs typeface="Open Sans"/>
                <a:sym typeface="Open Sans"/>
              </a:rPr>
              <a:t>"סכם את המאמר הזה ב-100 מילים, תוך התמקדות בממצאים העיקריים."</a:t>
            </a:r>
            <a:endParaRPr sz="17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6"/>
          <p:cNvSpPr/>
          <p:nvPr/>
        </p:nvSpPr>
        <p:spPr>
          <a:xfrm>
            <a:off x="801410" y="6584990"/>
            <a:ext cx="13026271" cy="1013222"/>
          </a:xfrm>
          <a:prstGeom prst="rect">
            <a:avLst/>
          </a:prstGeom>
          <a:solidFill>
            <a:srgbClr val="000000">
              <a:alpha val="3922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1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6"/>
          <p:cNvSpPr/>
          <p:nvPr/>
        </p:nvSpPr>
        <p:spPr>
          <a:xfrm>
            <a:off x="1029653" y="6728698"/>
            <a:ext cx="3884176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1" algn="r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750"/>
              <a:buFont typeface="Open Sans"/>
              <a:buNone/>
            </a:pPr>
            <a:r>
              <a:rPr b="1" lang="en-US" sz="1750">
                <a:solidFill>
                  <a:srgbClr val="272525"/>
                </a:solidFill>
                <a:latin typeface="Open Sans"/>
                <a:ea typeface="Open Sans"/>
                <a:cs typeface="Open Sans"/>
                <a:sym typeface="Open Sans"/>
              </a:rPr>
              <a:t>הימנע מנימוס מיותר</a:t>
            </a:r>
            <a:endParaRPr sz="17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6"/>
          <p:cNvSpPr/>
          <p:nvPr/>
        </p:nvSpPr>
        <p:spPr>
          <a:xfrm>
            <a:off x="5375077" y="6728698"/>
            <a:ext cx="3880366" cy="7258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1" algn="r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750"/>
              <a:buFont typeface="Open Sans"/>
              <a:buNone/>
            </a:pPr>
            <a:r>
              <a:rPr lang="en-US" sz="1750">
                <a:solidFill>
                  <a:srgbClr val="272525"/>
                </a:solidFill>
                <a:latin typeface="Open Sans"/>
                <a:ea typeface="Open Sans"/>
                <a:cs typeface="Open Sans"/>
                <a:sym typeface="Open Sans"/>
              </a:rPr>
              <a:t>"היי, האם תוכל בבקשה להסביר פיזיקת קוונטים אם זה לא מפריע לך? תודה רבה!"</a:t>
            </a:r>
            <a:endParaRPr sz="17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6"/>
          <p:cNvSpPr/>
          <p:nvPr/>
        </p:nvSpPr>
        <p:spPr>
          <a:xfrm>
            <a:off x="9716691" y="6728698"/>
            <a:ext cx="3884176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1" algn="r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750"/>
              <a:buFont typeface="Open Sans"/>
              <a:buNone/>
            </a:pPr>
            <a:r>
              <a:rPr lang="en-US" sz="1750">
                <a:solidFill>
                  <a:srgbClr val="272525"/>
                </a:solidFill>
                <a:latin typeface="Open Sans"/>
                <a:ea typeface="Open Sans"/>
                <a:cs typeface="Open Sans"/>
                <a:sym typeface="Open Sans"/>
              </a:rPr>
              <a:t>"הסבר פיזיקת קוונטים במונחים פשוטים."</a:t>
            </a:r>
            <a:endParaRPr sz="17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7"/>
          <p:cNvSpPr/>
          <p:nvPr/>
        </p:nvSpPr>
        <p:spPr>
          <a:xfrm>
            <a:off x="4291489" y="623768"/>
            <a:ext cx="9545122" cy="7087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1" algn="r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D75BE2"/>
              </a:buClr>
              <a:buSzPts val="4450"/>
              <a:buFont typeface="Rubik Medium"/>
              <a:buNone/>
            </a:pPr>
            <a:r>
              <a:rPr lang="en-US" sz="4450">
                <a:solidFill>
                  <a:srgbClr val="D75BE2"/>
                </a:solidFill>
                <a:latin typeface="Rubik Medium"/>
                <a:ea typeface="Rubik Medium"/>
                <a:cs typeface="Rubik Medium"/>
                <a:sym typeface="Rubik Medium"/>
              </a:rPr>
              <a:t>2. ציין את התפקיד של הבינה המלאכותית</a:t>
            </a:r>
            <a:endParaRPr sz="44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7"/>
          <p:cNvSpPr/>
          <p:nvPr/>
        </p:nvSpPr>
        <p:spPr>
          <a:xfrm>
            <a:off x="793790" y="1786176"/>
            <a:ext cx="13042821" cy="1322189"/>
          </a:xfrm>
          <a:prstGeom prst="roundRect">
            <a:avLst>
              <a:gd fmla="val 7205" name="adj"/>
            </a:avLst>
          </a:prstGeom>
          <a:solidFill>
            <a:srgbClr val="F4D4F7"/>
          </a:solidFill>
          <a:ln cap="flat" cmpd="sng" w="9525">
            <a:solidFill>
              <a:srgbClr val="DABA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1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7"/>
          <p:cNvSpPr/>
          <p:nvPr/>
        </p:nvSpPr>
        <p:spPr>
          <a:xfrm>
            <a:off x="10766941" y="2020610"/>
            <a:ext cx="2835235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1"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2200"/>
              <a:buFont typeface="Rubik Medium"/>
              <a:buNone/>
            </a:pPr>
            <a:r>
              <a:rPr lang="en-US" sz="2200">
                <a:solidFill>
                  <a:srgbClr val="272525"/>
                </a:solidFill>
                <a:latin typeface="Rubik Medium"/>
                <a:ea typeface="Rubik Medium"/>
                <a:cs typeface="Rubik Medium"/>
                <a:sym typeface="Rubik Medium"/>
              </a:rPr>
              <a:t>הקצה תפקיד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7"/>
          <p:cNvSpPr/>
          <p:nvPr/>
        </p:nvSpPr>
        <p:spPr>
          <a:xfrm>
            <a:off x="1028224" y="2511028"/>
            <a:ext cx="12573953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1" algn="r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750"/>
              <a:buFont typeface="Open Sans"/>
              <a:buNone/>
            </a:pPr>
            <a:r>
              <a:rPr lang="en-US" sz="1750">
                <a:solidFill>
                  <a:srgbClr val="272525"/>
                </a:solidFill>
                <a:latin typeface="Open Sans"/>
                <a:ea typeface="Open Sans"/>
                <a:cs typeface="Open Sans"/>
                <a:sym typeface="Open Sans"/>
              </a:rPr>
              <a:t>הגדר פרסונה ברורה למודל הבינה המלאכותית, כמו מורה או יועץ מומחה</a:t>
            </a:r>
            <a:endParaRPr sz="17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7"/>
          <p:cNvSpPr/>
          <p:nvPr/>
        </p:nvSpPr>
        <p:spPr>
          <a:xfrm>
            <a:off x="793790" y="3335179"/>
            <a:ext cx="13042821" cy="1322189"/>
          </a:xfrm>
          <a:prstGeom prst="roundRect">
            <a:avLst>
              <a:gd fmla="val 7205" name="adj"/>
            </a:avLst>
          </a:prstGeom>
          <a:solidFill>
            <a:srgbClr val="F4D4F7"/>
          </a:solidFill>
          <a:ln cap="flat" cmpd="sng" w="9525">
            <a:solidFill>
              <a:srgbClr val="DABA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1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7"/>
          <p:cNvSpPr/>
          <p:nvPr/>
        </p:nvSpPr>
        <p:spPr>
          <a:xfrm>
            <a:off x="10576560" y="3569613"/>
            <a:ext cx="3025616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1"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2200"/>
              <a:buFont typeface="Rubik Medium"/>
              <a:buNone/>
            </a:pPr>
            <a:r>
              <a:rPr lang="en-US" sz="2200">
                <a:solidFill>
                  <a:srgbClr val="272525"/>
                </a:solidFill>
                <a:latin typeface="Rubik Medium"/>
                <a:ea typeface="Rubik Medium"/>
                <a:cs typeface="Rubik Medium"/>
                <a:sym typeface="Rubik Medium"/>
              </a:rPr>
              <a:t>השתמש בהוראות מובילות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7"/>
          <p:cNvSpPr/>
          <p:nvPr/>
        </p:nvSpPr>
        <p:spPr>
          <a:xfrm>
            <a:off x="1028224" y="4060031"/>
            <a:ext cx="12573953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1" algn="r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750"/>
              <a:buFont typeface="Open Sans"/>
              <a:buNone/>
            </a:pPr>
            <a:r>
              <a:rPr lang="en-US" sz="1750">
                <a:solidFill>
                  <a:srgbClr val="272525"/>
                </a:solidFill>
                <a:latin typeface="Open Sans"/>
                <a:ea typeface="Open Sans"/>
                <a:cs typeface="Open Sans"/>
                <a:sym typeface="Open Sans"/>
              </a:rPr>
              <a:t>הנחה את הבינה המלאכותית עם ביטויים הנחייתיים כמו "חשוב צעד אחר צעד" או "נתח באופן לוגי", או "הסבר לי כמו לילד בן 10"</a:t>
            </a:r>
            <a:endParaRPr sz="17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7"/>
          <p:cNvSpPr/>
          <p:nvPr/>
        </p:nvSpPr>
        <p:spPr>
          <a:xfrm>
            <a:off x="793790" y="4884182"/>
            <a:ext cx="13042821" cy="1322189"/>
          </a:xfrm>
          <a:prstGeom prst="roundRect">
            <a:avLst>
              <a:gd fmla="val 7205" name="adj"/>
            </a:avLst>
          </a:prstGeom>
          <a:solidFill>
            <a:srgbClr val="F4D4F7"/>
          </a:solidFill>
          <a:ln cap="flat" cmpd="sng" w="9525">
            <a:solidFill>
              <a:srgbClr val="DABA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1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7"/>
          <p:cNvSpPr/>
          <p:nvPr/>
        </p:nvSpPr>
        <p:spPr>
          <a:xfrm>
            <a:off x="10766941" y="5118616"/>
            <a:ext cx="2835235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1"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2200"/>
              <a:buFont typeface="Rubik Medium"/>
              <a:buNone/>
            </a:pPr>
            <a:r>
              <a:rPr lang="en-US" sz="2200">
                <a:solidFill>
                  <a:srgbClr val="272525"/>
                </a:solidFill>
                <a:latin typeface="Rubik Medium"/>
                <a:ea typeface="Rubik Medium"/>
                <a:cs typeface="Rubik Medium"/>
                <a:sym typeface="Rubik Medium"/>
              </a:rPr>
              <a:t>עודד שאלות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7"/>
          <p:cNvSpPr/>
          <p:nvPr/>
        </p:nvSpPr>
        <p:spPr>
          <a:xfrm>
            <a:off x="1028224" y="5609034"/>
            <a:ext cx="12573953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1" algn="r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750"/>
              <a:buFont typeface="Open Sans"/>
              <a:buNone/>
            </a:pPr>
            <a:r>
              <a:rPr lang="en-US" sz="1750">
                <a:solidFill>
                  <a:srgbClr val="272525"/>
                </a:solidFill>
                <a:latin typeface="Open Sans"/>
                <a:ea typeface="Open Sans"/>
                <a:cs typeface="Open Sans"/>
                <a:sym typeface="Open Sans"/>
              </a:rPr>
              <a:t>אפשר למודל לשאול שאלות הבהרה כדי להבטיח הבנה טובה יותר, כמו לשאול "האם יש לך שאלות לפני שתתחיל?"</a:t>
            </a:r>
            <a:endParaRPr sz="17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8"/>
          <p:cNvSpPr/>
          <p:nvPr/>
        </p:nvSpPr>
        <p:spPr>
          <a:xfrm>
            <a:off x="4291489" y="623768"/>
            <a:ext cx="9545122" cy="7087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1" algn="r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D75BE2"/>
              </a:buClr>
              <a:buSzPts val="4450"/>
              <a:buFont typeface="Rubik Medium"/>
              <a:buNone/>
            </a:pPr>
            <a:r>
              <a:rPr lang="en-US" sz="4450">
                <a:solidFill>
                  <a:srgbClr val="D75BE2"/>
                </a:solidFill>
                <a:latin typeface="Rubik Medium"/>
                <a:ea typeface="Rubik Medium"/>
                <a:cs typeface="Rubik Medium"/>
                <a:sym typeface="Rubik Medium"/>
              </a:rPr>
              <a:t>2. ציין את התפקיד של הבינה המלאכותית</a:t>
            </a:r>
            <a:endParaRPr sz="44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8"/>
          <p:cNvSpPr/>
          <p:nvPr/>
        </p:nvSpPr>
        <p:spPr>
          <a:xfrm>
            <a:off x="793790" y="1786176"/>
            <a:ext cx="13042821" cy="4068128"/>
          </a:xfrm>
          <a:prstGeom prst="roundRect">
            <a:avLst>
              <a:gd fmla="val 2342" name="adj"/>
            </a:avLst>
          </a:prstGeom>
          <a:noFill/>
          <a:ln cap="flat" cmpd="sng" w="9525">
            <a:solidFill>
              <a:srgbClr val="000000">
                <a:alpha val="7843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1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8"/>
          <p:cNvSpPr/>
          <p:nvPr/>
        </p:nvSpPr>
        <p:spPr>
          <a:xfrm>
            <a:off x="801410" y="1793796"/>
            <a:ext cx="13026271" cy="650319"/>
          </a:xfrm>
          <a:prstGeom prst="rect">
            <a:avLst/>
          </a:prstGeom>
          <a:solidFill>
            <a:srgbClr val="FFFFFF">
              <a:alpha val="3922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1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8"/>
          <p:cNvSpPr/>
          <p:nvPr/>
        </p:nvSpPr>
        <p:spPr>
          <a:xfrm>
            <a:off x="1029653" y="1937504"/>
            <a:ext cx="3884176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1" algn="r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750"/>
              <a:buFont typeface="Open Sans"/>
              <a:buNone/>
            </a:pPr>
            <a:r>
              <a:rPr b="1" lang="en-US" sz="1750">
                <a:solidFill>
                  <a:srgbClr val="272525"/>
                </a:solidFill>
                <a:latin typeface="Open Sans"/>
                <a:ea typeface="Open Sans"/>
                <a:cs typeface="Open Sans"/>
                <a:sym typeface="Open Sans"/>
              </a:rPr>
              <a:t>עיקרון</a:t>
            </a:r>
            <a:endParaRPr sz="17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8"/>
          <p:cNvSpPr/>
          <p:nvPr/>
        </p:nvSpPr>
        <p:spPr>
          <a:xfrm>
            <a:off x="5375077" y="1937504"/>
            <a:ext cx="3880366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1" algn="r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F44444"/>
              </a:buClr>
              <a:buSzPts val="1750"/>
              <a:buFont typeface="Open Sans"/>
              <a:buNone/>
            </a:pPr>
            <a:r>
              <a:rPr b="1" lang="en-US" sz="1750">
                <a:solidFill>
                  <a:srgbClr val="F44444"/>
                </a:solidFill>
                <a:latin typeface="Open Sans"/>
                <a:ea typeface="Open Sans"/>
                <a:cs typeface="Open Sans"/>
                <a:sym typeface="Open Sans"/>
              </a:rPr>
              <a:t>פרומפט גרוע</a:t>
            </a:r>
            <a:endParaRPr sz="17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8"/>
          <p:cNvSpPr/>
          <p:nvPr/>
        </p:nvSpPr>
        <p:spPr>
          <a:xfrm>
            <a:off x="9716691" y="1937504"/>
            <a:ext cx="3884176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1" algn="r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5CC97B"/>
              </a:buClr>
              <a:buSzPts val="1750"/>
              <a:buFont typeface="Open Sans"/>
              <a:buNone/>
            </a:pPr>
            <a:r>
              <a:rPr b="1" lang="en-US" sz="1750">
                <a:solidFill>
                  <a:srgbClr val="5CC97B"/>
                </a:solidFill>
                <a:latin typeface="Open Sans"/>
                <a:ea typeface="Open Sans"/>
                <a:cs typeface="Open Sans"/>
                <a:sym typeface="Open Sans"/>
              </a:rPr>
              <a:t>פרומפט טוב</a:t>
            </a:r>
            <a:endParaRPr sz="17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8"/>
          <p:cNvSpPr/>
          <p:nvPr/>
        </p:nvSpPr>
        <p:spPr>
          <a:xfrm>
            <a:off x="801410" y="2444115"/>
            <a:ext cx="13026271" cy="1376124"/>
          </a:xfrm>
          <a:prstGeom prst="rect">
            <a:avLst/>
          </a:prstGeom>
          <a:solidFill>
            <a:srgbClr val="000000">
              <a:alpha val="3922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1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8"/>
          <p:cNvSpPr/>
          <p:nvPr/>
        </p:nvSpPr>
        <p:spPr>
          <a:xfrm>
            <a:off x="1029653" y="2587823"/>
            <a:ext cx="3884176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1" algn="r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750"/>
              <a:buFont typeface="Open Sans"/>
              <a:buNone/>
            </a:pPr>
            <a:r>
              <a:rPr b="1" lang="en-US" sz="1750">
                <a:solidFill>
                  <a:srgbClr val="272525"/>
                </a:solidFill>
                <a:latin typeface="Open Sans"/>
                <a:ea typeface="Open Sans"/>
                <a:cs typeface="Open Sans"/>
                <a:sym typeface="Open Sans"/>
              </a:rPr>
              <a:t>הקצה תפקיד</a:t>
            </a:r>
            <a:endParaRPr sz="17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8"/>
          <p:cNvSpPr/>
          <p:nvPr/>
        </p:nvSpPr>
        <p:spPr>
          <a:xfrm>
            <a:off x="5375077" y="2587823"/>
            <a:ext cx="3880366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1" algn="r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750"/>
              <a:buFont typeface="Open Sans"/>
              <a:buNone/>
            </a:pPr>
            <a:r>
              <a:rPr lang="en-US" sz="1750">
                <a:solidFill>
                  <a:srgbClr val="272525"/>
                </a:solidFill>
                <a:latin typeface="Open Sans"/>
                <a:ea typeface="Open Sans"/>
                <a:cs typeface="Open Sans"/>
                <a:sym typeface="Open Sans"/>
              </a:rPr>
              <a:t>"כתוב סיכום של המאמר הזה."</a:t>
            </a:r>
            <a:endParaRPr sz="17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8"/>
          <p:cNvSpPr/>
          <p:nvPr/>
        </p:nvSpPr>
        <p:spPr>
          <a:xfrm>
            <a:off x="9716691" y="2587823"/>
            <a:ext cx="3884176" cy="10887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1" algn="r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750"/>
              <a:buFont typeface="Open Sans"/>
              <a:buNone/>
            </a:pPr>
            <a:r>
              <a:rPr lang="en-US" sz="1750">
                <a:solidFill>
                  <a:srgbClr val="272525"/>
                </a:solidFill>
                <a:latin typeface="Open Sans"/>
                <a:ea typeface="Open Sans"/>
                <a:cs typeface="Open Sans"/>
                <a:sym typeface="Open Sans"/>
              </a:rPr>
              <a:t>"אתה מורה המסביר את המאמר הזה לקבוצת תלמידי תיכון. כתוב סיכום שהם יבינו."</a:t>
            </a:r>
            <a:endParaRPr sz="17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8"/>
          <p:cNvSpPr/>
          <p:nvPr/>
        </p:nvSpPr>
        <p:spPr>
          <a:xfrm>
            <a:off x="801410" y="3820239"/>
            <a:ext cx="13026271" cy="1013222"/>
          </a:xfrm>
          <a:prstGeom prst="rect">
            <a:avLst/>
          </a:prstGeom>
          <a:solidFill>
            <a:srgbClr val="FFFFFF">
              <a:alpha val="3922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1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8"/>
          <p:cNvSpPr/>
          <p:nvPr/>
        </p:nvSpPr>
        <p:spPr>
          <a:xfrm>
            <a:off x="1029653" y="3963948"/>
            <a:ext cx="3884176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1" algn="r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750"/>
              <a:buFont typeface="Open Sans"/>
              <a:buNone/>
            </a:pPr>
            <a:r>
              <a:rPr b="1" lang="en-US" sz="1750">
                <a:solidFill>
                  <a:srgbClr val="272525"/>
                </a:solidFill>
                <a:latin typeface="Open Sans"/>
                <a:ea typeface="Open Sans"/>
                <a:cs typeface="Open Sans"/>
                <a:sym typeface="Open Sans"/>
              </a:rPr>
              <a:t>השתמש בהוראות מובילות</a:t>
            </a:r>
            <a:endParaRPr sz="17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8"/>
          <p:cNvSpPr/>
          <p:nvPr/>
        </p:nvSpPr>
        <p:spPr>
          <a:xfrm>
            <a:off x="5375077" y="3963948"/>
            <a:ext cx="3880366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1" algn="r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750"/>
              <a:buFont typeface="Open Sans"/>
              <a:buNone/>
            </a:pPr>
            <a:r>
              <a:rPr lang="en-US" sz="1750">
                <a:solidFill>
                  <a:srgbClr val="272525"/>
                </a:solidFill>
                <a:latin typeface="Open Sans"/>
                <a:ea typeface="Open Sans"/>
                <a:cs typeface="Open Sans"/>
                <a:sym typeface="Open Sans"/>
              </a:rPr>
              <a:t>"הסבר פוטוסינתזה."</a:t>
            </a:r>
            <a:endParaRPr sz="17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8"/>
          <p:cNvSpPr/>
          <p:nvPr/>
        </p:nvSpPr>
        <p:spPr>
          <a:xfrm>
            <a:off x="9716691" y="3963948"/>
            <a:ext cx="3884176" cy="7258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1" algn="r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750"/>
              <a:buFont typeface="Open Sans"/>
              <a:buNone/>
            </a:pPr>
            <a:r>
              <a:rPr lang="en-US" sz="1750">
                <a:solidFill>
                  <a:srgbClr val="272525"/>
                </a:solidFill>
                <a:latin typeface="Open Sans"/>
                <a:ea typeface="Open Sans"/>
                <a:cs typeface="Open Sans"/>
                <a:sym typeface="Open Sans"/>
              </a:rPr>
              <a:t>"הסבר פוטוסינתזה צעד אחר צעד כאילו אתה מלמד ילד בן 10."</a:t>
            </a:r>
            <a:endParaRPr sz="17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8"/>
          <p:cNvSpPr/>
          <p:nvPr/>
        </p:nvSpPr>
        <p:spPr>
          <a:xfrm>
            <a:off x="801410" y="4833461"/>
            <a:ext cx="13026271" cy="1013222"/>
          </a:xfrm>
          <a:prstGeom prst="rect">
            <a:avLst/>
          </a:prstGeom>
          <a:solidFill>
            <a:srgbClr val="000000">
              <a:alpha val="3922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1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8"/>
          <p:cNvSpPr/>
          <p:nvPr/>
        </p:nvSpPr>
        <p:spPr>
          <a:xfrm>
            <a:off x="1029653" y="4977170"/>
            <a:ext cx="3884176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1" algn="r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750"/>
              <a:buFont typeface="Open Sans"/>
              <a:buNone/>
            </a:pPr>
            <a:r>
              <a:rPr b="1" lang="en-US" sz="1750">
                <a:solidFill>
                  <a:srgbClr val="272525"/>
                </a:solidFill>
                <a:latin typeface="Open Sans"/>
                <a:ea typeface="Open Sans"/>
                <a:cs typeface="Open Sans"/>
                <a:sym typeface="Open Sans"/>
              </a:rPr>
              <a:t>עודד שאלות</a:t>
            </a:r>
            <a:endParaRPr sz="17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8"/>
          <p:cNvSpPr/>
          <p:nvPr/>
        </p:nvSpPr>
        <p:spPr>
          <a:xfrm>
            <a:off x="5375077" y="4977170"/>
            <a:ext cx="3880366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1" algn="r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750"/>
              <a:buFont typeface="Open Sans"/>
              <a:buNone/>
            </a:pPr>
            <a:r>
              <a:rPr lang="en-US" sz="1750">
                <a:solidFill>
                  <a:srgbClr val="272525"/>
                </a:solidFill>
                <a:latin typeface="Open Sans"/>
                <a:ea typeface="Open Sans"/>
                <a:cs typeface="Open Sans"/>
                <a:sym typeface="Open Sans"/>
              </a:rPr>
              <a:t>"צור תוכנית פרויקט עבורי."</a:t>
            </a:r>
            <a:endParaRPr sz="17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8"/>
          <p:cNvSpPr/>
          <p:nvPr/>
        </p:nvSpPr>
        <p:spPr>
          <a:xfrm>
            <a:off x="9716691" y="4977170"/>
            <a:ext cx="3884176" cy="7258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1" algn="r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750"/>
              <a:buFont typeface="Open Sans"/>
              <a:buNone/>
            </a:pPr>
            <a:r>
              <a:rPr lang="en-US" sz="1750">
                <a:solidFill>
                  <a:srgbClr val="272525"/>
                </a:solidFill>
                <a:latin typeface="Open Sans"/>
                <a:ea typeface="Open Sans"/>
                <a:cs typeface="Open Sans"/>
                <a:sym typeface="Open Sans"/>
              </a:rPr>
              <a:t>"צור תוכנית פרויקט עבורי. אם אתה צריך הבהרה, שאל שאלות לפני שתמשיך."</a:t>
            </a:r>
            <a:endParaRPr sz="17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9"/>
          <p:cNvSpPr/>
          <p:nvPr/>
        </p:nvSpPr>
        <p:spPr>
          <a:xfrm>
            <a:off x="8166021" y="623768"/>
            <a:ext cx="5670590" cy="7087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1" algn="r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D75BE2"/>
              </a:buClr>
              <a:buSzPts val="4450"/>
              <a:buFont typeface="Rubik Medium"/>
              <a:buNone/>
            </a:pPr>
            <a:r>
              <a:rPr lang="en-US" sz="4450">
                <a:solidFill>
                  <a:srgbClr val="D75BE2"/>
                </a:solidFill>
                <a:latin typeface="Rubik Medium"/>
                <a:ea typeface="Rubik Medium"/>
                <a:cs typeface="Rubik Medium"/>
                <a:sym typeface="Rubik Medium"/>
              </a:rPr>
              <a:t>3. ציין את הקהל</a:t>
            </a:r>
            <a:endParaRPr sz="44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9"/>
          <p:cNvSpPr/>
          <p:nvPr/>
        </p:nvSpPr>
        <p:spPr>
          <a:xfrm>
            <a:off x="7428548" y="1786176"/>
            <a:ext cx="6408063" cy="1685092"/>
          </a:xfrm>
          <a:prstGeom prst="roundRect">
            <a:avLst>
              <a:gd fmla="val 5654" name="adj"/>
            </a:avLst>
          </a:prstGeom>
          <a:solidFill>
            <a:srgbClr val="F4D4F7"/>
          </a:solidFill>
          <a:ln cap="flat" cmpd="sng" w="9525">
            <a:solidFill>
              <a:srgbClr val="DABA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1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9"/>
          <p:cNvSpPr/>
          <p:nvPr/>
        </p:nvSpPr>
        <p:spPr>
          <a:xfrm>
            <a:off x="10766941" y="2020610"/>
            <a:ext cx="2835235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1"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2200"/>
              <a:buFont typeface="Rubik Medium"/>
              <a:buNone/>
            </a:pPr>
            <a:r>
              <a:rPr lang="en-US" sz="2200">
                <a:solidFill>
                  <a:srgbClr val="272525"/>
                </a:solidFill>
                <a:latin typeface="Rubik Medium"/>
                <a:ea typeface="Rubik Medium"/>
                <a:cs typeface="Rubik Medium"/>
                <a:sym typeface="Rubik Medium"/>
              </a:rPr>
              <a:t>ציון קהל היעד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9"/>
          <p:cNvSpPr/>
          <p:nvPr/>
        </p:nvSpPr>
        <p:spPr>
          <a:xfrm>
            <a:off x="7662982" y="2511028"/>
            <a:ext cx="5939195" cy="7258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1" algn="r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750"/>
              <a:buFont typeface="Open Sans"/>
              <a:buNone/>
            </a:pPr>
            <a:r>
              <a:rPr lang="en-US" sz="1750">
                <a:solidFill>
                  <a:srgbClr val="272525"/>
                </a:solidFill>
                <a:latin typeface="Open Sans"/>
                <a:ea typeface="Open Sans"/>
                <a:cs typeface="Open Sans"/>
                <a:sym typeface="Open Sans"/>
              </a:rPr>
              <a:t>עוזר לבינה המלאכותית להתאים את הטון, המורכבות והמיקוד לצרכי הקורא או המשתמש המיועד</a:t>
            </a:r>
            <a:endParaRPr sz="17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9"/>
          <p:cNvSpPr/>
          <p:nvPr/>
        </p:nvSpPr>
        <p:spPr>
          <a:xfrm>
            <a:off x="793671" y="1786176"/>
            <a:ext cx="6408063" cy="1685092"/>
          </a:xfrm>
          <a:prstGeom prst="roundRect">
            <a:avLst>
              <a:gd fmla="val 5654" name="adj"/>
            </a:avLst>
          </a:prstGeom>
          <a:solidFill>
            <a:srgbClr val="F4D4F7"/>
          </a:solidFill>
          <a:ln cap="flat" cmpd="sng" w="9525">
            <a:solidFill>
              <a:srgbClr val="DABA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1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9"/>
          <p:cNvSpPr/>
          <p:nvPr/>
        </p:nvSpPr>
        <p:spPr>
          <a:xfrm>
            <a:off x="4132064" y="2020610"/>
            <a:ext cx="2835235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1"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2200"/>
              <a:buFont typeface="Rubik Medium"/>
              <a:buNone/>
            </a:pPr>
            <a:r>
              <a:rPr lang="en-US" sz="2200">
                <a:solidFill>
                  <a:srgbClr val="272525"/>
                </a:solidFill>
                <a:latin typeface="Rubik Medium"/>
                <a:ea typeface="Rubik Medium"/>
                <a:cs typeface="Rubik Medium"/>
                <a:sym typeface="Rubik Medium"/>
              </a:rPr>
              <a:t>הגדר את רמת הקהל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9"/>
          <p:cNvSpPr/>
          <p:nvPr/>
        </p:nvSpPr>
        <p:spPr>
          <a:xfrm>
            <a:off x="1028105" y="2511028"/>
            <a:ext cx="5939195" cy="7258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1" algn="r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750"/>
              <a:buFont typeface="Open Sans"/>
              <a:buNone/>
            </a:pPr>
            <a:r>
              <a:rPr lang="en-US" sz="1750">
                <a:solidFill>
                  <a:srgbClr val="272525"/>
                </a:solidFill>
                <a:latin typeface="Open Sans"/>
                <a:ea typeface="Open Sans"/>
                <a:cs typeface="Open Sans"/>
                <a:sym typeface="Open Sans"/>
              </a:rPr>
              <a:t>ציין אם התשובה מיועדת לקהל מתחיל, בינוני או מומחה כדי להתאים את מורכבות התשובה</a:t>
            </a:r>
            <a:endParaRPr sz="17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9"/>
          <p:cNvSpPr/>
          <p:nvPr/>
        </p:nvSpPr>
        <p:spPr>
          <a:xfrm>
            <a:off x="7428548" y="3698081"/>
            <a:ext cx="6408063" cy="1685092"/>
          </a:xfrm>
          <a:prstGeom prst="roundRect">
            <a:avLst>
              <a:gd fmla="val 5654" name="adj"/>
            </a:avLst>
          </a:prstGeom>
          <a:solidFill>
            <a:srgbClr val="F4D4F7"/>
          </a:solidFill>
          <a:ln cap="flat" cmpd="sng" w="9525">
            <a:solidFill>
              <a:srgbClr val="DABA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1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9"/>
          <p:cNvSpPr/>
          <p:nvPr/>
        </p:nvSpPr>
        <p:spPr>
          <a:xfrm>
            <a:off x="10766941" y="3932515"/>
            <a:ext cx="2835235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1"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2200"/>
              <a:buFont typeface="Rubik Medium"/>
              <a:buNone/>
            </a:pPr>
            <a:r>
              <a:rPr lang="en-US" sz="2200">
                <a:solidFill>
                  <a:srgbClr val="272525"/>
                </a:solidFill>
                <a:latin typeface="Rubik Medium"/>
                <a:ea typeface="Rubik Medium"/>
                <a:cs typeface="Rubik Medium"/>
                <a:sym typeface="Rubik Medium"/>
              </a:rPr>
              <a:t>התאם את השפה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9"/>
          <p:cNvSpPr/>
          <p:nvPr/>
        </p:nvSpPr>
        <p:spPr>
          <a:xfrm>
            <a:off x="7662982" y="4422934"/>
            <a:ext cx="5939195" cy="7258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1" algn="r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750"/>
              <a:buFont typeface="Open Sans"/>
              <a:buNone/>
            </a:pPr>
            <a:r>
              <a:rPr lang="en-US" sz="1750">
                <a:solidFill>
                  <a:srgbClr val="272525"/>
                </a:solidFill>
                <a:latin typeface="Open Sans"/>
                <a:ea typeface="Open Sans"/>
                <a:cs typeface="Open Sans"/>
                <a:sym typeface="Open Sans"/>
              </a:rPr>
              <a:t>בחר את סגנון השפה והטון שמתאימים לקהל שלך, מפשוט ושיחתי ועד פורמלי וטכני</a:t>
            </a:r>
            <a:endParaRPr sz="17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9"/>
          <p:cNvSpPr/>
          <p:nvPr/>
        </p:nvSpPr>
        <p:spPr>
          <a:xfrm>
            <a:off x="793671" y="3698081"/>
            <a:ext cx="6408063" cy="1685092"/>
          </a:xfrm>
          <a:prstGeom prst="roundRect">
            <a:avLst>
              <a:gd fmla="val 5654" name="adj"/>
            </a:avLst>
          </a:prstGeom>
          <a:solidFill>
            <a:srgbClr val="F4D4F7"/>
          </a:solidFill>
          <a:ln cap="flat" cmpd="sng" w="9525">
            <a:solidFill>
              <a:srgbClr val="DABA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1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9"/>
          <p:cNvSpPr/>
          <p:nvPr/>
        </p:nvSpPr>
        <p:spPr>
          <a:xfrm>
            <a:off x="4132064" y="3932515"/>
            <a:ext cx="2835235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1"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2200"/>
              <a:buFont typeface="Rubik Medium"/>
              <a:buNone/>
            </a:pPr>
            <a:r>
              <a:rPr lang="en-US" sz="2200">
                <a:solidFill>
                  <a:srgbClr val="272525"/>
                </a:solidFill>
                <a:latin typeface="Rubik Medium"/>
                <a:ea typeface="Rubik Medium"/>
                <a:cs typeface="Rubik Medium"/>
                <a:sym typeface="Rubik Medium"/>
              </a:rPr>
              <a:t>ספק הקשר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9"/>
          <p:cNvSpPr/>
          <p:nvPr/>
        </p:nvSpPr>
        <p:spPr>
          <a:xfrm>
            <a:off x="1028105" y="4422934"/>
            <a:ext cx="5939195" cy="7258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1" algn="r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750"/>
              <a:buFont typeface="Open Sans"/>
              <a:buNone/>
            </a:pPr>
            <a:r>
              <a:rPr lang="en-US" sz="1750">
                <a:solidFill>
                  <a:srgbClr val="272525"/>
                </a:solidFill>
                <a:latin typeface="Open Sans"/>
                <a:ea typeface="Open Sans"/>
                <a:cs typeface="Open Sans"/>
                <a:sym typeface="Open Sans"/>
              </a:rPr>
              <a:t>אם רלוונטי, תאר את תפקיד הקהל או הרקע שלו כדי לעצב את התשובה</a:t>
            </a:r>
            <a:endParaRPr sz="17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9"/>
          <p:cNvSpPr/>
          <p:nvPr/>
        </p:nvSpPr>
        <p:spPr>
          <a:xfrm>
            <a:off x="793790" y="5609987"/>
            <a:ext cx="13042821" cy="1322189"/>
          </a:xfrm>
          <a:prstGeom prst="roundRect">
            <a:avLst>
              <a:gd fmla="val 7205" name="adj"/>
            </a:avLst>
          </a:prstGeom>
          <a:solidFill>
            <a:srgbClr val="F4D4F7"/>
          </a:solidFill>
          <a:ln cap="flat" cmpd="sng" w="9525">
            <a:solidFill>
              <a:srgbClr val="DABA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1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9"/>
          <p:cNvSpPr/>
          <p:nvPr/>
        </p:nvSpPr>
        <p:spPr>
          <a:xfrm>
            <a:off x="10766941" y="5844421"/>
            <a:ext cx="2835235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1"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2200"/>
              <a:buFont typeface="Rubik Medium"/>
              <a:buNone/>
            </a:pPr>
            <a:r>
              <a:rPr lang="en-US" sz="2200">
                <a:solidFill>
                  <a:srgbClr val="272525"/>
                </a:solidFill>
                <a:latin typeface="Rubik Medium"/>
                <a:ea typeface="Rubik Medium"/>
                <a:cs typeface="Rubik Medium"/>
                <a:sym typeface="Rubik Medium"/>
              </a:rPr>
              <a:t>התאם דוגמאות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9"/>
          <p:cNvSpPr/>
          <p:nvPr/>
        </p:nvSpPr>
        <p:spPr>
          <a:xfrm>
            <a:off x="1028224" y="6334839"/>
            <a:ext cx="12573953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1" algn="r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750"/>
              <a:buFont typeface="Open Sans"/>
              <a:buNone/>
            </a:pPr>
            <a:r>
              <a:rPr lang="en-US" sz="1750">
                <a:solidFill>
                  <a:srgbClr val="272525"/>
                </a:solidFill>
                <a:latin typeface="Open Sans"/>
                <a:ea typeface="Open Sans"/>
                <a:cs typeface="Open Sans"/>
                <a:sym typeface="Open Sans"/>
              </a:rPr>
              <a:t>בקש מהבינה המלאכותית ליצור דוגמאות שקשורות ורלוונטיות לחוויות או לצרכים של הקהל</a:t>
            </a:r>
            <a:endParaRPr sz="17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10"/>
          <p:cNvSpPr/>
          <p:nvPr/>
        </p:nvSpPr>
        <p:spPr>
          <a:xfrm>
            <a:off x="8166021" y="1362075"/>
            <a:ext cx="5670590" cy="7087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1" algn="r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D75BE2"/>
              </a:buClr>
              <a:buSzPts val="4450"/>
              <a:buFont typeface="Rubik Medium"/>
              <a:buNone/>
            </a:pPr>
            <a:r>
              <a:rPr lang="en-US" sz="4450">
                <a:solidFill>
                  <a:srgbClr val="D75BE2"/>
                </a:solidFill>
                <a:latin typeface="Rubik Medium"/>
                <a:ea typeface="Rubik Medium"/>
                <a:cs typeface="Rubik Medium"/>
                <a:sym typeface="Rubik Medium"/>
              </a:rPr>
              <a:t>3. ציין את הקהל</a:t>
            </a:r>
            <a:endParaRPr sz="44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" name="Google Shape;238;p10"/>
          <p:cNvSpPr/>
          <p:nvPr/>
        </p:nvSpPr>
        <p:spPr>
          <a:xfrm>
            <a:off x="793790" y="2524482"/>
            <a:ext cx="13042821" cy="5081349"/>
          </a:xfrm>
          <a:prstGeom prst="roundRect">
            <a:avLst>
              <a:gd fmla="val 1875" name="adj"/>
            </a:avLst>
          </a:prstGeom>
          <a:noFill/>
          <a:ln cap="flat" cmpd="sng" w="9525">
            <a:solidFill>
              <a:srgbClr val="000000">
                <a:alpha val="7843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1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10"/>
          <p:cNvSpPr/>
          <p:nvPr/>
        </p:nvSpPr>
        <p:spPr>
          <a:xfrm>
            <a:off x="801410" y="2532102"/>
            <a:ext cx="13026271" cy="650319"/>
          </a:xfrm>
          <a:prstGeom prst="rect">
            <a:avLst/>
          </a:prstGeom>
          <a:solidFill>
            <a:srgbClr val="FFFFFF">
              <a:alpha val="3922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1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p10"/>
          <p:cNvSpPr/>
          <p:nvPr/>
        </p:nvSpPr>
        <p:spPr>
          <a:xfrm>
            <a:off x="1029653" y="2675811"/>
            <a:ext cx="3884176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1" algn="r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750"/>
              <a:buFont typeface="Open Sans"/>
              <a:buNone/>
            </a:pPr>
            <a:r>
              <a:rPr b="1" lang="en-US" sz="1750">
                <a:solidFill>
                  <a:srgbClr val="272525"/>
                </a:solidFill>
                <a:latin typeface="Open Sans"/>
                <a:ea typeface="Open Sans"/>
                <a:cs typeface="Open Sans"/>
                <a:sym typeface="Open Sans"/>
              </a:rPr>
              <a:t>עיקרון</a:t>
            </a:r>
            <a:endParaRPr sz="17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" name="Google Shape;241;p10"/>
          <p:cNvSpPr/>
          <p:nvPr/>
        </p:nvSpPr>
        <p:spPr>
          <a:xfrm>
            <a:off x="5375077" y="2675811"/>
            <a:ext cx="3880366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1" algn="r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F44444"/>
              </a:buClr>
              <a:buSzPts val="1750"/>
              <a:buFont typeface="Open Sans"/>
              <a:buNone/>
            </a:pPr>
            <a:r>
              <a:rPr b="1" lang="en-US" sz="1750">
                <a:solidFill>
                  <a:srgbClr val="F44444"/>
                </a:solidFill>
                <a:latin typeface="Open Sans"/>
                <a:ea typeface="Open Sans"/>
                <a:cs typeface="Open Sans"/>
                <a:sym typeface="Open Sans"/>
              </a:rPr>
              <a:t>פרומפט גרוע</a:t>
            </a:r>
            <a:endParaRPr sz="17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" name="Google Shape;242;p10"/>
          <p:cNvSpPr/>
          <p:nvPr/>
        </p:nvSpPr>
        <p:spPr>
          <a:xfrm>
            <a:off x="9716691" y="2675811"/>
            <a:ext cx="3884176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1" algn="r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5CC97B"/>
              </a:buClr>
              <a:buSzPts val="1750"/>
              <a:buFont typeface="Open Sans"/>
              <a:buNone/>
            </a:pPr>
            <a:r>
              <a:rPr b="1" lang="en-US" sz="1750">
                <a:solidFill>
                  <a:srgbClr val="5CC97B"/>
                </a:solidFill>
                <a:latin typeface="Open Sans"/>
                <a:ea typeface="Open Sans"/>
                <a:cs typeface="Open Sans"/>
                <a:sym typeface="Open Sans"/>
              </a:rPr>
              <a:t>פרומפט טוב</a:t>
            </a:r>
            <a:endParaRPr sz="17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" name="Google Shape;243;p10"/>
          <p:cNvSpPr/>
          <p:nvPr/>
        </p:nvSpPr>
        <p:spPr>
          <a:xfrm>
            <a:off x="801410" y="3182422"/>
            <a:ext cx="13026271" cy="1013222"/>
          </a:xfrm>
          <a:prstGeom prst="rect">
            <a:avLst/>
          </a:prstGeom>
          <a:solidFill>
            <a:srgbClr val="000000">
              <a:alpha val="3922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1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p10"/>
          <p:cNvSpPr/>
          <p:nvPr/>
        </p:nvSpPr>
        <p:spPr>
          <a:xfrm>
            <a:off x="1029653" y="3326130"/>
            <a:ext cx="3884176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1" algn="r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750"/>
              <a:buFont typeface="Open Sans"/>
              <a:buNone/>
            </a:pPr>
            <a:r>
              <a:rPr b="1" lang="en-US" sz="1750">
                <a:solidFill>
                  <a:srgbClr val="272525"/>
                </a:solidFill>
                <a:latin typeface="Open Sans"/>
                <a:ea typeface="Open Sans"/>
                <a:cs typeface="Open Sans"/>
                <a:sym typeface="Open Sans"/>
              </a:rPr>
              <a:t>הגדר את רמת הקהל</a:t>
            </a:r>
            <a:endParaRPr sz="17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p10"/>
          <p:cNvSpPr/>
          <p:nvPr/>
        </p:nvSpPr>
        <p:spPr>
          <a:xfrm>
            <a:off x="5375077" y="3326130"/>
            <a:ext cx="3880366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1" algn="r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750"/>
              <a:buFont typeface="Open Sans"/>
              <a:buNone/>
            </a:pPr>
            <a:r>
              <a:rPr lang="en-US" sz="1750">
                <a:solidFill>
                  <a:srgbClr val="272525"/>
                </a:solidFill>
                <a:latin typeface="Open Sans"/>
                <a:ea typeface="Open Sans"/>
                <a:cs typeface="Open Sans"/>
                <a:sym typeface="Open Sans"/>
              </a:rPr>
              <a:t>"הסבר למידת מכונה."</a:t>
            </a:r>
            <a:endParaRPr sz="17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" name="Google Shape;246;p10"/>
          <p:cNvSpPr/>
          <p:nvPr/>
        </p:nvSpPr>
        <p:spPr>
          <a:xfrm>
            <a:off x="9716691" y="3326130"/>
            <a:ext cx="3884176" cy="7258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1" algn="r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750"/>
              <a:buFont typeface="Open Sans"/>
              <a:buNone/>
            </a:pPr>
            <a:r>
              <a:rPr lang="en-US" sz="1750">
                <a:solidFill>
                  <a:srgbClr val="272525"/>
                </a:solidFill>
                <a:latin typeface="Open Sans"/>
                <a:ea typeface="Open Sans"/>
                <a:cs typeface="Open Sans"/>
                <a:sym typeface="Open Sans"/>
              </a:rPr>
              <a:t>"הסבר למידת מכונה למתחיל ללא ידע קודם."</a:t>
            </a:r>
            <a:endParaRPr sz="17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p10"/>
          <p:cNvSpPr/>
          <p:nvPr/>
        </p:nvSpPr>
        <p:spPr>
          <a:xfrm>
            <a:off x="801410" y="4195643"/>
            <a:ext cx="13026271" cy="1013222"/>
          </a:xfrm>
          <a:prstGeom prst="rect">
            <a:avLst/>
          </a:prstGeom>
          <a:solidFill>
            <a:srgbClr val="FFFFFF">
              <a:alpha val="3922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1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p10"/>
          <p:cNvSpPr/>
          <p:nvPr/>
        </p:nvSpPr>
        <p:spPr>
          <a:xfrm>
            <a:off x="1029653" y="4339352"/>
            <a:ext cx="3884176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1" algn="r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750"/>
              <a:buFont typeface="Open Sans"/>
              <a:buNone/>
            </a:pPr>
            <a:r>
              <a:rPr b="1" lang="en-US" sz="1750">
                <a:solidFill>
                  <a:srgbClr val="272525"/>
                </a:solidFill>
                <a:latin typeface="Open Sans"/>
                <a:ea typeface="Open Sans"/>
                <a:cs typeface="Open Sans"/>
                <a:sym typeface="Open Sans"/>
              </a:rPr>
              <a:t>התאם את השפה</a:t>
            </a:r>
            <a:endParaRPr sz="17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p10"/>
          <p:cNvSpPr/>
          <p:nvPr/>
        </p:nvSpPr>
        <p:spPr>
          <a:xfrm>
            <a:off x="5375077" y="4339352"/>
            <a:ext cx="3880366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1" algn="r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750"/>
              <a:buFont typeface="Open Sans"/>
              <a:buNone/>
            </a:pPr>
            <a:r>
              <a:rPr lang="en-US" sz="1750">
                <a:solidFill>
                  <a:srgbClr val="272525"/>
                </a:solidFill>
                <a:latin typeface="Open Sans"/>
                <a:ea typeface="Open Sans"/>
                <a:cs typeface="Open Sans"/>
                <a:sym typeface="Open Sans"/>
              </a:rPr>
              <a:t>"כתוב מדריך על מחשוב ענן."</a:t>
            </a:r>
            <a:endParaRPr sz="17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p10"/>
          <p:cNvSpPr/>
          <p:nvPr/>
        </p:nvSpPr>
        <p:spPr>
          <a:xfrm>
            <a:off x="9716691" y="4339352"/>
            <a:ext cx="3884176" cy="7258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1" algn="r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750"/>
              <a:buFont typeface="Open Sans"/>
              <a:buNone/>
            </a:pPr>
            <a:r>
              <a:rPr lang="en-US" sz="1750">
                <a:solidFill>
                  <a:srgbClr val="272525"/>
                </a:solidFill>
                <a:latin typeface="Open Sans"/>
                <a:ea typeface="Open Sans"/>
                <a:cs typeface="Open Sans"/>
                <a:sym typeface="Open Sans"/>
              </a:rPr>
              <a:t>"כתוב מדריך פשוט על מחשוב ענן לבעלי עסקים קטנים ללא רקע טכני."</a:t>
            </a:r>
            <a:endParaRPr sz="17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251;p10"/>
          <p:cNvSpPr/>
          <p:nvPr/>
        </p:nvSpPr>
        <p:spPr>
          <a:xfrm>
            <a:off x="801410" y="5208865"/>
            <a:ext cx="13026271" cy="1013222"/>
          </a:xfrm>
          <a:prstGeom prst="rect">
            <a:avLst/>
          </a:prstGeom>
          <a:solidFill>
            <a:srgbClr val="000000">
              <a:alpha val="3922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1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" name="Google Shape;252;p10"/>
          <p:cNvSpPr/>
          <p:nvPr/>
        </p:nvSpPr>
        <p:spPr>
          <a:xfrm>
            <a:off x="1029653" y="5352574"/>
            <a:ext cx="3884176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1" algn="r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750"/>
              <a:buFont typeface="Open Sans"/>
              <a:buNone/>
            </a:pPr>
            <a:r>
              <a:rPr b="1" lang="en-US" sz="1750">
                <a:solidFill>
                  <a:srgbClr val="272525"/>
                </a:solidFill>
                <a:latin typeface="Open Sans"/>
                <a:ea typeface="Open Sans"/>
                <a:cs typeface="Open Sans"/>
                <a:sym typeface="Open Sans"/>
              </a:rPr>
              <a:t>ספק הקשר</a:t>
            </a:r>
            <a:endParaRPr sz="17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" name="Google Shape;253;p10"/>
          <p:cNvSpPr/>
          <p:nvPr/>
        </p:nvSpPr>
        <p:spPr>
          <a:xfrm>
            <a:off x="5375077" y="5352574"/>
            <a:ext cx="3880366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1" algn="r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750"/>
              <a:buFont typeface="Open Sans"/>
              <a:buNone/>
            </a:pPr>
            <a:r>
              <a:rPr lang="en-US" sz="1750">
                <a:solidFill>
                  <a:srgbClr val="272525"/>
                </a:solidFill>
                <a:latin typeface="Open Sans"/>
                <a:ea typeface="Open Sans"/>
                <a:cs typeface="Open Sans"/>
                <a:sym typeface="Open Sans"/>
              </a:rPr>
              <a:t>"דון בחשיבות החינוך."</a:t>
            </a:r>
            <a:endParaRPr sz="17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" name="Google Shape;254;p10"/>
          <p:cNvSpPr/>
          <p:nvPr/>
        </p:nvSpPr>
        <p:spPr>
          <a:xfrm>
            <a:off x="9716691" y="5352574"/>
            <a:ext cx="3884176" cy="7258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1" algn="r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750"/>
              <a:buFont typeface="Open Sans"/>
              <a:buNone/>
            </a:pPr>
            <a:r>
              <a:rPr lang="en-US" sz="1750">
                <a:solidFill>
                  <a:srgbClr val="272525"/>
                </a:solidFill>
                <a:latin typeface="Open Sans"/>
                <a:ea typeface="Open Sans"/>
                <a:cs typeface="Open Sans"/>
                <a:sym typeface="Open Sans"/>
              </a:rPr>
              <a:t>"דון בחשיבות החינוך להורים שצריכים לשכנע את ילדם בן ה-12 להכין שיעורי בית."</a:t>
            </a:r>
            <a:endParaRPr sz="17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Google Shape;255;p10"/>
          <p:cNvSpPr/>
          <p:nvPr/>
        </p:nvSpPr>
        <p:spPr>
          <a:xfrm>
            <a:off x="801410" y="6222087"/>
            <a:ext cx="13026271" cy="1376124"/>
          </a:xfrm>
          <a:prstGeom prst="rect">
            <a:avLst/>
          </a:prstGeom>
          <a:solidFill>
            <a:srgbClr val="FFFFFF">
              <a:alpha val="3922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1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p10"/>
          <p:cNvSpPr/>
          <p:nvPr/>
        </p:nvSpPr>
        <p:spPr>
          <a:xfrm>
            <a:off x="1029653" y="6365796"/>
            <a:ext cx="3884176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1" algn="r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750"/>
              <a:buFont typeface="Open Sans"/>
              <a:buNone/>
            </a:pPr>
            <a:r>
              <a:rPr b="1" lang="en-US" sz="1750">
                <a:solidFill>
                  <a:srgbClr val="272525"/>
                </a:solidFill>
                <a:latin typeface="Open Sans"/>
                <a:ea typeface="Open Sans"/>
                <a:cs typeface="Open Sans"/>
                <a:sym typeface="Open Sans"/>
              </a:rPr>
              <a:t>התאם דוגמאות</a:t>
            </a:r>
            <a:endParaRPr sz="17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" name="Google Shape;257;p10"/>
          <p:cNvSpPr/>
          <p:nvPr/>
        </p:nvSpPr>
        <p:spPr>
          <a:xfrm>
            <a:off x="5375077" y="6365796"/>
            <a:ext cx="3880366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1" algn="r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750"/>
              <a:buFont typeface="Open Sans"/>
              <a:buNone/>
            </a:pPr>
            <a:r>
              <a:rPr lang="en-US" sz="1750">
                <a:solidFill>
                  <a:srgbClr val="272525"/>
                </a:solidFill>
                <a:latin typeface="Open Sans"/>
                <a:ea typeface="Open Sans"/>
                <a:cs typeface="Open Sans"/>
                <a:sym typeface="Open Sans"/>
              </a:rPr>
              <a:t>"תן דוגמה להסתברות."</a:t>
            </a:r>
            <a:endParaRPr sz="17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" name="Google Shape;258;p10"/>
          <p:cNvSpPr/>
          <p:nvPr/>
        </p:nvSpPr>
        <p:spPr>
          <a:xfrm>
            <a:off x="9716691" y="6365796"/>
            <a:ext cx="3884176" cy="10887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1" algn="r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750"/>
              <a:buFont typeface="Open Sans"/>
              <a:buNone/>
            </a:pPr>
            <a:r>
              <a:rPr lang="en-US" sz="1750">
                <a:solidFill>
                  <a:srgbClr val="272525"/>
                </a:solidFill>
                <a:latin typeface="Open Sans"/>
                <a:ea typeface="Open Sans"/>
                <a:cs typeface="Open Sans"/>
                <a:sym typeface="Open Sans"/>
              </a:rPr>
              <a:t>"תן דוגמה להסתברות הרלוונטית לסטודנט המחליט אם ללמוד מאוחר או להתעורר מוקדם."</a:t>
            </a:r>
            <a:endParaRPr sz="17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11"/>
          <p:cNvSpPr/>
          <p:nvPr/>
        </p:nvSpPr>
        <p:spPr>
          <a:xfrm>
            <a:off x="8166021" y="623768"/>
            <a:ext cx="5670590" cy="7087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1" algn="r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D75BE2"/>
              </a:buClr>
              <a:buSzPts val="4450"/>
              <a:buFont typeface="Rubik Medium"/>
              <a:buNone/>
            </a:pPr>
            <a:r>
              <a:rPr lang="en-US" sz="4450">
                <a:solidFill>
                  <a:srgbClr val="D75BE2"/>
                </a:solidFill>
                <a:latin typeface="Rubik Medium"/>
                <a:ea typeface="Rubik Medium"/>
                <a:cs typeface="Rubik Medium"/>
                <a:sym typeface="Rubik Medium"/>
              </a:rPr>
              <a:t>4. אל תניח ידע קודם</a:t>
            </a:r>
            <a:endParaRPr sz="44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5" name="Google Shape;265;p11"/>
          <p:cNvSpPr/>
          <p:nvPr/>
        </p:nvSpPr>
        <p:spPr>
          <a:xfrm>
            <a:off x="793790" y="1786176"/>
            <a:ext cx="13042821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1" algn="r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750"/>
              <a:buFont typeface="Open Sans"/>
              <a:buNone/>
            </a:pPr>
            <a:r>
              <a:rPr lang="en-US" sz="1750">
                <a:solidFill>
                  <a:srgbClr val="272525"/>
                </a:solidFill>
                <a:latin typeface="Open Sans"/>
                <a:ea typeface="Open Sans"/>
                <a:cs typeface="Open Sans"/>
                <a:sym typeface="Open Sans"/>
              </a:rPr>
              <a:t>בנה פרומפטים באמצעות הקשר רלוונטי ודוגמאות ברורות כדי לעזור למודלים של בינה מלאכותית להבין ולענות על הציפיות שלך.</a:t>
            </a:r>
            <a:endParaRPr sz="17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66" name="Google Shape;266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003608" y="2659380"/>
            <a:ext cx="1034891" cy="1034891"/>
          </a:xfrm>
          <a:prstGeom prst="rect">
            <a:avLst/>
          </a:prstGeom>
          <a:noFill/>
          <a:ln>
            <a:noFill/>
          </a:ln>
        </p:spPr>
      </p:pic>
      <p:sp>
        <p:nvSpPr>
          <p:cNvPr id="267" name="Google Shape;267;p11"/>
          <p:cNvSpPr/>
          <p:nvPr/>
        </p:nvSpPr>
        <p:spPr>
          <a:xfrm>
            <a:off x="4203263" y="3949422"/>
            <a:ext cx="2835235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1"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D75BE2"/>
              </a:buClr>
              <a:buSzPts val="2200"/>
              <a:buFont typeface="Rubik Medium"/>
              <a:buNone/>
            </a:pPr>
            <a:r>
              <a:rPr lang="en-US" sz="2200">
                <a:solidFill>
                  <a:srgbClr val="D75BE2"/>
                </a:solidFill>
                <a:latin typeface="Rubik Medium"/>
                <a:ea typeface="Rubik Medium"/>
                <a:cs typeface="Rubik Medium"/>
                <a:sym typeface="Rubik Medium"/>
              </a:rPr>
              <a:t>ספק הקשר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8" name="Google Shape;268;p11"/>
          <p:cNvSpPr/>
          <p:nvPr/>
        </p:nvSpPr>
        <p:spPr>
          <a:xfrm>
            <a:off x="793790" y="4530566"/>
            <a:ext cx="6244709" cy="7258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1" algn="r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750"/>
              <a:buFont typeface="Open Sans"/>
              <a:buNone/>
            </a:pPr>
            <a:r>
              <a:rPr lang="en-US" sz="1750">
                <a:solidFill>
                  <a:srgbClr val="272525"/>
                </a:solidFill>
                <a:latin typeface="Open Sans"/>
                <a:ea typeface="Open Sans"/>
                <a:cs typeface="Open Sans"/>
                <a:sym typeface="Open Sans"/>
              </a:rPr>
              <a:t>כלול מידע רקע כדי להבטיח שהמודל מבין את המטרה או ההגדרה של המשימה.</a:t>
            </a:r>
            <a:endParaRPr sz="17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69" name="Google Shape;269;p1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2809339" y="2659380"/>
            <a:ext cx="1034891" cy="1034891"/>
          </a:xfrm>
          <a:prstGeom prst="rect">
            <a:avLst/>
          </a:prstGeom>
          <a:noFill/>
          <a:ln>
            <a:noFill/>
          </a:ln>
        </p:spPr>
      </p:pic>
      <p:sp>
        <p:nvSpPr>
          <p:cNvPr id="270" name="Google Shape;270;p11"/>
          <p:cNvSpPr/>
          <p:nvPr/>
        </p:nvSpPr>
        <p:spPr>
          <a:xfrm>
            <a:off x="10780157" y="3949422"/>
            <a:ext cx="3064073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1"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D75BE2"/>
              </a:buClr>
              <a:buSzPts val="2200"/>
              <a:buFont typeface="Rubik Medium"/>
              <a:buNone/>
            </a:pPr>
            <a:r>
              <a:rPr lang="en-US" sz="2200">
                <a:solidFill>
                  <a:srgbClr val="D75BE2"/>
                </a:solidFill>
                <a:latin typeface="Rubik Medium"/>
                <a:ea typeface="Rubik Medium"/>
                <a:cs typeface="Rubik Medium"/>
                <a:sym typeface="Rubik Medium"/>
              </a:rPr>
              <a:t>השתמש בדוגמאות ברורות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1" name="Google Shape;271;p11"/>
          <p:cNvSpPr/>
          <p:nvPr/>
        </p:nvSpPr>
        <p:spPr>
          <a:xfrm>
            <a:off x="7599521" y="4530566"/>
            <a:ext cx="6244709" cy="7258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1" algn="r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750"/>
              <a:buFont typeface="Open Sans"/>
              <a:buNone/>
            </a:pPr>
            <a:r>
              <a:rPr lang="en-US" sz="1750">
                <a:solidFill>
                  <a:srgbClr val="272525"/>
                </a:solidFill>
                <a:latin typeface="Open Sans"/>
                <a:ea typeface="Open Sans"/>
                <a:cs typeface="Open Sans"/>
                <a:sym typeface="Open Sans"/>
              </a:rPr>
              <a:t>הדגם בדיוק מה אתה מבקש. דוגמאות הופכות את הציפיות שלך למפורשות ומנחות את תגובת המודל.</a:t>
            </a:r>
            <a:endParaRPr sz="17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12"/>
          <p:cNvSpPr/>
          <p:nvPr/>
        </p:nvSpPr>
        <p:spPr>
          <a:xfrm>
            <a:off x="8166021" y="623768"/>
            <a:ext cx="5670590" cy="7087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1" algn="r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D75BE2"/>
              </a:buClr>
              <a:buSzPts val="4450"/>
              <a:buFont typeface="Rubik Medium"/>
              <a:buNone/>
            </a:pPr>
            <a:r>
              <a:rPr lang="en-US" sz="4450">
                <a:solidFill>
                  <a:srgbClr val="D75BE2"/>
                </a:solidFill>
                <a:latin typeface="Rubik Medium"/>
                <a:ea typeface="Rubik Medium"/>
                <a:cs typeface="Rubik Medium"/>
                <a:sym typeface="Rubik Medium"/>
              </a:rPr>
              <a:t>4. אל תניח ידע קודם</a:t>
            </a:r>
            <a:endParaRPr sz="44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8" name="Google Shape;278;p12"/>
          <p:cNvSpPr/>
          <p:nvPr/>
        </p:nvSpPr>
        <p:spPr>
          <a:xfrm>
            <a:off x="793790" y="1786176"/>
            <a:ext cx="13042821" cy="3417808"/>
          </a:xfrm>
          <a:prstGeom prst="roundRect">
            <a:avLst>
              <a:gd fmla="val 2787" name="adj"/>
            </a:avLst>
          </a:prstGeom>
          <a:noFill/>
          <a:ln cap="flat" cmpd="sng" w="9525">
            <a:solidFill>
              <a:srgbClr val="000000">
                <a:alpha val="7843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1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9" name="Google Shape;279;p12"/>
          <p:cNvSpPr/>
          <p:nvPr/>
        </p:nvSpPr>
        <p:spPr>
          <a:xfrm>
            <a:off x="801410" y="1793796"/>
            <a:ext cx="13026271" cy="650319"/>
          </a:xfrm>
          <a:prstGeom prst="rect">
            <a:avLst/>
          </a:prstGeom>
          <a:solidFill>
            <a:srgbClr val="FFFFFF">
              <a:alpha val="3922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1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0" name="Google Shape;280;p12"/>
          <p:cNvSpPr/>
          <p:nvPr/>
        </p:nvSpPr>
        <p:spPr>
          <a:xfrm>
            <a:off x="1029653" y="1937504"/>
            <a:ext cx="3884176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1" algn="r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750"/>
              <a:buFont typeface="Open Sans"/>
              <a:buNone/>
            </a:pPr>
            <a:r>
              <a:rPr b="1" lang="en-US" sz="1750">
                <a:solidFill>
                  <a:srgbClr val="272525"/>
                </a:solidFill>
                <a:latin typeface="Open Sans"/>
                <a:ea typeface="Open Sans"/>
                <a:cs typeface="Open Sans"/>
                <a:sym typeface="Open Sans"/>
              </a:rPr>
              <a:t>עיקרון</a:t>
            </a:r>
            <a:endParaRPr sz="17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1" name="Google Shape;281;p12"/>
          <p:cNvSpPr/>
          <p:nvPr/>
        </p:nvSpPr>
        <p:spPr>
          <a:xfrm>
            <a:off x="5375077" y="1937504"/>
            <a:ext cx="3880366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1" algn="r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F44444"/>
              </a:buClr>
              <a:buSzPts val="1750"/>
              <a:buFont typeface="Open Sans"/>
              <a:buNone/>
            </a:pPr>
            <a:r>
              <a:rPr b="1" lang="en-US" sz="1750">
                <a:solidFill>
                  <a:srgbClr val="F44444"/>
                </a:solidFill>
                <a:latin typeface="Open Sans"/>
                <a:ea typeface="Open Sans"/>
                <a:cs typeface="Open Sans"/>
                <a:sym typeface="Open Sans"/>
              </a:rPr>
              <a:t>פרומפט גרוע</a:t>
            </a:r>
            <a:endParaRPr sz="17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2" name="Google Shape;282;p12"/>
          <p:cNvSpPr/>
          <p:nvPr/>
        </p:nvSpPr>
        <p:spPr>
          <a:xfrm>
            <a:off x="9716691" y="1937504"/>
            <a:ext cx="3884176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1" algn="r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5CC97B"/>
              </a:buClr>
              <a:buSzPts val="1750"/>
              <a:buFont typeface="Open Sans"/>
              <a:buNone/>
            </a:pPr>
            <a:r>
              <a:rPr b="1" lang="en-US" sz="1750">
                <a:solidFill>
                  <a:srgbClr val="5CC97B"/>
                </a:solidFill>
                <a:latin typeface="Open Sans"/>
                <a:ea typeface="Open Sans"/>
                <a:cs typeface="Open Sans"/>
                <a:sym typeface="Open Sans"/>
              </a:rPr>
              <a:t>פרומפט טוב</a:t>
            </a:r>
            <a:endParaRPr sz="17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3" name="Google Shape;283;p12"/>
          <p:cNvSpPr/>
          <p:nvPr/>
        </p:nvSpPr>
        <p:spPr>
          <a:xfrm>
            <a:off x="801410" y="2444115"/>
            <a:ext cx="13026271" cy="1376124"/>
          </a:xfrm>
          <a:prstGeom prst="rect">
            <a:avLst/>
          </a:prstGeom>
          <a:solidFill>
            <a:srgbClr val="000000">
              <a:alpha val="3922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1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4" name="Google Shape;284;p12"/>
          <p:cNvSpPr/>
          <p:nvPr/>
        </p:nvSpPr>
        <p:spPr>
          <a:xfrm>
            <a:off x="1029653" y="2587823"/>
            <a:ext cx="3884176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1" algn="r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750"/>
              <a:buFont typeface="Open Sans"/>
              <a:buNone/>
            </a:pPr>
            <a:r>
              <a:rPr b="1" lang="en-US" sz="1750">
                <a:solidFill>
                  <a:srgbClr val="272525"/>
                </a:solidFill>
                <a:latin typeface="Open Sans"/>
                <a:ea typeface="Open Sans"/>
                <a:cs typeface="Open Sans"/>
                <a:sym typeface="Open Sans"/>
              </a:rPr>
              <a:t>ספק הקשר</a:t>
            </a:r>
            <a:endParaRPr sz="17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5" name="Google Shape;285;p12"/>
          <p:cNvSpPr/>
          <p:nvPr/>
        </p:nvSpPr>
        <p:spPr>
          <a:xfrm>
            <a:off x="5375077" y="2587823"/>
            <a:ext cx="3880366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1" algn="r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750"/>
              <a:buFont typeface="Open Sans"/>
              <a:buNone/>
            </a:pPr>
            <a:r>
              <a:rPr lang="en-US" sz="1750">
                <a:solidFill>
                  <a:srgbClr val="272525"/>
                </a:solidFill>
                <a:latin typeface="Open Sans"/>
                <a:ea typeface="Open Sans"/>
                <a:cs typeface="Open Sans"/>
                <a:sym typeface="Open Sans"/>
              </a:rPr>
              <a:t>"הסבר איך לתכנן טיול."</a:t>
            </a:r>
            <a:endParaRPr sz="17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6" name="Google Shape;286;p12"/>
          <p:cNvSpPr/>
          <p:nvPr/>
        </p:nvSpPr>
        <p:spPr>
          <a:xfrm>
            <a:off x="9716691" y="2587823"/>
            <a:ext cx="3884176" cy="10887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1" algn="r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750"/>
              <a:buFont typeface="Open Sans"/>
              <a:buNone/>
            </a:pPr>
            <a:r>
              <a:rPr lang="en-US" sz="1750">
                <a:solidFill>
                  <a:srgbClr val="272525"/>
                </a:solidFill>
                <a:latin typeface="Open Sans"/>
                <a:ea typeface="Open Sans"/>
                <a:cs typeface="Open Sans"/>
                <a:sym typeface="Open Sans"/>
              </a:rPr>
              <a:t>"הסבר איך לתכנן טיול סוף שבוע למשפחה בת ארבע נפשות בתקציב קטן, כולל טיפים לנסיעה ואוכל."</a:t>
            </a:r>
            <a:endParaRPr sz="17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7" name="Google Shape;287;p12"/>
          <p:cNvSpPr/>
          <p:nvPr/>
        </p:nvSpPr>
        <p:spPr>
          <a:xfrm>
            <a:off x="801410" y="3820239"/>
            <a:ext cx="13026271" cy="1376124"/>
          </a:xfrm>
          <a:prstGeom prst="rect">
            <a:avLst/>
          </a:prstGeom>
          <a:solidFill>
            <a:srgbClr val="FFFFFF">
              <a:alpha val="3922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1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8" name="Google Shape;288;p12"/>
          <p:cNvSpPr/>
          <p:nvPr/>
        </p:nvSpPr>
        <p:spPr>
          <a:xfrm>
            <a:off x="1029653" y="3963948"/>
            <a:ext cx="3884176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1" algn="r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750"/>
              <a:buFont typeface="Open Sans"/>
              <a:buNone/>
            </a:pPr>
            <a:r>
              <a:rPr b="1" lang="en-US" sz="1750">
                <a:solidFill>
                  <a:srgbClr val="272525"/>
                </a:solidFill>
                <a:latin typeface="Open Sans"/>
                <a:ea typeface="Open Sans"/>
                <a:cs typeface="Open Sans"/>
                <a:sym typeface="Open Sans"/>
              </a:rPr>
              <a:t>השתמש בדוגמאות ברורות</a:t>
            </a:r>
            <a:endParaRPr sz="17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9" name="Google Shape;289;p12"/>
          <p:cNvSpPr/>
          <p:nvPr/>
        </p:nvSpPr>
        <p:spPr>
          <a:xfrm>
            <a:off x="5375077" y="3963948"/>
            <a:ext cx="3880366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1" algn="r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750"/>
              <a:buFont typeface="Open Sans"/>
              <a:buNone/>
            </a:pPr>
            <a:r>
              <a:rPr lang="en-US" sz="1750">
                <a:solidFill>
                  <a:srgbClr val="272525"/>
                </a:solidFill>
                <a:latin typeface="Open Sans"/>
                <a:ea typeface="Open Sans"/>
                <a:cs typeface="Open Sans"/>
                <a:sym typeface="Open Sans"/>
              </a:rPr>
              <a:t>"כתוב מתכון לעוגה."</a:t>
            </a:r>
            <a:endParaRPr sz="17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0" name="Google Shape;290;p12"/>
          <p:cNvSpPr/>
          <p:nvPr/>
        </p:nvSpPr>
        <p:spPr>
          <a:xfrm>
            <a:off x="9716691" y="3963948"/>
            <a:ext cx="3884176" cy="10887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1" algn="r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750"/>
              <a:buFont typeface="Open Sans"/>
              <a:buNone/>
            </a:pPr>
            <a:r>
              <a:rPr lang="en-US" sz="1750">
                <a:solidFill>
                  <a:srgbClr val="272525"/>
                </a:solidFill>
                <a:latin typeface="Open Sans"/>
                <a:ea typeface="Open Sans"/>
                <a:cs typeface="Open Sans"/>
                <a:sym typeface="Open Sans"/>
              </a:rPr>
              <a:t>"כתוב מתכון לעוגת שוקולד עם 5 שלבים פשוטים ומרכיבים שאני יכול למצוא בכל חנות מכולת."</a:t>
            </a:r>
            <a:endParaRPr sz="17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p13"/>
          <p:cNvSpPr/>
          <p:nvPr/>
        </p:nvSpPr>
        <p:spPr>
          <a:xfrm>
            <a:off x="6923924" y="623775"/>
            <a:ext cx="6912600" cy="70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1" algn="r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D75BE2"/>
              </a:buClr>
              <a:buSzPts val="4450"/>
              <a:buFont typeface="Rubik Medium"/>
              <a:buNone/>
            </a:pPr>
            <a:r>
              <a:rPr lang="en-US" sz="4450">
                <a:solidFill>
                  <a:srgbClr val="D75BE2"/>
                </a:solidFill>
                <a:latin typeface="Rubik Medium"/>
                <a:ea typeface="Rubik Medium"/>
                <a:cs typeface="Rubik Medium"/>
                <a:sym typeface="Rubik Medium"/>
              </a:rPr>
              <a:t>5. עשה זאת צעד אחר צעד</a:t>
            </a:r>
            <a:endParaRPr sz="44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7" name="Google Shape;297;p13"/>
          <p:cNvSpPr/>
          <p:nvPr/>
        </p:nvSpPr>
        <p:spPr>
          <a:xfrm>
            <a:off x="793790" y="1786176"/>
            <a:ext cx="13042821" cy="1322189"/>
          </a:xfrm>
          <a:prstGeom prst="roundRect">
            <a:avLst>
              <a:gd fmla="val 7205" name="adj"/>
            </a:avLst>
          </a:prstGeom>
          <a:solidFill>
            <a:srgbClr val="F4D4F7"/>
          </a:solidFill>
          <a:ln cap="flat" cmpd="sng" w="9525">
            <a:solidFill>
              <a:srgbClr val="DABA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1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8" name="Google Shape;298;p13"/>
          <p:cNvSpPr/>
          <p:nvPr/>
        </p:nvSpPr>
        <p:spPr>
          <a:xfrm>
            <a:off x="10766941" y="2020610"/>
            <a:ext cx="2835235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1"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2200"/>
              <a:buFont typeface="Rubik Medium"/>
              <a:buNone/>
            </a:pPr>
            <a:r>
              <a:rPr lang="en-US" sz="2200">
                <a:solidFill>
                  <a:srgbClr val="272525"/>
                </a:solidFill>
                <a:latin typeface="Rubik Medium"/>
                <a:ea typeface="Rubik Medium"/>
                <a:cs typeface="Rubik Medium"/>
                <a:sym typeface="Rubik Medium"/>
              </a:rPr>
              <a:t>פרק משימות מורכבות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9" name="Google Shape;299;p13"/>
          <p:cNvSpPr/>
          <p:nvPr/>
        </p:nvSpPr>
        <p:spPr>
          <a:xfrm>
            <a:off x="1028224" y="2511028"/>
            <a:ext cx="12573953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1" algn="r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750"/>
              <a:buFont typeface="Open Sans"/>
              <a:buNone/>
            </a:pPr>
            <a:r>
              <a:rPr lang="en-US" sz="1750">
                <a:solidFill>
                  <a:srgbClr val="272525"/>
                </a:solidFill>
                <a:latin typeface="Open Sans"/>
                <a:ea typeface="Open Sans"/>
                <a:cs typeface="Open Sans"/>
                <a:sym typeface="Open Sans"/>
              </a:rPr>
              <a:t>פרק משימות לצעדים קטנים ופשוטים יותר לתוצאות טובות יותר</a:t>
            </a:r>
            <a:endParaRPr sz="17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0" name="Google Shape;300;p13"/>
          <p:cNvSpPr/>
          <p:nvPr/>
        </p:nvSpPr>
        <p:spPr>
          <a:xfrm>
            <a:off x="793790" y="3335179"/>
            <a:ext cx="13042821" cy="1322189"/>
          </a:xfrm>
          <a:prstGeom prst="roundRect">
            <a:avLst>
              <a:gd fmla="val 7205" name="adj"/>
            </a:avLst>
          </a:prstGeom>
          <a:solidFill>
            <a:srgbClr val="F4D4F7"/>
          </a:solidFill>
          <a:ln cap="flat" cmpd="sng" w="9525">
            <a:solidFill>
              <a:srgbClr val="DABA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1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1" name="Google Shape;301;p13"/>
          <p:cNvSpPr/>
          <p:nvPr/>
        </p:nvSpPr>
        <p:spPr>
          <a:xfrm>
            <a:off x="10766941" y="3569613"/>
            <a:ext cx="2835235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1"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2200"/>
              <a:buFont typeface="Rubik Medium"/>
              <a:buNone/>
            </a:pPr>
            <a:r>
              <a:rPr lang="en-US" sz="2200">
                <a:solidFill>
                  <a:srgbClr val="272525"/>
                </a:solidFill>
                <a:latin typeface="Rubik Medium"/>
                <a:ea typeface="Rubik Medium"/>
                <a:cs typeface="Rubik Medium"/>
                <a:sym typeface="Rubik Medium"/>
              </a:rPr>
              <a:t>השתמש באיטרציות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2" name="Google Shape;302;p13"/>
          <p:cNvSpPr/>
          <p:nvPr/>
        </p:nvSpPr>
        <p:spPr>
          <a:xfrm>
            <a:off x="1028224" y="4060031"/>
            <a:ext cx="12573953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1" algn="r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750"/>
              <a:buFont typeface="Open Sans"/>
              <a:buNone/>
            </a:pPr>
            <a:r>
              <a:rPr lang="en-US" sz="1750">
                <a:solidFill>
                  <a:srgbClr val="272525"/>
                </a:solidFill>
                <a:latin typeface="Open Sans"/>
                <a:ea typeface="Open Sans"/>
                <a:cs typeface="Open Sans"/>
                <a:sym typeface="Open Sans"/>
              </a:rPr>
              <a:t>התחל עם פרומפטים פשוטים ובנה בהדרגה למשימות מורכבות יותר</a:t>
            </a:r>
            <a:endParaRPr sz="17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3" name="Google Shape;303;p13"/>
          <p:cNvSpPr/>
          <p:nvPr/>
        </p:nvSpPr>
        <p:spPr>
          <a:xfrm>
            <a:off x="793790" y="4884182"/>
            <a:ext cx="13042821" cy="1322189"/>
          </a:xfrm>
          <a:prstGeom prst="roundRect">
            <a:avLst>
              <a:gd fmla="val 7205" name="adj"/>
            </a:avLst>
          </a:prstGeom>
          <a:solidFill>
            <a:srgbClr val="F4D4F7"/>
          </a:solidFill>
          <a:ln cap="flat" cmpd="sng" w="9525">
            <a:solidFill>
              <a:srgbClr val="DABA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1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4" name="Google Shape;304;p13"/>
          <p:cNvSpPr/>
          <p:nvPr/>
        </p:nvSpPr>
        <p:spPr>
          <a:xfrm>
            <a:off x="10597872" y="5118616"/>
            <a:ext cx="3004304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1"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2200"/>
              <a:buFont typeface="Rubik Medium"/>
              <a:buNone/>
            </a:pPr>
            <a:r>
              <a:rPr lang="en-US" sz="2200">
                <a:solidFill>
                  <a:srgbClr val="272525"/>
                </a:solidFill>
                <a:latin typeface="Rubik Medium"/>
                <a:ea typeface="Rubik Medium"/>
                <a:cs typeface="Rubik Medium"/>
                <a:sym typeface="Rubik Medium"/>
              </a:rPr>
              <a:t>שאל שאלה אחת בכל פעם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5" name="Google Shape;305;p13"/>
          <p:cNvSpPr/>
          <p:nvPr/>
        </p:nvSpPr>
        <p:spPr>
          <a:xfrm>
            <a:off x="1028224" y="5609034"/>
            <a:ext cx="12573953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1" algn="r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750"/>
              <a:buFont typeface="Open Sans"/>
              <a:buNone/>
            </a:pPr>
            <a:r>
              <a:rPr lang="en-US" sz="1750">
                <a:solidFill>
                  <a:srgbClr val="272525"/>
                </a:solidFill>
                <a:latin typeface="Open Sans"/>
                <a:ea typeface="Open Sans"/>
                <a:cs typeface="Open Sans"/>
                <a:sym typeface="Open Sans"/>
              </a:rPr>
              <a:t>שאל שאלה אחת בכל פעם למניעת בלבול ולהבטחת תשובות ממוקדות וברורות</a:t>
            </a:r>
            <a:endParaRPr sz="17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0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p14"/>
          <p:cNvSpPr/>
          <p:nvPr/>
        </p:nvSpPr>
        <p:spPr>
          <a:xfrm>
            <a:off x="6665423" y="1144200"/>
            <a:ext cx="7171200" cy="70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1" algn="r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D75BE2"/>
              </a:buClr>
              <a:buSzPts val="4450"/>
              <a:buFont typeface="Rubik Medium"/>
              <a:buNone/>
            </a:pPr>
            <a:r>
              <a:rPr lang="en-US" sz="4450">
                <a:solidFill>
                  <a:srgbClr val="D75BE2"/>
                </a:solidFill>
                <a:latin typeface="Rubik Medium"/>
                <a:ea typeface="Rubik Medium"/>
                <a:cs typeface="Rubik Medium"/>
                <a:sym typeface="Rubik Medium"/>
              </a:rPr>
              <a:t>5. עשה זאת צעד אחר צעד</a:t>
            </a:r>
            <a:endParaRPr sz="44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2" name="Google Shape;312;p14"/>
          <p:cNvSpPr/>
          <p:nvPr/>
        </p:nvSpPr>
        <p:spPr>
          <a:xfrm>
            <a:off x="793790" y="2306598"/>
            <a:ext cx="13042821" cy="4778692"/>
          </a:xfrm>
          <a:prstGeom prst="roundRect">
            <a:avLst>
              <a:gd fmla="val 1994" name="adj"/>
            </a:avLst>
          </a:prstGeom>
          <a:noFill/>
          <a:ln cap="flat" cmpd="sng" w="9525">
            <a:solidFill>
              <a:srgbClr val="000000">
                <a:alpha val="7843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1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3" name="Google Shape;313;p14"/>
          <p:cNvSpPr/>
          <p:nvPr/>
        </p:nvSpPr>
        <p:spPr>
          <a:xfrm>
            <a:off x="801410" y="2314218"/>
            <a:ext cx="13026271" cy="650319"/>
          </a:xfrm>
          <a:prstGeom prst="rect">
            <a:avLst/>
          </a:prstGeom>
          <a:solidFill>
            <a:srgbClr val="FFFFFF">
              <a:alpha val="3922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1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4" name="Google Shape;314;p14"/>
          <p:cNvSpPr/>
          <p:nvPr/>
        </p:nvSpPr>
        <p:spPr>
          <a:xfrm>
            <a:off x="1029653" y="2457926"/>
            <a:ext cx="3884176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1" algn="r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750"/>
              <a:buFont typeface="Open Sans"/>
              <a:buNone/>
            </a:pPr>
            <a:r>
              <a:rPr b="1" lang="en-US" sz="1750">
                <a:solidFill>
                  <a:srgbClr val="272525"/>
                </a:solidFill>
                <a:latin typeface="Open Sans"/>
                <a:ea typeface="Open Sans"/>
                <a:cs typeface="Open Sans"/>
                <a:sym typeface="Open Sans"/>
              </a:rPr>
              <a:t>עיקרון</a:t>
            </a:r>
            <a:endParaRPr sz="17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5" name="Google Shape;315;p14"/>
          <p:cNvSpPr/>
          <p:nvPr/>
        </p:nvSpPr>
        <p:spPr>
          <a:xfrm>
            <a:off x="5375077" y="2457926"/>
            <a:ext cx="3880366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1" algn="r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F44444"/>
              </a:buClr>
              <a:buSzPts val="1750"/>
              <a:buFont typeface="Open Sans"/>
              <a:buNone/>
            </a:pPr>
            <a:r>
              <a:rPr b="1" lang="en-US" sz="1750">
                <a:solidFill>
                  <a:srgbClr val="F44444"/>
                </a:solidFill>
                <a:latin typeface="Open Sans"/>
                <a:ea typeface="Open Sans"/>
                <a:cs typeface="Open Sans"/>
                <a:sym typeface="Open Sans"/>
              </a:rPr>
              <a:t>פרומפט גרוע</a:t>
            </a:r>
            <a:endParaRPr sz="17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6" name="Google Shape;316;p14"/>
          <p:cNvSpPr/>
          <p:nvPr/>
        </p:nvSpPr>
        <p:spPr>
          <a:xfrm>
            <a:off x="9716691" y="2457926"/>
            <a:ext cx="3884176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1" algn="r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5CC97B"/>
              </a:buClr>
              <a:buSzPts val="1750"/>
              <a:buFont typeface="Open Sans"/>
              <a:buNone/>
            </a:pPr>
            <a:r>
              <a:rPr b="1" lang="en-US" sz="1750">
                <a:solidFill>
                  <a:srgbClr val="5CC97B"/>
                </a:solidFill>
                <a:latin typeface="Open Sans"/>
                <a:ea typeface="Open Sans"/>
                <a:cs typeface="Open Sans"/>
                <a:sym typeface="Open Sans"/>
              </a:rPr>
              <a:t>פרומפט טוב</a:t>
            </a:r>
            <a:endParaRPr sz="17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7" name="Google Shape;317;p14"/>
          <p:cNvSpPr/>
          <p:nvPr/>
        </p:nvSpPr>
        <p:spPr>
          <a:xfrm>
            <a:off x="801410" y="2964537"/>
            <a:ext cx="13026271" cy="2238018"/>
          </a:xfrm>
          <a:prstGeom prst="rect">
            <a:avLst/>
          </a:prstGeom>
          <a:solidFill>
            <a:srgbClr val="000000">
              <a:alpha val="3922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1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8" name="Google Shape;318;p14"/>
          <p:cNvSpPr/>
          <p:nvPr/>
        </p:nvSpPr>
        <p:spPr>
          <a:xfrm>
            <a:off x="1029653" y="3108246"/>
            <a:ext cx="3884176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1" algn="r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750"/>
              <a:buFont typeface="Open Sans"/>
              <a:buNone/>
            </a:pPr>
            <a:r>
              <a:rPr b="1" lang="en-US" sz="1750">
                <a:solidFill>
                  <a:srgbClr val="272525"/>
                </a:solidFill>
                <a:latin typeface="Open Sans"/>
                <a:ea typeface="Open Sans"/>
                <a:cs typeface="Open Sans"/>
                <a:sym typeface="Open Sans"/>
              </a:rPr>
              <a:t>פרק משימות מורכבות</a:t>
            </a:r>
            <a:endParaRPr sz="17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9" name="Google Shape;319;p14"/>
          <p:cNvSpPr/>
          <p:nvPr/>
        </p:nvSpPr>
        <p:spPr>
          <a:xfrm>
            <a:off x="5375077" y="3108246"/>
            <a:ext cx="3880366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1" algn="r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750"/>
              <a:buFont typeface="Open Sans"/>
              <a:buNone/>
            </a:pPr>
            <a:r>
              <a:rPr lang="en-US" sz="1750">
                <a:solidFill>
                  <a:srgbClr val="272525"/>
                </a:solidFill>
                <a:latin typeface="Open Sans"/>
                <a:ea typeface="Open Sans"/>
                <a:cs typeface="Open Sans"/>
                <a:sym typeface="Open Sans"/>
              </a:rPr>
              <a:t>"תכנן את חופשת המשפחה שלי."</a:t>
            </a:r>
            <a:endParaRPr sz="17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0" name="Google Shape;320;p14"/>
          <p:cNvSpPr/>
          <p:nvPr/>
        </p:nvSpPr>
        <p:spPr>
          <a:xfrm>
            <a:off x="9716691" y="3108246"/>
            <a:ext cx="3884176" cy="7258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1" algn="r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750"/>
              <a:buFont typeface="Open Sans"/>
              <a:buNone/>
            </a:pPr>
            <a:r>
              <a:rPr lang="en-US" sz="1750">
                <a:solidFill>
                  <a:srgbClr val="272525"/>
                </a:solidFill>
                <a:latin typeface="Open Sans"/>
                <a:ea typeface="Open Sans"/>
                <a:cs typeface="Open Sans"/>
                <a:sym typeface="Open Sans"/>
              </a:rPr>
              <a:t>"שלב 1: הצע שלושה יעדים לחופשת משפחה עם ילדים בגילאי 8-12. </a:t>
            </a:r>
            <a:endParaRPr sz="17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1" name="Google Shape;321;p14"/>
          <p:cNvSpPr/>
          <p:nvPr/>
        </p:nvSpPr>
        <p:spPr>
          <a:xfrm>
            <a:off x="9716691" y="3970139"/>
            <a:ext cx="3884176" cy="10887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1" algn="r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750"/>
              <a:buFont typeface="Open Sans"/>
              <a:buNone/>
            </a:pPr>
            <a:r>
              <a:rPr lang="en-US" sz="1750">
                <a:solidFill>
                  <a:srgbClr val="272525"/>
                </a:solidFill>
                <a:latin typeface="Open Sans"/>
                <a:ea typeface="Open Sans"/>
                <a:cs typeface="Open Sans"/>
                <a:sym typeface="Open Sans"/>
              </a:rPr>
              <a:t>שלב 2: ספק דוגמה למסלול של 3 ימים ליעד אחד. שלב 3: הצע דרכים לתקצב תחבורה, אוכל ופעילויות."</a:t>
            </a:r>
            <a:endParaRPr sz="17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2" name="Google Shape;322;p14"/>
          <p:cNvSpPr/>
          <p:nvPr/>
        </p:nvSpPr>
        <p:spPr>
          <a:xfrm>
            <a:off x="801410" y="5202555"/>
            <a:ext cx="13026271" cy="1875115"/>
          </a:xfrm>
          <a:prstGeom prst="rect">
            <a:avLst/>
          </a:prstGeom>
          <a:solidFill>
            <a:srgbClr val="FFFFFF">
              <a:alpha val="3922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1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3" name="Google Shape;323;p14"/>
          <p:cNvSpPr/>
          <p:nvPr/>
        </p:nvSpPr>
        <p:spPr>
          <a:xfrm>
            <a:off x="1029653" y="5346263"/>
            <a:ext cx="3884176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1" algn="r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750"/>
              <a:buFont typeface="Open Sans"/>
              <a:buNone/>
            </a:pPr>
            <a:r>
              <a:rPr b="1" lang="en-US" sz="1750">
                <a:solidFill>
                  <a:srgbClr val="272525"/>
                </a:solidFill>
                <a:latin typeface="Open Sans"/>
                <a:ea typeface="Open Sans"/>
                <a:cs typeface="Open Sans"/>
                <a:sym typeface="Open Sans"/>
              </a:rPr>
              <a:t>שאל שאלה אחת בכל פעם</a:t>
            </a:r>
            <a:endParaRPr sz="17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4" name="Google Shape;324;p14"/>
          <p:cNvSpPr/>
          <p:nvPr/>
        </p:nvSpPr>
        <p:spPr>
          <a:xfrm>
            <a:off x="5375077" y="5346263"/>
            <a:ext cx="3880366" cy="7258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1" algn="r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750"/>
              <a:buFont typeface="Open Sans"/>
              <a:buNone/>
            </a:pPr>
            <a:r>
              <a:rPr lang="en-US" sz="1750">
                <a:solidFill>
                  <a:srgbClr val="272525"/>
                </a:solidFill>
                <a:latin typeface="Open Sans"/>
                <a:ea typeface="Open Sans"/>
                <a:cs typeface="Open Sans"/>
                <a:sym typeface="Open Sans"/>
              </a:rPr>
              <a:t>"מהם יעדים טובים לחופשת משפחה, ואילו פעילויות עלינו לעשות שם?"</a:t>
            </a:r>
            <a:endParaRPr sz="17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5" name="Google Shape;325;p14"/>
          <p:cNvSpPr/>
          <p:nvPr/>
        </p:nvSpPr>
        <p:spPr>
          <a:xfrm>
            <a:off x="9716691" y="5346263"/>
            <a:ext cx="3884176" cy="7258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1" algn="r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750"/>
              <a:buFont typeface="Open Sans"/>
              <a:buNone/>
            </a:pPr>
            <a:r>
              <a:rPr lang="en-US" sz="1750">
                <a:solidFill>
                  <a:srgbClr val="272525"/>
                </a:solidFill>
                <a:latin typeface="Open Sans"/>
                <a:ea typeface="Open Sans"/>
                <a:cs typeface="Open Sans"/>
                <a:sym typeface="Open Sans"/>
              </a:rPr>
              <a:t>"מהם שלושה יעדי חופשה ידידותיים למשפחה לקיץ?" </a:t>
            </a:r>
            <a:endParaRPr sz="17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6" name="Google Shape;326;p14"/>
          <p:cNvSpPr/>
          <p:nvPr/>
        </p:nvSpPr>
        <p:spPr>
          <a:xfrm>
            <a:off x="9716691" y="6208157"/>
            <a:ext cx="3884176" cy="7258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1" algn="r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750"/>
              <a:buFont typeface="Open Sans"/>
              <a:buNone/>
            </a:pPr>
            <a:r>
              <a:rPr lang="en-US" sz="1750">
                <a:solidFill>
                  <a:srgbClr val="272525"/>
                </a:solidFill>
                <a:latin typeface="Open Sans"/>
                <a:ea typeface="Open Sans"/>
                <a:cs typeface="Open Sans"/>
                <a:sym typeface="Open Sans"/>
              </a:rPr>
              <a:t>(המשך: "אילו פעילויות הן הטובות ביותר לילדים בגילאי 8-12 ביעד א'?")</a:t>
            </a:r>
            <a:endParaRPr sz="17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p15"/>
          <p:cNvSpPr/>
          <p:nvPr/>
        </p:nvSpPr>
        <p:spPr>
          <a:xfrm>
            <a:off x="5365313" y="623768"/>
            <a:ext cx="8471297" cy="7087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1" algn="r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D75BE2"/>
              </a:buClr>
              <a:buSzPts val="4450"/>
              <a:buFont typeface="Rubik Medium"/>
              <a:buNone/>
            </a:pPr>
            <a:r>
              <a:rPr lang="en-US" sz="4450">
                <a:solidFill>
                  <a:srgbClr val="D75BE2"/>
                </a:solidFill>
                <a:latin typeface="Rubik Medium"/>
                <a:ea typeface="Rubik Medium"/>
                <a:cs typeface="Rubik Medium"/>
                <a:sym typeface="Rubik Medium"/>
              </a:rPr>
              <a:t>6. פרומפטים איטרטיביים ואדפטיביים</a:t>
            </a:r>
            <a:endParaRPr sz="44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3" name="Google Shape;333;p15"/>
          <p:cNvSpPr/>
          <p:nvPr/>
        </p:nvSpPr>
        <p:spPr>
          <a:xfrm>
            <a:off x="793790" y="1786176"/>
            <a:ext cx="13042821" cy="7258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1" algn="r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750"/>
              <a:buFont typeface="Open Sans"/>
              <a:buNone/>
            </a:pPr>
            <a:r>
              <a:rPr lang="en-US" sz="1750">
                <a:solidFill>
                  <a:srgbClr val="272525"/>
                </a:solidFill>
                <a:latin typeface="Open Sans"/>
                <a:ea typeface="Open Sans"/>
                <a:cs typeface="Open Sans"/>
                <a:sym typeface="Open Sans"/>
              </a:rPr>
              <a:t>קבלת התשובה הטובה ביותר עשויה לדרוש מספר ניסיונות ופרומפטים. נסח מחדש או עדן את הפרומפט שלך בהדרגה בהתבסס על הפלט שאתה מקבל.</a:t>
            </a:r>
            <a:endParaRPr sz="17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334" name="Google Shape;334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878818" y="3022283"/>
            <a:ext cx="893088" cy="893088"/>
          </a:xfrm>
          <a:prstGeom prst="rect">
            <a:avLst/>
          </a:prstGeom>
          <a:noFill/>
          <a:ln>
            <a:noFill/>
          </a:ln>
        </p:spPr>
      </p:pic>
      <p:sp>
        <p:nvSpPr>
          <p:cNvPr id="335" name="Google Shape;335;p15"/>
          <p:cNvSpPr/>
          <p:nvPr/>
        </p:nvSpPr>
        <p:spPr>
          <a:xfrm>
            <a:off x="1936671" y="4170521"/>
            <a:ext cx="2835235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1"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D75BE2"/>
              </a:buClr>
              <a:buSzPts val="2200"/>
              <a:buFont typeface="Rubik Medium"/>
              <a:buNone/>
            </a:pPr>
            <a:r>
              <a:rPr lang="en-US" sz="2200">
                <a:solidFill>
                  <a:srgbClr val="D75BE2"/>
                </a:solidFill>
                <a:latin typeface="Rubik Medium"/>
                <a:ea typeface="Rubik Medium"/>
                <a:cs typeface="Rubik Medium"/>
                <a:sym typeface="Rubik Medium"/>
              </a:rPr>
              <a:t>בקש שיפור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6" name="Google Shape;336;p15"/>
          <p:cNvSpPr/>
          <p:nvPr/>
        </p:nvSpPr>
        <p:spPr>
          <a:xfrm>
            <a:off x="793790" y="4751665"/>
            <a:ext cx="3978116" cy="10887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1" algn="r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750"/>
              <a:buFont typeface="Open Sans"/>
              <a:buNone/>
            </a:pPr>
            <a:r>
              <a:rPr lang="en-US" sz="1750">
                <a:solidFill>
                  <a:srgbClr val="272525"/>
                </a:solidFill>
                <a:latin typeface="Open Sans"/>
                <a:ea typeface="Open Sans"/>
                <a:cs typeface="Open Sans"/>
                <a:sym typeface="Open Sans"/>
              </a:rPr>
              <a:t>אם התשובה הראשונה אינה שלמה או לא ברורה, בקש מהמודל לשפר או להבהיר את תשובתו.</a:t>
            </a:r>
            <a:endParaRPr sz="17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337" name="Google Shape;337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417957" y="3022283"/>
            <a:ext cx="893088" cy="893088"/>
          </a:xfrm>
          <a:prstGeom prst="rect">
            <a:avLst/>
          </a:prstGeom>
          <a:noFill/>
          <a:ln>
            <a:noFill/>
          </a:ln>
        </p:spPr>
      </p:pic>
      <p:sp>
        <p:nvSpPr>
          <p:cNvPr id="338" name="Google Shape;338;p15"/>
          <p:cNvSpPr/>
          <p:nvPr/>
        </p:nvSpPr>
        <p:spPr>
          <a:xfrm>
            <a:off x="6475809" y="4170521"/>
            <a:ext cx="2835235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1"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D75BE2"/>
              </a:buClr>
              <a:buSzPts val="2200"/>
              <a:buFont typeface="Rubik Medium"/>
              <a:buNone/>
            </a:pPr>
            <a:r>
              <a:rPr lang="en-US" sz="2200">
                <a:solidFill>
                  <a:srgbClr val="D75BE2"/>
                </a:solidFill>
                <a:latin typeface="Rubik Medium"/>
                <a:ea typeface="Rubik Medium"/>
                <a:cs typeface="Rubik Medium"/>
                <a:sym typeface="Rubik Medium"/>
              </a:rPr>
              <a:t>השתמש במעגלי משוב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9" name="Google Shape;339;p15"/>
          <p:cNvSpPr/>
          <p:nvPr/>
        </p:nvSpPr>
        <p:spPr>
          <a:xfrm>
            <a:off x="5332928" y="4751665"/>
            <a:ext cx="3978116" cy="7258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1" algn="r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750"/>
              <a:buFont typeface="Open Sans"/>
              <a:buNone/>
            </a:pPr>
            <a:r>
              <a:rPr lang="en-US" sz="1750">
                <a:solidFill>
                  <a:srgbClr val="272525"/>
                </a:solidFill>
                <a:latin typeface="Open Sans"/>
                <a:ea typeface="Open Sans"/>
                <a:cs typeface="Open Sans"/>
                <a:sym typeface="Open Sans"/>
              </a:rPr>
              <a:t>ספק משוב ספציפי על תוצאת המודל ובקש ממנו לתקן על סמך המשוב הזה.</a:t>
            </a:r>
            <a:endParaRPr sz="17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340" name="Google Shape;340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2957096" y="3022283"/>
            <a:ext cx="893088" cy="893088"/>
          </a:xfrm>
          <a:prstGeom prst="rect">
            <a:avLst/>
          </a:prstGeom>
          <a:noFill/>
          <a:ln>
            <a:noFill/>
          </a:ln>
        </p:spPr>
      </p:pic>
      <p:sp>
        <p:nvSpPr>
          <p:cNvPr id="341" name="Google Shape;341;p15"/>
          <p:cNvSpPr/>
          <p:nvPr/>
        </p:nvSpPr>
        <p:spPr>
          <a:xfrm>
            <a:off x="11014948" y="4170521"/>
            <a:ext cx="2835235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1"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D75BE2"/>
              </a:buClr>
              <a:buSzPts val="2200"/>
              <a:buFont typeface="Rubik Medium"/>
              <a:buNone/>
            </a:pPr>
            <a:r>
              <a:rPr lang="en-US" sz="2200">
                <a:solidFill>
                  <a:srgbClr val="D75BE2"/>
                </a:solidFill>
                <a:latin typeface="Rubik Medium"/>
                <a:ea typeface="Rubik Medium"/>
                <a:cs typeface="Rubik Medium"/>
                <a:sym typeface="Rubik Medium"/>
              </a:rPr>
              <a:t>התנסה בניסוח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2" name="Google Shape;342;p15"/>
          <p:cNvSpPr/>
          <p:nvPr/>
        </p:nvSpPr>
        <p:spPr>
          <a:xfrm>
            <a:off x="9872067" y="4751665"/>
            <a:ext cx="3978116" cy="10887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1" algn="r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750"/>
              <a:buFont typeface="Open Sans"/>
              <a:buNone/>
            </a:pPr>
            <a:r>
              <a:rPr lang="en-US" sz="1750">
                <a:solidFill>
                  <a:srgbClr val="272525"/>
                </a:solidFill>
                <a:latin typeface="Open Sans"/>
                <a:ea typeface="Open Sans"/>
                <a:cs typeface="Open Sans"/>
                <a:sym typeface="Open Sans"/>
              </a:rPr>
              <a:t>נסה לנסח מחדש את הפרומפט שלך כדי לראות כיצד שינויים קלים משפיעים על התוצאה.</a:t>
            </a:r>
            <a:endParaRPr sz="17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7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p16"/>
          <p:cNvSpPr/>
          <p:nvPr/>
        </p:nvSpPr>
        <p:spPr>
          <a:xfrm>
            <a:off x="5365313" y="623768"/>
            <a:ext cx="8471297" cy="7087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1" algn="r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D75BE2"/>
              </a:buClr>
              <a:buSzPts val="4450"/>
              <a:buFont typeface="Rubik Medium"/>
              <a:buNone/>
            </a:pPr>
            <a:r>
              <a:rPr lang="en-US" sz="4450">
                <a:solidFill>
                  <a:srgbClr val="D75BE2"/>
                </a:solidFill>
                <a:latin typeface="Rubik Medium"/>
                <a:ea typeface="Rubik Medium"/>
                <a:cs typeface="Rubik Medium"/>
                <a:sym typeface="Rubik Medium"/>
              </a:rPr>
              <a:t>6. פרומפטים איטרטיביים ואדפטיביים</a:t>
            </a:r>
            <a:endParaRPr sz="44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9" name="Google Shape;349;p16"/>
          <p:cNvSpPr/>
          <p:nvPr/>
        </p:nvSpPr>
        <p:spPr>
          <a:xfrm>
            <a:off x="793790" y="1786176"/>
            <a:ext cx="13042821" cy="4431030"/>
          </a:xfrm>
          <a:prstGeom prst="roundRect">
            <a:avLst>
              <a:gd fmla="val 2150" name="adj"/>
            </a:avLst>
          </a:prstGeom>
          <a:noFill/>
          <a:ln cap="flat" cmpd="sng" w="9525">
            <a:solidFill>
              <a:srgbClr val="000000">
                <a:alpha val="7843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1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0" name="Google Shape;350;p16"/>
          <p:cNvSpPr/>
          <p:nvPr/>
        </p:nvSpPr>
        <p:spPr>
          <a:xfrm>
            <a:off x="801410" y="1793796"/>
            <a:ext cx="13026271" cy="650319"/>
          </a:xfrm>
          <a:prstGeom prst="rect">
            <a:avLst/>
          </a:prstGeom>
          <a:solidFill>
            <a:srgbClr val="FFFFFF">
              <a:alpha val="3922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1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1" name="Google Shape;351;p16"/>
          <p:cNvSpPr/>
          <p:nvPr/>
        </p:nvSpPr>
        <p:spPr>
          <a:xfrm>
            <a:off x="1029653" y="1937504"/>
            <a:ext cx="3884176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1" algn="r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750"/>
              <a:buFont typeface="Open Sans"/>
              <a:buNone/>
            </a:pPr>
            <a:r>
              <a:rPr b="1" lang="en-US" sz="1750">
                <a:solidFill>
                  <a:srgbClr val="272525"/>
                </a:solidFill>
                <a:latin typeface="Open Sans"/>
                <a:ea typeface="Open Sans"/>
                <a:cs typeface="Open Sans"/>
                <a:sym typeface="Open Sans"/>
              </a:rPr>
              <a:t>עיקרון</a:t>
            </a:r>
            <a:endParaRPr sz="17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2" name="Google Shape;352;p16"/>
          <p:cNvSpPr/>
          <p:nvPr/>
        </p:nvSpPr>
        <p:spPr>
          <a:xfrm>
            <a:off x="5375077" y="1937504"/>
            <a:ext cx="3880366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1" algn="r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F44444"/>
              </a:buClr>
              <a:buSzPts val="1750"/>
              <a:buFont typeface="Open Sans"/>
              <a:buNone/>
            </a:pPr>
            <a:r>
              <a:rPr b="1" lang="en-US" sz="1750">
                <a:solidFill>
                  <a:srgbClr val="F44444"/>
                </a:solidFill>
                <a:latin typeface="Open Sans"/>
                <a:ea typeface="Open Sans"/>
                <a:cs typeface="Open Sans"/>
                <a:sym typeface="Open Sans"/>
              </a:rPr>
              <a:t>פרומפט גרוע</a:t>
            </a:r>
            <a:endParaRPr sz="17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3" name="Google Shape;353;p16"/>
          <p:cNvSpPr/>
          <p:nvPr/>
        </p:nvSpPr>
        <p:spPr>
          <a:xfrm>
            <a:off x="9716691" y="1937504"/>
            <a:ext cx="3884176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1" algn="r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5CC97B"/>
              </a:buClr>
              <a:buSzPts val="1750"/>
              <a:buFont typeface="Open Sans"/>
              <a:buNone/>
            </a:pPr>
            <a:r>
              <a:rPr b="1" lang="en-US" sz="1750">
                <a:solidFill>
                  <a:srgbClr val="5CC97B"/>
                </a:solidFill>
                <a:latin typeface="Open Sans"/>
                <a:ea typeface="Open Sans"/>
                <a:cs typeface="Open Sans"/>
                <a:sym typeface="Open Sans"/>
              </a:rPr>
              <a:t>פרומפט טוב</a:t>
            </a:r>
            <a:endParaRPr sz="17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4" name="Google Shape;354;p16"/>
          <p:cNvSpPr/>
          <p:nvPr/>
        </p:nvSpPr>
        <p:spPr>
          <a:xfrm>
            <a:off x="801410" y="2444115"/>
            <a:ext cx="13026271" cy="1376124"/>
          </a:xfrm>
          <a:prstGeom prst="rect">
            <a:avLst/>
          </a:prstGeom>
          <a:solidFill>
            <a:srgbClr val="000000">
              <a:alpha val="3922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1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5" name="Google Shape;355;p16"/>
          <p:cNvSpPr/>
          <p:nvPr/>
        </p:nvSpPr>
        <p:spPr>
          <a:xfrm>
            <a:off x="1029653" y="2587823"/>
            <a:ext cx="3884176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1" algn="r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750"/>
              <a:buFont typeface="Open Sans"/>
              <a:buNone/>
            </a:pPr>
            <a:r>
              <a:rPr b="1" lang="en-US" sz="1750">
                <a:solidFill>
                  <a:srgbClr val="272525"/>
                </a:solidFill>
                <a:latin typeface="Open Sans"/>
                <a:ea typeface="Open Sans"/>
                <a:cs typeface="Open Sans"/>
                <a:sym typeface="Open Sans"/>
              </a:rPr>
              <a:t>בקש שיפור</a:t>
            </a:r>
            <a:endParaRPr sz="17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6" name="Google Shape;356;p16"/>
          <p:cNvSpPr/>
          <p:nvPr/>
        </p:nvSpPr>
        <p:spPr>
          <a:xfrm>
            <a:off x="5375077" y="2587823"/>
            <a:ext cx="3880366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1" algn="r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750"/>
              <a:buFont typeface="Open Sans"/>
              <a:buNone/>
            </a:pPr>
            <a:r>
              <a:rPr lang="en-US" sz="1750">
                <a:solidFill>
                  <a:srgbClr val="272525"/>
                </a:solidFill>
                <a:latin typeface="Open Sans"/>
                <a:ea typeface="Open Sans"/>
                <a:cs typeface="Open Sans"/>
                <a:sym typeface="Open Sans"/>
              </a:rPr>
              <a:t>"ההסבר הזה לא מועיל."</a:t>
            </a:r>
            <a:endParaRPr sz="17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7" name="Google Shape;357;p16"/>
          <p:cNvSpPr/>
          <p:nvPr/>
        </p:nvSpPr>
        <p:spPr>
          <a:xfrm>
            <a:off x="9716691" y="2587823"/>
            <a:ext cx="3884176" cy="10887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1" algn="r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750"/>
              <a:buFont typeface="Open Sans"/>
              <a:buNone/>
            </a:pPr>
            <a:r>
              <a:rPr lang="en-US" sz="1750">
                <a:solidFill>
                  <a:srgbClr val="272525"/>
                </a:solidFill>
                <a:latin typeface="Open Sans"/>
                <a:ea typeface="Open Sans"/>
                <a:cs typeface="Open Sans"/>
                <a:sym typeface="Open Sans"/>
              </a:rPr>
              <a:t>"בתשובה שלך חסרות דוגמאות. האם תוכל לכלול שתי דוגמאות מהעולם האמיתי כדי להמחיש את הנקודות שלך?"</a:t>
            </a:r>
            <a:endParaRPr sz="17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8" name="Google Shape;358;p16"/>
          <p:cNvSpPr/>
          <p:nvPr/>
        </p:nvSpPr>
        <p:spPr>
          <a:xfrm>
            <a:off x="801410" y="3820239"/>
            <a:ext cx="13026271" cy="1013222"/>
          </a:xfrm>
          <a:prstGeom prst="rect">
            <a:avLst/>
          </a:prstGeom>
          <a:solidFill>
            <a:srgbClr val="FFFFFF">
              <a:alpha val="3922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1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9" name="Google Shape;359;p16"/>
          <p:cNvSpPr/>
          <p:nvPr/>
        </p:nvSpPr>
        <p:spPr>
          <a:xfrm>
            <a:off x="1029653" y="3963948"/>
            <a:ext cx="3884176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1" algn="r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750"/>
              <a:buFont typeface="Open Sans"/>
              <a:buNone/>
            </a:pPr>
            <a:r>
              <a:rPr b="1" lang="en-US" sz="1750">
                <a:solidFill>
                  <a:srgbClr val="272525"/>
                </a:solidFill>
                <a:latin typeface="Open Sans"/>
                <a:ea typeface="Open Sans"/>
                <a:cs typeface="Open Sans"/>
                <a:sym typeface="Open Sans"/>
              </a:rPr>
              <a:t>השתמש במעגלי משוב</a:t>
            </a:r>
            <a:endParaRPr sz="17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0" name="Google Shape;360;p16"/>
          <p:cNvSpPr/>
          <p:nvPr/>
        </p:nvSpPr>
        <p:spPr>
          <a:xfrm>
            <a:off x="5375077" y="3963948"/>
            <a:ext cx="3880366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1" algn="r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750"/>
              <a:buFont typeface="Open Sans"/>
              <a:buNone/>
            </a:pPr>
            <a:r>
              <a:rPr lang="en-US" sz="1750">
                <a:solidFill>
                  <a:srgbClr val="272525"/>
                </a:solidFill>
                <a:latin typeface="Open Sans"/>
                <a:ea typeface="Open Sans"/>
                <a:cs typeface="Open Sans"/>
                <a:sym typeface="Open Sans"/>
              </a:rPr>
              <a:t>"זה לא מה שרציתי."</a:t>
            </a:r>
            <a:endParaRPr sz="17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1" name="Google Shape;361;p16"/>
          <p:cNvSpPr/>
          <p:nvPr/>
        </p:nvSpPr>
        <p:spPr>
          <a:xfrm>
            <a:off x="9716691" y="3963948"/>
            <a:ext cx="3884176" cy="7258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1" algn="r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750"/>
              <a:buFont typeface="Open Sans"/>
              <a:buNone/>
            </a:pPr>
            <a:r>
              <a:rPr lang="en-US" sz="1750">
                <a:solidFill>
                  <a:srgbClr val="272525"/>
                </a:solidFill>
                <a:latin typeface="Open Sans"/>
                <a:ea typeface="Open Sans"/>
                <a:cs typeface="Open Sans"/>
                <a:sym typeface="Open Sans"/>
              </a:rPr>
              <a:t>"הטון פורמלי מדי. האם תוכל לכתוב זאת מחדש בסגנון שיחתי המתאים לקהל כללי?"</a:t>
            </a:r>
            <a:endParaRPr sz="17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2" name="Google Shape;362;p16"/>
          <p:cNvSpPr/>
          <p:nvPr/>
        </p:nvSpPr>
        <p:spPr>
          <a:xfrm>
            <a:off x="801410" y="4833461"/>
            <a:ext cx="13026271" cy="1376124"/>
          </a:xfrm>
          <a:prstGeom prst="rect">
            <a:avLst/>
          </a:prstGeom>
          <a:solidFill>
            <a:srgbClr val="000000">
              <a:alpha val="3922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1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3" name="Google Shape;363;p16"/>
          <p:cNvSpPr/>
          <p:nvPr/>
        </p:nvSpPr>
        <p:spPr>
          <a:xfrm>
            <a:off x="1029653" y="4977170"/>
            <a:ext cx="3884176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1" algn="r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750"/>
              <a:buFont typeface="Open Sans"/>
              <a:buNone/>
            </a:pPr>
            <a:r>
              <a:rPr b="1" lang="en-US" sz="1750">
                <a:solidFill>
                  <a:srgbClr val="272525"/>
                </a:solidFill>
                <a:latin typeface="Open Sans"/>
                <a:ea typeface="Open Sans"/>
                <a:cs typeface="Open Sans"/>
                <a:sym typeface="Open Sans"/>
              </a:rPr>
              <a:t>התנסה בניסוח</a:t>
            </a:r>
            <a:endParaRPr sz="17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4" name="Google Shape;364;p16"/>
          <p:cNvSpPr/>
          <p:nvPr/>
        </p:nvSpPr>
        <p:spPr>
          <a:xfrm>
            <a:off x="5375077" y="4977170"/>
            <a:ext cx="3880366" cy="7258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1" algn="r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750"/>
              <a:buFont typeface="Open Sans"/>
              <a:buNone/>
            </a:pPr>
            <a:r>
              <a:rPr lang="en-US" sz="1750">
                <a:solidFill>
                  <a:srgbClr val="272525"/>
                </a:solidFill>
                <a:latin typeface="Open Sans"/>
                <a:ea typeface="Open Sans"/>
                <a:cs typeface="Open Sans"/>
                <a:sym typeface="Open Sans"/>
              </a:rPr>
              <a:t>פרומפט #1: "מהם כמה טיפים לחיסכון בכסף על מצרכים?"</a:t>
            </a:r>
            <a:endParaRPr sz="17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5" name="Google Shape;365;p16"/>
          <p:cNvSpPr/>
          <p:nvPr/>
        </p:nvSpPr>
        <p:spPr>
          <a:xfrm>
            <a:off x="9716691" y="4977170"/>
            <a:ext cx="3884176" cy="10887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1" algn="r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750"/>
              <a:buFont typeface="Open Sans"/>
              <a:buNone/>
            </a:pPr>
            <a:r>
              <a:rPr lang="en-US" sz="1750">
                <a:solidFill>
                  <a:srgbClr val="272525"/>
                </a:solidFill>
                <a:latin typeface="Open Sans"/>
                <a:ea typeface="Open Sans"/>
                <a:cs typeface="Open Sans"/>
                <a:sym typeface="Open Sans"/>
              </a:rPr>
              <a:t>פרומפט #2: "מהן כמה דרכים יצירתיות לחסוך כסף על מצרכים למשפחה בת ארבע נפשות החיה בעיירה קטנה?"</a:t>
            </a:r>
            <a:endParaRPr sz="17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0" name="Shape 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Google Shape;371;p17"/>
          <p:cNvSpPr/>
          <p:nvPr/>
        </p:nvSpPr>
        <p:spPr>
          <a:xfrm>
            <a:off x="8166021" y="623768"/>
            <a:ext cx="5670590" cy="7087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1" algn="r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D75BE2"/>
              </a:buClr>
              <a:buSzPts val="4450"/>
              <a:buFont typeface="Rubik Medium"/>
              <a:buNone/>
            </a:pPr>
            <a:r>
              <a:rPr lang="en-US" sz="4450">
                <a:solidFill>
                  <a:srgbClr val="D75BE2"/>
                </a:solidFill>
                <a:latin typeface="Rubik Medium"/>
                <a:ea typeface="Rubik Medium"/>
                <a:cs typeface="Rubik Medium"/>
                <a:sym typeface="Rubik Medium"/>
              </a:rPr>
              <a:t>סיכום</a:t>
            </a:r>
            <a:endParaRPr sz="44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2" name="Google Shape;372;p17"/>
          <p:cNvSpPr/>
          <p:nvPr/>
        </p:nvSpPr>
        <p:spPr>
          <a:xfrm>
            <a:off x="793790" y="1786176"/>
            <a:ext cx="13042821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1" algn="r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750"/>
              <a:buFont typeface="Open Sans"/>
              <a:buNone/>
            </a:pPr>
            <a:r>
              <a:rPr lang="en-US" sz="1750">
                <a:solidFill>
                  <a:srgbClr val="272525"/>
                </a:solidFill>
                <a:latin typeface="Open Sans"/>
                <a:ea typeface="Open Sans"/>
                <a:cs typeface="Open Sans"/>
                <a:sym typeface="Open Sans"/>
              </a:rPr>
              <a:t>אל תתבלבל מכל ההנחיות. במקום זאת, התמקד בעקרונות מפתח ואמץ כמה נהגים לשימוש היומיומי שלך.</a:t>
            </a:r>
            <a:endParaRPr sz="17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373" name="Google Shape;373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269635" y="2443877"/>
            <a:ext cx="566976" cy="566976"/>
          </a:xfrm>
          <a:prstGeom prst="rect">
            <a:avLst/>
          </a:prstGeom>
          <a:noFill/>
          <a:ln>
            <a:noFill/>
          </a:ln>
        </p:spPr>
      </p:pic>
      <p:sp>
        <p:nvSpPr>
          <p:cNvPr id="374" name="Google Shape;374;p17"/>
          <p:cNvSpPr/>
          <p:nvPr/>
        </p:nvSpPr>
        <p:spPr>
          <a:xfrm>
            <a:off x="10033397" y="2538889"/>
            <a:ext cx="3009424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1"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2200"/>
              <a:buFont typeface="Rubik Medium"/>
              <a:buNone/>
            </a:pPr>
            <a:r>
              <a:rPr lang="en-US" sz="2200">
                <a:solidFill>
                  <a:srgbClr val="272525"/>
                </a:solidFill>
                <a:latin typeface="Rubik Medium"/>
                <a:ea typeface="Rubik Medium"/>
                <a:cs typeface="Rubik Medium"/>
                <a:sym typeface="Rubik Medium"/>
              </a:rPr>
              <a:t>1. היה ברור, ספציפי ופשוט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375" name="Google Shape;375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827532" y="2443877"/>
            <a:ext cx="566976" cy="566976"/>
          </a:xfrm>
          <a:prstGeom prst="rect">
            <a:avLst/>
          </a:prstGeom>
          <a:noFill/>
          <a:ln>
            <a:noFill/>
          </a:ln>
        </p:spPr>
      </p:pic>
      <p:sp>
        <p:nvSpPr>
          <p:cNvPr id="376" name="Google Shape;376;p17"/>
          <p:cNvSpPr/>
          <p:nvPr/>
        </p:nvSpPr>
        <p:spPr>
          <a:xfrm>
            <a:off x="5235893" y="2538889"/>
            <a:ext cx="3364825" cy="7086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1"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2200"/>
              <a:buFont typeface="Rubik Medium"/>
              <a:buNone/>
            </a:pPr>
            <a:r>
              <a:rPr lang="en-US" sz="2200">
                <a:solidFill>
                  <a:srgbClr val="272525"/>
                </a:solidFill>
                <a:latin typeface="Rubik Medium"/>
                <a:ea typeface="Rubik Medium"/>
                <a:cs typeface="Rubik Medium"/>
                <a:sym typeface="Rubik Medium"/>
              </a:rPr>
              <a:t>2. ציין את התפקיד של הבינה המלאכותית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377" name="Google Shape;377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85429" y="2443877"/>
            <a:ext cx="566976" cy="566976"/>
          </a:xfrm>
          <a:prstGeom prst="rect">
            <a:avLst/>
          </a:prstGeom>
          <a:noFill/>
          <a:ln>
            <a:noFill/>
          </a:ln>
        </p:spPr>
      </p:pic>
      <p:sp>
        <p:nvSpPr>
          <p:cNvPr id="378" name="Google Shape;378;p17"/>
          <p:cNvSpPr/>
          <p:nvPr/>
        </p:nvSpPr>
        <p:spPr>
          <a:xfrm>
            <a:off x="1323380" y="2538889"/>
            <a:ext cx="2835235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1"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2200"/>
              <a:buFont typeface="Rubik Medium"/>
              <a:buNone/>
            </a:pPr>
            <a:r>
              <a:rPr lang="en-US" sz="2200">
                <a:solidFill>
                  <a:srgbClr val="272525"/>
                </a:solidFill>
                <a:latin typeface="Rubik Medium"/>
                <a:ea typeface="Rubik Medium"/>
                <a:cs typeface="Rubik Medium"/>
                <a:sym typeface="Rubik Medium"/>
              </a:rPr>
              <a:t>3. ציין את הקהל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379" name="Google Shape;379;p1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3269635" y="3740825"/>
            <a:ext cx="566976" cy="566976"/>
          </a:xfrm>
          <a:prstGeom prst="rect">
            <a:avLst/>
          </a:prstGeom>
          <a:noFill/>
          <a:ln>
            <a:noFill/>
          </a:ln>
        </p:spPr>
      </p:pic>
      <p:sp>
        <p:nvSpPr>
          <p:cNvPr id="380" name="Google Shape;380;p17"/>
          <p:cNvSpPr/>
          <p:nvPr/>
        </p:nvSpPr>
        <p:spPr>
          <a:xfrm>
            <a:off x="10207585" y="3835837"/>
            <a:ext cx="2835235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1"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2200"/>
              <a:buFont typeface="Rubik Medium"/>
              <a:buNone/>
            </a:pPr>
            <a:r>
              <a:rPr lang="en-US" sz="2200">
                <a:solidFill>
                  <a:srgbClr val="272525"/>
                </a:solidFill>
                <a:latin typeface="Rubik Medium"/>
                <a:ea typeface="Rubik Medium"/>
                <a:cs typeface="Rubik Medium"/>
                <a:sym typeface="Rubik Medium"/>
              </a:rPr>
              <a:t>4. אל תניח ידע קודם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381" name="Google Shape;381;p17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827532" y="3740825"/>
            <a:ext cx="566976" cy="566976"/>
          </a:xfrm>
          <a:prstGeom prst="rect">
            <a:avLst/>
          </a:prstGeom>
          <a:noFill/>
          <a:ln>
            <a:noFill/>
          </a:ln>
        </p:spPr>
      </p:pic>
      <p:sp>
        <p:nvSpPr>
          <p:cNvPr id="382" name="Google Shape;382;p17"/>
          <p:cNvSpPr/>
          <p:nvPr/>
        </p:nvSpPr>
        <p:spPr>
          <a:xfrm>
            <a:off x="5520452" y="3835837"/>
            <a:ext cx="3080266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1"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2200"/>
              <a:buFont typeface="Rubik Medium"/>
              <a:buNone/>
            </a:pPr>
            <a:r>
              <a:rPr lang="en-US" sz="2200">
                <a:solidFill>
                  <a:srgbClr val="272525"/>
                </a:solidFill>
                <a:latin typeface="Rubik Medium"/>
                <a:ea typeface="Rubik Medium"/>
                <a:cs typeface="Rubik Medium"/>
                <a:sym typeface="Rubik Medium"/>
              </a:rPr>
              <a:t>5. עשה זאת צעד אחר צעד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383" name="Google Shape;383;p17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4385429" y="3740825"/>
            <a:ext cx="566976" cy="566976"/>
          </a:xfrm>
          <a:prstGeom prst="rect">
            <a:avLst/>
          </a:prstGeom>
          <a:noFill/>
          <a:ln>
            <a:noFill/>
          </a:ln>
        </p:spPr>
      </p:pic>
      <p:sp>
        <p:nvSpPr>
          <p:cNvPr id="384" name="Google Shape;384;p17"/>
          <p:cNvSpPr/>
          <p:nvPr/>
        </p:nvSpPr>
        <p:spPr>
          <a:xfrm>
            <a:off x="1323380" y="3835837"/>
            <a:ext cx="2835235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1"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2200"/>
              <a:buFont typeface="Rubik Medium"/>
              <a:buNone/>
            </a:pPr>
            <a:r>
              <a:rPr lang="en-US" sz="2200">
                <a:solidFill>
                  <a:srgbClr val="272525"/>
                </a:solidFill>
                <a:latin typeface="Rubik Medium"/>
                <a:ea typeface="Rubik Medium"/>
                <a:cs typeface="Rubik Medium"/>
                <a:sym typeface="Rubik Medium"/>
              </a:rPr>
              <a:t>6. היה סבלני ואיטרטיבי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9" name="Shape 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" name="Google Shape;390;p18"/>
          <p:cNvSpPr/>
          <p:nvPr/>
        </p:nvSpPr>
        <p:spPr>
          <a:xfrm>
            <a:off x="4479846" y="3760351"/>
            <a:ext cx="5670590" cy="7087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1" algn="ctr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D75BE2"/>
              </a:buClr>
              <a:buSzPts val="4450"/>
              <a:buFont typeface="Rubik Medium"/>
              <a:buNone/>
            </a:pPr>
            <a:r>
              <a:rPr lang="en-US" sz="4450">
                <a:solidFill>
                  <a:srgbClr val="D75BE2"/>
                </a:solidFill>
                <a:latin typeface="Rubik Medium"/>
                <a:ea typeface="Rubik Medium"/>
                <a:cs typeface="Rubik Medium"/>
                <a:sym typeface="Rubik Medium"/>
              </a:rPr>
              <a:t>שאלות?</a:t>
            </a:r>
            <a:endParaRPr sz="44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ערכת נושא Offic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2025-05-08T10:54:36Z</dcterms:created>
  <dc:creator>PptxGenJS</dc:creator>
</cp:coreProperties>
</file>