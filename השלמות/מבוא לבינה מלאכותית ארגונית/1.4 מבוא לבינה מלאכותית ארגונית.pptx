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8229600" cx="14630400"/>
  <p:notesSz cx="8229600" cy="14630400"/>
  <p:embeddedFontLst>
    <p:embeddedFont>
      <p:font typeface="Rubik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ubik-boldItalic.fntdata"/><Relationship Id="rId11" Type="http://schemas.openxmlformats.org/officeDocument/2006/relationships/slide" Target="slides/slide7.xml"/><Relationship Id="rId22" Type="http://schemas.openxmlformats.org/officeDocument/2006/relationships/font" Target="fonts/OpenSans-bold.fntdata"/><Relationship Id="rId10" Type="http://schemas.openxmlformats.org/officeDocument/2006/relationships/slide" Target="slides/slide6.xml"/><Relationship Id="rId21" Type="http://schemas.openxmlformats.org/officeDocument/2006/relationships/font" Target="fonts/OpenSans-regular.fntdata"/><Relationship Id="rId13" Type="http://schemas.openxmlformats.org/officeDocument/2006/relationships/slide" Target="slides/slide9.xml"/><Relationship Id="rId24" Type="http://schemas.openxmlformats.org/officeDocument/2006/relationships/font" Target="fonts/OpenSans-boldItalic.fntdata"/><Relationship Id="rId12" Type="http://schemas.openxmlformats.org/officeDocument/2006/relationships/slide" Target="slides/slide8.xml"/><Relationship Id="rId23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ubik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Rubik-italic.fntdata"/><Relationship Id="rId6" Type="http://schemas.openxmlformats.org/officeDocument/2006/relationships/slide" Target="slides/slide2.xml"/><Relationship Id="rId18" Type="http://schemas.openxmlformats.org/officeDocument/2006/relationships/font" Target="fonts/Rubik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5"/>
          <p:cNvSpPr/>
          <p:nvPr/>
        </p:nvSpPr>
        <p:spPr>
          <a:xfrm>
            <a:off x="793790" y="3215997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54" name="Google Shape;54;p15"/>
          <p:cNvSpPr/>
          <p:nvPr/>
        </p:nvSpPr>
        <p:spPr>
          <a:xfrm>
            <a:off x="1217652" y="3805714"/>
            <a:ext cx="713255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מבוא לבינה מלאכותית ארגונית</a:t>
            </a:r>
            <a:endParaRPr b="0" i="0" sz="4450" u="none" cap="none" strike="noStrike"/>
          </a:p>
        </p:txBody>
      </p:sp>
      <p:sp>
        <p:nvSpPr>
          <p:cNvPr id="55" name="Google Shape;55;p15"/>
          <p:cNvSpPr/>
          <p:nvPr/>
        </p:nvSpPr>
        <p:spPr>
          <a:xfrm>
            <a:off x="793790" y="4854654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מה זה ואיך זה יכול לעזור לכם?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/>
          <p:nvPr/>
        </p:nvSpPr>
        <p:spPr>
          <a:xfrm>
            <a:off x="7768114" y="906661"/>
            <a:ext cx="6171486" cy="616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3850"/>
              <a:buFont typeface="Rubik"/>
              <a:buNone/>
            </a:pPr>
            <a:r>
              <a:rPr b="0" i="0" lang="en-US" sz="38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מה זה בינה מלאכותית בארגון?</a:t>
            </a:r>
            <a:endParaRPr b="0" i="0" sz="3850" u="none" cap="none" strike="noStrike"/>
          </a:p>
        </p:txBody>
      </p:sp>
      <p:sp>
        <p:nvSpPr>
          <p:cNvPr id="62" name="Google Shape;62;p16"/>
          <p:cNvSpPr/>
          <p:nvPr/>
        </p:nvSpPr>
        <p:spPr>
          <a:xfrm>
            <a:off x="690801" y="1867019"/>
            <a:ext cx="1324879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Open Sans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עד עכשיו דיברנו על בינה מלאכותית באופן כללי, בואו נצלול לאפשרויות הארגוניות-עסקיות שהשימוש בטכנולוגיה פותח לנו.</a:t>
            </a:r>
            <a:endParaRPr b="0" i="0" sz="1550" u="none" cap="none" strike="noStrike"/>
          </a:p>
        </p:txBody>
      </p:sp>
      <p:pic>
        <p:nvPicPr>
          <p:cNvPr descr="preencoded.png" id="63" name="Google Shape;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801" y="2985849"/>
            <a:ext cx="6795492" cy="370653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6"/>
          <p:cNvSpPr/>
          <p:nvPr/>
        </p:nvSpPr>
        <p:spPr>
          <a:xfrm>
            <a:off x="7975402" y="2548771"/>
            <a:ext cx="5971699" cy="1215628"/>
          </a:xfrm>
          <a:prstGeom prst="roundRect">
            <a:avLst>
              <a:gd fmla="val 9026" name="adj"/>
            </a:avLst>
          </a:prstGeom>
          <a:solidFill>
            <a:srgbClr val="FFFFFF"/>
          </a:solidFill>
          <a:ln cap="flat" cmpd="sng" w="22850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13878520" y="2548771"/>
            <a:ext cx="91440" cy="1215628"/>
          </a:xfrm>
          <a:prstGeom prst="roundRect">
            <a:avLst>
              <a:gd fmla="val 90670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6"/>
          <p:cNvSpPr/>
          <p:nvPr/>
        </p:nvSpPr>
        <p:spPr>
          <a:xfrm>
            <a:off x="11190923" y="2768918"/>
            <a:ext cx="2467451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Rubik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🎯</a:t>
            </a:r>
            <a:r>
              <a:rPr b="0" i="0" lang="en-US" sz="19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 מטרת השילוב</a:t>
            </a:r>
            <a:endParaRPr b="0" i="0" sz="1900" u="none" cap="none" strike="noStrike"/>
          </a:p>
        </p:txBody>
      </p:sp>
      <p:sp>
        <p:nvSpPr>
          <p:cNvPr id="67" name="Google Shape;67;p16"/>
          <p:cNvSpPr/>
          <p:nvPr/>
        </p:nvSpPr>
        <p:spPr>
          <a:xfrm>
            <a:off x="8195548" y="3248978"/>
            <a:ext cx="54628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Open Sans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הפיכת ה-AI מכלי טכנולוגי למנוע צמיחה עסקי אמיתי שמניב ערך מדיד.</a:t>
            </a:r>
            <a:endParaRPr b="0" i="0" sz="1550" u="none" cap="none" strike="noStrike"/>
          </a:p>
        </p:txBody>
      </p:sp>
      <p:sp>
        <p:nvSpPr>
          <p:cNvPr id="68" name="Google Shape;68;p16"/>
          <p:cNvSpPr/>
          <p:nvPr/>
        </p:nvSpPr>
        <p:spPr>
          <a:xfrm>
            <a:off x="7975402" y="3936087"/>
            <a:ext cx="5971699" cy="1510903"/>
          </a:xfrm>
          <a:prstGeom prst="roundRect">
            <a:avLst>
              <a:gd fmla="val 7262" name="adj"/>
            </a:avLst>
          </a:prstGeom>
          <a:solidFill>
            <a:srgbClr val="FFFFFF"/>
          </a:solidFill>
          <a:ln cap="flat" cmpd="sng" w="22850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6"/>
          <p:cNvSpPr/>
          <p:nvPr/>
        </p:nvSpPr>
        <p:spPr>
          <a:xfrm>
            <a:off x="13878520" y="3936087"/>
            <a:ext cx="91440" cy="1510903"/>
          </a:xfrm>
          <a:prstGeom prst="roundRect">
            <a:avLst>
              <a:gd fmla="val 90670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11190923" y="4156234"/>
            <a:ext cx="2467451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Rubik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🏗️</a:t>
            </a:r>
            <a:r>
              <a:rPr b="0" i="0" lang="en-US" sz="19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 תפקיד המטמיע</a:t>
            </a:r>
            <a:endParaRPr b="0" i="0" sz="1900" u="none" cap="none" strike="noStrike"/>
          </a:p>
        </p:txBody>
      </p:sp>
      <p:sp>
        <p:nvSpPr>
          <p:cNvPr id="71" name="Google Shape;71;p16"/>
          <p:cNvSpPr/>
          <p:nvPr/>
        </p:nvSpPr>
        <p:spPr>
          <a:xfrm>
            <a:off x="8195548" y="4636294"/>
            <a:ext cx="5462826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Open Sans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המעבר מביצוע משימות בודדות לאדריכלות של תהליכי עבודה חכמים וסקיילביליים.</a:t>
            </a:r>
            <a:endParaRPr b="0" i="0" sz="1550" u="none" cap="none" strike="noStrike"/>
          </a:p>
        </p:txBody>
      </p:sp>
      <p:sp>
        <p:nvSpPr>
          <p:cNvPr id="72" name="Google Shape;72;p16"/>
          <p:cNvSpPr/>
          <p:nvPr/>
        </p:nvSpPr>
        <p:spPr>
          <a:xfrm>
            <a:off x="7975402" y="5618678"/>
            <a:ext cx="5971699" cy="1510903"/>
          </a:xfrm>
          <a:prstGeom prst="roundRect">
            <a:avLst>
              <a:gd fmla="val 7262" name="adj"/>
            </a:avLst>
          </a:prstGeom>
          <a:solidFill>
            <a:srgbClr val="FFFFFF"/>
          </a:solidFill>
          <a:ln cap="flat" cmpd="sng" w="22850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13878520" y="5618678"/>
            <a:ext cx="91440" cy="1510903"/>
          </a:xfrm>
          <a:prstGeom prst="roundRect">
            <a:avLst>
              <a:gd fmla="val 90670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11190923" y="5838825"/>
            <a:ext cx="2467451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Rubik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📋</a:t>
            </a:r>
            <a:r>
              <a:rPr b="0" i="0" lang="en-US" sz="19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 מה נלמד היום</a:t>
            </a:r>
            <a:endParaRPr b="0" i="0" sz="1900" u="none" cap="none" strike="noStrike"/>
          </a:p>
        </p:txBody>
      </p:sp>
      <p:sp>
        <p:nvSpPr>
          <p:cNvPr id="75" name="Google Shape;75;p16"/>
          <p:cNvSpPr/>
          <p:nvPr/>
        </p:nvSpPr>
        <p:spPr>
          <a:xfrm>
            <a:off x="8195548" y="6318885"/>
            <a:ext cx="5462826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Open Sans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כיצד שילוב AI ישנה את צורת העבודה הארגונית מהיסוד – בכל מחלקה ורמה.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/>
          <p:nvPr/>
        </p:nvSpPr>
        <p:spPr>
          <a:xfrm>
            <a:off x="793790" y="1128355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תרגיל מחשבתי – "העובד הדיגיטלי החדש"</a:t>
            </a:r>
            <a:endParaRPr b="0" i="0" sz="4450" u="none" cap="none" strike="noStrike"/>
          </a:p>
        </p:txBody>
      </p:sp>
      <p:sp>
        <p:nvSpPr>
          <p:cNvPr id="83" name="Google Shape;83;p17"/>
          <p:cNvSpPr/>
          <p:nvPr/>
        </p:nvSpPr>
        <p:spPr>
          <a:xfrm>
            <a:off x="793790" y="2886075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דמיינו וקיבלתם מתמחה חדש בחברה-</a:t>
            </a:r>
            <a:endParaRPr b="0" i="0" sz="1750" u="none" cap="none" strike="noStrike"/>
          </a:p>
        </p:txBody>
      </p:sp>
      <p:sp>
        <p:nvSpPr>
          <p:cNvPr id="84" name="Google Shape;84;p17"/>
          <p:cNvSpPr/>
          <p:nvPr/>
        </p:nvSpPr>
        <p:spPr>
          <a:xfrm>
            <a:off x="4685467" y="3504128"/>
            <a:ext cx="3664744" cy="2047994"/>
          </a:xfrm>
          <a:prstGeom prst="roundRect">
            <a:avLst>
              <a:gd fmla="val 4652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5280541" y="373856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🤖</a:t>
            </a: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 נגישות</a:t>
            </a:r>
            <a:endParaRPr b="0" i="0" sz="2200" u="none" cap="none" strike="noStrike"/>
          </a:p>
        </p:txBody>
      </p:sp>
      <p:sp>
        <p:nvSpPr>
          <p:cNvPr id="86" name="Google Shape;86;p17"/>
          <p:cNvSpPr/>
          <p:nvPr/>
        </p:nvSpPr>
        <p:spPr>
          <a:xfrm>
            <a:off x="4919901" y="4228981"/>
            <a:ext cx="319587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יש לו גישה לכל המידע הארגוני, זמין 24/7, לא מתלונן, נתעייף או לוקח ימי חופש.</a:t>
            </a:r>
            <a:endParaRPr b="0" i="0" sz="1750" u="none" cap="none" strike="noStrike"/>
          </a:p>
        </p:txBody>
      </p:sp>
      <p:sp>
        <p:nvSpPr>
          <p:cNvPr id="87" name="Google Shape;87;p17"/>
          <p:cNvSpPr/>
          <p:nvPr/>
        </p:nvSpPr>
        <p:spPr>
          <a:xfrm>
            <a:off x="793790" y="3504128"/>
            <a:ext cx="3664863" cy="2047994"/>
          </a:xfrm>
          <a:prstGeom prst="roundRect">
            <a:avLst>
              <a:gd fmla="val 4652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1388983" y="373856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⚡</a:t>
            </a: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 יכולות</a:t>
            </a:r>
            <a:endParaRPr b="0" i="0" sz="2200" u="none" cap="none" strike="noStrike"/>
          </a:p>
        </p:txBody>
      </p:sp>
      <p:sp>
        <p:nvSpPr>
          <p:cNvPr id="89" name="Google Shape;89;p17"/>
          <p:cNvSpPr/>
          <p:nvPr/>
        </p:nvSpPr>
        <p:spPr>
          <a:xfrm>
            <a:off x="1028224" y="4228981"/>
            <a:ext cx="319599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הוא חכם מאוד ומסוגל לקרוא, לסכם, להשוות ואפילו אחרי מעט ניסיון לקבל החלטות חכמות.</a:t>
            </a:r>
            <a:endParaRPr b="0" i="0" sz="1750" u="none" cap="none" strike="noStrike"/>
          </a:p>
        </p:txBody>
      </p:sp>
      <p:sp>
        <p:nvSpPr>
          <p:cNvPr id="90" name="Google Shape;90;p17"/>
          <p:cNvSpPr/>
          <p:nvPr/>
        </p:nvSpPr>
        <p:spPr>
          <a:xfrm>
            <a:off x="793790" y="5778937"/>
            <a:ext cx="7556421" cy="1322189"/>
          </a:xfrm>
          <a:prstGeom prst="roundRect">
            <a:avLst>
              <a:gd fmla="val 7205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5280541" y="601337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💡</a:t>
            </a: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 השאלה הגדולה</a:t>
            </a:r>
            <a:endParaRPr b="0" i="0" sz="2200" u="none" cap="none" strike="noStrike"/>
          </a:p>
        </p:txBody>
      </p:sp>
      <p:sp>
        <p:nvSpPr>
          <p:cNvPr id="92" name="Google Shape;92;p17"/>
          <p:cNvSpPr/>
          <p:nvPr/>
        </p:nvSpPr>
        <p:spPr>
          <a:xfrm>
            <a:off x="1028224" y="6503789"/>
            <a:ext cx="70875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איזו משימה שנואה עליכם הייתם מאצילים לו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כבר עכשיו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6776085" y="811887"/>
            <a:ext cx="7067788" cy="702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00"/>
              <a:buFont typeface="Rubik"/>
              <a:buNone/>
            </a:pPr>
            <a:r>
              <a:rPr b="0" i="0" lang="en-US" sz="44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המהפכה התעשייתית של המוח</a:t>
            </a:r>
            <a:endParaRPr b="0" i="0" sz="4400" u="none" cap="none" strike="noStrike"/>
          </a:p>
        </p:txBody>
      </p:sp>
      <p:sp>
        <p:nvSpPr>
          <p:cNvPr id="99" name="Google Shape;99;p18"/>
          <p:cNvSpPr/>
          <p:nvPr/>
        </p:nvSpPr>
        <p:spPr>
          <a:xfrm>
            <a:off x="786527" y="1959412"/>
            <a:ext cx="13057346" cy="357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במאה ה18 התחוללה המהפכה התעשייתית שבסופה היה ברור שאין צורך בבני אדם שיפעלו בצורה חזרתית כדי ליצור את אותו הדבר שוב ושוב.</a:t>
            </a:r>
            <a:endParaRPr b="0" i="0" sz="1750" u="none" cap="none" strike="noStrike"/>
          </a:p>
        </p:txBody>
      </p:sp>
      <p:sp>
        <p:nvSpPr>
          <p:cNvPr id="100" name="Google Shape;100;p18"/>
          <p:cNvSpPr/>
          <p:nvPr/>
        </p:nvSpPr>
        <p:spPr>
          <a:xfrm>
            <a:off x="786527" y="2567821"/>
            <a:ext cx="13057346" cy="357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בשנים האחרונות אנחנו חווים את המהפכה התעשייתית של המוח, ולאט לאט מבינים שאין צורך שנחשוב את אותה מחשבה שוב ושוב.</a:t>
            </a:r>
            <a:endParaRPr b="0" i="0" sz="1750" u="none" cap="none" strike="noStrike"/>
          </a:p>
        </p:txBody>
      </p:sp>
      <p:pic>
        <p:nvPicPr>
          <p:cNvPr descr="preencoded.png" id="101" name="Google Shape;10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527" y="3805595"/>
            <a:ext cx="7206972" cy="298275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/>
          <p:nvPr/>
        </p:nvSpPr>
        <p:spPr>
          <a:xfrm>
            <a:off x="6658346" y="4633339"/>
            <a:ext cx="1164601" cy="399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Rubik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המהפכה התעשייתית</a:t>
            </a:r>
            <a:endParaRPr b="0" i="0" sz="1250" u="none" cap="none" strike="noStrike"/>
          </a:p>
        </p:txBody>
      </p:sp>
      <p:sp>
        <p:nvSpPr>
          <p:cNvPr id="103" name="Google Shape;103;p18"/>
          <p:cNvSpPr/>
          <p:nvPr/>
        </p:nvSpPr>
        <p:spPr>
          <a:xfrm>
            <a:off x="6658346" y="5089594"/>
            <a:ext cx="1164601" cy="318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החליפה עבודת יד ועבודה פיזית</a:t>
            </a:r>
            <a:endParaRPr b="0" i="0" sz="1000" u="none" cap="none" strike="noStrike"/>
          </a:p>
        </p:txBody>
      </p:sp>
      <p:sp>
        <p:nvSpPr>
          <p:cNvPr id="104" name="Google Shape;104;p18"/>
          <p:cNvSpPr/>
          <p:nvPr/>
        </p:nvSpPr>
        <p:spPr>
          <a:xfrm>
            <a:off x="963158" y="4633339"/>
            <a:ext cx="1164602" cy="199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Rubik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מהפכת ה-AI</a:t>
            </a:r>
            <a:endParaRPr b="0" i="0" sz="1250" u="none" cap="none" strike="noStrike"/>
          </a:p>
        </p:txBody>
      </p:sp>
      <p:sp>
        <p:nvSpPr>
          <p:cNvPr id="105" name="Google Shape;105;p18"/>
          <p:cNvSpPr/>
          <p:nvPr/>
        </p:nvSpPr>
        <p:spPr>
          <a:xfrm>
            <a:off x="963158" y="4889871"/>
            <a:ext cx="1164602" cy="318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משכפלת יכולות חשיבה וקוגניציה</a:t>
            </a:r>
            <a:endParaRPr b="0" i="0" sz="1000" u="none" cap="none" strike="noStrike"/>
          </a:p>
        </p:txBody>
      </p:sp>
      <p:sp>
        <p:nvSpPr>
          <p:cNvPr id="106" name="Google Shape;106;p18"/>
          <p:cNvSpPr/>
          <p:nvPr/>
        </p:nvSpPr>
        <p:spPr>
          <a:xfrm>
            <a:off x="13820894" y="3396258"/>
            <a:ext cx="60960" cy="2066449"/>
          </a:xfrm>
          <a:prstGeom prst="rect">
            <a:avLst/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11339513" y="3426738"/>
            <a:ext cx="2226231" cy="702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אוטומציה קוגניטיבית</a:t>
            </a:r>
            <a:endParaRPr b="0" i="0" sz="2200" u="none" cap="none" strike="noStrike"/>
          </a:p>
        </p:txBody>
      </p:sp>
      <p:sp>
        <p:nvSpPr>
          <p:cNvPr id="108" name="Google Shape;108;p18"/>
          <p:cNvSpPr/>
          <p:nvPr/>
        </p:nvSpPr>
        <p:spPr>
          <a:xfrm>
            <a:off x="11339513" y="4351853"/>
            <a:ext cx="2226231" cy="1073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אם המהפכה התעשייתית החליפה ידיים – ה-AI משכפל יכולות חשיבה.</a:t>
            </a:r>
            <a:endParaRPr b="0" i="0" sz="1750" u="none" cap="none" strike="noStrike"/>
          </a:p>
        </p:txBody>
      </p:sp>
      <p:sp>
        <p:nvSpPr>
          <p:cNvPr id="109" name="Google Shape;109;p18"/>
          <p:cNvSpPr/>
          <p:nvPr/>
        </p:nvSpPr>
        <p:spPr>
          <a:xfrm>
            <a:off x="11030783" y="3396258"/>
            <a:ext cx="60960" cy="2066449"/>
          </a:xfrm>
          <a:prstGeom prst="rect">
            <a:avLst/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8549283" y="3426738"/>
            <a:ext cx="2226350" cy="351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תשתית, לא מוצר</a:t>
            </a:r>
            <a:endParaRPr b="0" i="0" sz="2200" u="none" cap="none" strike="noStrike"/>
          </a:p>
        </p:txBody>
      </p:sp>
      <p:sp>
        <p:nvSpPr>
          <p:cNvPr id="111" name="Google Shape;111;p18"/>
          <p:cNvSpPr/>
          <p:nvPr/>
        </p:nvSpPr>
        <p:spPr>
          <a:xfrm>
            <a:off x="8549283" y="4000619"/>
            <a:ext cx="2226350" cy="1431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ה-AI הוא ה-Utility שיפעיל את כל המחלקות – כמו חשמל, לא כמו מכשיר.</a:t>
            </a:r>
            <a:endParaRPr b="0" i="0" sz="1750" u="none" cap="none" strike="noStrike"/>
          </a:p>
        </p:txBody>
      </p:sp>
      <p:sp>
        <p:nvSpPr>
          <p:cNvPr id="112" name="Google Shape;112;p18"/>
          <p:cNvSpPr/>
          <p:nvPr/>
        </p:nvSpPr>
        <p:spPr>
          <a:xfrm>
            <a:off x="13820894" y="5847040"/>
            <a:ext cx="60960" cy="1350645"/>
          </a:xfrm>
          <a:prstGeom prst="rect">
            <a:avLst/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10756463" y="5877520"/>
            <a:ext cx="2809280" cy="351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שינוי פרדיגמה</a:t>
            </a:r>
            <a:endParaRPr b="0" i="0" sz="2200" u="none" cap="none" strike="noStrike"/>
          </a:p>
        </p:txBody>
      </p:sp>
      <p:sp>
        <p:nvSpPr>
          <p:cNvPr id="114" name="Google Shape;114;p18"/>
          <p:cNvSpPr/>
          <p:nvPr/>
        </p:nvSpPr>
        <p:spPr>
          <a:xfrm>
            <a:off x="8549283" y="6451402"/>
            <a:ext cx="5016460" cy="71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מ-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Hard Work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לעבודה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Smart Work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– מבוססת כלים, נתונים ואוטומציה.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0" name="Google Shape;1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/>
          <p:nvPr/>
        </p:nvSpPr>
        <p:spPr>
          <a:xfrm>
            <a:off x="2739271" y="637461"/>
            <a:ext cx="5630228" cy="691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350"/>
              <a:buFont typeface="Rubik"/>
              <a:buNone/>
            </a:pPr>
            <a:r>
              <a:rPr b="0" i="0" lang="en-US" sz="43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הפוטנציאל העסקי של AI</a:t>
            </a:r>
            <a:endParaRPr b="0" i="0" sz="4350" u="none" cap="none" strike="noStrike"/>
          </a:p>
        </p:txBody>
      </p:sp>
      <p:sp>
        <p:nvSpPr>
          <p:cNvPr id="122" name="Google Shape;122;p19"/>
          <p:cNvSpPr/>
          <p:nvPr/>
        </p:nvSpPr>
        <p:spPr>
          <a:xfrm>
            <a:off x="4679990" y="1652707"/>
            <a:ext cx="3689509" cy="2861786"/>
          </a:xfrm>
          <a:prstGeom prst="roundRect">
            <a:avLst>
              <a:gd fmla="val 3248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/>
          <p:nvPr/>
        </p:nvSpPr>
        <p:spPr>
          <a:xfrm>
            <a:off x="7476887" y="1881545"/>
            <a:ext cx="663773" cy="663773"/>
          </a:xfrm>
          <a:prstGeom prst="roundRect">
            <a:avLst>
              <a:gd fmla="val 13774416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59410" y="2063948"/>
            <a:ext cx="298728" cy="29872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/>
          <p:nvPr/>
        </p:nvSpPr>
        <p:spPr>
          <a:xfrm>
            <a:off x="5374481" y="2761178"/>
            <a:ext cx="2766179" cy="345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Rubik"/>
              <a:buNone/>
            </a:pPr>
            <a:r>
              <a:rPr b="0" i="0" lang="en-US" sz="21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התייעלות</a:t>
            </a:r>
            <a:endParaRPr b="0" i="0" sz="2150" u="none" cap="none" strike="noStrike"/>
          </a:p>
        </p:txBody>
      </p:sp>
      <p:sp>
        <p:nvSpPr>
          <p:cNvPr id="126" name="Google Shape;126;p19"/>
          <p:cNvSpPr/>
          <p:nvPr/>
        </p:nvSpPr>
        <p:spPr>
          <a:xfrm>
            <a:off x="4908828" y="3236238"/>
            <a:ext cx="3231833" cy="1049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Open Sans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קיצור דרסטי בזמן המשימות החוזרות והבירוקרטיות – פינוי זמן לעבודה היצירתית האמיתית.</a:t>
            </a:r>
            <a:endParaRPr b="0" i="0" sz="1700" u="none" cap="none" strike="noStrike"/>
          </a:p>
        </p:txBody>
      </p:sp>
      <p:sp>
        <p:nvSpPr>
          <p:cNvPr id="127" name="Google Shape;127;p19"/>
          <p:cNvSpPr/>
          <p:nvPr/>
        </p:nvSpPr>
        <p:spPr>
          <a:xfrm>
            <a:off x="774502" y="1652707"/>
            <a:ext cx="3689628" cy="2861786"/>
          </a:xfrm>
          <a:prstGeom prst="roundRect">
            <a:avLst>
              <a:gd fmla="val 3248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3571518" y="1881545"/>
            <a:ext cx="663773" cy="663773"/>
          </a:xfrm>
          <a:prstGeom prst="roundRect">
            <a:avLst>
              <a:gd fmla="val 13774416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54041" y="2063948"/>
            <a:ext cx="298728" cy="29872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/>
          <p:nvPr/>
        </p:nvSpPr>
        <p:spPr>
          <a:xfrm>
            <a:off x="1469112" y="2761178"/>
            <a:ext cx="2766179" cy="345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Rubik"/>
              <a:buNone/>
            </a:pPr>
            <a:r>
              <a:rPr b="0" i="0" lang="en-US" sz="21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שיפור איכות</a:t>
            </a:r>
            <a:endParaRPr b="0" i="0" sz="2150" u="none" cap="none" strike="noStrike"/>
          </a:p>
        </p:txBody>
      </p:sp>
      <p:sp>
        <p:nvSpPr>
          <p:cNvPr id="131" name="Google Shape;131;p19"/>
          <p:cNvSpPr/>
          <p:nvPr/>
        </p:nvSpPr>
        <p:spPr>
          <a:xfrm>
            <a:off x="1003340" y="3236238"/>
            <a:ext cx="3231952" cy="699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Open Sans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צמצום טעויות אנוש וניתוח נתונים מדויק לקבלת החלטות טובות יותר.</a:t>
            </a:r>
            <a:endParaRPr b="0" i="0" sz="1700" u="none" cap="none" strike="noStrike"/>
          </a:p>
        </p:txBody>
      </p:sp>
      <p:sp>
        <p:nvSpPr>
          <p:cNvPr id="132" name="Google Shape;132;p19"/>
          <p:cNvSpPr/>
          <p:nvPr/>
        </p:nvSpPr>
        <p:spPr>
          <a:xfrm>
            <a:off x="4679990" y="4730353"/>
            <a:ext cx="3689509" cy="2861786"/>
          </a:xfrm>
          <a:prstGeom prst="roundRect">
            <a:avLst>
              <a:gd fmla="val 3248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7476887" y="4959191"/>
            <a:ext cx="663773" cy="663773"/>
          </a:xfrm>
          <a:prstGeom prst="roundRect">
            <a:avLst>
              <a:gd fmla="val 13774416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59410" y="5141595"/>
            <a:ext cx="298728" cy="29872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/>
          <p:nvPr/>
        </p:nvSpPr>
        <p:spPr>
          <a:xfrm>
            <a:off x="5374481" y="5838825"/>
            <a:ext cx="2766179" cy="345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Rubik"/>
              <a:buNone/>
            </a:pPr>
            <a:r>
              <a:rPr b="0" i="0" lang="en-US" sz="21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חזרתיות</a:t>
            </a:r>
            <a:endParaRPr b="0" i="0" sz="2150" u="none" cap="none" strike="noStrike"/>
          </a:p>
        </p:txBody>
      </p:sp>
      <p:sp>
        <p:nvSpPr>
          <p:cNvPr id="136" name="Google Shape;136;p19"/>
          <p:cNvSpPr/>
          <p:nvPr/>
        </p:nvSpPr>
        <p:spPr>
          <a:xfrm>
            <a:off x="4908828" y="6313884"/>
            <a:ext cx="3231833" cy="1049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Open Sans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נוכל ליצור תהליך אוטומציה שמבצע את אותו תהליך, בכל פעם, ללא תקלות</a:t>
            </a:r>
            <a:endParaRPr b="0" i="0" sz="1700" u="none" cap="none" strike="noStrike"/>
          </a:p>
        </p:txBody>
      </p:sp>
      <p:sp>
        <p:nvSpPr>
          <p:cNvPr id="137" name="Google Shape;137;p19"/>
          <p:cNvSpPr/>
          <p:nvPr/>
        </p:nvSpPr>
        <p:spPr>
          <a:xfrm>
            <a:off x="774502" y="4730353"/>
            <a:ext cx="3689628" cy="2861786"/>
          </a:xfrm>
          <a:prstGeom prst="roundRect">
            <a:avLst>
              <a:gd fmla="val 3248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9"/>
          <p:cNvSpPr/>
          <p:nvPr/>
        </p:nvSpPr>
        <p:spPr>
          <a:xfrm>
            <a:off x="3571518" y="4959191"/>
            <a:ext cx="663773" cy="663773"/>
          </a:xfrm>
          <a:prstGeom prst="roundRect">
            <a:avLst>
              <a:gd fmla="val 13774416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54041" y="5141595"/>
            <a:ext cx="298728" cy="29872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/>
          <p:nvPr/>
        </p:nvSpPr>
        <p:spPr>
          <a:xfrm>
            <a:off x="1469112" y="5838825"/>
            <a:ext cx="2766179" cy="345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Rubik"/>
              <a:buNone/>
            </a:pPr>
            <a:r>
              <a:rPr b="0" i="0" lang="en-US" sz="21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ביג דאטא</a:t>
            </a:r>
            <a:endParaRPr b="0" i="0" sz="2150" u="none" cap="none" strike="noStrike"/>
          </a:p>
        </p:txBody>
      </p:sp>
      <p:sp>
        <p:nvSpPr>
          <p:cNvPr id="141" name="Google Shape;141;p19"/>
          <p:cNvSpPr/>
          <p:nvPr/>
        </p:nvSpPr>
        <p:spPr>
          <a:xfrm>
            <a:off x="1003340" y="6313884"/>
            <a:ext cx="3231952" cy="1049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Open Sans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ה-AI מסוגל להכיל ולשקול כמויות עצומות של מידע בבת אחת בראיה רוחבית שפשוט אין לבני אדם.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/>
          <p:nvPr/>
        </p:nvSpPr>
        <p:spPr>
          <a:xfrm>
            <a:off x="5512713" y="1909286"/>
            <a:ext cx="832389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מפת דרכים – AI בכל מחלקה בארגון</a:t>
            </a:r>
            <a:endParaRPr b="0" i="0" sz="4450" u="none" cap="none" strike="noStrike"/>
          </a:p>
        </p:txBody>
      </p:sp>
      <p:pic>
        <p:nvPicPr>
          <p:cNvPr descr="preencoded.png" id="148" name="Google Shape;1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6388" y="3088925"/>
            <a:ext cx="3077562" cy="190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/>
          <p:nvPr/>
        </p:nvSpPr>
        <p:spPr>
          <a:xfrm>
            <a:off x="11001375" y="5209140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🎯</a:t>
            </a: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 שיווק ומכירות</a:t>
            </a:r>
            <a:endParaRPr b="0" i="0" sz="2200" u="none" cap="none" strike="noStrike"/>
          </a:p>
        </p:txBody>
      </p:sp>
      <p:sp>
        <p:nvSpPr>
          <p:cNvPr id="150" name="Google Shape;150;p20"/>
          <p:cNvSpPr/>
          <p:nvPr/>
        </p:nvSpPr>
        <p:spPr>
          <a:xfrm>
            <a:off x="9677995" y="5699558"/>
            <a:ext cx="41586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פרסונליזציה של תוכן בקנה מידה רחב וניהול חכם של משפך המכירה.</a:t>
            </a:r>
            <a:endParaRPr b="0" i="0" sz="1750" u="none" cap="none" strike="noStrike"/>
          </a:p>
        </p:txBody>
      </p:sp>
      <p:pic>
        <p:nvPicPr>
          <p:cNvPr descr="preencoded.png" id="151" name="Google Shape;15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9280" y="3088930"/>
            <a:ext cx="3077534" cy="190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/>
          <p:nvPr/>
        </p:nvSpPr>
        <p:spPr>
          <a:xfrm>
            <a:off x="6559272" y="5209140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⚙️</a:t>
            </a: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 תפעול ושירות</a:t>
            </a:r>
            <a:endParaRPr b="0" i="0" sz="2200" u="none" cap="none" strike="noStrike"/>
          </a:p>
        </p:txBody>
      </p:sp>
      <p:sp>
        <p:nvSpPr>
          <p:cNvPr id="153" name="Google Shape;153;p20"/>
          <p:cNvSpPr/>
          <p:nvPr/>
        </p:nvSpPr>
        <p:spPr>
          <a:xfrm>
            <a:off x="5235893" y="5699558"/>
            <a:ext cx="41586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מענה אוטומטי חכם וניהול מלאי ולוגיסטיקה מבוסס חיזוי מדויק.</a:t>
            </a:r>
            <a:endParaRPr b="0" i="0" sz="1750" u="none" cap="none" strike="noStrike"/>
          </a:p>
        </p:txBody>
      </p:sp>
      <p:pic>
        <p:nvPicPr>
          <p:cNvPr descr="preencoded.png" id="154" name="Google Shape;15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6055" y="3088917"/>
            <a:ext cx="3077550" cy="190203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/>
          <p:nvPr/>
        </p:nvSpPr>
        <p:spPr>
          <a:xfrm>
            <a:off x="2117169" y="5209140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👥</a:t>
            </a: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 משאבי אנוש וניהול</a:t>
            </a:r>
            <a:endParaRPr b="0" i="0" sz="2200" u="none" cap="none" strike="noStrike"/>
          </a:p>
        </p:txBody>
      </p:sp>
      <p:sp>
        <p:nvSpPr>
          <p:cNvPr id="156" name="Google Shape;156;p20"/>
          <p:cNvSpPr/>
          <p:nvPr/>
        </p:nvSpPr>
        <p:spPr>
          <a:xfrm>
            <a:off x="793790" y="5699558"/>
            <a:ext cx="41586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סינון מועמדים אובייקטיבי וניהול ידע ארגוני נגיש לכל עובד.</a:t>
            </a:r>
            <a:endParaRPr b="0" i="0" sz="1750" u="none" cap="none" strike="noStrike"/>
          </a:p>
        </p:txBody>
      </p:sp>
      <p:sp>
        <p:nvSpPr>
          <p:cNvPr id="157" name="Google Shape;157;p20"/>
          <p:cNvSpPr/>
          <p:nvPr/>
        </p:nvSpPr>
        <p:spPr>
          <a:xfrm>
            <a:off x="793790" y="6921548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אלו כמובן רק כמה דוגמאות קטנות, כמות האפשרויות היא אינסופית.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/>
          <p:nvPr/>
        </p:nvSpPr>
        <p:spPr>
          <a:xfrm>
            <a:off x="7550706" y="744022"/>
            <a:ext cx="6404610" cy="602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3750"/>
              <a:buFont typeface="Rubik"/>
              <a:buNone/>
            </a:pPr>
            <a:r>
              <a:rPr b="0" i="0" lang="en-US" sz="37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מהו "יתרון תחרותי" בעידן ה-AI?</a:t>
            </a:r>
            <a:endParaRPr b="0" i="0" sz="3750" u="none" cap="none" strike="noStrike"/>
          </a:p>
        </p:txBody>
      </p:sp>
      <p:pic>
        <p:nvPicPr>
          <p:cNvPr descr="preencoded.png" id="164" name="Google Shape;16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525" y="2708750"/>
            <a:ext cx="6647274" cy="362572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/>
          <p:nvPr/>
        </p:nvSpPr>
        <p:spPr>
          <a:xfrm>
            <a:off x="7008019" y="1777127"/>
            <a:ext cx="6954798" cy="1732002"/>
          </a:xfrm>
          <a:prstGeom prst="roundRect">
            <a:avLst>
              <a:gd fmla="val 4678" name="adj"/>
            </a:avLst>
          </a:prstGeom>
          <a:solidFill>
            <a:srgbClr val="FFFFFF"/>
          </a:solidFill>
          <a:ln cap="flat" cmpd="sng" w="22850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1"/>
          <p:cNvSpPr/>
          <p:nvPr/>
        </p:nvSpPr>
        <p:spPr>
          <a:xfrm>
            <a:off x="7030879" y="1799987"/>
            <a:ext cx="6909078" cy="578644"/>
          </a:xfrm>
          <a:prstGeom prst="roundRect">
            <a:avLst>
              <a:gd fmla="val 9260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1"/>
          <p:cNvSpPr/>
          <p:nvPr/>
        </p:nvSpPr>
        <p:spPr>
          <a:xfrm>
            <a:off x="10340816" y="1904643"/>
            <a:ext cx="289322" cy="361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50"/>
              <a:buFont typeface="Rubik"/>
              <a:buNone/>
            </a:pPr>
            <a:r>
              <a:rPr b="0" i="0" lang="en-US" sz="22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1</a:t>
            </a:r>
            <a:endParaRPr b="0" i="0" sz="2250" u="none" cap="none" strike="noStrike"/>
          </a:p>
        </p:txBody>
      </p:sp>
      <p:sp>
        <p:nvSpPr>
          <p:cNvPr id="168" name="Google Shape;168;p21"/>
          <p:cNvSpPr/>
          <p:nvPr/>
        </p:nvSpPr>
        <p:spPr>
          <a:xfrm>
            <a:off x="11335941" y="2542580"/>
            <a:ext cx="2411135" cy="30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Rubik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⚡</a:t>
            </a:r>
            <a:r>
              <a:rPr b="0" i="0" lang="en-US" sz="18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 מהירות תגובה</a:t>
            </a:r>
            <a:endParaRPr b="0" i="0" sz="1850" u="none" cap="none" strike="noStrike"/>
          </a:p>
        </p:txBody>
      </p:sp>
      <p:sp>
        <p:nvSpPr>
          <p:cNvPr id="169" name="Google Shape;169;p21"/>
          <p:cNvSpPr/>
          <p:nvPr/>
        </p:nvSpPr>
        <p:spPr>
          <a:xfrm>
            <a:off x="7223760" y="3007876"/>
            <a:ext cx="6523315" cy="285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להגיב לשינויים בשוק </a:t>
            </a:r>
            <a:r>
              <a:rPr b="1" i="0" lang="en-US" sz="15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לפני המתחרים</a:t>
            </a:r>
            <a:r>
              <a:rPr b="0" i="0" lang="en-US" sz="15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– הזמן הוא הנשק החדש.</a:t>
            </a:r>
            <a:endParaRPr b="0" i="0" sz="1500" u="none" cap="none" strike="noStrike"/>
          </a:p>
        </p:txBody>
      </p:sp>
      <p:sp>
        <p:nvSpPr>
          <p:cNvPr id="170" name="Google Shape;170;p21"/>
          <p:cNvSpPr/>
          <p:nvPr/>
        </p:nvSpPr>
        <p:spPr>
          <a:xfrm>
            <a:off x="7008019" y="3673078"/>
            <a:ext cx="6954798" cy="1732002"/>
          </a:xfrm>
          <a:prstGeom prst="roundRect">
            <a:avLst>
              <a:gd fmla="val 4678" name="adj"/>
            </a:avLst>
          </a:prstGeom>
          <a:solidFill>
            <a:srgbClr val="FFFFFF"/>
          </a:solidFill>
          <a:ln cap="flat" cmpd="sng" w="22850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1"/>
          <p:cNvSpPr/>
          <p:nvPr/>
        </p:nvSpPr>
        <p:spPr>
          <a:xfrm>
            <a:off x="7030879" y="3695938"/>
            <a:ext cx="6909078" cy="578644"/>
          </a:xfrm>
          <a:prstGeom prst="roundRect">
            <a:avLst>
              <a:gd fmla="val 9260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1"/>
          <p:cNvSpPr/>
          <p:nvPr/>
        </p:nvSpPr>
        <p:spPr>
          <a:xfrm>
            <a:off x="10340816" y="3800594"/>
            <a:ext cx="289322" cy="361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50"/>
              <a:buFont typeface="Rubik"/>
              <a:buNone/>
            </a:pPr>
            <a:r>
              <a:rPr b="0" i="0" lang="en-US" sz="22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2</a:t>
            </a:r>
            <a:endParaRPr b="0" i="0" sz="2250" u="none" cap="none" strike="noStrike"/>
          </a:p>
        </p:txBody>
      </p:sp>
      <p:sp>
        <p:nvSpPr>
          <p:cNvPr id="173" name="Google Shape;173;p21"/>
          <p:cNvSpPr/>
          <p:nvPr/>
        </p:nvSpPr>
        <p:spPr>
          <a:xfrm>
            <a:off x="11335941" y="4438531"/>
            <a:ext cx="2411135" cy="30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Rubik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💰</a:t>
            </a:r>
            <a:r>
              <a:rPr b="0" i="0" lang="en-US" sz="18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 חיסכון בעלויות</a:t>
            </a:r>
            <a:endParaRPr b="0" i="0" sz="1850" u="none" cap="none" strike="noStrike"/>
          </a:p>
        </p:txBody>
      </p:sp>
      <p:sp>
        <p:nvSpPr>
          <p:cNvPr id="174" name="Google Shape;174;p21"/>
          <p:cNvSpPr/>
          <p:nvPr/>
        </p:nvSpPr>
        <p:spPr>
          <a:xfrm>
            <a:off x="7223760" y="4903827"/>
            <a:ext cx="6523315" cy="285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שחיקת מחירי התפעול לעומת חברות שנשארות בשיטות הישנות.</a:t>
            </a:r>
            <a:endParaRPr b="0" i="0" sz="1500" u="none" cap="none" strike="noStrike"/>
          </a:p>
        </p:txBody>
      </p:sp>
      <p:sp>
        <p:nvSpPr>
          <p:cNvPr id="175" name="Google Shape;175;p21"/>
          <p:cNvSpPr/>
          <p:nvPr/>
        </p:nvSpPr>
        <p:spPr>
          <a:xfrm>
            <a:off x="7008019" y="5569029"/>
            <a:ext cx="6954798" cy="1732002"/>
          </a:xfrm>
          <a:prstGeom prst="roundRect">
            <a:avLst>
              <a:gd fmla="val 4678" name="adj"/>
            </a:avLst>
          </a:prstGeom>
          <a:solidFill>
            <a:srgbClr val="FFFFFF"/>
          </a:solidFill>
          <a:ln cap="flat" cmpd="sng" w="22850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7030879" y="5591889"/>
            <a:ext cx="6909078" cy="578644"/>
          </a:xfrm>
          <a:prstGeom prst="roundRect">
            <a:avLst>
              <a:gd fmla="val 9260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1"/>
          <p:cNvSpPr/>
          <p:nvPr/>
        </p:nvSpPr>
        <p:spPr>
          <a:xfrm>
            <a:off x="10340816" y="5696545"/>
            <a:ext cx="289322" cy="361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50"/>
              <a:buFont typeface="Rubik"/>
              <a:buNone/>
            </a:pPr>
            <a:r>
              <a:rPr b="0" i="0" lang="en-US" sz="22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3</a:t>
            </a:r>
            <a:endParaRPr b="0" i="0" sz="2250" u="none" cap="none" strike="noStrike"/>
          </a:p>
        </p:txBody>
      </p:sp>
      <p:sp>
        <p:nvSpPr>
          <p:cNvPr id="178" name="Google Shape;178;p21"/>
          <p:cNvSpPr/>
          <p:nvPr/>
        </p:nvSpPr>
        <p:spPr>
          <a:xfrm>
            <a:off x="11335941" y="6334482"/>
            <a:ext cx="2411135" cy="30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Rubik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🌟</a:t>
            </a:r>
            <a:r>
              <a:rPr b="0" i="0" lang="en-US" sz="18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 חווית לקוח</a:t>
            </a:r>
            <a:endParaRPr b="0" i="0" sz="1850" u="none" cap="none" strike="noStrike"/>
          </a:p>
        </p:txBody>
      </p:sp>
      <p:sp>
        <p:nvSpPr>
          <p:cNvPr id="179" name="Google Shape;179;p21"/>
          <p:cNvSpPr/>
          <p:nvPr/>
        </p:nvSpPr>
        <p:spPr>
          <a:xfrm>
            <a:off x="7223760" y="6799778"/>
            <a:ext cx="6523315" cy="285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שירות מהיר, אישי ומדויק יותר מכל נציג אנושי לבדו.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5" name="Google Shape;1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/>
          <p:nvPr/>
        </p:nvSpPr>
        <p:spPr>
          <a:xfrm>
            <a:off x="6280190" y="885587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הדאטה הארגוני – ממאגר סטטי לפוטנציאל לתובנות</a:t>
            </a:r>
            <a:endParaRPr b="0" i="0" sz="4450" u="none" cap="none" strike="noStrike"/>
          </a:p>
        </p:txBody>
      </p:sp>
      <p:pic>
        <p:nvPicPr>
          <p:cNvPr descr="preencoded.png" id="187" name="Google Shape;18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02540" y="2643307"/>
            <a:ext cx="1134070" cy="166985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/>
          <p:nvPr/>
        </p:nvSpPr>
        <p:spPr>
          <a:xfrm>
            <a:off x="9640491" y="287012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ניצול ידע קיים</a:t>
            </a:r>
            <a:endParaRPr b="0" i="0" sz="2200" u="none" cap="none" strike="noStrike"/>
          </a:p>
        </p:txBody>
      </p:sp>
      <p:sp>
        <p:nvSpPr>
          <p:cNvPr id="189" name="Google Shape;189;p22"/>
          <p:cNvSpPr/>
          <p:nvPr/>
        </p:nvSpPr>
        <p:spPr>
          <a:xfrm>
            <a:off x="6280190" y="3360539"/>
            <a:ext cx="619553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הפיכת הררי המיילים והמסמכים לתובנות שניתן לשאול עליהן שאלות בזמן אמת.</a:t>
            </a:r>
            <a:endParaRPr b="0" i="0" sz="1750" u="none" cap="none" strike="noStrike"/>
          </a:p>
        </p:txBody>
      </p:sp>
      <p:pic>
        <p:nvPicPr>
          <p:cNvPr descr="preencoded.png" id="190" name="Google Shape;19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02540" y="4313158"/>
            <a:ext cx="1134070" cy="166985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2"/>
          <p:cNvSpPr/>
          <p:nvPr/>
        </p:nvSpPr>
        <p:spPr>
          <a:xfrm>
            <a:off x="9640491" y="453997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חיבור נקודות</a:t>
            </a:r>
            <a:endParaRPr b="0" i="0" sz="2200" u="none" cap="none" strike="noStrike"/>
          </a:p>
        </p:txBody>
      </p:sp>
      <p:sp>
        <p:nvSpPr>
          <p:cNvPr id="192" name="Google Shape;192;p22"/>
          <p:cNvSpPr/>
          <p:nvPr/>
        </p:nvSpPr>
        <p:spPr>
          <a:xfrm>
            <a:off x="6280190" y="5030391"/>
            <a:ext cx="619553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ה-AI מוצא קשרים בין נתונים ממחלקות שונות – קשרים שאדם לא יזהה לבד.</a:t>
            </a:r>
            <a:endParaRPr b="0" i="0" sz="1750" u="none" cap="none" strike="noStrike"/>
          </a:p>
        </p:txBody>
      </p:sp>
      <p:pic>
        <p:nvPicPr>
          <p:cNvPr descr="preencoded.png" id="193" name="Google Shape;19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702540" y="5983010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/>
          <p:nvPr/>
        </p:nvSpPr>
        <p:spPr>
          <a:xfrm>
            <a:off x="9640491" y="620982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קבלת החלטות</a:t>
            </a:r>
            <a:endParaRPr b="0" i="0" sz="2200" u="none" cap="none" strike="noStrike"/>
          </a:p>
        </p:txBody>
      </p:sp>
      <p:sp>
        <p:nvSpPr>
          <p:cNvPr id="195" name="Google Shape;195;p22"/>
          <p:cNvSpPr/>
          <p:nvPr/>
        </p:nvSpPr>
        <p:spPr>
          <a:xfrm>
            <a:off x="6280190" y="6700242"/>
            <a:ext cx="619553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מניהול לפי "תחושת בטן" לניהול מבוסס עובדות ונתונים בזמן אמת.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/>
          <p:nvPr/>
        </p:nvSpPr>
        <p:spPr>
          <a:xfrm>
            <a:off x="793790" y="687348"/>
            <a:ext cx="879395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AI במבחן המציאות – הנתונים מדברים</a:t>
            </a:r>
            <a:endParaRPr b="0" i="0" sz="4450" u="none" cap="none" strike="noStrike"/>
          </a:p>
        </p:txBody>
      </p:sp>
      <p:sp>
        <p:nvSpPr>
          <p:cNvPr id="202" name="Google Shape;202;p23"/>
          <p:cNvSpPr/>
          <p:nvPr/>
        </p:nvSpPr>
        <p:spPr>
          <a:xfrm>
            <a:off x="9677995" y="1963103"/>
            <a:ext cx="4158615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5850"/>
              <a:buFont typeface="Rubik"/>
              <a:buNone/>
            </a:pPr>
            <a:r>
              <a:rPr b="0" i="0" lang="en-US" sz="58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88%</a:t>
            </a:r>
            <a:endParaRPr b="0" i="0" sz="5850" u="none" cap="none" strike="noStrike"/>
          </a:p>
        </p:txBody>
      </p:sp>
      <p:sp>
        <p:nvSpPr>
          <p:cNvPr id="203" name="Google Shape;203;p23"/>
          <p:cNvSpPr/>
          <p:nvPr/>
        </p:nvSpPr>
        <p:spPr>
          <a:xfrm>
            <a:off x="10339745" y="299489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שילוב AI גלובלי</a:t>
            </a:r>
            <a:endParaRPr b="0" i="0" sz="2200" u="none" cap="none" strike="noStrike"/>
          </a:p>
        </p:txBody>
      </p:sp>
      <p:sp>
        <p:nvSpPr>
          <p:cNvPr id="204" name="Google Shape;204;p23"/>
          <p:cNvSpPr/>
          <p:nvPr/>
        </p:nvSpPr>
        <p:spPr>
          <a:xfrm>
            <a:off x="9677995" y="3485317"/>
            <a:ext cx="41586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מהארגונים הגלובליים משלבים AI </a:t>
            </a: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ל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פחות בפונקציה אחת – נכון לתחילת 2026.</a:t>
            </a:r>
            <a:endParaRPr b="0" i="0" sz="1750" u="none" cap="none" strike="noStrike"/>
          </a:p>
        </p:txBody>
      </p:sp>
      <p:sp>
        <p:nvSpPr>
          <p:cNvPr id="205" name="Google Shape;205;p23"/>
          <p:cNvSpPr/>
          <p:nvPr/>
        </p:nvSpPr>
        <p:spPr>
          <a:xfrm>
            <a:off x="5235893" y="1963103"/>
            <a:ext cx="4158615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5850"/>
              <a:buFont typeface="Rubik"/>
              <a:buNone/>
            </a:pPr>
            <a:r>
              <a:rPr b="0" i="0" lang="en-US" sz="58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3.7x</a:t>
            </a:r>
            <a:endParaRPr b="0" i="0" sz="5850" u="none" cap="none" strike="noStrike"/>
          </a:p>
        </p:txBody>
      </p:sp>
      <p:sp>
        <p:nvSpPr>
          <p:cNvPr id="206" name="Google Shape;206;p23"/>
          <p:cNvSpPr/>
          <p:nvPr/>
        </p:nvSpPr>
        <p:spPr>
          <a:xfrm>
            <a:off x="5897642" y="299489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החזר השקעה</a:t>
            </a:r>
            <a:endParaRPr b="0" i="0" sz="2200" u="none" cap="none" strike="noStrike"/>
          </a:p>
        </p:txBody>
      </p:sp>
      <p:sp>
        <p:nvSpPr>
          <p:cNvPr id="207" name="Google Shape;207;p23"/>
          <p:cNvSpPr/>
          <p:nvPr/>
        </p:nvSpPr>
        <p:spPr>
          <a:xfrm>
            <a:off x="5235893" y="3485317"/>
            <a:ext cx="41586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על כל דולר שמושקע ב-GenAI, הארגון מקבל בממוצע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3.7 דולרים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חזרה.</a:t>
            </a:r>
            <a:endParaRPr b="0" i="0" sz="1750" u="none" cap="none" strike="noStrike"/>
          </a:p>
        </p:txBody>
      </p:sp>
      <p:sp>
        <p:nvSpPr>
          <p:cNvPr id="208" name="Google Shape;208;p23"/>
          <p:cNvSpPr/>
          <p:nvPr/>
        </p:nvSpPr>
        <p:spPr>
          <a:xfrm>
            <a:off x="793790" y="1963103"/>
            <a:ext cx="4158615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5850"/>
              <a:buFont typeface="Rubik"/>
              <a:buNone/>
            </a:pPr>
            <a:r>
              <a:rPr b="0" i="0" lang="en-US" sz="58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99%</a:t>
            </a:r>
            <a:endParaRPr b="0" i="0" sz="5850" u="none" cap="none" strike="noStrike"/>
          </a:p>
        </p:txBody>
      </p:sp>
      <p:sp>
        <p:nvSpPr>
          <p:cNvPr id="209" name="Google Shape;209;p23"/>
          <p:cNvSpPr/>
          <p:nvPr/>
        </p:nvSpPr>
        <p:spPr>
          <a:xfrm>
            <a:off x="1455539" y="299489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Fortune 500</a:t>
            </a:r>
            <a:endParaRPr b="0" i="0" sz="2200" u="none" cap="none" strike="noStrike"/>
          </a:p>
        </p:txBody>
      </p:sp>
      <p:sp>
        <p:nvSpPr>
          <p:cNvPr id="210" name="Google Shape;210;p23"/>
          <p:cNvSpPr/>
          <p:nvPr/>
        </p:nvSpPr>
        <p:spPr>
          <a:xfrm>
            <a:off x="793790" y="3485317"/>
            <a:ext cx="41586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מחברות ה-Fortune 500 משתמשות ב-AI בתהליכי גיוס וניהול להוזלת עלויות ושיפור דיוק.</a:t>
            </a:r>
            <a:endParaRPr b="0" i="0" sz="1750" u="none" cap="none" strike="noStrike"/>
          </a:p>
        </p:txBody>
      </p:sp>
      <p:sp>
        <p:nvSpPr>
          <p:cNvPr id="211" name="Google Shape;211;p23"/>
          <p:cNvSpPr/>
          <p:nvPr/>
        </p:nvSpPr>
        <p:spPr>
          <a:xfrm>
            <a:off x="11001375" y="455128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דוגמאות מהשטח - </a:t>
            </a:r>
            <a:endParaRPr b="0" i="0" sz="2200" u="none" cap="none" strike="noStrike"/>
          </a:p>
        </p:txBody>
      </p:sp>
      <p:pic>
        <p:nvPicPr>
          <p:cNvPr descr="preencoded.png" id="212" name="Google Shape;2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5245775"/>
            <a:ext cx="914876" cy="9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/>
          <p:nvPr/>
        </p:nvSpPr>
        <p:spPr>
          <a:xfrm>
            <a:off x="1992154" y="524577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Amazon – חיזוי מלאי</a:t>
            </a:r>
            <a:endParaRPr b="0" i="0" sz="2200" u="none" cap="none" strike="noStrike"/>
          </a:p>
        </p:txBody>
      </p:sp>
      <p:sp>
        <p:nvSpPr>
          <p:cNvPr id="214" name="Google Shape;214;p23"/>
          <p:cNvSpPr/>
          <p:nvPr/>
        </p:nvSpPr>
        <p:spPr>
          <a:xfrm>
            <a:off x="1992154" y="5736193"/>
            <a:ext cx="296025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שולחת מוצרים למחסנים קרובים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לפני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שהלקוח לחץ "קנה" – וצמצמה משלוחים לשעות ספורות.</a:t>
            </a:r>
            <a:endParaRPr b="0" i="0" sz="1750" u="none" cap="none" strike="noStrike"/>
          </a:p>
        </p:txBody>
      </p:sp>
      <p:pic>
        <p:nvPicPr>
          <p:cNvPr descr="preencoded.png" id="215" name="Google Shape;21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5893" y="5245775"/>
            <a:ext cx="914876" cy="9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/>
          <p:nvPr/>
        </p:nvSpPr>
        <p:spPr>
          <a:xfrm>
            <a:off x="6434257" y="5245775"/>
            <a:ext cx="2960251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Coca-Cola – אופטימיזציית מדפים</a:t>
            </a:r>
            <a:endParaRPr b="0" i="0" sz="2200" u="none" cap="none" strike="noStrike"/>
          </a:p>
        </p:txBody>
      </p:sp>
      <p:sp>
        <p:nvSpPr>
          <p:cNvPr id="217" name="Google Shape;217;p23"/>
          <p:cNvSpPr/>
          <p:nvPr/>
        </p:nvSpPr>
        <p:spPr>
          <a:xfrm>
            <a:off x="6434257" y="6090523"/>
            <a:ext cx="296025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AI מנתח נתוני מכירות בזמן אמת במיליוני נקודות מכירה ברחבי העולם – ומעלה ישירות את המכירות.</a:t>
            </a:r>
            <a:endParaRPr b="0" i="0" sz="1750" u="none" cap="none" strike="noStrike"/>
          </a:p>
        </p:txBody>
      </p:sp>
      <p:pic>
        <p:nvPicPr>
          <p:cNvPr descr="preencoded.png" id="218" name="Google Shape;21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77995" y="5245775"/>
            <a:ext cx="914876" cy="9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/>
          <p:nvPr/>
        </p:nvSpPr>
        <p:spPr>
          <a:xfrm>
            <a:off x="10876359" y="5245775"/>
            <a:ext cx="286773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פיננסים – אישור הלוואות</a:t>
            </a:r>
            <a:endParaRPr b="0" i="0" sz="2200" u="none" cap="none" strike="noStrike"/>
          </a:p>
        </p:txBody>
      </p:sp>
      <p:sp>
        <p:nvSpPr>
          <p:cNvPr id="220" name="Google Shape;220;p23"/>
          <p:cNvSpPr/>
          <p:nvPr/>
        </p:nvSpPr>
        <p:spPr>
          <a:xfrm>
            <a:off x="10876359" y="5736193"/>
            <a:ext cx="296025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רוב חברות האשראי עברו מתהליך של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5 ימים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לאישור מבוסס AI של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5 דקות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– עם הפחתת סיכוני אשראי.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6" name="Google Shape;2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4"/>
          <p:cNvSpPr/>
          <p:nvPr/>
        </p:nvSpPr>
        <p:spPr>
          <a:xfrm>
            <a:off x="7464862" y="2358628"/>
            <a:ext cx="637174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בניית אסטרטגיית AI בארגון</a:t>
            </a:r>
            <a:endParaRPr b="0" i="0" sz="4450" u="none" cap="none" strike="noStrike"/>
          </a:p>
        </p:txBody>
      </p:sp>
      <p:pic>
        <p:nvPicPr>
          <p:cNvPr descr="preencoded.png" id="228" name="Google Shape;22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3407569"/>
            <a:ext cx="7556421" cy="1999417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/>
          <p:nvPr/>
        </p:nvSpPr>
        <p:spPr>
          <a:xfrm>
            <a:off x="12111449" y="4083611"/>
            <a:ext cx="1142192" cy="204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250"/>
              <a:buFont typeface="Rubik"/>
              <a:buNone/>
            </a:pPr>
            <a:r>
              <a:rPr b="0" i="0" lang="en-US" sz="12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זיהוי הזדמנויות</a:t>
            </a:r>
            <a:endParaRPr b="0" i="0" sz="1250" u="none" cap="none" strike="noStrike"/>
          </a:p>
        </p:txBody>
      </p:sp>
      <p:sp>
        <p:nvSpPr>
          <p:cNvPr id="230" name="Google Shape;230;p24"/>
          <p:cNvSpPr/>
          <p:nvPr/>
        </p:nvSpPr>
        <p:spPr>
          <a:xfrm>
            <a:off x="12111449" y="4346293"/>
            <a:ext cx="1142192" cy="327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מיפוי מקרים עסקיים בעלי ערך</a:t>
            </a:r>
            <a:endParaRPr b="0" i="0" sz="1000" u="none" cap="none" strike="noStrike"/>
          </a:p>
        </p:txBody>
      </p:sp>
      <p:sp>
        <p:nvSpPr>
          <p:cNvPr id="231" name="Google Shape;231;p24"/>
          <p:cNvSpPr/>
          <p:nvPr/>
        </p:nvSpPr>
        <p:spPr>
          <a:xfrm>
            <a:off x="10802582" y="4099972"/>
            <a:ext cx="1142191" cy="409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250"/>
              <a:buFont typeface="Rubik"/>
              <a:buNone/>
            </a:pPr>
            <a:r>
              <a:rPr b="0" i="0" lang="en-US" sz="12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הערכת סיכונים ואתיקה</a:t>
            </a:r>
            <a:endParaRPr b="0" i="0" sz="1250" u="none" cap="none" strike="noStrike"/>
          </a:p>
        </p:txBody>
      </p:sp>
      <p:sp>
        <p:nvSpPr>
          <p:cNvPr id="232" name="Google Shape;232;p24"/>
          <p:cNvSpPr/>
          <p:nvPr/>
        </p:nvSpPr>
        <p:spPr>
          <a:xfrm>
            <a:off x="10802582" y="4567164"/>
            <a:ext cx="1142191" cy="163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בחינת פרטיות והטיות</a:t>
            </a:r>
            <a:endParaRPr b="0" i="0" sz="1000" u="none" cap="none" strike="noStrike"/>
          </a:p>
        </p:txBody>
      </p:sp>
      <p:sp>
        <p:nvSpPr>
          <p:cNvPr id="233" name="Google Shape;233;p24"/>
          <p:cNvSpPr/>
          <p:nvPr/>
        </p:nvSpPr>
        <p:spPr>
          <a:xfrm>
            <a:off x="9493714" y="4083611"/>
            <a:ext cx="1142192" cy="409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250"/>
              <a:buFont typeface="Rubik"/>
              <a:buNone/>
            </a:pPr>
            <a:r>
              <a:rPr b="0" i="0" lang="en-US" sz="12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בחירת ספקים וכלים</a:t>
            </a:r>
            <a:endParaRPr b="0" i="0" sz="1250" u="none" cap="none" strike="noStrike"/>
          </a:p>
        </p:txBody>
      </p:sp>
      <p:sp>
        <p:nvSpPr>
          <p:cNvPr id="234" name="Google Shape;234;p24"/>
          <p:cNvSpPr/>
          <p:nvPr/>
        </p:nvSpPr>
        <p:spPr>
          <a:xfrm>
            <a:off x="9493714" y="4550804"/>
            <a:ext cx="1142192" cy="327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הערכת פלטפורמות וטכנולוגיות</a:t>
            </a:r>
            <a:endParaRPr b="0" i="0" sz="1000" u="none" cap="none" strike="noStrike"/>
          </a:p>
        </p:txBody>
      </p:sp>
      <p:sp>
        <p:nvSpPr>
          <p:cNvPr id="235" name="Google Shape;235;p24"/>
          <p:cNvSpPr/>
          <p:nvPr/>
        </p:nvSpPr>
        <p:spPr>
          <a:xfrm>
            <a:off x="8184846" y="3936363"/>
            <a:ext cx="1142193" cy="409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250"/>
              <a:buFont typeface="Rubik"/>
              <a:buNone/>
            </a:pPr>
            <a:r>
              <a:rPr b="0" i="0" lang="en-US" sz="12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תוכנית הדרכה לעובדים</a:t>
            </a:r>
            <a:endParaRPr b="0" i="0" sz="1250" u="none" cap="none" strike="noStrike"/>
          </a:p>
        </p:txBody>
      </p:sp>
      <p:sp>
        <p:nvSpPr>
          <p:cNvPr id="236" name="Google Shape;236;p24"/>
          <p:cNvSpPr/>
          <p:nvPr/>
        </p:nvSpPr>
        <p:spPr>
          <a:xfrm>
            <a:off x="8184846" y="4403556"/>
            <a:ext cx="1142193" cy="327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הקניית מיומנויות ושינוי תרבותי</a:t>
            </a:r>
            <a:endParaRPr b="0" i="0" sz="1000" u="none" cap="none" strike="noStrike"/>
          </a:p>
        </p:txBody>
      </p:sp>
      <p:sp>
        <p:nvSpPr>
          <p:cNvPr id="237" name="Google Shape;237;p24"/>
          <p:cNvSpPr/>
          <p:nvPr/>
        </p:nvSpPr>
        <p:spPr>
          <a:xfrm>
            <a:off x="6868707" y="4083611"/>
            <a:ext cx="1142192" cy="409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250"/>
              <a:buFont typeface="Rubik"/>
              <a:buNone/>
            </a:pPr>
            <a:r>
              <a:rPr b="0" i="0" lang="en-US" sz="12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מדידת ROI והטמעה</a:t>
            </a:r>
            <a:endParaRPr b="0" i="0" sz="1250" u="none" cap="none" strike="noStrike"/>
          </a:p>
        </p:txBody>
      </p:sp>
      <p:sp>
        <p:nvSpPr>
          <p:cNvPr id="238" name="Google Shape;238;p24"/>
          <p:cNvSpPr/>
          <p:nvPr/>
        </p:nvSpPr>
        <p:spPr>
          <a:xfrm>
            <a:off x="6868707" y="4550804"/>
            <a:ext cx="1142192" cy="327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מדדים, מעקב ושיפור מתמשך</a:t>
            </a:r>
            <a:endParaRPr b="0" i="0" sz="1000" u="none" cap="none" strike="noStrike"/>
          </a:p>
        </p:txBody>
      </p:sp>
      <p:sp>
        <p:nvSpPr>
          <p:cNvPr id="239" name="Google Shape;239;p24"/>
          <p:cNvSpPr/>
          <p:nvPr/>
        </p:nvSpPr>
        <p:spPr>
          <a:xfrm>
            <a:off x="6280190" y="5662136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בסיום הקורס תהיו מצוידים בכל הכלים לביצוע הערכה מלאה ובניית אסטרטגיה ייחודית לארגון שלכם.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"/>
          <p:cNvSpPr/>
          <p:nvPr/>
        </p:nvSpPr>
        <p:spPr>
          <a:xfrm>
            <a:off x="6666071" y="728305"/>
            <a:ext cx="717053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חסמים בדרך להטמעה מוצלחת</a:t>
            </a:r>
            <a:endParaRPr b="0" i="0" sz="4450" u="none" cap="none" strike="noStrike"/>
          </a:p>
        </p:txBody>
      </p:sp>
      <p:pic>
        <p:nvPicPr>
          <p:cNvPr descr="preencoded.png" id="246" name="Google Shape;24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849642"/>
            <a:ext cx="5428893" cy="2961203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5"/>
          <p:cNvSpPr/>
          <p:nvPr/>
        </p:nvSpPr>
        <p:spPr>
          <a:xfrm>
            <a:off x="10427375" y="2032397"/>
            <a:ext cx="3416737" cy="2184440"/>
          </a:xfrm>
          <a:prstGeom prst="roundRect">
            <a:avLst>
              <a:gd fmla="val 6698" name="adj"/>
            </a:avLst>
          </a:prstGeom>
          <a:solidFill>
            <a:srgbClr val="FFFFFF"/>
          </a:solidFill>
          <a:ln cap="flat" cmpd="sng" w="3047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5"/>
          <p:cNvSpPr/>
          <p:nvPr/>
        </p:nvSpPr>
        <p:spPr>
          <a:xfrm>
            <a:off x="13752671" y="2032397"/>
            <a:ext cx="121920" cy="2184440"/>
          </a:xfrm>
          <a:prstGeom prst="roundRect">
            <a:avLst>
              <a:gd fmla="val 78139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/>
          <p:nvPr/>
        </p:nvSpPr>
        <p:spPr>
          <a:xfrm>
            <a:off x="10684669" y="2289691"/>
            <a:ext cx="281070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😰</a:t>
            </a: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 פסיכולוגיה</a:t>
            </a:r>
            <a:endParaRPr b="0" i="0" sz="2200" u="none" cap="none" strike="noStrike"/>
          </a:p>
        </p:txBody>
      </p:sp>
      <p:sp>
        <p:nvSpPr>
          <p:cNvPr id="250" name="Google Shape;250;p25"/>
          <p:cNvSpPr/>
          <p:nvPr/>
        </p:nvSpPr>
        <p:spPr>
          <a:xfrm>
            <a:off x="10684669" y="2870835"/>
            <a:ext cx="2810708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התגברות על הפחד של עובדים מפני החלפה – ומיצוב ה-AI ככלי שמסייע, לא מחליף.</a:t>
            </a:r>
            <a:endParaRPr b="0" i="0" sz="1750" u="none" cap="none" strike="noStrike"/>
          </a:p>
        </p:txBody>
      </p:sp>
      <p:sp>
        <p:nvSpPr>
          <p:cNvPr id="251" name="Google Shape;251;p25"/>
          <p:cNvSpPr/>
          <p:nvPr/>
        </p:nvSpPr>
        <p:spPr>
          <a:xfrm>
            <a:off x="6783705" y="2032397"/>
            <a:ext cx="3416856" cy="2184440"/>
          </a:xfrm>
          <a:prstGeom prst="roundRect">
            <a:avLst>
              <a:gd fmla="val 6698" name="adj"/>
            </a:avLst>
          </a:prstGeom>
          <a:solidFill>
            <a:srgbClr val="FFFFFF"/>
          </a:solidFill>
          <a:ln cap="flat" cmpd="sng" w="3047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5"/>
          <p:cNvSpPr/>
          <p:nvPr/>
        </p:nvSpPr>
        <p:spPr>
          <a:xfrm>
            <a:off x="10109121" y="2032397"/>
            <a:ext cx="121920" cy="2184440"/>
          </a:xfrm>
          <a:prstGeom prst="roundRect">
            <a:avLst>
              <a:gd fmla="val 78139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7040999" y="2289691"/>
            <a:ext cx="281082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🔒</a:t>
            </a: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 אבטחה ופרטיות</a:t>
            </a:r>
            <a:endParaRPr b="0" i="0" sz="2200" u="none" cap="none" strike="noStrike"/>
          </a:p>
        </p:txBody>
      </p:sp>
      <p:sp>
        <p:nvSpPr>
          <p:cNvPr id="254" name="Google Shape;254;p25"/>
          <p:cNvSpPr/>
          <p:nvPr/>
        </p:nvSpPr>
        <p:spPr>
          <a:xfrm>
            <a:off x="7040999" y="2870835"/>
            <a:ext cx="281082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הבנת הרגולציה ושמירה על הנכסים הדיגיטליים של הארגון.</a:t>
            </a:r>
            <a:endParaRPr b="0" i="0" sz="1750" u="none" cap="none" strike="noStrike"/>
          </a:p>
        </p:txBody>
      </p:sp>
      <p:sp>
        <p:nvSpPr>
          <p:cNvPr id="255" name="Google Shape;255;p25"/>
          <p:cNvSpPr/>
          <p:nvPr/>
        </p:nvSpPr>
        <p:spPr>
          <a:xfrm>
            <a:off x="10427375" y="4443651"/>
            <a:ext cx="3416737" cy="2184440"/>
          </a:xfrm>
          <a:prstGeom prst="roundRect">
            <a:avLst>
              <a:gd fmla="val 6698" name="adj"/>
            </a:avLst>
          </a:prstGeom>
          <a:solidFill>
            <a:srgbClr val="FFFFFF"/>
          </a:solidFill>
          <a:ln cap="flat" cmpd="sng" w="3047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5"/>
          <p:cNvSpPr/>
          <p:nvPr/>
        </p:nvSpPr>
        <p:spPr>
          <a:xfrm>
            <a:off x="13752671" y="4443651"/>
            <a:ext cx="121920" cy="2184440"/>
          </a:xfrm>
          <a:prstGeom prst="roundRect">
            <a:avLst>
              <a:gd fmla="val 78139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5"/>
          <p:cNvSpPr/>
          <p:nvPr/>
        </p:nvSpPr>
        <p:spPr>
          <a:xfrm>
            <a:off x="10684669" y="4700945"/>
            <a:ext cx="281070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📚</a:t>
            </a: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 תרבות למידה</a:t>
            </a:r>
            <a:endParaRPr b="0" i="0" sz="2200" u="none" cap="none" strike="noStrike"/>
          </a:p>
        </p:txBody>
      </p:sp>
      <p:sp>
        <p:nvSpPr>
          <p:cNvPr id="258" name="Google Shape;258;p25"/>
          <p:cNvSpPr/>
          <p:nvPr/>
        </p:nvSpPr>
        <p:spPr>
          <a:xfrm>
            <a:off x="10684669" y="5282089"/>
            <a:ext cx="2810708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יצירת סביבה שמעודדת התנסות, ניסוי וטעייה ואימוץ טכנולוגיה חדשה.</a:t>
            </a:r>
            <a:endParaRPr b="0" i="0" sz="1750" u="none" cap="none" strike="noStrike"/>
          </a:p>
        </p:txBody>
      </p:sp>
      <p:sp>
        <p:nvSpPr>
          <p:cNvPr id="259" name="Google Shape;259;p25"/>
          <p:cNvSpPr/>
          <p:nvPr/>
        </p:nvSpPr>
        <p:spPr>
          <a:xfrm>
            <a:off x="6783705" y="4443651"/>
            <a:ext cx="3416856" cy="2184440"/>
          </a:xfrm>
          <a:prstGeom prst="roundRect">
            <a:avLst>
              <a:gd fmla="val 6698" name="adj"/>
            </a:avLst>
          </a:prstGeom>
          <a:solidFill>
            <a:srgbClr val="FFFFFF"/>
          </a:solidFill>
          <a:ln cap="flat" cmpd="sng" w="3047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5"/>
          <p:cNvSpPr/>
          <p:nvPr/>
        </p:nvSpPr>
        <p:spPr>
          <a:xfrm>
            <a:off x="10109121" y="4443651"/>
            <a:ext cx="121920" cy="2184440"/>
          </a:xfrm>
          <a:prstGeom prst="roundRect">
            <a:avLst>
              <a:gd fmla="val 78139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7040999" y="4700945"/>
            <a:ext cx="281082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⚖️</a:t>
            </a: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 אתיקה</a:t>
            </a:r>
            <a:endParaRPr b="0" i="0" sz="2200" u="none" cap="none" strike="noStrike"/>
          </a:p>
        </p:txBody>
      </p:sp>
      <p:sp>
        <p:nvSpPr>
          <p:cNvPr id="262" name="Google Shape;262;p25"/>
          <p:cNvSpPr/>
          <p:nvPr/>
        </p:nvSpPr>
        <p:spPr>
          <a:xfrm>
            <a:off x="7040999" y="5282089"/>
            <a:ext cx="2810828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עבודה אחראית עם AI – מניעת הטיות אלגוריתמיות ושמירה על ערכים ארגוניים.</a:t>
            </a:r>
            <a:endParaRPr b="0" i="0" sz="1750" u="none" cap="none" strike="noStrike"/>
          </a:p>
        </p:txBody>
      </p:sp>
      <p:sp>
        <p:nvSpPr>
          <p:cNvPr id="263" name="Google Shape;263;p25"/>
          <p:cNvSpPr/>
          <p:nvPr/>
        </p:nvSpPr>
        <p:spPr>
          <a:xfrm>
            <a:off x="793790" y="7138392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כמובן שלהכל נתייחס במהלך הקורס.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9" name="Google Shape;2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/>
          <p:nvPr/>
        </p:nvSpPr>
        <p:spPr>
          <a:xfrm>
            <a:off x="8086249" y="2257306"/>
            <a:ext cx="575036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סיכום – המנהל ההיברידי</a:t>
            </a:r>
            <a:endParaRPr b="0" i="0" sz="4450" u="none" cap="none" strike="noStrike"/>
          </a:p>
        </p:txBody>
      </p:sp>
      <p:sp>
        <p:nvSpPr>
          <p:cNvPr id="271" name="Google Shape;271;p26"/>
          <p:cNvSpPr/>
          <p:nvPr/>
        </p:nvSpPr>
        <p:spPr>
          <a:xfrm>
            <a:off x="6280190" y="3306247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ה-AI לא יחליף אתכם – אבל </a:t>
            </a:r>
            <a:r>
              <a:rPr b="1" i="0" lang="en-US" sz="1750" u="none" cap="none" strike="noStrike">
                <a:solidFill>
                  <a:srgbClr val="D75BE2"/>
                </a:solidFill>
                <a:latin typeface="Open Sans"/>
                <a:ea typeface="Open Sans"/>
                <a:cs typeface="Open Sans"/>
                <a:sym typeface="Open Sans"/>
              </a:rPr>
              <a:t>מי שמטמיע AI יחליף את מי שלא.</a:t>
            </a:r>
            <a:endParaRPr b="0" i="0" sz="1750" u="none" cap="none" strike="noStrike"/>
          </a:p>
        </p:txBody>
      </p:sp>
      <p:sp>
        <p:nvSpPr>
          <p:cNvPr id="272" name="Google Shape;272;p26"/>
          <p:cNvSpPr/>
          <p:nvPr/>
        </p:nvSpPr>
        <p:spPr>
          <a:xfrm>
            <a:off x="6280190" y="3924300"/>
            <a:ext cx="7556421" cy="2047994"/>
          </a:xfrm>
          <a:prstGeom prst="roundRect">
            <a:avLst>
              <a:gd fmla="val 4652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6"/>
          <p:cNvSpPr/>
          <p:nvPr/>
        </p:nvSpPr>
        <p:spPr>
          <a:xfrm>
            <a:off x="10058400" y="3931920"/>
            <a:ext cx="3770590" cy="2032754"/>
          </a:xfrm>
          <a:prstGeom prst="roundRect">
            <a:avLst>
              <a:gd fmla="val 4687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6"/>
          <p:cNvSpPr/>
          <p:nvPr/>
        </p:nvSpPr>
        <p:spPr>
          <a:xfrm>
            <a:off x="10766941" y="41587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🧠</a:t>
            </a: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 השילוב המנצח</a:t>
            </a:r>
            <a:endParaRPr b="0" i="0" sz="2200" u="none" cap="none" strike="noStrike"/>
          </a:p>
        </p:txBody>
      </p:sp>
      <p:sp>
        <p:nvSpPr>
          <p:cNvPr id="275" name="Google Shape;275;p26"/>
          <p:cNvSpPr/>
          <p:nvPr/>
        </p:nvSpPr>
        <p:spPr>
          <a:xfrm>
            <a:off x="10285214" y="4649153"/>
            <a:ext cx="331696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אינטליגנציה אנושית (אמפתיה, אסטרטגיה) + AI (מהירות, עיבוד נתונים) = יתרון בלתי עביר.</a:t>
            </a:r>
            <a:endParaRPr b="0" i="0" sz="1750" u="none" cap="none" strike="noStrike"/>
          </a:p>
        </p:txBody>
      </p:sp>
      <p:sp>
        <p:nvSpPr>
          <p:cNvPr id="276" name="Google Shape;276;p26"/>
          <p:cNvSpPr/>
          <p:nvPr/>
        </p:nvSpPr>
        <p:spPr>
          <a:xfrm>
            <a:off x="6287810" y="3931920"/>
            <a:ext cx="3770590" cy="2032754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6"/>
          <p:cNvSpPr/>
          <p:nvPr/>
        </p:nvSpPr>
        <p:spPr>
          <a:xfrm>
            <a:off x="6287810" y="3931920"/>
            <a:ext cx="30480" cy="2032754"/>
          </a:xfrm>
          <a:prstGeom prst="roundRect">
            <a:avLst>
              <a:gd fmla="val 312558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6"/>
          <p:cNvSpPr/>
          <p:nvPr/>
        </p:nvSpPr>
        <p:spPr>
          <a:xfrm>
            <a:off x="6996351" y="41587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🚀</a:t>
            </a: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כבר מהיום</a:t>
            </a:r>
            <a:endParaRPr b="0" i="0" sz="2200" u="none" cap="none" strike="noStrike"/>
          </a:p>
        </p:txBody>
      </p:sp>
      <p:sp>
        <p:nvSpPr>
          <p:cNvPr id="279" name="Google Shape;279;p26"/>
          <p:cNvSpPr/>
          <p:nvPr/>
        </p:nvSpPr>
        <p:spPr>
          <a:xfrm>
            <a:off x="6514624" y="4649153"/>
            <a:ext cx="331696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זהו את "נקודת הכאב" הראשונה בארגונכם – זו תהיה נקודת ההתחלה שלנו בקורס.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