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Inter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-bold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Inter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w-I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1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iw-IL" sz="1100">
                <a:latin typeface="Arial"/>
                <a:ea typeface="Arial"/>
                <a:cs typeface="Arial"/>
                <a:sym typeface="Arial"/>
              </a:rPr>
              <a:t>CTA (Call to Action)</a:t>
            </a:r>
            <a:r>
              <a:rPr lang="iw-IL" sz="1100">
                <a:latin typeface="Arial"/>
                <a:ea typeface="Arial"/>
                <a:cs typeface="Arial"/>
                <a:sym typeface="Arial"/>
              </a:rPr>
              <a:t> in a wireframe is simply the </a:t>
            </a:r>
            <a:r>
              <a:rPr b="1" lang="iw-IL" sz="1100">
                <a:latin typeface="Arial"/>
                <a:ea typeface="Arial"/>
                <a:cs typeface="Arial"/>
                <a:sym typeface="Arial"/>
              </a:rPr>
              <a:t>element that tells the user what to do next</a:t>
            </a:r>
            <a:r>
              <a:rPr lang="iw-IL" sz="1100">
                <a:latin typeface="Arial"/>
                <a:ea typeface="Arial"/>
                <a:cs typeface="Arial"/>
                <a:sym typeface="Arial"/>
              </a:rPr>
              <a:t> — usually a button, link, or prompt like </a:t>
            </a:r>
            <a:r>
              <a:rPr i="1" lang="iw-IL" sz="1100">
                <a:latin typeface="Arial"/>
                <a:ea typeface="Arial"/>
                <a:cs typeface="Arial"/>
                <a:sym typeface="Arial"/>
              </a:rPr>
              <a:t>“Sign up,” “Buy now,” “Get started,”</a:t>
            </a:r>
            <a:r>
              <a:rPr lang="iw-IL" sz="11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i="1" lang="iw-IL" sz="1100">
                <a:latin typeface="Arial"/>
                <a:ea typeface="Arial"/>
                <a:cs typeface="Arial"/>
                <a:sym typeface="Arial"/>
              </a:rPr>
              <a:t>“Request a demo.”</a:t>
            </a:r>
            <a:r>
              <a:rPr lang="iw-IL" sz="11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2" name="Google Shape;7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3925119" y="1550000"/>
            <a:ext cx="4722763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00"/>
              <a:buFont typeface="Inter"/>
              <a:buNone/>
            </a:pPr>
            <a:r>
              <a:rPr b="1" i="0" lang="iw-IL" sz="26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זרימות עבודה — User Flows ו-Wireframes מהירים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3696519" y="3400000"/>
            <a:ext cx="5180100" cy="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המדריך המלא למעבר מחשיבה מוצרית לקוד — בצורה חכמה, מהירה ומדויקת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3925119" y="1006450"/>
            <a:ext cx="4722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50"/>
              <a:buFont typeface="Inter"/>
              <a:buNone/>
            </a:pPr>
            <a:r>
              <a:rPr b="1" i="0" lang="iw-IL" sz="29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מחשיבה מוצרית לקוד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6357417" y="1662038"/>
            <a:ext cx="2290465" cy="1279996"/>
          </a:xfrm>
          <a:prstGeom prst="roundRect">
            <a:avLst>
              <a:gd fmla="val 4652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6503938" y="1808559"/>
            <a:ext cx="19974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iw-IL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🔗</a:t>
            </a:r>
            <a:r>
              <a:rPr b="1" i="0" lang="iw-IL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חיבור לקורס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6503938" y="2115071"/>
            <a:ext cx="1997422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עוד מיומנות לתכנון מוצר לפני פיתוח ב-Base44 בשביל תוצאות מקצועיות יותר.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3925119" y="1662038"/>
            <a:ext cx="2290539" cy="1279996"/>
          </a:xfrm>
          <a:prstGeom prst="roundRect">
            <a:avLst>
              <a:gd fmla="val 4652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4071640" y="1808559"/>
            <a:ext cx="199749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iw-IL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r>
              <a:rPr b="1" i="0" lang="iw-IL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חשיבות התכנון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4071640" y="2115071"/>
            <a:ext cx="1997497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מיפוי המסך והמסע מראש מונע בזבוז משאבים, זמן, פרומפטים וטוקנים יקרים.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3925119" y="3083793"/>
            <a:ext cx="4722763" cy="1053182"/>
          </a:xfrm>
          <a:prstGeom prst="roundRect">
            <a:avLst>
              <a:gd fmla="val 565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4071640" y="3230314"/>
            <a:ext cx="442972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iw-IL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r>
              <a:rPr b="1" i="0" lang="iw-IL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מטרות השיעור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4071640" y="3536826"/>
            <a:ext cx="4429720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הבנת מושגי היסוד — Wireframe, User Flow ו-Wireflow ויישומם בתהליך הפיתוח.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" name="Google Shape;4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74" y="759577"/>
            <a:ext cx="2876024" cy="431399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/>
          <p:nvPr/>
        </p:nvSpPr>
        <p:spPr>
          <a:xfrm>
            <a:off x="496119" y="4385444"/>
            <a:ext cx="308543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8012115" y="586595"/>
            <a:ext cx="582600" cy="215400"/>
          </a:xfrm>
          <a:prstGeom prst="roundRect">
            <a:avLst>
              <a:gd fmla="val 22119" name="adj"/>
            </a:avLst>
          </a:prstGeom>
          <a:noFill/>
          <a:ln cap="flat" cmpd="sng" w="9525">
            <a:solidFill>
              <a:srgbClr val="D75B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7697763" y="629085"/>
            <a:ext cx="869700" cy="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800"/>
              <a:buFont typeface="Inter"/>
              <a:buNone/>
            </a:pPr>
            <a:r>
              <a:rPr b="0" i="0" lang="iw-IL" sz="11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מושג יסוד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3218988" y="879941"/>
            <a:ext cx="5177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00"/>
              <a:buFont typeface="Inter"/>
              <a:buNone/>
            </a:pPr>
            <a:r>
              <a:rPr b="1" i="0" lang="iw-IL" sz="27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מהו Wireframe?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3475000" y="1443401"/>
            <a:ext cx="51777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ה-Wireframe הוא ה"שלד" השרטוטי של מסך בודד. רק המבנה, תוכן ומיקומים בלבד, ללא עיצוב צבעוני.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3474988" y="2327746"/>
            <a:ext cx="517758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300"/>
              <a:buFont typeface="Inter"/>
              <a:buNone/>
            </a:pPr>
            <a:r>
              <a:rPr b="1" i="0" lang="iw-IL" sz="16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ערך פיתוחי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3474988" y="2690961"/>
            <a:ext cx="5177582" cy="19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6700" wrap="square" tIns="0">
            <a:noAutofit/>
          </a:bodyPr>
          <a:lstStyle/>
          <a:p>
            <a:pPr indent="-232410" lvl="0" marL="21336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דיוק בפיתוח: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פירוט רכיבי הממשק, מיקומם ותפקידם מספק ל-AI הנחיות ברורות כבר בניסיון הראשון.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2410" lvl="0" marL="21336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אפיון רציף: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כשהמבנה ברור, אפשר להמשיך לתכנן את הפתרון בלי לעצור בכל שלב כדי לבנות.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2410" lvl="0" marL="21336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שפה משותפת: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מסמך עבודה שגם צוות המוצר, גם הפיתוח וגם כלי ה-AI יכולים לקרוא וליישם.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/>
          <p:nvPr/>
        </p:nvSpPr>
        <p:spPr>
          <a:xfrm>
            <a:off x="496119" y="643458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00"/>
              <a:buFont typeface="Inter"/>
              <a:buNone/>
            </a:pPr>
            <a:r>
              <a:rPr b="1" i="0" lang="iw-IL" sz="29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Low-Fi VS High-Fi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38919" y="1369963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לא כל Wireframe נולד שווה — יש שני שלבים עיקריים בתהליך: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496025" y="1756250"/>
            <a:ext cx="4005000" cy="2570400"/>
          </a:xfrm>
          <a:prstGeom prst="roundRect">
            <a:avLst>
              <a:gd fmla="val 2951" name="adj"/>
            </a:avLst>
          </a:prstGeom>
          <a:solidFill>
            <a:srgbClr val="FFFFFF"/>
          </a:solidFill>
          <a:ln cap="flat" cmpd="sng" w="19050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656927" y="1917055"/>
            <a:ext cx="368334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iw-IL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🖥️</a:t>
            </a:r>
            <a:r>
              <a:rPr b="1" i="0" lang="iw-IL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High-Fidelity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656927" y="2223567"/>
            <a:ext cx="3683347" cy="1389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דגמים מפורטים הקרובים לעיצוב הסופי.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מה כולל: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תוכן אמיתי, אינטראקציות, היררכיה חזותית מוגדרת.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מטרה: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לספק ל-AI הנחיות מדויקות לפני הפיתוח.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מתי להשתמש: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לאחר שהמבנה אושר — כשמוכנים להתחיל לפתח. אידאלי לתוצאות מדויקות.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4642842" y="1756246"/>
            <a:ext cx="4005039" cy="2570400"/>
          </a:xfrm>
          <a:prstGeom prst="roundRect">
            <a:avLst>
              <a:gd fmla="val 2951" name="adj"/>
            </a:avLst>
          </a:prstGeom>
          <a:solidFill>
            <a:srgbClr val="FFFFFF"/>
          </a:solidFill>
          <a:ln cap="flat" cmpd="sng" w="19050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4803651" y="1917055"/>
            <a:ext cx="36834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iw-IL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✏️</a:t>
            </a:r>
            <a:r>
              <a:rPr b="1" i="0" lang="iw-IL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Low-Fidelity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4803651" y="2223567"/>
            <a:ext cx="3683422" cy="1389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שרבוטים מהירים על נייר או כלי דיגיטלי פשוט.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מה כולל: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תיבות, חצים, טקסט-מקום בלבד.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מטרה: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חקירת מבנה ורעיונות בלבד.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מתי להשתמש: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בתחילת הפרויקט, לפני שיודעים בדיוק מה רוצים. מושלם לסיעור מוחות ולקבלת פידבק מהיר.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496044" y="4443406"/>
            <a:ext cx="8151900" cy="567000"/>
          </a:xfrm>
          <a:prstGeom prst="roundRect">
            <a:avLst>
              <a:gd fmla="val 10502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877" y="4133850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/>
          <p:nvPr/>
        </p:nvSpPr>
        <p:spPr>
          <a:xfrm>
            <a:off x="499541" y="4620586"/>
            <a:ext cx="80064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iw-IL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💡 </a:t>
            </a:r>
            <a:r>
              <a:rPr b="1" i="0" lang="iw-IL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המלצה:</a:t>
            </a:r>
            <a:r>
              <a:rPr b="0" i="0" lang="iw-IL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תמיד התחילו Low-Fi — זה מאפשר לשנות כיוון במהירות ובזול, לפני שמשקיעים בפרטים שיכולים להשתנות.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496119" y="464195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00"/>
              <a:buFont typeface="Inter"/>
              <a:buNone/>
            </a:pPr>
            <a:r>
              <a:rPr b="1" i="0" lang="iw-IL" sz="29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איך בונים Wireframe יעיל?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496119" y="1190699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בניית Wireframe נכונה מתחילה בהבנת מטרת המסך, ממשיכה בסידור האלמנטים הבסיסיים וממיינת אותם לפי חשיבות — מראש המסך ועד כפתורי הפעולה (CTA).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698" y="1803800"/>
            <a:ext cx="7791174" cy="342006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/>
          <p:nvPr/>
        </p:nvSpPr>
        <p:spPr>
          <a:xfrm>
            <a:off x="6107392" y="4144810"/>
            <a:ext cx="9939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900"/>
              <a:buFont typeface="Inter"/>
              <a:buNone/>
            </a:pPr>
            <a:r>
              <a:rPr b="1" i="0" lang="iw-IL" sz="12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הגדרת מטרה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6202642" y="4655133"/>
            <a:ext cx="993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b="0" i="0" lang="iw-IL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גבולות המסך ומטרת המסך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2328204" y="4144792"/>
            <a:ext cx="9939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850"/>
              <a:buFont typeface="Inter"/>
              <a:buNone/>
            </a:pPr>
            <a:r>
              <a:rPr b="1" i="0" lang="iw-IL" sz="11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היררכיה ויזואלית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2328204" y="4556414"/>
            <a:ext cx="993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b="0" i="0" lang="iw-IL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סידור לפי חשיבות ו-CTA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4255294" y="2079279"/>
            <a:ext cx="9939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900"/>
              <a:buFont typeface="Inter"/>
              <a:buNone/>
            </a:pPr>
            <a:r>
              <a:rPr b="1" i="0" lang="iw-IL" sz="12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אלמנטים בסיסיים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4255300" y="2598045"/>
            <a:ext cx="9939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b="0" i="0" lang="iw-IL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מלבנים, איקסים ו-Placeholder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/>
          <p:nvPr/>
        </p:nvSpPr>
        <p:spPr>
          <a:xfrm>
            <a:off x="3391495" y="1088812"/>
            <a:ext cx="582600" cy="215400"/>
          </a:xfrm>
          <a:prstGeom prst="roundRect">
            <a:avLst>
              <a:gd fmla="val 22119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9" name="Google Shape;89;p9"/>
          <p:cNvSpPr/>
          <p:nvPr/>
        </p:nvSpPr>
        <p:spPr>
          <a:xfrm>
            <a:off x="3048247" y="1131302"/>
            <a:ext cx="869700" cy="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iw-IL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מושג יסוד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496119" y="1360870"/>
            <a:ext cx="3477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00"/>
              <a:buFont typeface="Inter"/>
              <a:buNone/>
            </a:pPr>
            <a:r>
              <a:rPr b="1" i="0" lang="iw-IL" sz="29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מהו User Flow?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278649" y="1903050"/>
            <a:ext cx="36954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מיפוי המסלול המלא שהמשתמש עובר — מהכניסה למערכת ועד להשגת המטרה. זיהוי הזרם מאפשר לגלות פערים לפני שכותבים שורת קוד אחת.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278650" y="3070209"/>
            <a:ext cx="3695400" cy="15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6700" wrap="square" tIns="0">
            <a:noAutofit/>
          </a:bodyPr>
          <a:lstStyle/>
          <a:p>
            <a:pPr indent="-232410" lvl="0" marL="21336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מרכיבי הזרם: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מסכים, פעולות משתמש (קליקים/הזנות) ונקודות החלטה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2410" lvl="0" marL="21336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זיהוי פערים: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גילוי מסכים חסרים וסירבול בניווט מוקדם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2410" lvl="0" marL="21336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מניעת מבוי סתום: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כל נתיב חייב להוביל לפתרון ברור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3163" y="1304200"/>
            <a:ext cx="4828835" cy="26756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" name="Google Shape;94;p9"/>
          <p:cNvSpPr/>
          <p:nvPr/>
        </p:nvSpPr>
        <p:spPr>
          <a:xfrm>
            <a:off x="3867596" y="3752999"/>
            <a:ext cx="478497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/>
          <p:nvPr/>
        </p:nvSpPr>
        <p:spPr>
          <a:xfrm>
            <a:off x="496119" y="431750"/>
            <a:ext cx="8151763" cy="429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550"/>
              <a:buFont typeface="Inter"/>
              <a:buNone/>
            </a:pPr>
            <a:r>
              <a:rPr b="1" i="0" lang="iw-IL" sz="27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איך מעצבים User Flow נכון?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0652" y="1090400"/>
            <a:ext cx="2717229" cy="54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0"/>
          <p:cNvSpPr/>
          <p:nvPr/>
        </p:nvSpPr>
        <p:spPr>
          <a:xfrm>
            <a:off x="6067946" y="1772702"/>
            <a:ext cx="24426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iw-IL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נקודת התחלה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6067946" y="2067010"/>
            <a:ext cx="24426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טריגר ברור — לחיצה על הרשמה, כניסה לאתר, או כל פעולה מפורשת של המשתמש.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" name="Google Shape;10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3422" y="1090400"/>
            <a:ext cx="2717229" cy="54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0"/>
          <p:cNvSpPr/>
          <p:nvPr/>
        </p:nvSpPr>
        <p:spPr>
          <a:xfrm>
            <a:off x="3350716" y="1772702"/>
            <a:ext cx="24426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iw-IL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מיפוי שלבים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3350716" y="2067010"/>
            <a:ext cx="24426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מלבן לפעולה, מעוין לתנאי/החלטה — שימוש בצורות סטנדרטיות לוודאות ובהירות.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93" y="1090400"/>
            <a:ext cx="2717229" cy="54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0"/>
          <p:cNvSpPr/>
          <p:nvPr/>
        </p:nvSpPr>
        <p:spPr>
          <a:xfrm>
            <a:off x="633487" y="1772702"/>
            <a:ext cx="24426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iw-IL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בדיקת רציפות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33487" y="2067010"/>
            <a:ext cx="24426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כל תרחיש — כולל שגיאות וקצוות פתוחים — חייב להוביל לפתרון ברור ומוגדר.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96125" y="3050000"/>
            <a:ext cx="8376300" cy="1750000"/>
          </a:xfrm>
          <a:prstGeom prst="roundRect">
            <a:avLst>
              <a:gd fmla="val 3054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163" y="3605424"/>
            <a:ext cx="171599" cy="13729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0"/>
          <p:cNvSpPr/>
          <p:nvPr/>
        </p:nvSpPr>
        <p:spPr>
          <a:xfrm>
            <a:off x="496225" y="3200000"/>
            <a:ext cx="8151900" cy="1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4925" wrap="square" tIns="0">
            <a:noAutofit/>
          </a:bodyPr>
          <a:lstStyle/>
          <a:p>
            <a:pPr indent="-215900" lvl="0" marL="203200" marR="0" rtl="1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iw-IL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מטרת המשתמש:</a:t>
            </a:r>
            <a:r>
              <a:rPr b="0" i="0" lang="iw-IL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הגדירו מה הוא רוצה להשיג ותכננו את הזרימה סביב המטרה.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3200" marR="0" rtl="1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iw-IL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שמות ברורים:</a:t>
            </a:r>
            <a:r>
              <a:rPr b="0" i="0" lang="iw-IL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תנו לכל זרימה שם כמו "הרשמה חדשה" או "שכחתי סיסמה".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215900" lvl="0" marL="203200" marR="0" rtl="1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iw-IL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שגיאות וקצוות:</a:t>
            </a:r>
            <a:r>
              <a:rPr b="0" i="0" lang="iw-IL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מפו שדה שגוי, ביטול באמצע ושגיאת מערכת, עם דרך המשך ברורה.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3200" marR="0" rtl="1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iw-IL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פשטות:</a:t>
            </a:r>
            <a:r>
              <a:rPr b="0" i="0" lang="iw-IL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זרימה עם יותר מ-5–6 שלבים אפשר לפצל לתת-זרימות ממוקדות.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8" name="Google Shape;1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1"/>
          <p:cNvSpPr/>
          <p:nvPr/>
        </p:nvSpPr>
        <p:spPr>
          <a:xfrm>
            <a:off x="3925119" y="701948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00"/>
              <a:buFont typeface="Inter"/>
              <a:buNone/>
            </a:pPr>
            <a:r>
              <a:rPr b="1" i="0" lang="iw-IL" sz="29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ה-Wireflow: החיבור שבין המסך למסע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8065219" y="1800523"/>
            <a:ext cx="582662" cy="215354"/>
          </a:xfrm>
          <a:prstGeom prst="roundRect">
            <a:avLst>
              <a:gd fmla="val 22119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1" name="Google Shape;121;p11"/>
          <p:cNvSpPr/>
          <p:nvPr/>
        </p:nvSpPr>
        <p:spPr>
          <a:xfrm>
            <a:off x="7938692" y="1843013"/>
            <a:ext cx="869700" cy="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iw-IL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מושג יסוד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3925119" y="2201521"/>
            <a:ext cx="21885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300"/>
              <a:buFont typeface="Inter"/>
              <a:buNone/>
            </a:pPr>
            <a:r>
              <a:rPr b="1" i="0" lang="iw-IL" sz="16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מה זה Wireflow?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3925119" y="2564736"/>
            <a:ext cx="21885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שילוב של Wireframe עם Flowchart</a:t>
            </a:r>
            <a:r>
              <a:rPr lang="iw-IL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 במילים פשוטות - מה מתחבר למה ואיך.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6464201" y="2201521"/>
            <a:ext cx="21885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300"/>
              <a:buFont typeface="Inter"/>
              <a:buNone/>
            </a:pPr>
            <a:r>
              <a:rPr b="1" i="0" lang="iw-IL" sz="16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מתי משתמשים?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6464201" y="2564736"/>
            <a:ext cx="21885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בתהליכים מרובי שלבים ודינמיים: הרשמה, רכישה, ניהול משימות — כל זרימה שחוצה מסכים מרובים.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3925119" y="3647777"/>
            <a:ext cx="4722763" cy="793775"/>
          </a:xfrm>
          <a:prstGeom prst="roundRect">
            <a:avLst>
              <a:gd fmla="val 7501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descr="preencoded.png" id="127" name="Google Shape;12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6877" y="3848546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/>
          <p:nvPr/>
        </p:nvSpPr>
        <p:spPr>
          <a:xfrm>
            <a:off x="4385816" y="3824957"/>
            <a:ext cx="412030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היתרון המרכזי: ראייה כוללת של חווית המשתמש לצד הבנת המבנה הפיזי של כל מסך בנפרד.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/>
          <p:nvPr/>
        </p:nvSpPr>
        <p:spPr>
          <a:xfrm>
            <a:off x="496119" y="495151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00"/>
              <a:buFont typeface="Inter"/>
              <a:buNone/>
            </a:pPr>
            <a:r>
              <a:rPr b="1" i="0" lang="iw-IL" sz="29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איך יוצרים Wireflow בפועל?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38919" y="1106072"/>
            <a:ext cx="86091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כל שלב ב-Wireflow מוסיף שכבת בהירות נפרדת — יחד הם בונים תמונה מלאה של המוצר עוד לפני שנכתבה שורת קוד אחת.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4449" y="-202273"/>
            <a:ext cx="6935049" cy="611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2"/>
          <p:cNvSpPr/>
          <p:nvPr/>
        </p:nvSpPr>
        <p:spPr>
          <a:xfrm>
            <a:off x="7712994" y="2377424"/>
            <a:ext cx="12276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שרטוט בסיסי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2"/>
          <p:cNvSpPr/>
          <p:nvPr/>
        </p:nvSpPr>
        <p:spPr>
          <a:xfrm>
            <a:off x="7669350" y="2741588"/>
            <a:ext cx="13149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הסקיצה הגסה מגדירה את השלד: מה קיים בכל מסך, היכן ממוקמים האלמנטים, ומה המשתמש יכול לעשות.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2"/>
          <p:cNvSpPr/>
          <p:nvPr/>
        </p:nvSpPr>
        <p:spPr>
          <a:xfrm>
            <a:off x="3300000" y="3914479"/>
            <a:ext cx="25400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חיבור מסכים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/>
          <p:nvPr/>
        </p:nvSpPr>
        <p:spPr>
          <a:xfrm>
            <a:off x="3300000" y="4169351"/>
            <a:ext cx="254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חצים בין המסכים מתארים את הניווט: מה קורה אחרי לחיצה, הצלחה או שגיאה, ומהו היעד הבא.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337774" y="2339687"/>
            <a:ext cx="12276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הערות ותנאים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294125" y="2608966"/>
            <a:ext cx="1314900" cy="14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הוספת הערות לזרימה מתעדת את הלוגיקה העסקית: "אם המשתמש לא מחובר ← הפנייה להתחברות", "אם התשלום נכשל ← הצג מסך ניסיון חוזר".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/>
          <p:nvPr/>
        </p:nvSpPr>
        <p:spPr>
          <a:xfrm>
            <a:off x="5021535" y="978510"/>
            <a:ext cx="652200" cy="215400"/>
          </a:xfrm>
          <a:prstGeom prst="roundRect">
            <a:avLst>
              <a:gd fmla="val 22119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9" name="Google Shape;149;p13"/>
          <p:cNvSpPr/>
          <p:nvPr/>
        </p:nvSpPr>
        <p:spPr>
          <a:xfrm>
            <a:off x="4707183" y="1021001"/>
            <a:ext cx="939300" cy="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iw-IL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יישום מעשי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496119" y="1250568"/>
            <a:ext cx="51777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00"/>
              <a:buFont typeface="Inter"/>
              <a:buNone/>
            </a:pPr>
            <a:r>
              <a:rPr b="1" i="0" lang="iw-IL" sz="29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מ-Wireflow לפרומפט מנצח ב-Base44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496119" y="2430096"/>
            <a:ext cx="51777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הפיכת דיאגרמת ה-Wireflow להוראות מובנות ומדויקות עבור ה-AI של Base44 כך מובטח פיתוח עקבי ומדויק.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496119" y="3177332"/>
            <a:ext cx="5177582" cy="779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700">
            <a:noAutofit/>
          </a:bodyPr>
          <a:lstStyle/>
          <a:p>
            <a:pPr indent="-232410" lvl="0" marL="21336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Layout: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הגדרת מבנה העמוד ואזורי התוכן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2410" lvl="0" marL="21336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Navigation: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הגדרת מסלולי המעבר בין המסכים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2410" lvl="0" marL="21336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Char char="•"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Components:</a:t>
            </a: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פירוט הרכיבים ומצביהם השונים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9851" y="1332500"/>
            <a:ext cx="2980924" cy="298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4"/>
          <p:cNvSpPr/>
          <p:nvPr/>
        </p:nvSpPr>
        <p:spPr>
          <a:xfrm>
            <a:off x="3925119" y="508322"/>
            <a:ext cx="4722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00"/>
              <a:buFont typeface="Inter"/>
              <a:buNone/>
            </a:pPr>
            <a:r>
              <a:rPr b="1" i="0" lang="iw-IL" sz="28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כלי עבודה ושיטות מהירות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149" y="1168301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4"/>
          <p:cNvSpPr/>
          <p:nvPr/>
        </p:nvSpPr>
        <p:spPr>
          <a:xfrm>
            <a:off x="3925119" y="1163910"/>
            <a:ext cx="426206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iw-IL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סקיצות ידניות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3925119" y="1470422"/>
            <a:ext cx="426206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שרבוט מהיר על נייר לפני הכל, אפשר אפילו לקחת דף עבור כל Wireframe ואז לחבר בינהם עם חוטים. הוזלת עלויות השינוי לאפס.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5" name="Google Shape;16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149" y="2211958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4"/>
          <p:cNvSpPr/>
          <p:nvPr/>
        </p:nvSpPr>
        <p:spPr>
          <a:xfrm>
            <a:off x="3925119" y="2207568"/>
            <a:ext cx="426206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iw-IL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הממשק לא משנה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3925119" y="2514079"/>
            <a:ext cx="4262065" cy="765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בין אם אתם עובדים עם כלי ייעודי ליצירת Wireframes ו-Wireflows או עם פאוורפוניט.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העיקר שהסרטוט יהיה ברור ויעביר את הרעיונות המרכזיים.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8" name="Google Shape;16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149" y="3567485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4"/>
          <p:cNvSpPr/>
          <p:nvPr/>
        </p:nvSpPr>
        <p:spPr>
          <a:xfrm>
            <a:off x="3925119" y="3563094"/>
            <a:ext cx="426206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iw-IL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Iterate Fast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3925119" y="3869606"/>
            <a:ext cx="4262065" cy="765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אל תפחדו לקבל החלטות או לזרוק החלטות לפח.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כל היופי בשיטה זה היכולת לתקן זרימה מוצרית תוך דקות, תרשו לעצמכם להתפרע.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/>
          <p:nvPr/>
        </p:nvSpPr>
        <p:spPr>
          <a:xfrm>
            <a:off x="496119" y="435769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00"/>
              <a:buFont typeface="Inter"/>
              <a:buNone/>
            </a:pPr>
            <a:r>
              <a:rPr b="1" i="0" lang="iw-IL" sz="29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סיכום וצעדי המשך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7289304" y="1162273"/>
            <a:ext cx="1358578" cy="816843"/>
          </a:xfrm>
          <a:prstGeom prst="roundRect">
            <a:avLst>
              <a:gd fmla="val 728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"/>
          <p:cNvSpPr/>
          <p:nvPr/>
        </p:nvSpPr>
        <p:spPr>
          <a:xfrm>
            <a:off x="7868915" y="1446088"/>
            <a:ext cx="199355" cy="24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1" i="0" lang="iw-IL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637877" y="1304032"/>
            <a:ext cx="650966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iw-IL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חשיבה מוצרית תחילה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637877" y="1610544"/>
            <a:ext cx="6509668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Wireframe + User Flow = Wireflow — הבסיס לכל פיתוח חזק ועקבי.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566961" y="1969591"/>
            <a:ext cx="6651501" cy="9525"/>
          </a:xfrm>
          <a:prstGeom prst="roundRect">
            <a:avLst>
              <a:gd fmla="val 5000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5"/>
          <p:cNvSpPr/>
          <p:nvPr/>
        </p:nvSpPr>
        <p:spPr>
          <a:xfrm>
            <a:off x="5930652" y="2049959"/>
            <a:ext cx="2717229" cy="816843"/>
          </a:xfrm>
          <a:prstGeom prst="roundRect">
            <a:avLst>
              <a:gd fmla="val 728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7189589" y="2333774"/>
            <a:ext cx="199355" cy="24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1" i="0" lang="iw-IL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637877" y="2191717"/>
            <a:ext cx="515101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iw-IL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מעבר להדגמה חיה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637877" y="2498229"/>
            <a:ext cx="5151016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מתרחיש משתמש אמיתי — ל-Wireflow מלא ומוכן לפרומפטינג.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566961" y="2857277"/>
            <a:ext cx="5292849" cy="9525"/>
          </a:xfrm>
          <a:prstGeom prst="roundRect">
            <a:avLst>
              <a:gd fmla="val 5000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4572000" y="2937644"/>
            <a:ext cx="4075881" cy="1043657"/>
          </a:xfrm>
          <a:prstGeom prst="roundRect">
            <a:avLst>
              <a:gd fmla="val 5705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"/>
          <p:cNvSpPr/>
          <p:nvPr/>
        </p:nvSpPr>
        <p:spPr>
          <a:xfrm>
            <a:off x="6510263" y="3334866"/>
            <a:ext cx="199355" cy="24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Inter"/>
              <a:buNone/>
            </a:pPr>
            <a:r>
              <a:rPr b="1" i="0" lang="iw-IL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637877" y="3079403"/>
            <a:ext cx="3792364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iw-IL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תרגול עצמאי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637877" y="3385914"/>
            <a:ext cx="379236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ניתוח תהליך מוצרי אחד ובניית הזרימה המלאה שלו — לקראת יישום מעשי ב-Base44.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496119" y="4140771"/>
            <a:ext cx="8151763" cy="566961"/>
          </a:xfrm>
          <a:prstGeom prst="roundRect">
            <a:avLst>
              <a:gd fmla="val 10502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877" y="4341540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5"/>
          <p:cNvSpPr/>
          <p:nvPr/>
        </p:nvSpPr>
        <p:spPr>
          <a:xfrm>
            <a:off x="499616" y="4317950"/>
            <a:ext cx="8006507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iw-IL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זכרו: תכנון טוב לפני הקידוד חוסך שעות של עבודה ועשרות פרומפטים מיותרים.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