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Inter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iw-IL" sz="1100">
                <a:latin typeface="Arial"/>
                <a:ea typeface="Arial"/>
                <a:cs typeface="Arial"/>
                <a:sym typeface="Arial"/>
              </a:rPr>
              <a:t>CTA (Call to Action)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in a wireframe is simply the </a:t>
            </a:r>
            <a:r>
              <a:rPr b="1" lang="iw-IL" sz="1100">
                <a:latin typeface="Arial"/>
                <a:ea typeface="Arial"/>
                <a:cs typeface="Arial"/>
                <a:sym typeface="Arial"/>
              </a:rPr>
              <a:t>element that tells the user what to do next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— usually a button, link, or prompt like </a:t>
            </a:r>
            <a:r>
              <a:rPr i="1" lang="iw-IL" sz="1100">
                <a:latin typeface="Arial"/>
                <a:ea typeface="Arial"/>
                <a:cs typeface="Arial"/>
                <a:sym typeface="Arial"/>
              </a:rPr>
              <a:t>“Sign up,” “Buy now,” “Get started,”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i="1" lang="iw-IL" sz="1100">
                <a:latin typeface="Arial"/>
                <a:ea typeface="Arial"/>
                <a:cs typeface="Arial"/>
                <a:sym typeface="Arial"/>
              </a:rPr>
              <a:t>“Request a demo.”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זרימות עבודה — User Flows ו-Wireframes מהירים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696519" y="3007593"/>
            <a:ext cx="5180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המדריך המלא למעבר מחשיבה מוצרית לקוד — בצורה חכמה, מהירה ומדויקת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3925119" y="1006450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מחשיבה מוצרית לקוד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6357417" y="1662038"/>
            <a:ext cx="2290465" cy="1279996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6503938" y="1808559"/>
            <a:ext cx="1997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חיבור לקורס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503938" y="2115071"/>
            <a:ext cx="19974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עוד מיומנות לתכנון מוצר לפני פיתוח ב-Base44 בשביל תוצאות מקצועיות יותר.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3925119" y="1662038"/>
            <a:ext cx="2290539" cy="1279996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4071640" y="1808559"/>
            <a:ext cx="19974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חשיבות התכנון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071640" y="2115071"/>
            <a:ext cx="199749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מיפוי המסך והמסע מראש מונע בזבוז משאבים, זמן, פרומפטים וטוקנים יקרים.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925119" y="3083793"/>
            <a:ext cx="4722763" cy="105318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071640" y="3230314"/>
            <a:ext cx="442972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מטרות השיעור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071640" y="3536826"/>
            <a:ext cx="442972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הבנת מושגי היסוד — Wireframe, User Flow ו-Wireflow ויישומם בתהליך הפיתוח.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74" y="759577"/>
            <a:ext cx="2876024" cy="431399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496119" y="4385444"/>
            <a:ext cx="308543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012115" y="586595"/>
            <a:ext cx="582600" cy="215400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D75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7697763" y="629085"/>
            <a:ext cx="8697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מושג יסוד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3218988" y="879941"/>
            <a:ext cx="5177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7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מהו Wireframe ולמה הוא חיוני?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475000" y="1443401"/>
            <a:ext cx="51777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ה-Wireframe הוא ה"שלד" השרטוטי של מסך בודד. רק המבנה, תוכן ומיקומים בלבד, ללא עיצוב צבעוני.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474988" y="2327746"/>
            <a:ext cx="517758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ערך פיתוחי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474988" y="2690961"/>
            <a:ext cx="5177582" cy="1686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6700" wrap="square" tIns="0">
            <a:noAutofit/>
          </a:bodyPr>
          <a:lstStyle/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יותר דיוק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ה-AI יודע בדיוק אילו רכיבי UI קיימים בכל מסך, היכן הם ממוקמים ומה תפקידם. במקום "בנה לי מסך התחברות", ה-Wireframe אומר לו בדיוק מה לעשות והתוצאה מדויקת כבר בניסיון הראשון.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הליך אפיון חלק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כאשר החזון ברור ניתן להמשיך לדמיין ולאפיין את הפתרון שלנו בלי לעצור כל רגע כדי לבנות.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שפה משותפת בין מוצר לפיתוח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ה-Wireframe הופך רעיון מופשט למסמך עבודה מובנה שגם אתם, גם ה-AI וגם כל שותף עתידי יכולים לקרוא ולפעול לפיו.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496119" y="64345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Low-Fi VS High-Fi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38919" y="1369963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לא כל Wireframe נולד שווה — יש שני שלבים עיקריים בתהליך: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496025" y="1756250"/>
            <a:ext cx="4005000" cy="25704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 cap="flat" cmpd="sng" w="190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656927" y="1917055"/>
            <a:ext cx="36833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🖥️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High-Fidelity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56927" y="2223567"/>
            <a:ext cx="3683347" cy="13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דגמים מפורטים הקרובים לעיצוב הסופי.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מה כולל: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תוכן אמיתי, אינטראקציות, היררכיה חזותית מוגדרת.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מטרה: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לספק ל-AI הנחיות מדויקות לפני הפיתוח.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מתי להשתמש: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לאחר שהמבנה אושר — כשמוכנים להתחיל לפתח. אידאלי לתוצאות מדויקות.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642842" y="1756246"/>
            <a:ext cx="4005039" cy="2017365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 cap="flat" cmpd="sng" w="190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4803651" y="1917055"/>
            <a:ext cx="3683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✏️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Low-Fidelity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803651" y="2223567"/>
            <a:ext cx="3683422" cy="13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שרבוטים מהירים על נייר או כלי דיגיטלי פשוט.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מה כולל: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תיבות, חצים, טקסט-מקום בלבד.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מטרה: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חקירת מבנה ורעיונות בלבד.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מתי להשתמש: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בתחילת הפרויקט, לפני שיודעים בדיוק מה רוצים. מושלם לסיעור מוחות ולקבלת פידבק מהיר.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96044" y="4443406"/>
            <a:ext cx="8151900" cy="567000"/>
          </a:xfrm>
          <a:prstGeom prst="roundRect">
            <a:avLst>
              <a:gd fmla="val 1050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13385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499541" y="4620586"/>
            <a:ext cx="8006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iw-IL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💡 </a:t>
            </a:r>
            <a:r>
              <a:rPr b="1" i="0" lang="iw-IL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המלצה:</a:t>
            </a:r>
            <a:r>
              <a:rPr b="0" i="0" lang="iw-IL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תמיד התחילו Low-Fi — זה מאפשר לשנות כיוון במהירות ובזול, לפני שמשקיעים בפרטים שיכולים להשתנות.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496119" y="46419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איך בונים Wireframe יעיל?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96119" y="1190699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בניית Wireframe נכונה מתחילה בהבנת מטרת המסך, ממשיכה בסידור האלמנטים הבסיסיים וממיינת אותם לפי חשיבות — מראש המסך ועד כפתורי הפעולה (CTA).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698" y="1803800"/>
            <a:ext cx="7791174" cy="34200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6107392" y="4144810"/>
            <a:ext cx="9939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900"/>
              <a:buFont typeface="Inter"/>
              <a:buNone/>
            </a:pPr>
            <a:r>
              <a:rPr b="1" i="0" lang="iw-IL" sz="12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הגדרת מטרה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6202642" y="4655133"/>
            <a:ext cx="99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גבולות המסך ומטרת המסך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328204" y="4144792"/>
            <a:ext cx="9939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850"/>
              <a:buFont typeface="Inter"/>
              <a:buNone/>
            </a:pPr>
            <a:r>
              <a:rPr b="1" i="0" lang="iw-IL" sz="11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היררכיה ויזואלית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2328204" y="4556414"/>
            <a:ext cx="99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סידור לפי חשיבות ו-CTA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4255294" y="2079279"/>
            <a:ext cx="9939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900"/>
              <a:buFont typeface="Inter"/>
              <a:buNone/>
            </a:pPr>
            <a:r>
              <a:rPr b="1" i="0" lang="iw-IL" sz="12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אלמנטים בסיסיים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4255300" y="2598045"/>
            <a:ext cx="9939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מלבנים, איקסים ו-Placeholder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3391495" y="1088812"/>
            <a:ext cx="582600" cy="215400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" name="Google Shape;89;p9"/>
          <p:cNvSpPr/>
          <p:nvPr/>
        </p:nvSpPr>
        <p:spPr>
          <a:xfrm>
            <a:off x="3048247" y="1131302"/>
            <a:ext cx="8697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מושג יסוד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96119" y="1360870"/>
            <a:ext cx="3477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מהו User Flow?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78649" y="1903050"/>
            <a:ext cx="3695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מיפוי המסלול המלא שהמשתמש עובר — מהכניסה למערכת ועד להשגת המטרה. זיהוי הזרם מאפשר לגלות פערים לפני שכותבים שורת קוד אחת.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78650" y="3070209"/>
            <a:ext cx="36954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6700" wrap="square" tIns="0">
            <a:noAutofit/>
          </a:bodyPr>
          <a:lstStyle/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מרכיבי הזרם: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מסכים, פעולות משתמש (קליקים/הזנות) ונקודות החלטה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זיהוי פערים: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גילוי מסכים חסרים וסירבול בניווט מוקדם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מניעת מבוי סתום: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כל נתיב חייב להוביל לפתרון ברור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163" y="1304200"/>
            <a:ext cx="4828835" cy="2675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9"/>
          <p:cNvSpPr/>
          <p:nvPr/>
        </p:nvSpPr>
        <p:spPr>
          <a:xfrm>
            <a:off x="3867596" y="3752999"/>
            <a:ext cx="4784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496119" y="431750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550"/>
              <a:buFont typeface="Inter"/>
              <a:buNone/>
            </a:pPr>
            <a:r>
              <a:rPr b="1" i="0" lang="iw-IL" sz="27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איך מעצבים User Flow נכון?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652" y="1690400"/>
            <a:ext cx="2717229" cy="5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/>
          <p:nvPr/>
        </p:nvSpPr>
        <p:spPr>
          <a:xfrm>
            <a:off x="6067946" y="2372702"/>
            <a:ext cx="2442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נקודת התחלה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6067946" y="2667010"/>
            <a:ext cx="2442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טריגר ברור — לחיצה על הרשמה, כניסה לאתר, או כל פעולה מפורשת של המשתמש.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422" y="1690400"/>
            <a:ext cx="2717229" cy="5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/>
          <p:nvPr/>
        </p:nvSpPr>
        <p:spPr>
          <a:xfrm>
            <a:off x="3350716" y="2372702"/>
            <a:ext cx="2442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מיפוי שלבים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350716" y="2667010"/>
            <a:ext cx="2442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מלבן לפעולה, מעוין לתנאי/החלטה — שימוש בצורות סטנדרטיות לוודאות ובהירות.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93" y="1690400"/>
            <a:ext cx="2717229" cy="5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633487" y="2372702"/>
            <a:ext cx="2442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בדיקת רציפות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33487" y="2667010"/>
            <a:ext cx="2442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 תרחיש — כולל שגיאות וקצוות פתוחים — חייב להוביל לפתרון ברור ומוגדר.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96125" y="3605425"/>
            <a:ext cx="8376300" cy="1812000"/>
          </a:xfrm>
          <a:prstGeom prst="roundRect">
            <a:avLst>
              <a:gd fmla="val 305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163" y="3605424"/>
            <a:ext cx="171599" cy="1372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>
            <a:off x="496225" y="3714000"/>
            <a:ext cx="81519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4925" wrap="square" tIns="0">
            <a:noAutofit/>
          </a:bodyPr>
          <a:lstStyle/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חשבו מנקודת המשתמש: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שאלו "מה המשתמש רוצה להשיג?" — לא מה המערכת יכולה לעשות. התחילו מהמטרה של המשתמש ועצבו לאחור.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תנו שמות ברורים לזרמים: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קראו לכל Flow בשם שמתאר את הפעולה המרכזית ("הרשמה חדשה", "שכחתי סיסמה") 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טפלו בקצוות ובשגיאות מראש: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לפני שמתחילים לבנות, מפו מה קורה כשהמשתמש ממלא שדה שגוי, מבטל באמצע, או נתקל בשגיאת מערכת.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שמרו על פשטות: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אם Flow כולל יותר מ-5-6 שלבים, שקלו לפצל אותו לתת-זרמים נפרדים. Flow קצר וממוקד קל יותר לממש ולתחזק.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3925119" y="70194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ה-Wireflow: החיבור שבין המסך למסע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8065219" y="1800523"/>
            <a:ext cx="582662" cy="215354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1" name="Google Shape;121;p11"/>
          <p:cNvSpPr/>
          <p:nvPr/>
        </p:nvSpPr>
        <p:spPr>
          <a:xfrm>
            <a:off x="7938692" y="1843013"/>
            <a:ext cx="8697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מושג יסוד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3925119" y="2201521"/>
            <a:ext cx="2188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 זה Wireflow?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3925119" y="2564736"/>
            <a:ext cx="2188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שילוב של Wireframe עם Flowchart</a:t>
            </a:r>
            <a:r>
              <a:rPr lang="iw-IL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במילים פשוטות - מה מתחבר למה ואיך.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6464201" y="2201521"/>
            <a:ext cx="2188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מתי משתמשים?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6464201" y="2564736"/>
            <a:ext cx="2188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בתהליכים מרובי שלבים ודינמיים: הרשמה, רכישה, ניהול משימות — כל זרימה שחוצה מסכים מרובים.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3925119" y="3647777"/>
            <a:ext cx="4722763" cy="793775"/>
          </a:xfrm>
          <a:prstGeom prst="roundRect">
            <a:avLst>
              <a:gd fmla="val 7501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preencoded.png" id="127" name="Google Shape;1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6877" y="3848546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4385816" y="3824957"/>
            <a:ext cx="412030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היתרון המרכזי: ראייה כוללת של חווית המשתמש לצד הבנת המבנה הפיזי של כל מסך בנפרד.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/>
          <p:nvPr/>
        </p:nvSpPr>
        <p:spPr>
          <a:xfrm>
            <a:off x="496119" y="49515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איך יוצרים Wireflow בפועל?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38919" y="1106072"/>
            <a:ext cx="8609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 שלב ב-Wireflow מוסיף שכבת בהירות נפרדת — יחד הם בונים תמונה מלאה של המוצר עוד לפני שנכתבה שורת קוד אחת.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449" y="-202273"/>
            <a:ext cx="6935049" cy="611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/>
          <p:nvPr/>
        </p:nvSpPr>
        <p:spPr>
          <a:xfrm>
            <a:off x="7712994" y="2377424"/>
            <a:ext cx="1227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שרטוט בסיסי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7669350" y="2741588"/>
            <a:ext cx="1314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הסקיצה הגסה מגדירה את השלד: מה קיים בכל מסך, היכן ממוקמים האלמנטים, ומה המשתמש יכול לעשות.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3958257" y="3914479"/>
            <a:ext cx="12276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חיבור מסכים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3914625" y="4169351"/>
            <a:ext cx="1314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שרטוט חצים בין המסכים לפי את לוגיקת הניווט: מה קורה אחרי לחיצה על כפתור, לאן מגיע שגיאה, האם לכל נתיב יש יעד?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337774" y="2339687"/>
            <a:ext cx="12276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הערות ותנאים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294125" y="2608966"/>
            <a:ext cx="13149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הוספת הערות לזרימה מתעדת את הלוגיקה העסקית: "אם המשתמש לא מחובר ← הפנייה להתחברות", "אם התשלום נכשל ← הצג מסך ניסיון חוזר".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/>
          <p:nvPr/>
        </p:nvSpPr>
        <p:spPr>
          <a:xfrm>
            <a:off x="5021535" y="978510"/>
            <a:ext cx="652200" cy="215400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9" name="Google Shape;149;p13"/>
          <p:cNvSpPr/>
          <p:nvPr/>
        </p:nvSpPr>
        <p:spPr>
          <a:xfrm>
            <a:off x="4707183" y="1021001"/>
            <a:ext cx="9393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יישום מעשי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496119" y="1250568"/>
            <a:ext cx="5177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מ-Wireflow לפרומפט מנצח ב-Base44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496119" y="2430096"/>
            <a:ext cx="51777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הפיכת דיאגרמת ה-Wireflow להוראות מובנות ומדויקות עבור ה-AI של Base44 כך מובטח פיתוח עקבי ומדויק.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496119" y="3177332"/>
            <a:ext cx="5177582" cy="7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700">
            <a:noAutofit/>
          </a:bodyPr>
          <a:lstStyle/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Layout: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הגדרת מבנה העמוד ואזורי התוכן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Navigation: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הגדרת מסלולי המעבר בין המסכים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Components: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פירוט הרכיבים ומצביהם השונים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851" y="1332500"/>
            <a:ext cx="2980924" cy="298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/>
          <p:nvPr/>
        </p:nvSpPr>
        <p:spPr>
          <a:xfrm>
            <a:off x="3925119" y="508322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8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כלי עבודה ושיטות מהירות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149" y="1168301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/>
          <p:nvPr/>
        </p:nvSpPr>
        <p:spPr>
          <a:xfrm>
            <a:off x="3925119" y="1163910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סקיצות ידניות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3925119" y="1470422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שרבוט מהיר על נייר לפני הכל, אפשר אפילו לקחת דף עבור כל Wireframe ואז לחבר בינהם עם חוטים. הוזלת עלויות השינוי לאפס.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149" y="221195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/>
          <p:nvPr/>
        </p:nvSpPr>
        <p:spPr>
          <a:xfrm>
            <a:off x="3925119" y="2207568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הממשק לא משנה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925119" y="2514079"/>
            <a:ext cx="4262065" cy="765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בין אם אתם עובדים עם כלי ייעודי ליצירת Wireframes ו-Wireflows או עם פאוורפוניט.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העיקר שהסרטוט יהיה ברור ויעביר את הרעיונות המרכזיים.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149" y="3567485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4"/>
          <p:cNvSpPr/>
          <p:nvPr/>
        </p:nvSpPr>
        <p:spPr>
          <a:xfrm>
            <a:off x="3925119" y="3563094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Iterate Fast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3925119" y="3869606"/>
            <a:ext cx="4262065" cy="765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אל תפחדו לקבל החלטות או לזרוק החלטות לפח.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 היופי בשיטה זה היכולת לתקן זרימה מוצרית תוך דקות, תרשו לעצמכם להתפרע.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/>
          <p:nvPr/>
        </p:nvSpPr>
        <p:spPr>
          <a:xfrm>
            <a:off x="496119" y="435769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סיכום וצעדי המשך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7289304" y="1162273"/>
            <a:ext cx="1358578" cy="816843"/>
          </a:xfrm>
          <a:prstGeom prst="roundRect">
            <a:avLst>
              <a:gd fmla="val 728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7868915" y="1446088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637877" y="1304032"/>
            <a:ext cx="650966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חשיבה מוצרית תחילה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637877" y="1610544"/>
            <a:ext cx="650966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Wireframe + User Flow = Wireflow — הבסיס לכל פיתוח חזק ועקבי.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566961" y="1969591"/>
            <a:ext cx="6651501" cy="9525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5930652" y="2049959"/>
            <a:ext cx="2717229" cy="816843"/>
          </a:xfrm>
          <a:prstGeom prst="roundRect">
            <a:avLst>
              <a:gd fmla="val 728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189589" y="2333774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637877" y="2191717"/>
            <a:ext cx="515101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מעבר להדגמה חיה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637877" y="2498229"/>
            <a:ext cx="515101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מתרחיש משתמש אמיתי — ל-Wireflow מלא ומוכן לפרומפטינג.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566961" y="2857277"/>
            <a:ext cx="5292849" cy="9525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4572000" y="2937644"/>
            <a:ext cx="4075881" cy="1043657"/>
          </a:xfrm>
          <a:prstGeom prst="roundRect">
            <a:avLst>
              <a:gd fmla="val 57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6510263" y="3334866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37877" y="3079403"/>
            <a:ext cx="379236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תרגול עצמאי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637877" y="3385914"/>
            <a:ext cx="379236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ניתוח תהליך מוצרי אחד ובניית הזרימה המלאה שלו — לקראת יישום מעשי ב-Base44.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96119" y="4140771"/>
            <a:ext cx="8151763" cy="566961"/>
          </a:xfrm>
          <a:prstGeom prst="roundRect">
            <a:avLst>
              <a:gd fmla="val 10502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34154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/>
          <p:nvPr/>
        </p:nvSpPr>
        <p:spPr>
          <a:xfrm>
            <a:off x="499616" y="4317950"/>
            <a:ext cx="80065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זכרו: תכנון טוב לפני הקידוד חוסך שעות של עבודה ועשרות פרומפטים מיותרים.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