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5143500" cy="9144000"/>
  <p:embeddedFontLst>
    <p:embeddedFont>
      <p:font typeface="Inter Light"/>
      <p:regular r:id="rId26"/>
      <p:bold r:id="rId27"/>
      <p:italic r:id="rId28"/>
      <p:boldItalic r:id="rId29"/>
    </p:embeddedFont>
    <p:embeddedFont>
      <p:font typeface="Inter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Light-regular.fntdata"/><Relationship Id="rId25" Type="http://schemas.openxmlformats.org/officeDocument/2006/relationships/slide" Target="slides/slide21.xml"/><Relationship Id="rId28" Type="http://schemas.openxmlformats.org/officeDocument/2006/relationships/font" Target="fonts/InterLight-italic.fntdata"/><Relationship Id="rId27" Type="http://schemas.openxmlformats.org/officeDocument/2006/relationships/font" Target="fonts/InterLigh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terLigh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nter-bold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3925119" y="1909018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אפיון בעיה: מה אנחנו באמת פותרים?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3467919" y="3007593"/>
            <a:ext cx="5179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מדריך מעשי לזיהוי, פירוק וניסוח בעיות מוצר לפני שכותבים כל פרומפט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4747468" y="1994520"/>
            <a:ext cx="471413" cy="215354"/>
          </a:xfrm>
          <a:prstGeom prst="roundRect">
            <a:avLst>
              <a:gd fmla="val 22119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1" name="Google Shape;31;p5"/>
          <p:cNvSpPr/>
          <p:nvPr/>
        </p:nvSpPr>
        <p:spPr>
          <a:xfrm>
            <a:off x="4375324" y="2037011"/>
            <a:ext cx="758503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iw-IL" sz="1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פרק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496119" y="2266578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מוטיבציה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38919" y="2922166"/>
            <a:ext cx="5179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מדוע הדבר הכי חשוב בפיתוח מוצר הוא ההבנה מה בכלל שווה לבנות.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מה אנחנו באמת פותרים?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85392"/>
            <a:ext cx="2628230" cy="262823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/>
          <p:nvPr/>
        </p:nvSpPr>
        <p:spPr>
          <a:xfrm>
            <a:off x="3017788" y="2007766"/>
            <a:ext cx="563478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נדבר היום על אפיון בעיה — השלב הקריטי ביותר בבניית מוצרי דיגיטל, אתרים ואפליקציות.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4695" y="2394049"/>
            <a:ext cx="2517874" cy="136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/>
          <p:nvPr/>
        </p:nvSpPr>
        <p:spPr>
          <a:xfrm>
            <a:off x="6295504" y="2554858"/>
            <a:ext cx="212005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מטרת העל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6295504" y="2918073"/>
            <a:ext cx="212005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למנוע בניית המוצר הלא-נכון ב-Base44, ובכך למנוע בזבוז זמן, משאבים וטוקנים.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988" y="2394049"/>
            <a:ext cx="2517949" cy="136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/>
          <p:nvPr/>
        </p:nvSpPr>
        <p:spPr>
          <a:xfrm>
            <a:off x="3635797" y="2554858"/>
            <a:ext cx="212013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השאלה המרכזית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3635797" y="2918073"/>
            <a:ext cx="212013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למה פיתוח מצוין של מוצר שגוי הוא הבזבוז הגדול ביותר?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496119" y="416198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0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מלכודת הפתרון המהיר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496119" y="1142702"/>
            <a:ext cx="8151763" cy="613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פנו אליכם לקוחות וביקשו: </a:t>
            </a: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"מערכת לניהול לעסק."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ניקח 5 דקות וכל אחד יכתוב לעצמו בכמה שורות - מה היית בונה? 3 פיצ'רים </a:t>
            </a:r>
            <a:r>
              <a:rPr lang="iw-IL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מרכזיים</a:t>
            </a: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7888" y="1915277"/>
            <a:ext cx="3228226" cy="322822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/>
          <p:nvPr/>
        </p:nvSpPr>
        <p:spPr>
          <a:xfrm>
            <a:off x="38919" y="4500488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/>
          <p:nvPr/>
        </p:nvSpPr>
        <p:spPr>
          <a:xfrm>
            <a:off x="3925119" y="733574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האשליה של הפתרון המהיר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3925119" y="1389162"/>
            <a:ext cx="4722763" cy="613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למה כולם בנו דברים שונים לחלוטין?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1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המסקנה </a:t>
            </a: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- הבעיה לא הוגדרה כראוי ולכן כל פתרון הוא ניחוש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6357417" y="2161729"/>
            <a:ext cx="2290465" cy="1279996"/>
          </a:xfrm>
          <a:prstGeom prst="roundRect">
            <a:avLst>
              <a:gd fmla="val 465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"/>
          <p:cNvSpPr/>
          <p:nvPr/>
        </p:nvSpPr>
        <p:spPr>
          <a:xfrm>
            <a:off x="6503938" y="2308250"/>
            <a:ext cx="19974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הנטייה האנושית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6503938" y="2614761"/>
            <a:ext cx="199742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אנחנו דולגים על "למה" ורצים ישר ל-"איך" — הפתרון מרגיש דחוף יותר מההבנה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3925119" y="2161729"/>
            <a:ext cx="2290539" cy="1279996"/>
          </a:xfrm>
          <a:prstGeom prst="roundRect">
            <a:avLst>
              <a:gd fmla="val 465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4071640" y="2308250"/>
            <a:ext cx="199749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מחיר הפיתוח המוקדם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4071640" y="2614761"/>
            <a:ext cx="199749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רוב הפרויקטים נכשלים עוד לפני שורת הקוד הראשונה — בשלב ההגדרה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3925119" y="3583484"/>
            <a:ext cx="4722763" cy="826368"/>
          </a:xfrm>
          <a:prstGeom prst="roundRect">
            <a:avLst>
              <a:gd fmla="val 72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071640" y="3730005"/>
            <a:ext cx="442972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העלות האמיתית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4071640" y="4036516"/>
            <a:ext cx="442972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חריגות תקציב וזמן שמקורן בחוסר בהירות בתחילת הדרך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/>
          <p:nvPr/>
        </p:nvSpPr>
        <p:spPr>
          <a:xfrm>
            <a:off x="4756398" y="2214190"/>
            <a:ext cx="462483" cy="215354"/>
          </a:xfrm>
          <a:prstGeom prst="roundRect">
            <a:avLst>
              <a:gd fmla="val 22119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3" name="Google Shape;83;p9"/>
          <p:cNvSpPr/>
          <p:nvPr/>
        </p:nvSpPr>
        <p:spPr>
          <a:xfrm>
            <a:off x="4384253" y="2256681"/>
            <a:ext cx="749573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פרק 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496119" y="2486248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0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אפיון הבעיה ועקרונות יסוד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/>
          <p:nvPr/>
        </p:nvSpPr>
        <p:spPr>
          <a:xfrm>
            <a:off x="496119" y="496937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0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עקרון איינשטיין ואגרוף הבעיה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0570" y="939921"/>
            <a:ext cx="2476876" cy="24768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/>
          <p:nvPr/>
        </p:nvSpPr>
        <p:spPr>
          <a:xfrm>
            <a:off x="38919" y="3133279"/>
            <a:ext cx="436014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4749701" y="2017461"/>
            <a:ext cx="36903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"אם היו לי 60 דקות לפתור בעיה, הייתי מקדיש 55 דקות להבנת הבעיה ו-5 דקות לפתרונה."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— אלברט איינשטיין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8633594" y="1889915"/>
            <a:ext cx="19200" cy="1063200"/>
          </a:xfrm>
          <a:prstGeom prst="roundRect">
            <a:avLst>
              <a:gd fmla="val 50000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5" name="Google Shape;95;p10"/>
          <p:cNvSpPr/>
          <p:nvPr/>
        </p:nvSpPr>
        <p:spPr>
          <a:xfrm>
            <a:off x="496119" y="3647108"/>
            <a:ext cx="8151763" cy="999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בפיתוח מוצרים, אתרים ואפליקציות — ההשקעה בהבנת הבעיה היא לא בזבוז זמן. היא </a:t>
            </a: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הדבר הכי חשוב שאפשר לעשות.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התמקדות בבעיה מונעת ריצה מוקדמת לכתיבת קוד ולפתרונות טכנולוגיים שאיש לא ביקש.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השינוי הראשון שנבצע בשגרת העבודה שלנו - </a:t>
            </a: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נגדיר זמן ברור לאפיון והבנת הבעיה.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/>
          <p:nvPr/>
        </p:nvSpPr>
        <p:spPr>
          <a:xfrm>
            <a:off x="496119" y="860658"/>
            <a:ext cx="8151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תפקיד הגדרת הבעיה — The North Star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496119" y="1587163"/>
            <a:ext cx="81519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כשנאפיין את הבעיה ניקח בחשבון 3 עקרונות מנחים.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אם האיפיון שלנו לא מתיישב עם שלושתם אז עבודת האפיון לא נגמרה.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3522" y="2562002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/>
          <p:nvPr/>
        </p:nvSpPr>
        <p:spPr>
          <a:xfrm>
            <a:off x="6048747" y="3093541"/>
            <a:ext cx="259913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מצפן לכל ההחלטות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6048747" y="3400053"/>
            <a:ext cx="259913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הגדרת הבעיה היא </a:t>
            </a:r>
            <a:r>
              <a:rPr b="1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פרקטית ויישומית</a:t>
            </a: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ומנחה כל החלטה עיצובית ופיתוחית לאורך כל הפרויקט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7207" y="2562002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1"/>
          <p:cNvSpPr/>
          <p:nvPr/>
        </p:nvSpPr>
        <p:spPr>
          <a:xfrm>
            <a:off x="3272433" y="3093541"/>
            <a:ext cx="259913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מניעת בזבוז משאבים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3272433" y="3400053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נגדיר גם</a:t>
            </a:r>
            <a:r>
              <a:rPr b="1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מה לא נבנה </a:t>
            </a: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כדי לחסוך זמן פיתוח יקר על פיצ'רים שאיש לא ישתמש בהם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0893" y="2562002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1"/>
          <p:cNvSpPr/>
          <p:nvPr/>
        </p:nvSpPr>
        <p:spPr>
          <a:xfrm>
            <a:off x="496119" y="3093541"/>
            <a:ext cx="259913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הצידוק העסקי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496119" y="3400053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נבדיל בין </a:t>
            </a:r>
            <a:r>
              <a:rPr b="1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רמות דחיפות וערך עסקי</a:t>
            </a: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כדי שנוכל לתכנן הליך פיתוח חכם, יעיל ורווחי.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496119" y="422746"/>
            <a:ext cx="8151763" cy="43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00"/>
              <a:buFont typeface="Inter"/>
              <a:buNone/>
            </a:pPr>
            <a:r>
              <a:rPr b="1" i="0" lang="iw-IL" sz="30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סימפטום מול בעיית שורש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38919" y="1133549"/>
            <a:ext cx="860896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לעיתים קרובות בעודנו מאפיינים את הבעיה נמצא את עצמנו מתעסקים בסימפטום במקום במחלה.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075" y="1355000"/>
            <a:ext cx="3678549" cy="367854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2"/>
          <p:cNvSpPr/>
          <p:nvPr/>
        </p:nvSpPr>
        <p:spPr>
          <a:xfrm>
            <a:off x="5248776" y="1323238"/>
            <a:ext cx="3403800" cy="17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2000"/>
              </a:lnSpc>
              <a:spcBef>
                <a:spcPts val="9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הטיפול בסימפטומים החיצוניים בלבד מייצר פתרונות זמניים שהבעיה מתגנבת דרכם מחדש.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2000"/>
              </a:lnSpc>
              <a:spcBef>
                <a:spcPts val="9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דוגמה מהעולם האמיתי: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"משתמשים לא מסתכלים על המערכת" — זה סימפטום. הבעיה האמיתית: ממשק מסורבל בנקודה קריטית בתהליך.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5248776" y="3933900"/>
            <a:ext cx="3403800" cy="981300"/>
          </a:xfrm>
          <a:prstGeom prst="roundRect">
            <a:avLst>
              <a:gd fmla="val 5973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preencoded.png" id="122" name="Google Shape;12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3585" y="3794376"/>
            <a:ext cx="218536" cy="139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2"/>
          <p:cNvSpPr/>
          <p:nvPr/>
        </p:nvSpPr>
        <p:spPr>
          <a:xfrm>
            <a:off x="5816930" y="4092327"/>
            <a:ext cx="26607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תמיד שאלו: "למה זה קורה?" — לפחות 3 פעמים לפני שמנסחים פתרון.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3"/>
          <p:cNvSpPr/>
          <p:nvPr/>
        </p:nvSpPr>
        <p:spPr>
          <a:xfrm>
            <a:off x="8184505" y="1992734"/>
            <a:ext cx="463376" cy="215354"/>
          </a:xfrm>
          <a:prstGeom prst="roundRect">
            <a:avLst>
              <a:gd fmla="val 22119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2" name="Google Shape;132;p13"/>
          <p:cNvSpPr/>
          <p:nvPr/>
        </p:nvSpPr>
        <p:spPr>
          <a:xfrm>
            <a:off x="7812360" y="2035225"/>
            <a:ext cx="750466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פרק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3925119" y="2264792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0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תהליך פירוק הבעיה — מודל ה-5Ws and H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/>
          <p:nvPr/>
        </p:nvSpPr>
        <p:spPr>
          <a:xfrm>
            <a:off x="496119" y="592187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0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היכרות עם מודל ה-5Ws and H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38919" y="1318692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כלי מבני לפירוק והבנת הבעיה מכל הזוויות — לפני שניגשים לנסח פתרון.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496119" y="1704975"/>
            <a:ext cx="8151763" cy="2460054"/>
          </a:xfrm>
          <a:prstGeom prst="roundRect">
            <a:avLst>
              <a:gd fmla="val 2420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2" name="Google Shape;142;p14"/>
          <p:cNvSpPr/>
          <p:nvPr/>
        </p:nvSpPr>
        <p:spPr>
          <a:xfrm>
            <a:off x="500881" y="1709738"/>
            <a:ext cx="4071119" cy="816843"/>
          </a:xfrm>
          <a:custGeom>
            <a:rect b="b" l="l" r="r" t="t"/>
            <a:pathLst>
              <a:path extrusionOk="0" h="816843" w="4071119">
                <a:moveTo>
                  <a:pt x="49619" y="0"/>
                </a:moveTo>
                <a:lnTo>
                  <a:pt x="4071119" y="0"/>
                </a:lnTo>
                <a:lnTo>
                  <a:pt x="4071119" y="816843"/>
                </a:lnTo>
                <a:lnTo>
                  <a:pt x="0" y="816843"/>
                </a:lnTo>
                <a:lnTo>
                  <a:pt x="0" y="49619"/>
                </a:lnTo>
                <a:cubicBezTo>
                  <a:pt x="0" y="22215"/>
                  <a:pt x="22215" y="0"/>
                  <a:pt x="49619" y="0"/>
                </a:cubicBezTo>
                <a:close/>
              </a:path>
            </a:pathLst>
          </a:cu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3" name="Google Shape;143;p14"/>
          <p:cNvSpPr/>
          <p:nvPr/>
        </p:nvSpPr>
        <p:spPr>
          <a:xfrm>
            <a:off x="642640" y="1851496"/>
            <a:ext cx="378760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642640" y="2158008"/>
            <a:ext cx="378760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מי סובל?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4572000" y="1709738"/>
            <a:ext cx="4071119" cy="816843"/>
          </a:xfrm>
          <a:custGeom>
            <a:rect b="b" l="l" r="r" t="t"/>
            <a:pathLst>
              <a:path extrusionOk="0" h="816843" w="4071119">
                <a:moveTo>
                  <a:pt x="0" y="0"/>
                </a:moveTo>
                <a:lnTo>
                  <a:pt x="4021500" y="0"/>
                </a:lnTo>
                <a:cubicBezTo>
                  <a:pt x="4034660" y="0"/>
                  <a:pt x="4047281" y="5228"/>
                  <a:pt x="4056586" y="14533"/>
                </a:cubicBezTo>
                <a:cubicBezTo>
                  <a:pt x="4065891" y="23838"/>
                  <a:pt x="4071119" y="36459"/>
                  <a:pt x="4071119" y="49619"/>
                </a:cubicBezTo>
                <a:lnTo>
                  <a:pt x="4071119" y="816843"/>
                </a:lnTo>
                <a:lnTo>
                  <a:pt x="0" y="816843"/>
                </a:lnTo>
                <a:lnTo>
                  <a:pt x="0" y="0"/>
                </a:lnTo>
                <a:close/>
              </a:path>
            </a:pathLst>
          </a:cu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6" name="Google Shape;146;p14"/>
          <p:cNvSpPr/>
          <p:nvPr/>
        </p:nvSpPr>
        <p:spPr>
          <a:xfrm>
            <a:off x="4572000" y="1709738"/>
            <a:ext cx="19050" cy="816843"/>
          </a:xfrm>
          <a:prstGeom prst="roundRect">
            <a:avLst>
              <a:gd fmla="val 5000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7" name="Google Shape;147;p14"/>
          <p:cNvSpPr/>
          <p:nvPr/>
        </p:nvSpPr>
        <p:spPr>
          <a:xfrm>
            <a:off x="4713759" y="1851496"/>
            <a:ext cx="378760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4713759" y="2158008"/>
            <a:ext cx="378760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מה הכאב?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500881" y="2526581"/>
            <a:ext cx="4071119" cy="816843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0" name="Google Shape;150;p14"/>
          <p:cNvSpPr/>
          <p:nvPr/>
        </p:nvSpPr>
        <p:spPr>
          <a:xfrm>
            <a:off x="500881" y="2526581"/>
            <a:ext cx="4071119" cy="19050"/>
          </a:xfrm>
          <a:prstGeom prst="roundRect">
            <a:avLst>
              <a:gd fmla="val 5000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1" name="Google Shape;151;p14"/>
          <p:cNvSpPr/>
          <p:nvPr/>
        </p:nvSpPr>
        <p:spPr>
          <a:xfrm>
            <a:off x="642640" y="2668339"/>
            <a:ext cx="378760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642640" y="2974851"/>
            <a:ext cx="378760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מתי זה קורה?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4572000" y="2526581"/>
            <a:ext cx="4071119" cy="816843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4" name="Google Shape;154;p14"/>
          <p:cNvSpPr/>
          <p:nvPr/>
        </p:nvSpPr>
        <p:spPr>
          <a:xfrm>
            <a:off x="4572000" y="2526581"/>
            <a:ext cx="19050" cy="816843"/>
          </a:xfrm>
          <a:prstGeom prst="roundRect">
            <a:avLst>
              <a:gd fmla="val 5000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5" name="Google Shape;155;p14"/>
          <p:cNvSpPr/>
          <p:nvPr/>
        </p:nvSpPr>
        <p:spPr>
          <a:xfrm>
            <a:off x="4572000" y="2526581"/>
            <a:ext cx="4071119" cy="19050"/>
          </a:xfrm>
          <a:prstGeom prst="roundRect">
            <a:avLst>
              <a:gd fmla="val 5000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6" name="Google Shape;156;p14"/>
          <p:cNvSpPr/>
          <p:nvPr/>
        </p:nvSpPr>
        <p:spPr>
          <a:xfrm>
            <a:off x="4713759" y="2668339"/>
            <a:ext cx="378760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4713759" y="2974851"/>
            <a:ext cx="378760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איפה?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500881" y="3343424"/>
            <a:ext cx="4071119" cy="816843"/>
          </a:xfrm>
          <a:custGeom>
            <a:rect b="b" l="l" r="r" t="t"/>
            <a:pathLst>
              <a:path extrusionOk="0" h="816843" w="4071119">
                <a:moveTo>
                  <a:pt x="0" y="0"/>
                </a:moveTo>
                <a:lnTo>
                  <a:pt x="4071119" y="0"/>
                </a:lnTo>
                <a:lnTo>
                  <a:pt x="4071119" y="816843"/>
                </a:lnTo>
                <a:lnTo>
                  <a:pt x="49619" y="816843"/>
                </a:lnTo>
                <a:cubicBezTo>
                  <a:pt x="22215" y="816843"/>
                  <a:pt x="0" y="794628"/>
                  <a:pt x="0" y="767224"/>
                </a:cubicBezTo>
                <a:lnTo>
                  <a:pt x="0" y="0"/>
                </a:lnTo>
                <a:close/>
              </a:path>
            </a:pathLst>
          </a:cu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9" name="Google Shape;159;p14"/>
          <p:cNvSpPr/>
          <p:nvPr/>
        </p:nvSpPr>
        <p:spPr>
          <a:xfrm>
            <a:off x="500881" y="3343424"/>
            <a:ext cx="4071119" cy="19050"/>
          </a:xfrm>
          <a:prstGeom prst="roundRect">
            <a:avLst>
              <a:gd fmla="val 5000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0" name="Google Shape;160;p14"/>
          <p:cNvSpPr/>
          <p:nvPr/>
        </p:nvSpPr>
        <p:spPr>
          <a:xfrm>
            <a:off x="642640" y="3485183"/>
            <a:ext cx="378760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642640" y="3791694"/>
            <a:ext cx="378760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למה חשוב?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4572000" y="3343424"/>
            <a:ext cx="4071119" cy="816843"/>
          </a:xfrm>
          <a:custGeom>
            <a:rect b="b" l="l" r="r" t="t"/>
            <a:pathLst>
              <a:path extrusionOk="0" h="816843" w="4071119">
                <a:moveTo>
                  <a:pt x="0" y="0"/>
                </a:moveTo>
                <a:lnTo>
                  <a:pt x="4071119" y="0"/>
                </a:lnTo>
                <a:lnTo>
                  <a:pt x="4071119" y="767225"/>
                </a:lnTo>
                <a:cubicBezTo>
                  <a:pt x="4071119" y="794629"/>
                  <a:pt x="4048904" y="816844"/>
                  <a:pt x="4021500" y="816844"/>
                </a:cubicBezTo>
                <a:lnTo>
                  <a:pt x="0" y="816843"/>
                </a:lnTo>
                <a:lnTo>
                  <a:pt x="0" y="0"/>
                </a:lnTo>
                <a:close/>
              </a:path>
            </a:pathLst>
          </a:cu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3" name="Google Shape;163;p14"/>
          <p:cNvSpPr/>
          <p:nvPr/>
        </p:nvSpPr>
        <p:spPr>
          <a:xfrm>
            <a:off x="4572000" y="3343424"/>
            <a:ext cx="19050" cy="816843"/>
          </a:xfrm>
          <a:prstGeom prst="roundRect">
            <a:avLst>
              <a:gd fmla="val 5000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4" name="Google Shape;164;p14"/>
          <p:cNvSpPr/>
          <p:nvPr/>
        </p:nvSpPr>
        <p:spPr>
          <a:xfrm>
            <a:off x="4572000" y="3343424"/>
            <a:ext cx="4071119" cy="19050"/>
          </a:xfrm>
          <a:prstGeom prst="roundRect">
            <a:avLst>
              <a:gd fmla="val 5000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5" name="Google Shape;165;p14"/>
          <p:cNvSpPr/>
          <p:nvPr/>
        </p:nvSpPr>
        <p:spPr>
          <a:xfrm>
            <a:off x="4713759" y="3485183"/>
            <a:ext cx="378760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4713759" y="3791694"/>
            <a:ext cx="378760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איך מתמודדים עכשיו?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38919" y="4324499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ניצור תמונה מלאה ומדויקת לפני ניסוח כל פתרון.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/>
          <p:nvPr/>
        </p:nvSpPr>
        <p:spPr>
          <a:xfrm>
            <a:off x="496119" y="719658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מי ומה? — Who &amp; What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85392"/>
            <a:ext cx="2628230" cy="2628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5" name="Google Shape;17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988" y="1534716"/>
            <a:ext cx="2517874" cy="179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5"/>
          <p:cNvSpPr/>
          <p:nvPr/>
        </p:nvSpPr>
        <p:spPr>
          <a:xfrm>
            <a:off x="3635797" y="2120801"/>
            <a:ext cx="219625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Who — מי?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3635797" y="2484016"/>
            <a:ext cx="219625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זיהוי מדויק של קהל היעד והפרסונה הסובלת מהבעיה. לא "כולם" — אלא מישהו ספציפי מאוד.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4621" y="1534716"/>
            <a:ext cx="2517949" cy="179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5"/>
          <p:cNvSpPr/>
          <p:nvPr/>
        </p:nvSpPr>
        <p:spPr>
          <a:xfrm>
            <a:off x="6295430" y="2120801"/>
            <a:ext cx="219633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What — מה?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6295430" y="2484016"/>
            <a:ext cx="219633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הגדרה חד-משמעית של נקודות הכאב והאתגרים הייחודיים של אותו קהל יעד.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3474988" y="3484736"/>
            <a:ext cx="5177582" cy="779562"/>
          </a:xfrm>
          <a:prstGeom prst="roundRect">
            <a:avLst>
              <a:gd fmla="val 7638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6747" y="3699793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/>
          <p:nvPr/>
        </p:nvSpPr>
        <p:spPr>
          <a:xfrm>
            <a:off x="3935685" y="3647703"/>
            <a:ext cx="457512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נסחו את הבעיה מנקודת מבט הכאב של המשתמש — לא מנקודת מבט הפתרון המוצע.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/>
          <p:nvPr/>
        </p:nvSpPr>
        <p:spPr>
          <a:xfrm>
            <a:off x="496119" y="1045815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מתי ואיפה? — When &amp; Where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38919" y="1828949"/>
            <a:ext cx="614459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496119" y="2215232"/>
            <a:ext cx="2772817" cy="1336700"/>
          </a:xfrm>
          <a:prstGeom prst="roundRect">
            <a:avLst>
              <a:gd fmla="val 44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642640" y="2361754"/>
            <a:ext cx="247977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When — מתי?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642640" y="2724969"/>
            <a:ext cx="247977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התזמון והתנאים שבהם הבעיה מתרחשת ביום-יום של המשתמש. האם זה בלחץ? בשעות מסוימות? בזמן אמת?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3410694" y="2215232"/>
            <a:ext cx="2772817" cy="1336700"/>
          </a:xfrm>
          <a:prstGeom prst="roundRect">
            <a:avLst>
              <a:gd fmla="val 44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"/>
          <p:cNvSpPr/>
          <p:nvPr/>
        </p:nvSpPr>
        <p:spPr>
          <a:xfrm>
            <a:off x="3557215" y="2361754"/>
            <a:ext cx="247977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Where — איפה?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3557215" y="2724969"/>
            <a:ext cx="247977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הסביבה הפיזית או הדיגיטלית שבה המשתמש נתקל בבעיה. מובייל? דסקטופ? בתנועה?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7" name="Google Shape;1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4150" y="1860872"/>
            <a:ext cx="2118420" cy="141223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6"/>
          <p:cNvSpPr/>
          <p:nvPr/>
        </p:nvSpPr>
        <p:spPr>
          <a:xfrm>
            <a:off x="38919" y="3870871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המיקום והתזמון משפיעים ישירות על אופי הפתרון, הטכנולוגיה הנבחרת ועיצוב הממשק.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/>
          <p:nvPr/>
        </p:nvSpPr>
        <p:spPr>
          <a:xfrm>
            <a:off x="496119" y="442168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למה ואיך? — Why &amp; How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38919" y="1168673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זיהוי הפערים בין הפתרונות הקיימים לבין מה שהמשתמש באמת צריך — שם טמונה ההזדמנות שהמוצר ב-Base44 יכול למלא.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38919" y="1682502"/>
            <a:ext cx="478497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068785"/>
            <a:ext cx="4327773" cy="113846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7"/>
          <p:cNvSpPr/>
          <p:nvPr/>
        </p:nvSpPr>
        <p:spPr>
          <a:xfrm>
            <a:off x="733127" y="2229594"/>
            <a:ext cx="392995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Why — למה חשוב?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733127" y="2592809"/>
            <a:ext cx="392995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האימפקט העסקי והאישי של פתרון הבעיה. מה יקרה אם לא נפתור אותה?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349005"/>
            <a:ext cx="4327773" cy="113846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7"/>
          <p:cNvSpPr/>
          <p:nvPr/>
        </p:nvSpPr>
        <p:spPr>
          <a:xfrm>
            <a:off x="733127" y="3509814"/>
            <a:ext cx="392995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How — איך עכשיו?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733127" y="3873029"/>
            <a:ext cx="392995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כיצד המשתמשים מתמודדים עם הבעיה כיום — פתרונות עוקפים, Excel, ניירת, כלים חלופיים.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" name="Google Shape;21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9795" y="1714426"/>
            <a:ext cx="2827437" cy="2827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/>
          <p:nvPr/>
        </p:nvSpPr>
        <p:spPr>
          <a:xfrm>
            <a:off x="4752305" y="1992734"/>
            <a:ext cx="466576" cy="215354"/>
          </a:xfrm>
          <a:prstGeom prst="roundRect">
            <a:avLst>
              <a:gd fmla="val 22119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22" name="Google Shape;222;p18"/>
          <p:cNvSpPr/>
          <p:nvPr/>
        </p:nvSpPr>
        <p:spPr>
          <a:xfrm>
            <a:off x="4380161" y="2035225"/>
            <a:ext cx="753666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פרק 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496119" y="2264792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0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ניסוח ה-Problem Statement ויישום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/>
          <p:nvPr/>
        </p:nvSpPr>
        <p:spPr>
          <a:xfrm>
            <a:off x="496119" y="1068214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קריטריונים לניסוח נכון של הבעיה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38919" y="1794718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אחרי שענינו על כל השאלות, הבנו לחלוטין את הצורך ואת הלמה, הגיע הזמן לנסח את זה כמו שצריך.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6025232" y="2748037"/>
            <a:ext cx="2410048" cy="141759"/>
          </a:xfrm>
          <a:prstGeom prst="roundRect">
            <a:avLst>
              <a:gd fmla="val 4200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8222605" y="2606241"/>
            <a:ext cx="425276" cy="425276"/>
          </a:xfrm>
          <a:prstGeom prst="ellipse">
            <a:avLst/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8943" y="2712579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/>
          <p:nvPr/>
        </p:nvSpPr>
        <p:spPr>
          <a:xfrm>
            <a:off x="6166917" y="3173313"/>
            <a:ext cx="233920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תמציתי — Concise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6166917" y="3479825"/>
            <a:ext cx="2339206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ללא מילים מיותרות. ממוקד בליבת הבעיה בלבד.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3260750" y="2535362"/>
            <a:ext cx="2410048" cy="141759"/>
          </a:xfrm>
          <a:prstGeom prst="roundRect">
            <a:avLst>
              <a:gd fmla="val 4200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5458123" y="2393566"/>
            <a:ext cx="425276" cy="425276"/>
          </a:xfrm>
          <a:prstGeom prst="ellipse">
            <a:avLst/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4460" y="2499903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/>
          <p:nvPr/>
        </p:nvSpPr>
        <p:spPr>
          <a:xfrm>
            <a:off x="3402434" y="2960638"/>
            <a:ext cx="233920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ספציפי — Specific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3402434" y="3267149"/>
            <a:ext cx="2339206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הגדרה מדויקת של המשתמש הספציפי והאתגר הייחודי שלו.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496267" y="2322761"/>
            <a:ext cx="2410048" cy="141759"/>
          </a:xfrm>
          <a:prstGeom prst="roundRect">
            <a:avLst>
              <a:gd fmla="val 4200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2693640" y="2180965"/>
            <a:ext cx="425276" cy="425276"/>
          </a:xfrm>
          <a:prstGeom prst="ellipse">
            <a:avLst/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" name="Google Shape;24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99978" y="2287302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9"/>
          <p:cNvSpPr/>
          <p:nvPr/>
        </p:nvSpPr>
        <p:spPr>
          <a:xfrm>
            <a:off x="637952" y="2748037"/>
            <a:ext cx="233920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ישים — Actionable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637952" y="3054548"/>
            <a:ext cx="2339206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הגדרה שניתן לתרגם לפתרון עיצובי ופיתוחי קונקרטי.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/>
          <p:nvPr/>
        </p:nvSpPr>
        <p:spPr>
          <a:xfrm>
            <a:off x="496119" y="1257895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0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דוגמה מעשית — ניתוח Problem Statement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96119" y="2055242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iw-IL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b="1" i="0" lang="iw-IL" sz="16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 דוגמה לא טובה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38919" y="2563713"/>
            <a:ext cx="414754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"אנשים צריכים אפליקציה טובה יותר למוצרי תינוקות."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4380012" y="2436168"/>
            <a:ext cx="19050" cy="481905"/>
          </a:xfrm>
          <a:prstGeom prst="roundRect">
            <a:avLst>
              <a:gd fmla="val 50000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38919" y="3077542"/>
            <a:ext cx="436014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לא ברור מי, מה הכאב, מדוע חשוב — ולא ניתן לתרגם לפתרון.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4749701" y="2055242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iw-IL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1" i="0" lang="iw-IL" sz="16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 דוגמה מוגדרת היטב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4749701" y="2563713"/>
            <a:ext cx="369034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"הורים טריים בחודשים הראשונים מוצפים בכמות מידע סותרת על מוצרי תינוקות, ואינם מוצאים המלצה אחת אמינה ומותאמת לגיל הספציפי של תינוקם."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8633594" y="2436168"/>
            <a:ext cx="19050" cy="935534"/>
          </a:xfrm>
          <a:prstGeom prst="roundRect">
            <a:avLst>
              <a:gd fmla="val 50000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4273451" y="3916921"/>
            <a:ext cx="4360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ספציפי, תמציתי וניתן לתרגום לפיצ'רים.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/>
          <p:nvPr/>
        </p:nvSpPr>
        <p:spPr>
          <a:xfrm>
            <a:off x="496119" y="975792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מה עושים כשחסר מידע?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4935364" y="1631379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 Light"/>
              <a:buNone/>
            </a:pPr>
            <a:r>
              <a:rPr b="0" i="0" lang="iw-IL" sz="110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2928417" y="1853282"/>
            <a:ext cx="2290465" cy="19050"/>
          </a:xfrm>
          <a:prstGeom prst="rect">
            <a:avLst/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2928417" y="1962224"/>
            <a:ext cx="22904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זהה את הפערים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2928417" y="2268736"/>
            <a:ext cx="229046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מה אתה לא יודע? רשום את ההנחות שמחוסרות אימות.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2503140" y="1631379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 Light"/>
              <a:buNone/>
            </a:pPr>
            <a:r>
              <a:rPr b="0" i="0" lang="iw-IL" sz="110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496119" y="1853282"/>
            <a:ext cx="2290539" cy="19050"/>
          </a:xfrm>
          <a:prstGeom prst="rect">
            <a:avLst/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496119" y="1962224"/>
            <a:ext cx="229053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בצע מחקר ממוקד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496119" y="2268736"/>
            <a:ext cx="2290539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ראיונות משתמשים, תצפיות ומחקר שוק — לפני שמחליטים על פתרון.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4935364" y="2970386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 Light"/>
              <a:buNone/>
            </a:pPr>
            <a:r>
              <a:rPr b="0" i="0" lang="iw-IL" sz="110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496119" y="3192289"/>
            <a:ext cx="4722763" cy="19050"/>
          </a:xfrm>
          <a:prstGeom prst="rect">
            <a:avLst/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496119" y="3301231"/>
            <a:ext cx="472276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ודא נכונות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496119" y="3607743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האם קהל היעד מוכן להשתמש בפתרון או לשלם עליו? אימות מוקדם חוסך כישלון מאוחר.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2"/>
          <p:cNvSpPr/>
          <p:nvPr/>
        </p:nvSpPr>
        <p:spPr>
          <a:xfrm>
            <a:off x="8187258" y="1992734"/>
            <a:ext cx="460623" cy="215354"/>
          </a:xfrm>
          <a:prstGeom prst="roundRect">
            <a:avLst>
              <a:gd fmla="val 22119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7815114" y="2035225"/>
            <a:ext cx="747713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פרק 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3925119" y="2264792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0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סיכום ומעבר לפיתוח ב-Base44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/>
          <p:nvPr/>
        </p:nvSpPr>
        <p:spPr>
          <a:xfrm>
            <a:off x="496119" y="492398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חיבור אפיון הבעיה לבנייה ב-Base44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668" y="1218902"/>
            <a:ext cx="6938665" cy="304584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3"/>
          <p:cNvSpPr/>
          <p:nvPr/>
        </p:nvSpPr>
        <p:spPr>
          <a:xfrm>
            <a:off x="2279762" y="3351008"/>
            <a:ext cx="1216266" cy="375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150"/>
              <a:buFont typeface="Inter"/>
              <a:buNone/>
            </a:pPr>
            <a:r>
              <a:rPr b="1" i="0" lang="iw-IL" sz="13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2279762" y="3780376"/>
            <a:ext cx="1216266" cy="150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iw-IL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הגדרה ברורה של הבעיה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5694661" y="3492182"/>
            <a:ext cx="1216266" cy="187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150"/>
              <a:buFont typeface="Inter"/>
              <a:buNone/>
            </a:pPr>
            <a:r>
              <a:rPr b="1" i="0" lang="iw-IL" sz="13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בדיקת הצלחה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5694661" y="3733597"/>
            <a:ext cx="1216266" cy="150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iw-IL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קריטריונים לאימות בסיום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3997235" y="1538304"/>
            <a:ext cx="1216266" cy="187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150"/>
              <a:buFont typeface="Inter"/>
              <a:buNone/>
            </a:pPr>
            <a:r>
              <a:rPr b="1" i="0" lang="iw-IL" sz="13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תכונות וזרימות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3997235" y="1779720"/>
            <a:ext cx="1216266" cy="3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iw-IL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אפיון מסכים וזרימות משתמש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38919" y="4424214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ה-Problem Statement הוא לא רק תרגיל — הוא הבסיס לבסיס הנתונים, המסכים, הזרימות, והקריטריון לבדיקת הצלחת המוצר בסיום.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/>
          <p:nvPr/>
        </p:nvSpPr>
        <p:spPr>
          <a:xfrm>
            <a:off x="496119" y="1051992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0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סיכום השיעור וצומת החלטה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8328943" y="1778496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8382112" y="1805062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496119" y="1827163"/>
            <a:ext cx="7691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התהליך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496119" y="2133674"/>
            <a:ext cx="769106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מתרחיש עמום ← ה-5Ws and H ← Problem Statement מדויק ומוסכם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8328943" y="2644006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4"/>
          <p:cNvSpPr/>
          <p:nvPr/>
        </p:nvSpPr>
        <p:spPr>
          <a:xfrm>
            <a:off x="8382112" y="2670572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4"/>
          <p:cNvSpPr/>
          <p:nvPr/>
        </p:nvSpPr>
        <p:spPr>
          <a:xfrm>
            <a:off x="496119" y="2692673"/>
            <a:ext cx="7691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העיקרון המוביל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496119" y="2999184"/>
            <a:ext cx="769106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מגדירים את הבעיה במלואה לפני שכותבים שורת קוד אחת.</a:t>
            </a: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זה לא עיכוב — זה החיסכון הגדול ביותר.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8328943" y="3509516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4"/>
          <p:cNvSpPr/>
          <p:nvPr/>
        </p:nvSpPr>
        <p:spPr>
          <a:xfrm>
            <a:off x="8382112" y="3536082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496119" y="3558183"/>
            <a:ext cx="7691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מה הבא?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496119" y="3864694"/>
            <a:ext cx="769106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תכנון הארכיטקטורה ויישום ב-Base44 — בצעד הבא בקורס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