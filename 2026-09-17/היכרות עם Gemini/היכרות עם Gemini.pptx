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8229600" cx="14630400"/>
  <p:notesSz cx="8229600" cy="14630400"/>
  <p:embeddedFontLst>
    <p:embeddedFont>
      <p:font typeface="Rubik Medium"/>
      <p:regular r:id="rId27"/>
      <p:bold r:id="rId28"/>
      <p:italic r:id="rId29"/>
      <p:boldItalic r:id="rId30"/>
    </p:embeddedFont>
    <p:embeddedFont>
      <p:font typeface="Assistant"/>
      <p:regular r:id="rId31"/>
      <p:bold r:id="rId32"/>
    </p:embeddedFont>
    <p:embeddedFont>
      <p:font typeface="Rubik"/>
      <p:regular r:id="rId33"/>
      <p:bold r:id="rId34"/>
      <p:italic r:id="rId35"/>
      <p:boldItalic r:id="rId36"/>
    </p:embeddedFon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RubikMedium-bold.fntdata"/><Relationship Id="rId27" Type="http://schemas.openxmlformats.org/officeDocument/2006/relationships/font" Target="fonts/RubikMedium-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ubikMedium-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Assistant-regular.fntdata"/><Relationship Id="rId30" Type="http://schemas.openxmlformats.org/officeDocument/2006/relationships/font" Target="fonts/RubikMedium-boldItalic.fntdata"/><Relationship Id="rId11" Type="http://schemas.openxmlformats.org/officeDocument/2006/relationships/slide" Target="slides/slide7.xml"/><Relationship Id="rId33" Type="http://schemas.openxmlformats.org/officeDocument/2006/relationships/font" Target="fonts/Rubik-regular.fntdata"/><Relationship Id="rId10" Type="http://schemas.openxmlformats.org/officeDocument/2006/relationships/slide" Target="slides/slide6.xml"/><Relationship Id="rId32" Type="http://schemas.openxmlformats.org/officeDocument/2006/relationships/font" Target="fonts/Assistant-bold.fntdata"/><Relationship Id="rId13" Type="http://schemas.openxmlformats.org/officeDocument/2006/relationships/slide" Target="slides/slide9.xml"/><Relationship Id="rId35" Type="http://schemas.openxmlformats.org/officeDocument/2006/relationships/font" Target="fonts/Rubik-italic.fntdata"/><Relationship Id="rId12" Type="http://schemas.openxmlformats.org/officeDocument/2006/relationships/slide" Target="slides/slide8.xml"/><Relationship Id="rId34" Type="http://schemas.openxmlformats.org/officeDocument/2006/relationships/font" Target="fonts/Rubik-bold.fntdata"/><Relationship Id="rId15" Type="http://schemas.openxmlformats.org/officeDocument/2006/relationships/slide" Target="slides/slide11.xml"/><Relationship Id="rId37" Type="http://schemas.openxmlformats.org/officeDocument/2006/relationships/font" Target="fonts/OpenSans-regular.fntdata"/><Relationship Id="rId14" Type="http://schemas.openxmlformats.org/officeDocument/2006/relationships/slide" Target="slides/slide10.xml"/><Relationship Id="rId36" Type="http://schemas.openxmlformats.org/officeDocument/2006/relationships/font" Target="fonts/Rubik-boldItalic.fntdata"/><Relationship Id="rId17" Type="http://schemas.openxmlformats.org/officeDocument/2006/relationships/slide" Target="slides/slide13.xml"/><Relationship Id="rId39" Type="http://schemas.openxmlformats.org/officeDocument/2006/relationships/font" Target="fonts/OpenSans-italic.fntdata"/><Relationship Id="rId16" Type="http://schemas.openxmlformats.org/officeDocument/2006/relationships/slide" Target="slides/slide12.xml"/><Relationship Id="rId38" Type="http://schemas.openxmlformats.org/officeDocument/2006/relationships/font" Target="fonts/OpenSans-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9bac305be_0_234:notes"/>
          <p:cNvSpPr txBox="1"/>
          <p:nvPr>
            <p:ph idx="1" type="body"/>
          </p:nvPr>
        </p:nvSpPr>
        <p:spPr>
          <a:xfrm>
            <a:off x="822960" y="6949440"/>
            <a:ext cx="6583800" cy="6583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f9bac305be_0_234:notes"/>
          <p:cNvSpPr/>
          <p:nvPr>
            <p:ph idx="2" type="sldImg"/>
          </p:nvPr>
        </p:nvSpPr>
        <p:spPr>
          <a:xfrm>
            <a:off x="1371870" y="1097280"/>
            <a:ext cx="548670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cd335d3b0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cd335d3b0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g3cd335d3b0e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cd335d3b0e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cd335d3b0e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g3cd335d3b0e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3" name="Shape 13"/>
        <p:cNvGrpSpPr/>
        <p:nvPr/>
      </p:nvGrpSpPr>
      <p:grpSpPr>
        <a:xfrm>
          <a:off x="0" y="0"/>
          <a:ext cx="0" cy="0"/>
          <a:chOff x="0" y="0"/>
          <a:chExt cx="0" cy="0"/>
        </a:xfrm>
      </p:grpSpPr>
      <p:sp>
        <p:nvSpPr>
          <p:cNvPr id="14" name="Google Shape;14;p3"/>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6" name="Shape 16"/>
        <p:cNvGrpSpPr/>
        <p:nvPr/>
      </p:nvGrpSpPr>
      <p:grpSpPr>
        <a:xfrm>
          <a:off x="0" y="0"/>
          <a:ext cx="0" cy="0"/>
          <a:chOff x="0" y="0"/>
          <a:chExt cx="0" cy="0"/>
        </a:xfrm>
      </p:grpSpPr>
      <p:sp>
        <p:nvSpPr>
          <p:cNvPr id="17" name="Google Shape;17;p4"/>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9" name="Shape 19"/>
        <p:cNvGrpSpPr/>
        <p:nvPr/>
      </p:nvGrpSpPr>
      <p:grpSpPr>
        <a:xfrm>
          <a:off x="0" y="0"/>
          <a:ext cx="0" cy="0"/>
          <a:chOff x="0" y="0"/>
          <a:chExt cx="0" cy="0"/>
        </a:xfrm>
      </p:grpSpPr>
      <p:sp>
        <p:nvSpPr>
          <p:cNvPr id="20" name="Google Shape;20;p5"/>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2" name="Shape 22"/>
        <p:cNvGrpSpPr/>
        <p:nvPr/>
      </p:nvGrpSpPr>
      <p:grpSpPr>
        <a:xfrm>
          <a:off x="0" y="0"/>
          <a:ext cx="0" cy="0"/>
          <a:chOff x="0" y="0"/>
          <a:chExt cx="0" cy="0"/>
        </a:xfrm>
      </p:grpSpPr>
      <p:sp>
        <p:nvSpPr>
          <p:cNvPr id="23" name="Google Shape;23;p6"/>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5" name="Shape 25"/>
        <p:cNvGrpSpPr/>
        <p:nvPr/>
      </p:nvGrpSpPr>
      <p:grpSpPr>
        <a:xfrm>
          <a:off x="0" y="0"/>
          <a:ext cx="0" cy="0"/>
          <a:chOff x="0" y="0"/>
          <a:chExt cx="0" cy="0"/>
        </a:xfrm>
      </p:grpSpPr>
      <p:sp>
        <p:nvSpPr>
          <p:cNvPr id="26" name="Google Shape;26;p7"/>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8" name="Shape 28"/>
        <p:cNvGrpSpPr/>
        <p:nvPr/>
      </p:nvGrpSpPr>
      <p:grpSpPr>
        <a:xfrm>
          <a:off x="0" y="0"/>
          <a:ext cx="0" cy="0"/>
          <a:chOff x="0" y="0"/>
          <a:chExt cx="0" cy="0"/>
        </a:xfrm>
      </p:grpSpPr>
      <p:sp>
        <p:nvSpPr>
          <p:cNvPr id="29" name="Google Shape;29;p8"/>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1" name="Shape 31"/>
        <p:cNvGrpSpPr/>
        <p:nvPr/>
      </p:nvGrpSpPr>
      <p:grpSpPr>
        <a:xfrm>
          <a:off x="0" y="0"/>
          <a:ext cx="0" cy="0"/>
          <a:chOff x="0" y="0"/>
          <a:chExt cx="0" cy="0"/>
        </a:xfrm>
      </p:grpSpPr>
      <p:sp>
        <p:nvSpPr>
          <p:cNvPr id="32" name="Google Shape;32;p9"/>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4" name="Shape 34"/>
        <p:cNvGrpSpPr/>
        <p:nvPr/>
      </p:nvGrpSpPr>
      <p:grpSpPr>
        <a:xfrm>
          <a:off x="0" y="0"/>
          <a:ext cx="0" cy="0"/>
          <a:chOff x="0" y="0"/>
          <a:chExt cx="0" cy="0"/>
        </a:xfrm>
      </p:grpSpPr>
      <p:sp>
        <p:nvSpPr>
          <p:cNvPr id="35" name="Google Shape;35;p10"/>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37" name="Shape 37"/>
        <p:cNvGrpSpPr/>
        <p:nvPr/>
      </p:nvGrpSpPr>
      <p:grpSpPr>
        <a:xfrm>
          <a:off x="0" y="0"/>
          <a:ext cx="0" cy="0"/>
          <a:chOff x="0" y="0"/>
          <a:chExt cx="0" cy="0"/>
        </a:xfrm>
      </p:grpSpPr>
      <p:sp>
        <p:nvSpPr>
          <p:cNvPr id="38" name="Google Shape;38;p11"/>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40" name="Shape 40"/>
        <p:cNvGrpSpPr/>
        <p:nvPr/>
      </p:nvGrpSpPr>
      <p:grpSpPr>
        <a:xfrm>
          <a:off x="0" y="0"/>
          <a:ext cx="0" cy="0"/>
          <a:chOff x="0" y="0"/>
          <a:chExt cx="0" cy="0"/>
        </a:xfrm>
      </p:grpSpPr>
      <p:sp>
        <p:nvSpPr>
          <p:cNvPr id="41" name="Google Shape;41;p12"/>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43" name="Shape 43"/>
        <p:cNvGrpSpPr/>
        <p:nvPr/>
      </p:nvGrpSpPr>
      <p:grpSpPr>
        <a:xfrm>
          <a:off x="0" y="0"/>
          <a:ext cx="0" cy="0"/>
          <a:chOff x="0" y="0"/>
          <a:chExt cx="0" cy="0"/>
        </a:xfrm>
      </p:grpSpPr>
      <p:sp>
        <p:nvSpPr>
          <p:cNvPr id="44" name="Google Shape;44;p13"/>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bg>
      <p:bgPr>
        <a:solidFill>
          <a:srgbClr val="000000"/>
        </a:solidFill>
      </p:bgPr>
    </p:bg>
    <p:spTree>
      <p:nvGrpSpPr>
        <p:cNvPr id="46" name="Shape 46"/>
        <p:cNvGrpSpPr/>
        <p:nvPr/>
      </p:nvGrpSpPr>
      <p:grpSpPr>
        <a:xfrm>
          <a:off x="0" y="0"/>
          <a:ext cx="0" cy="0"/>
          <a:chOff x="0" y="0"/>
          <a:chExt cx="0" cy="0"/>
        </a:xfrm>
      </p:grpSpPr>
      <p:sp>
        <p:nvSpPr>
          <p:cNvPr id="47" name="Google Shape;47;p14"/>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bg>
      <p:bgPr>
        <a:solidFill>
          <a:srgbClr val="000000"/>
        </a:solidFill>
      </p:bgPr>
    </p:bg>
    <p:spTree>
      <p:nvGrpSpPr>
        <p:cNvPr id="49" name="Shape 49"/>
        <p:cNvGrpSpPr/>
        <p:nvPr/>
      </p:nvGrpSpPr>
      <p:grpSpPr>
        <a:xfrm>
          <a:off x="0" y="0"/>
          <a:ext cx="0" cy="0"/>
          <a:chOff x="0" y="0"/>
          <a:chExt cx="0" cy="0"/>
        </a:xfrm>
      </p:grpSpPr>
      <p:sp>
        <p:nvSpPr>
          <p:cNvPr id="50" name="Google Shape;50;p15"/>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bg>
      <p:bgPr>
        <a:solidFill>
          <a:srgbClr val="000000"/>
        </a:solidFill>
      </p:bgPr>
    </p:bg>
    <p:spTree>
      <p:nvGrpSpPr>
        <p:cNvPr id="52" name="Shape 52"/>
        <p:cNvGrpSpPr/>
        <p:nvPr/>
      </p:nvGrpSpPr>
      <p:grpSpPr>
        <a:xfrm>
          <a:off x="0" y="0"/>
          <a:ext cx="0" cy="0"/>
          <a:chOff x="0" y="0"/>
          <a:chExt cx="0" cy="0"/>
        </a:xfrm>
      </p:grpSpPr>
      <p:sp>
        <p:nvSpPr>
          <p:cNvPr id="53" name="Google Shape;53;p16"/>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bg>
      <p:bgPr>
        <a:solidFill>
          <a:srgbClr val="000000"/>
        </a:solidFill>
      </p:bgPr>
    </p:bg>
    <p:spTree>
      <p:nvGrpSpPr>
        <p:cNvPr id="55" name="Shape 55"/>
        <p:cNvGrpSpPr/>
        <p:nvPr/>
      </p:nvGrpSpPr>
      <p:grpSpPr>
        <a:xfrm>
          <a:off x="0" y="0"/>
          <a:ext cx="0" cy="0"/>
          <a:chOff x="0" y="0"/>
          <a:chExt cx="0" cy="0"/>
        </a:xfrm>
      </p:grpSpPr>
      <p:sp>
        <p:nvSpPr>
          <p:cNvPr id="56" name="Google Shape;56;p17"/>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bg>
      <p:bgPr>
        <a:solidFill>
          <a:srgbClr val="000000"/>
        </a:solidFill>
      </p:bgPr>
    </p:bg>
    <p:spTree>
      <p:nvGrpSpPr>
        <p:cNvPr id="58" name="Shape 58"/>
        <p:cNvGrpSpPr/>
        <p:nvPr/>
      </p:nvGrpSpPr>
      <p:grpSpPr>
        <a:xfrm>
          <a:off x="0" y="0"/>
          <a:ext cx="0" cy="0"/>
          <a:chOff x="0" y="0"/>
          <a:chExt cx="0" cy="0"/>
        </a:xfrm>
      </p:grpSpPr>
      <p:sp>
        <p:nvSpPr>
          <p:cNvPr id="59" name="Google Shape;59;p18"/>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bg>
      <p:bgPr>
        <a:solidFill>
          <a:srgbClr val="000000"/>
        </a:solidFill>
      </p:bgPr>
    </p:bg>
    <p:spTree>
      <p:nvGrpSpPr>
        <p:cNvPr id="61" name="Shape 61"/>
        <p:cNvGrpSpPr/>
        <p:nvPr/>
      </p:nvGrpSpPr>
      <p:grpSpPr>
        <a:xfrm>
          <a:off x="0" y="0"/>
          <a:ext cx="0" cy="0"/>
          <a:chOff x="0" y="0"/>
          <a:chExt cx="0" cy="0"/>
        </a:xfrm>
      </p:grpSpPr>
      <p:sp>
        <p:nvSpPr>
          <p:cNvPr id="62" name="Google Shape;62;p19"/>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bg>
      <p:bgPr>
        <a:solidFill>
          <a:srgbClr val="000000"/>
        </a:solidFill>
      </p:bgPr>
    </p:bg>
    <p:spTree>
      <p:nvGrpSpPr>
        <p:cNvPr id="64" name="Shape 64"/>
        <p:cNvGrpSpPr/>
        <p:nvPr/>
      </p:nvGrpSpPr>
      <p:grpSpPr>
        <a:xfrm>
          <a:off x="0" y="0"/>
          <a:ext cx="0" cy="0"/>
          <a:chOff x="0" y="0"/>
          <a:chExt cx="0" cy="0"/>
        </a:xfrm>
      </p:grpSpPr>
      <p:sp>
        <p:nvSpPr>
          <p:cNvPr id="65" name="Google Shape;65;p20"/>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7" name="Shape 67"/>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22"/>
          <p:cNvSpPr txBox="1"/>
          <p:nvPr>
            <p:ph idx="10" type="dt"/>
          </p:nvPr>
        </p:nvSpPr>
        <p:spPr>
          <a:xfrm>
            <a:off x="548640" y="7627620"/>
            <a:ext cx="2560200" cy="438000"/>
          </a:xfrm>
          <a:prstGeom prst="rect">
            <a:avLst/>
          </a:prstGeom>
          <a:noFill/>
          <a:ln>
            <a:noFill/>
          </a:ln>
        </p:spPr>
        <p:txBody>
          <a:bodyPr anchorCtr="0" anchor="ctr" bIns="54850" lIns="109700" spcFirstLastPara="1" rIns="109700" wrap="square" tIns="54850">
            <a:noAutofit/>
          </a:bodyPr>
          <a:lstStyle>
            <a:lvl1pPr lvl="0" algn="l">
              <a:spcBef>
                <a:spcPts val="0"/>
              </a:spcBef>
              <a:spcAft>
                <a:spcPts val="0"/>
              </a:spcAft>
              <a:buSzPts val="1700"/>
              <a:buNone/>
              <a:defRPr sz="1700"/>
            </a:lvl1pPr>
            <a:lvl2pPr lvl="1" algn="l">
              <a:spcBef>
                <a:spcPts val="0"/>
              </a:spcBef>
              <a:spcAft>
                <a:spcPts val="0"/>
              </a:spcAft>
              <a:buSzPts val="1700"/>
              <a:buNone/>
              <a:defRPr sz="1700"/>
            </a:lvl2pPr>
            <a:lvl3pPr lvl="2" algn="l">
              <a:spcBef>
                <a:spcPts val="0"/>
              </a:spcBef>
              <a:spcAft>
                <a:spcPts val="0"/>
              </a:spcAft>
              <a:buSzPts val="1700"/>
              <a:buNone/>
              <a:defRPr sz="1700"/>
            </a:lvl3pPr>
            <a:lvl4pPr lvl="3" algn="l">
              <a:spcBef>
                <a:spcPts val="0"/>
              </a:spcBef>
              <a:spcAft>
                <a:spcPts val="0"/>
              </a:spcAft>
              <a:buSzPts val="1700"/>
              <a:buNone/>
              <a:defRPr sz="1700"/>
            </a:lvl4pPr>
            <a:lvl5pPr lvl="4" algn="l">
              <a:spcBef>
                <a:spcPts val="0"/>
              </a:spcBef>
              <a:spcAft>
                <a:spcPts val="0"/>
              </a:spcAft>
              <a:buSzPts val="1700"/>
              <a:buNone/>
              <a:defRPr sz="1700"/>
            </a:lvl5pPr>
            <a:lvl6pPr lvl="5" algn="l">
              <a:spcBef>
                <a:spcPts val="0"/>
              </a:spcBef>
              <a:spcAft>
                <a:spcPts val="0"/>
              </a:spcAft>
              <a:buSzPts val="1700"/>
              <a:buNone/>
              <a:defRPr sz="1700"/>
            </a:lvl6pPr>
            <a:lvl7pPr lvl="6" algn="l">
              <a:spcBef>
                <a:spcPts val="0"/>
              </a:spcBef>
              <a:spcAft>
                <a:spcPts val="0"/>
              </a:spcAft>
              <a:buSzPts val="1700"/>
              <a:buNone/>
              <a:defRPr sz="1700"/>
            </a:lvl7pPr>
            <a:lvl8pPr lvl="7" algn="l">
              <a:spcBef>
                <a:spcPts val="0"/>
              </a:spcBef>
              <a:spcAft>
                <a:spcPts val="0"/>
              </a:spcAft>
              <a:buSzPts val="1700"/>
              <a:buNone/>
              <a:defRPr sz="1700"/>
            </a:lvl8pPr>
            <a:lvl9pPr lvl="8" algn="l">
              <a:spcBef>
                <a:spcPts val="0"/>
              </a:spcBef>
              <a:spcAft>
                <a:spcPts val="0"/>
              </a:spcAft>
              <a:buSzPts val="1700"/>
              <a:buNone/>
              <a:defRPr sz="1700"/>
            </a:lvl9pPr>
          </a:lstStyle>
          <a:p/>
        </p:txBody>
      </p:sp>
      <p:sp>
        <p:nvSpPr>
          <p:cNvPr id="70" name="Google Shape;70;p22"/>
          <p:cNvSpPr txBox="1"/>
          <p:nvPr>
            <p:ph idx="11" type="ftr"/>
          </p:nvPr>
        </p:nvSpPr>
        <p:spPr>
          <a:xfrm>
            <a:off x="3749040" y="7627620"/>
            <a:ext cx="3474600" cy="438000"/>
          </a:xfrm>
          <a:prstGeom prst="rect">
            <a:avLst/>
          </a:prstGeom>
          <a:noFill/>
          <a:ln>
            <a:noFill/>
          </a:ln>
        </p:spPr>
        <p:txBody>
          <a:bodyPr anchorCtr="0" anchor="ctr" bIns="54850" lIns="109700" spcFirstLastPara="1" rIns="109700" wrap="square" tIns="54850">
            <a:noAutofit/>
          </a:bodyPr>
          <a:lstStyle>
            <a:lvl1pPr lvl="0" algn="ctr">
              <a:spcBef>
                <a:spcPts val="0"/>
              </a:spcBef>
              <a:spcAft>
                <a:spcPts val="0"/>
              </a:spcAft>
              <a:buSzPts val="1700"/>
              <a:buNone/>
              <a:defRPr sz="1700"/>
            </a:lvl1pPr>
            <a:lvl2pPr lvl="1" algn="l">
              <a:spcBef>
                <a:spcPts val="0"/>
              </a:spcBef>
              <a:spcAft>
                <a:spcPts val="0"/>
              </a:spcAft>
              <a:buSzPts val="1700"/>
              <a:buNone/>
              <a:defRPr sz="1700"/>
            </a:lvl2pPr>
            <a:lvl3pPr lvl="2" algn="l">
              <a:spcBef>
                <a:spcPts val="0"/>
              </a:spcBef>
              <a:spcAft>
                <a:spcPts val="0"/>
              </a:spcAft>
              <a:buSzPts val="1700"/>
              <a:buNone/>
              <a:defRPr sz="1700"/>
            </a:lvl3pPr>
            <a:lvl4pPr lvl="3" algn="l">
              <a:spcBef>
                <a:spcPts val="0"/>
              </a:spcBef>
              <a:spcAft>
                <a:spcPts val="0"/>
              </a:spcAft>
              <a:buSzPts val="1700"/>
              <a:buNone/>
              <a:defRPr sz="1700"/>
            </a:lvl4pPr>
            <a:lvl5pPr lvl="4" algn="l">
              <a:spcBef>
                <a:spcPts val="0"/>
              </a:spcBef>
              <a:spcAft>
                <a:spcPts val="0"/>
              </a:spcAft>
              <a:buSzPts val="1700"/>
              <a:buNone/>
              <a:defRPr sz="1700"/>
            </a:lvl5pPr>
            <a:lvl6pPr lvl="5" algn="l">
              <a:spcBef>
                <a:spcPts val="0"/>
              </a:spcBef>
              <a:spcAft>
                <a:spcPts val="0"/>
              </a:spcAft>
              <a:buSzPts val="1700"/>
              <a:buNone/>
              <a:defRPr sz="1700"/>
            </a:lvl6pPr>
            <a:lvl7pPr lvl="6" algn="l">
              <a:spcBef>
                <a:spcPts val="0"/>
              </a:spcBef>
              <a:spcAft>
                <a:spcPts val="0"/>
              </a:spcAft>
              <a:buSzPts val="1700"/>
              <a:buNone/>
              <a:defRPr sz="1700"/>
            </a:lvl7pPr>
            <a:lvl8pPr lvl="7" algn="l">
              <a:spcBef>
                <a:spcPts val="0"/>
              </a:spcBef>
              <a:spcAft>
                <a:spcPts val="0"/>
              </a:spcAft>
              <a:buSzPts val="1700"/>
              <a:buNone/>
              <a:defRPr sz="1700"/>
            </a:lvl8pPr>
            <a:lvl9pPr lvl="8" algn="l">
              <a:spcBef>
                <a:spcPts val="0"/>
              </a:spcBef>
              <a:spcAft>
                <a:spcPts val="0"/>
              </a:spcAft>
              <a:buSzPts val="1700"/>
              <a:buNone/>
              <a:defRPr sz="1700"/>
            </a:lvl9pPr>
          </a:lstStyle>
          <a:p/>
        </p:txBody>
      </p:sp>
      <p:sp>
        <p:nvSpPr>
          <p:cNvPr id="71" name="Google Shape;71;p22"/>
          <p:cNvSpPr txBox="1"/>
          <p:nvPr>
            <p:ph idx="12" type="sldNum"/>
          </p:nvPr>
        </p:nvSpPr>
        <p:spPr>
          <a:xfrm>
            <a:off x="7863840" y="7627620"/>
            <a:ext cx="2560200" cy="438000"/>
          </a:xfrm>
          <a:prstGeom prst="rect">
            <a:avLst/>
          </a:prstGeom>
          <a:noFill/>
          <a:ln>
            <a:noFill/>
          </a:ln>
        </p:spPr>
        <p:txBody>
          <a:bodyPr anchorCtr="0" anchor="ctr" bIns="54850" lIns="109700" spcFirstLastPara="1" rIns="109700" wrap="square" tIns="54850">
            <a:noAutofit/>
          </a:bodyPr>
          <a:lstStyle>
            <a:lvl1pPr indent="0" lvl="0" marL="0" algn="r">
              <a:spcBef>
                <a:spcPts val="0"/>
              </a:spcBef>
              <a:buNone/>
              <a:defRPr sz="1700"/>
            </a:lvl1pPr>
            <a:lvl2pPr indent="0" lvl="1" marL="0" algn="r">
              <a:spcBef>
                <a:spcPts val="0"/>
              </a:spcBef>
              <a:buNone/>
              <a:defRPr sz="1700"/>
            </a:lvl2pPr>
            <a:lvl3pPr indent="0" lvl="2" marL="0" algn="r">
              <a:spcBef>
                <a:spcPts val="0"/>
              </a:spcBef>
              <a:buNone/>
              <a:defRPr sz="1700"/>
            </a:lvl3pPr>
            <a:lvl4pPr indent="0" lvl="3" marL="0" algn="r">
              <a:spcBef>
                <a:spcPts val="0"/>
              </a:spcBef>
              <a:buNone/>
              <a:defRPr sz="1700"/>
            </a:lvl4pPr>
            <a:lvl5pPr indent="0" lvl="4" marL="0" algn="r">
              <a:spcBef>
                <a:spcPts val="0"/>
              </a:spcBef>
              <a:buNone/>
              <a:defRPr sz="1700"/>
            </a:lvl5pPr>
            <a:lvl6pPr indent="0" lvl="5" marL="0" algn="r">
              <a:spcBef>
                <a:spcPts val="0"/>
              </a:spcBef>
              <a:buNone/>
              <a:defRPr sz="1700"/>
            </a:lvl6pPr>
            <a:lvl7pPr indent="0" lvl="6" marL="0" algn="r">
              <a:spcBef>
                <a:spcPts val="0"/>
              </a:spcBef>
              <a:buNone/>
              <a:defRPr sz="1700"/>
            </a:lvl7pPr>
            <a:lvl8pPr indent="0" lvl="7" marL="0" algn="r">
              <a:spcBef>
                <a:spcPts val="0"/>
              </a:spcBef>
              <a:buNone/>
              <a:defRPr sz="1700"/>
            </a:lvl8pPr>
            <a:lvl9pPr indent="0" lvl="8" marL="0" algn="r">
              <a:spcBef>
                <a:spcPts val="0"/>
              </a:spcBef>
              <a:buNone/>
              <a:defRPr sz="17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42.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7.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6.png"/><Relationship Id="rId8"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33.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9.png"/><Relationship Id="rId7"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35.png"/><Relationship Id="rId4" Type="http://schemas.openxmlformats.org/officeDocument/2006/relationships/image" Target="../media/image30.png"/><Relationship Id="rId5"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3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 Id="rId3" Type="http://schemas.openxmlformats.org/officeDocument/2006/relationships/image" Target="../media/image43.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descr="preencoded.png" id="77" name="Google Shape;77;p23"/>
          <p:cNvPicPr preferRelativeResize="0"/>
          <p:nvPr/>
        </p:nvPicPr>
        <p:blipFill rotWithShape="1">
          <a:blip r:embed="rId3">
            <a:alphaModFix/>
          </a:blip>
          <a:srcRect b="0" l="0" r="0" t="0"/>
          <a:stretch/>
        </p:blipFill>
        <p:spPr>
          <a:xfrm>
            <a:off x="0" y="0"/>
            <a:ext cx="5486400" cy="8229600"/>
          </a:xfrm>
          <a:prstGeom prst="rect">
            <a:avLst/>
          </a:prstGeom>
          <a:noFill/>
          <a:ln>
            <a:noFill/>
          </a:ln>
        </p:spPr>
      </p:pic>
      <p:pic>
        <p:nvPicPr>
          <p:cNvPr descr="preencoded.png" id="78" name="Google Shape;78;p23"/>
          <p:cNvPicPr preferRelativeResize="0"/>
          <p:nvPr/>
        </p:nvPicPr>
        <p:blipFill rotWithShape="1">
          <a:blip r:embed="rId4">
            <a:alphaModFix/>
          </a:blip>
          <a:srcRect b="0" l="0" r="0" t="0"/>
          <a:stretch/>
        </p:blipFill>
        <p:spPr>
          <a:xfrm>
            <a:off x="8309372" y="2543056"/>
            <a:ext cx="3498056" cy="1292900"/>
          </a:xfrm>
          <a:prstGeom prst="rect">
            <a:avLst/>
          </a:prstGeom>
          <a:noFill/>
          <a:ln>
            <a:noFill/>
          </a:ln>
        </p:spPr>
      </p:pic>
      <p:sp>
        <p:nvSpPr>
          <p:cNvPr id="79" name="Google Shape;79;p23"/>
          <p:cNvSpPr/>
          <p:nvPr/>
        </p:nvSpPr>
        <p:spPr>
          <a:xfrm>
            <a:off x="6434971" y="4133612"/>
            <a:ext cx="7401639" cy="620078"/>
          </a:xfrm>
          <a:prstGeom prst="rect">
            <a:avLst/>
          </a:prstGeom>
          <a:noFill/>
          <a:ln>
            <a:noFill/>
          </a:ln>
        </p:spPr>
        <p:txBody>
          <a:bodyPr anchorCtr="0" anchor="t" bIns="0" lIns="0" spcFirstLastPara="1" rIns="0" wrap="square" tIns="0">
            <a:noAutofit/>
          </a:bodyPr>
          <a:lstStyle/>
          <a:p>
            <a:pPr indent="0" lvl="0" marL="0" marR="0" rtl="1" algn="r">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אפליקציית ה-AI היוצרת של Google</a:t>
            </a:r>
            <a:endParaRPr b="0" i="0" sz="3900" u="none" cap="none" strike="noStrike"/>
          </a:p>
        </p:txBody>
      </p:sp>
      <p:sp>
        <p:nvSpPr>
          <p:cNvPr id="80" name="Google Shape;80;p23"/>
          <p:cNvSpPr/>
          <p:nvPr/>
        </p:nvSpPr>
        <p:spPr>
          <a:xfrm>
            <a:off x="6280190" y="5051346"/>
            <a:ext cx="7556421" cy="63507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מבוא מקיף למודל הבינה המלאכותית המתקדם של Google — הכלי שמשנה את האופן שבו אנו עובדים, יוצרים ומתקשרים עם טכנולוגיה.</a:t>
            </a:r>
            <a:endParaRPr b="0" i="0" sz="15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24"/>
          <p:cNvSpPr/>
          <p:nvPr/>
        </p:nvSpPr>
        <p:spPr>
          <a:xfrm>
            <a:off x="11355705" y="722352"/>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D75BE2"/>
              </a:buClr>
              <a:buSzPts val="1950"/>
              <a:buFont typeface="Rubik"/>
              <a:buNone/>
            </a:pPr>
            <a:r>
              <a:rPr b="0" i="0" lang="en-US" sz="1950" u="none" cap="none" strike="noStrike">
                <a:solidFill>
                  <a:srgbClr val="D75BE2"/>
                </a:solidFill>
                <a:latin typeface="Rubik"/>
                <a:ea typeface="Rubik"/>
                <a:cs typeface="Rubik"/>
                <a:sym typeface="Rubik"/>
              </a:rPr>
              <a:t>סדר היום</a:t>
            </a:r>
            <a:endParaRPr b="0" i="0" sz="1950" u="none" cap="none" strike="noStrike"/>
          </a:p>
        </p:txBody>
      </p:sp>
      <p:sp>
        <p:nvSpPr>
          <p:cNvPr id="87" name="Google Shape;87;p24"/>
          <p:cNvSpPr/>
          <p:nvPr/>
        </p:nvSpPr>
        <p:spPr>
          <a:xfrm>
            <a:off x="8874800" y="1111806"/>
            <a:ext cx="4961811" cy="620078"/>
          </a:xfrm>
          <a:prstGeom prst="rect">
            <a:avLst/>
          </a:prstGeom>
          <a:noFill/>
          <a:ln>
            <a:noFill/>
          </a:ln>
        </p:spPr>
        <p:txBody>
          <a:bodyPr anchorCtr="0" anchor="t" bIns="0" lIns="0" spcFirstLastPara="1" rIns="0" wrap="square" tIns="0">
            <a:noAutofit/>
          </a:bodyPr>
          <a:lstStyle/>
          <a:p>
            <a:pPr indent="0" lvl="0" marL="0" marR="0" rtl="1" algn="r">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מה נלמד היום?</a:t>
            </a:r>
            <a:endParaRPr b="0" i="0" sz="3900" u="none" cap="none" strike="noStrike"/>
          </a:p>
        </p:txBody>
      </p:sp>
      <p:sp>
        <p:nvSpPr>
          <p:cNvPr id="88" name="Google Shape;88;p24"/>
          <p:cNvSpPr/>
          <p:nvPr/>
        </p:nvSpPr>
        <p:spPr>
          <a:xfrm>
            <a:off x="793790" y="2029539"/>
            <a:ext cx="13042821" cy="31754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בהרצאה זו נסקור את עולם Gemini של Google — ממבנה המודל ועד ליישומים מעשיים בחיי היום-יום ובסביבת העבודה.</a:t>
            </a:r>
            <a:endParaRPr b="0" i="0" sz="1550" u="none" cap="none" strike="noStrike"/>
          </a:p>
        </p:txBody>
      </p:sp>
      <p:sp>
        <p:nvSpPr>
          <p:cNvPr id="89" name="Google Shape;89;p24"/>
          <p:cNvSpPr/>
          <p:nvPr/>
        </p:nvSpPr>
        <p:spPr>
          <a:xfrm>
            <a:off x="13095148" y="2570325"/>
            <a:ext cx="741300" cy="24810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Rubik"/>
              <a:buNone/>
            </a:pPr>
            <a:r>
              <a:rPr b="0" i="0" lang="en-US" sz="1550" u="none" cap="none" strike="noStrike">
                <a:solidFill>
                  <a:srgbClr val="272525"/>
                </a:solidFill>
                <a:latin typeface="Rubik"/>
                <a:ea typeface="Rubik"/>
                <a:cs typeface="Rubik"/>
                <a:sym typeface="Rubik"/>
              </a:rPr>
              <a:t>01</a:t>
            </a:r>
            <a:endParaRPr b="0" i="0" sz="1550" u="none" cap="none" strike="noStrike"/>
          </a:p>
        </p:txBody>
      </p:sp>
      <p:sp>
        <p:nvSpPr>
          <p:cNvPr id="90" name="Google Shape;90;p24"/>
          <p:cNvSpPr/>
          <p:nvPr/>
        </p:nvSpPr>
        <p:spPr>
          <a:xfrm>
            <a:off x="9621322" y="2884646"/>
            <a:ext cx="4215289" cy="22860"/>
          </a:xfrm>
          <a:prstGeom prst="rect">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4"/>
          <p:cNvSpPr/>
          <p:nvPr/>
        </p:nvSpPr>
        <p:spPr>
          <a:xfrm>
            <a:off x="11355705" y="3029545"/>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רקע על Gemini</a:t>
            </a:r>
            <a:endParaRPr b="0" i="0" sz="1950" u="none" cap="none" strike="noStrike"/>
          </a:p>
        </p:txBody>
      </p:sp>
      <p:sp>
        <p:nvSpPr>
          <p:cNvPr id="92" name="Google Shape;92;p24"/>
          <p:cNvSpPr/>
          <p:nvPr/>
        </p:nvSpPr>
        <p:spPr>
          <a:xfrm>
            <a:off x="9621322" y="3458766"/>
            <a:ext cx="4215289" cy="63507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מה זה Gemini, מאיפה הגיע ומה הופך אותו לייחודי בנוף הבינה המלאכותית</a:t>
            </a:r>
            <a:endParaRPr b="0" i="0" sz="1550" u="none" cap="none" strike="noStrike"/>
          </a:p>
        </p:txBody>
      </p:sp>
      <p:sp>
        <p:nvSpPr>
          <p:cNvPr id="93" name="Google Shape;93;p24"/>
          <p:cNvSpPr/>
          <p:nvPr/>
        </p:nvSpPr>
        <p:spPr>
          <a:xfrm>
            <a:off x="8244109" y="2570325"/>
            <a:ext cx="1179000" cy="24810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Rubik"/>
              <a:buNone/>
            </a:pPr>
            <a:r>
              <a:rPr b="0" i="0" lang="en-US" sz="1550" u="none" cap="none" strike="noStrike">
                <a:solidFill>
                  <a:srgbClr val="272525"/>
                </a:solidFill>
                <a:latin typeface="Rubik"/>
                <a:ea typeface="Rubik"/>
                <a:cs typeface="Rubik"/>
                <a:sym typeface="Rubik"/>
              </a:rPr>
              <a:t>02</a:t>
            </a:r>
            <a:endParaRPr b="0" i="0" sz="1550" u="none" cap="none" strike="noStrike"/>
          </a:p>
        </p:txBody>
      </p:sp>
      <p:sp>
        <p:nvSpPr>
          <p:cNvPr id="94" name="Google Shape;94;p24"/>
          <p:cNvSpPr/>
          <p:nvPr/>
        </p:nvSpPr>
        <p:spPr>
          <a:xfrm>
            <a:off x="5207556" y="2884646"/>
            <a:ext cx="4215408" cy="22860"/>
          </a:xfrm>
          <a:prstGeom prst="rect">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4"/>
          <p:cNvSpPr/>
          <p:nvPr/>
        </p:nvSpPr>
        <p:spPr>
          <a:xfrm>
            <a:off x="6942058" y="3029545"/>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יתרונות מרכזיים</a:t>
            </a:r>
            <a:endParaRPr b="0" i="0" sz="1950" u="none" cap="none" strike="noStrike"/>
          </a:p>
        </p:txBody>
      </p:sp>
      <p:sp>
        <p:nvSpPr>
          <p:cNvPr id="96" name="Google Shape;96;p24"/>
          <p:cNvSpPr/>
          <p:nvPr/>
        </p:nvSpPr>
        <p:spPr>
          <a:xfrm>
            <a:off x="5207556" y="3458766"/>
            <a:ext cx="4215408" cy="63507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ההבדלים המשמעותיים בין Gemini לבין כלי AI שיחתיים אחרים כגון ChatGPT</a:t>
            </a:r>
            <a:endParaRPr b="0" i="0" sz="1550" u="none" cap="none" strike="noStrike"/>
          </a:p>
        </p:txBody>
      </p:sp>
      <p:sp>
        <p:nvSpPr>
          <p:cNvPr id="97" name="Google Shape;97;p24"/>
          <p:cNvSpPr/>
          <p:nvPr/>
        </p:nvSpPr>
        <p:spPr>
          <a:xfrm>
            <a:off x="4267909" y="2570325"/>
            <a:ext cx="741300" cy="24810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Rubik"/>
              <a:buNone/>
            </a:pPr>
            <a:r>
              <a:rPr b="0" i="0" lang="en-US" sz="1550" u="none" cap="none" strike="noStrike">
                <a:solidFill>
                  <a:srgbClr val="272525"/>
                </a:solidFill>
                <a:latin typeface="Rubik"/>
                <a:ea typeface="Rubik"/>
                <a:cs typeface="Rubik"/>
                <a:sym typeface="Rubik"/>
              </a:rPr>
              <a:t>03</a:t>
            </a:r>
            <a:endParaRPr b="0" i="0" sz="1550" u="none" cap="none" strike="noStrike"/>
          </a:p>
        </p:txBody>
      </p:sp>
      <p:sp>
        <p:nvSpPr>
          <p:cNvPr id="98" name="Google Shape;98;p24"/>
          <p:cNvSpPr/>
          <p:nvPr/>
        </p:nvSpPr>
        <p:spPr>
          <a:xfrm>
            <a:off x="793909" y="2884646"/>
            <a:ext cx="4215289" cy="22860"/>
          </a:xfrm>
          <a:prstGeom prst="rect">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4"/>
          <p:cNvSpPr/>
          <p:nvPr/>
        </p:nvSpPr>
        <p:spPr>
          <a:xfrm>
            <a:off x="2528292" y="3029545"/>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דוגמאות מעשיות</a:t>
            </a:r>
            <a:endParaRPr b="0" i="0" sz="1950" u="none" cap="none" strike="noStrike"/>
          </a:p>
        </p:txBody>
      </p:sp>
      <p:sp>
        <p:nvSpPr>
          <p:cNvPr id="100" name="Google Shape;100;p24"/>
          <p:cNvSpPr/>
          <p:nvPr/>
        </p:nvSpPr>
        <p:spPr>
          <a:xfrm>
            <a:off x="793909" y="3458766"/>
            <a:ext cx="4215289" cy="63507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מקרי שימוש אמיתיים, תוספים, ושילוב Gemini במוצרי Google</a:t>
            </a:r>
            <a:endParaRPr b="0" i="0" sz="1550" u="none" cap="none" strike="noStrike"/>
          </a:p>
        </p:txBody>
      </p:sp>
      <p:pic>
        <p:nvPicPr>
          <p:cNvPr descr="preencoded.png" id="101" name="Google Shape;101;p24"/>
          <p:cNvPicPr preferRelativeResize="0"/>
          <p:nvPr/>
        </p:nvPicPr>
        <p:blipFill rotWithShape="1">
          <a:blip r:embed="rId3">
            <a:alphaModFix/>
          </a:blip>
          <a:srcRect b="0" l="0" r="0" t="0"/>
          <a:stretch/>
        </p:blipFill>
        <p:spPr>
          <a:xfrm>
            <a:off x="3665759" y="4927940"/>
            <a:ext cx="7299007" cy="30412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5"/>
          <p:cNvSpPr/>
          <p:nvPr/>
        </p:nvSpPr>
        <p:spPr>
          <a:xfrm>
            <a:off x="4189452" y="2203013"/>
            <a:ext cx="9647158" cy="620078"/>
          </a:xfrm>
          <a:prstGeom prst="rect">
            <a:avLst/>
          </a:prstGeom>
          <a:noFill/>
          <a:ln>
            <a:noFill/>
          </a:ln>
        </p:spPr>
        <p:txBody>
          <a:bodyPr anchorCtr="0" anchor="t" bIns="0" lIns="0" spcFirstLastPara="1" rIns="0" wrap="square" tIns="0">
            <a:noAutofit/>
          </a:bodyPr>
          <a:lstStyle/>
          <a:p>
            <a:pPr indent="0" lvl="0" marL="0" marR="0" rtl="1" algn="r">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הכירו את Gemini – הזהות החדשה של Google</a:t>
            </a:r>
            <a:endParaRPr b="0" i="0" sz="3900" u="none" cap="none" strike="noStrike"/>
          </a:p>
        </p:txBody>
      </p:sp>
      <p:sp>
        <p:nvSpPr>
          <p:cNvPr id="108" name="Google Shape;108;p25"/>
          <p:cNvSpPr/>
          <p:nvPr/>
        </p:nvSpPr>
        <p:spPr>
          <a:xfrm>
            <a:off x="793790" y="3120747"/>
            <a:ext cx="13042821" cy="63507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Gemini הוא לא רק מודל AI נוסף, אלא המודל המתקדם והגדול ביותר של Google. הוא החליף את המותג Bard ומאחד תחתיו את כל כלי הבינה המלאכותית של החברה, ומסמן עידן חדש ביכולות AI.</a:t>
            </a:r>
            <a:endParaRPr b="0" i="0" sz="1550" u="none" cap="none" strike="noStrike"/>
          </a:p>
        </p:txBody>
      </p:sp>
      <p:sp>
        <p:nvSpPr>
          <p:cNvPr id="109" name="Google Shape;109;p25"/>
          <p:cNvSpPr/>
          <p:nvPr/>
        </p:nvSpPr>
        <p:spPr>
          <a:xfrm>
            <a:off x="9621322" y="3979069"/>
            <a:ext cx="4215289" cy="1506736"/>
          </a:xfrm>
          <a:prstGeom prst="roundRect">
            <a:avLst>
              <a:gd fmla="val 7282" name="adj"/>
            </a:avLst>
          </a:prstGeom>
          <a:solidFill>
            <a:srgbClr val="FFFFFF"/>
          </a:solidFill>
          <a:ln cap="flat" cmpd="sng" w="22850">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r">
              <a:spcBef>
                <a:spcPts val="0"/>
              </a:spcBef>
              <a:spcAft>
                <a:spcPts val="0"/>
              </a:spcAft>
              <a:buNone/>
            </a:pPr>
            <a:r>
              <a:t/>
            </a:r>
            <a:endParaRPr/>
          </a:p>
        </p:txBody>
      </p:sp>
      <p:sp>
        <p:nvSpPr>
          <p:cNvPr id="110" name="Google Shape;110;p25"/>
          <p:cNvSpPr/>
          <p:nvPr/>
        </p:nvSpPr>
        <p:spPr>
          <a:xfrm>
            <a:off x="13768030" y="3979069"/>
            <a:ext cx="91440" cy="1506736"/>
          </a:xfrm>
          <a:prstGeom prst="roundRect">
            <a:avLst>
              <a:gd fmla="val 91163" name="adj"/>
            </a:avLst>
          </a:prstGeom>
          <a:solidFill>
            <a:srgbClr val="D75BE2"/>
          </a:solidFill>
          <a:ln>
            <a:noFill/>
          </a:ln>
        </p:spPr>
        <p:txBody>
          <a:bodyPr anchorCtr="0" anchor="ctr" bIns="91425" lIns="91425" spcFirstLastPara="1" rIns="91425" wrap="square" tIns="91425">
            <a:noAutofit/>
          </a:bodyPr>
          <a:lstStyle/>
          <a:p>
            <a:pPr indent="0" lvl="0" marL="0" rtl="1" algn="r">
              <a:spcBef>
                <a:spcPts val="0"/>
              </a:spcBef>
              <a:spcAft>
                <a:spcPts val="0"/>
              </a:spcAft>
              <a:buNone/>
            </a:pPr>
            <a:r>
              <a:t/>
            </a:r>
            <a:endParaRPr/>
          </a:p>
        </p:txBody>
      </p:sp>
      <p:sp>
        <p:nvSpPr>
          <p:cNvPr id="111" name="Google Shape;111;p25"/>
          <p:cNvSpPr/>
          <p:nvPr/>
        </p:nvSpPr>
        <p:spPr>
          <a:xfrm>
            <a:off x="11065907" y="4200287"/>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מהו Gemini?</a:t>
            </a:r>
            <a:endParaRPr b="0" i="0" sz="1950" u="none" cap="none" strike="noStrike"/>
          </a:p>
        </p:txBody>
      </p:sp>
      <p:sp>
        <p:nvSpPr>
          <p:cNvPr id="112" name="Google Shape;112;p25"/>
          <p:cNvSpPr/>
          <p:nvPr/>
        </p:nvSpPr>
        <p:spPr>
          <a:xfrm>
            <a:off x="9842540" y="4629507"/>
            <a:ext cx="3704273" cy="63507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האינטליגנציה המלאכותית החזקה של גוגל, המאחדת מגוון יכולות תחת מותג אחד.</a:t>
            </a:r>
            <a:endParaRPr b="0" i="0" sz="1550" u="none" cap="none" strike="noStrike"/>
          </a:p>
        </p:txBody>
      </p:sp>
      <p:sp>
        <p:nvSpPr>
          <p:cNvPr id="113" name="Google Shape;113;p25"/>
          <p:cNvSpPr/>
          <p:nvPr/>
        </p:nvSpPr>
        <p:spPr>
          <a:xfrm>
            <a:off x="5207556" y="3979069"/>
            <a:ext cx="4215408" cy="1506736"/>
          </a:xfrm>
          <a:prstGeom prst="roundRect">
            <a:avLst>
              <a:gd fmla="val 7282" name="adj"/>
            </a:avLst>
          </a:prstGeom>
          <a:solidFill>
            <a:srgbClr val="FFFFFF"/>
          </a:solidFill>
          <a:ln cap="flat" cmpd="sng" w="22850">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r">
              <a:spcBef>
                <a:spcPts val="0"/>
              </a:spcBef>
              <a:spcAft>
                <a:spcPts val="0"/>
              </a:spcAft>
              <a:buNone/>
            </a:pPr>
            <a:r>
              <a:t/>
            </a:r>
            <a:endParaRPr/>
          </a:p>
        </p:txBody>
      </p:sp>
      <p:sp>
        <p:nvSpPr>
          <p:cNvPr id="114" name="Google Shape;114;p25"/>
          <p:cNvSpPr/>
          <p:nvPr/>
        </p:nvSpPr>
        <p:spPr>
          <a:xfrm>
            <a:off x="9354383" y="3979069"/>
            <a:ext cx="91440" cy="1506736"/>
          </a:xfrm>
          <a:prstGeom prst="roundRect">
            <a:avLst>
              <a:gd fmla="val 91163" name="adj"/>
            </a:avLst>
          </a:prstGeom>
          <a:solidFill>
            <a:srgbClr val="D75BE2"/>
          </a:solidFill>
          <a:ln>
            <a:noFill/>
          </a:ln>
        </p:spPr>
        <p:txBody>
          <a:bodyPr anchorCtr="0" anchor="ctr" bIns="91425" lIns="91425" spcFirstLastPara="1" rIns="91425" wrap="square" tIns="91425">
            <a:noAutofit/>
          </a:bodyPr>
          <a:lstStyle/>
          <a:p>
            <a:pPr indent="0" lvl="0" marL="0" rtl="1" algn="r">
              <a:spcBef>
                <a:spcPts val="0"/>
              </a:spcBef>
              <a:spcAft>
                <a:spcPts val="0"/>
              </a:spcAft>
              <a:buNone/>
            </a:pPr>
            <a:r>
              <a:t/>
            </a:r>
            <a:endParaRPr/>
          </a:p>
        </p:txBody>
      </p:sp>
      <p:sp>
        <p:nvSpPr>
          <p:cNvPr id="115" name="Google Shape;115;p25"/>
          <p:cNvSpPr/>
          <p:nvPr/>
        </p:nvSpPr>
        <p:spPr>
          <a:xfrm>
            <a:off x="6652260" y="4200287"/>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החזון</a:t>
            </a:r>
            <a:endParaRPr b="0" i="0" sz="1950" u="none" cap="none" strike="noStrike"/>
          </a:p>
        </p:txBody>
      </p:sp>
      <p:sp>
        <p:nvSpPr>
          <p:cNvPr id="116" name="Google Shape;116;p25"/>
          <p:cNvSpPr/>
          <p:nvPr/>
        </p:nvSpPr>
        <p:spPr>
          <a:xfrm>
            <a:off x="5428774" y="4629507"/>
            <a:ext cx="3704392" cy="63507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יצירת עוזר אישי אינטליגנטי ורב-ממדי, המסוגל להבין ולפעול על פני סוגי מידע שונים במקביל.</a:t>
            </a:r>
            <a:endParaRPr b="0" i="0" sz="1550" u="none" cap="none" strike="noStrike"/>
          </a:p>
        </p:txBody>
      </p:sp>
      <p:sp>
        <p:nvSpPr>
          <p:cNvPr id="117" name="Google Shape;117;p25"/>
          <p:cNvSpPr/>
          <p:nvPr/>
        </p:nvSpPr>
        <p:spPr>
          <a:xfrm>
            <a:off x="793909" y="3979069"/>
            <a:ext cx="4215289" cy="1506736"/>
          </a:xfrm>
          <a:prstGeom prst="roundRect">
            <a:avLst>
              <a:gd fmla="val 7282" name="adj"/>
            </a:avLst>
          </a:prstGeom>
          <a:solidFill>
            <a:srgbClr val="FFFFFF"/>
          </a:solidFill>
          <a:ln cap="flat" cmpd="sng" w="22850">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r">
              <a:spcBef>
                <a:spcPts val="0"/>
              </a:spcBef>
              <a:spcAft>
                <a:spcPts val="0"/>
              </a:spcAft>
              <a:buNone/>
            </a:pPr>
            <a:r>
              <a:t/>
            </a:r>
            <a:endParaRPr/>
          </a:p>
        </p:txBody>
      </p:sp>
      <p:sp>
        <p:nvSpPr>
          <p:cNvPr id="118" name="Google Shape;118;p25"/>
          <p:cNvSpPr/>
          <p:nvPr/>
        </p:nvSpPr>
        <p:spPr>
          <a:xfrm>
            <a:off x="4940618" y="3979069"/>
            <a:ext cx="91440" cy="1506736"/>
          </a:xfrm>
          <a:prstGeom prst="roundRect">
            <a:avLst>
              <a:gd fmla="val 91163" name="adj"/>
            </a:avLst>
          </a:prstGeom>
          <a:solidFill>
            <a:srgbClr val="D75BE2"/>
          </a:solidFill>
          <a:ln>
            <a:noFill/>
          </a:ln>
        </p:spPr>
        <p:txBody>
          <a:bodyPr anchorCtr="0" anchor="ctr" bIns="91425" lIns="91425" spcFirstLastPara="1" rIns="91425" wrap="square" tIns="91425">
            <a:noAutofit/>
          </a:bodyPr>
          <a:lstStyle/>
          <a:p>
            <a:pPr indent="0" lvl="0" marL="0" rtl="1" algn="r">
              <a:spcBef>
                <a:spcPts val="0"/>
              </a:spcBef>
              <a:spcAft>
                <a:spcPts val="0"/>
              </a:spcAft>
              <a:buNone/>
            </a:pPr>
            <a:r>
              <a:t/>
            </a:r>
            <a:endParaRPr/>
          </a:p>
        </p:txBody>
      </p:sp>
      <p:sp>
        <p:nvSpPr>
          <p:cNvPr id="119" name="Google Shape;119;p25"/>
          <p:cNvSpPr/>
          <p:nvPr/>
        </p:nvSpPr>
        <p:spPr>
          <a:xfrm>
            <a:off x="2238494" y="4200287"/>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זמינות</a:t>
            </a:r>
            <a:endParaRPr b="0" i="0" sz="1950" u="none" cap="none" strike="noStrike"/>
          </a:p>
        </p:txBody>
      </p:sp>
      <p:sp>
        <p:nvSpPr>
          <p:cNvPr id="120" name="Google Shape;120;p25"/>
          <p:cNvSpPr/>
          <p:nvPr/>
        </p:nvSpPr>
        <p:spPr>
          <a:xfrm>
            <a:off x="1015127" y="4629507"/>
            <a:ext cx="3704273" cy="63507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מודל נגיש הן למשתמשי קצה (דרך האתר והאפליקציה) והן למפתחים (דרך API).</a:t>
            </a:r>
            <a:endParaRPr b="0" i="0" sz="1550" u="none" cap="none" strike="noStrike"/>
          </a:p>
        </p:txBody>
      </p:sp>
      <p:sp>
        <p:nvSpPr>
          <p:cNvPr id="121" name="Google Shape;121;p25"/>
          <p:cNvSpPr/>
          <p:nvPr/>
        </p:nvSpPr>
        <p:spPr>
          <a:xfrm>
            <a:off x="793790" y="5709047"/>
            <a:ext cx="13042821" cy="31754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חשוב לציין שאמנם עבור הקורס הזה נשתמש בGemini אך העקרונות שנלמד רלוונטים לכל מודל שפה בשוק</a:t>
            </a:r>
            <a:endParaRPr b="0" i="0" sz="15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descr="preencoded.png" id="127" name="Google Shape;127;p26"/>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28" name="Google Shape;128;p26"/>
          <p:cNvSpPr/>
          <p:nvPr/>
        </p:nvSpPr>
        <p:spPr>
          <a:xfrm>
            <a:off x="3388400" y="1651278"/>
            <a:ext cx="4961811" cy="620078"/>
          </a:xfrm>
          <a:prstGeom prst="rect">
            <a:avLst/>
          </a:prstGeom>
          <a:noFill/>
          <a:ln>
            <a:noFill/>
          </a:ln>
        </p:spPr>
        <p:txBody>
          <a:bodyPr anchorCtr="0" anchor="t" bIns="0" lIns="0" spcFirstLastPara="1" rIns="0" wrap="square" tIns="0">
            <a:noAutofit/>
          </a:bodyPr>
          <a:lstStyle/>
          <a:p>
            <a:pPr indent="0" lvl="0" marL="0" marR="0" rtl="1" algn="r">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רקע על Gemini</a:t>
            </a:r>
            <a:endParaRPr b="0" i="0" sz="3900" u="none" cap="none" strike="noStrike"/>
          </a:p>
        </p:txBody>
      </p:sp>
      <p:sp>
        <p:nvSpPr>
          <p:cNvPr id="129" name="Google Shape;129;p26"/>
          <p:cNvSpPr/>
          <p:nvPr/>
        </p:nvSpPr>
        <p:spPr>
          <a:xfrm>
            <a:off x="793790" y="2569012"/>
            <a:ext cx="7556421" cy="63507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Gemini הוא מודל שפה גדול (LLM) מבית Google AI Research — הנדסה בקנה מידה עולמי שנבנתה לטפל במגוון רחב של משימות קוגניטיביות מורכבות.</a:t>
            </a:r>
            <a:endParaRPr b="0" i="0" sz="1550" u="none" cap="none" strike="noStrike"/>
          </a:p>
        </p:txBody>
      </p:sp>
      <p:sp>
        <p:nvSpPr>
          <p:cNvPr id="130" name="Google Shape;130;p26"/>
          <p:cNvSpPr/>
          <p:nvPr/>
        </p:nvSpPr>
        <p:spPr>
          <a:xfrm>
            <a:off x="4671179" y="3427333"/>
            <a:ext cx="3679031" cy="1793796"/>
          </a:xfrm>
          <a:prstGeom prst="roundRect">
            <a:avLst>
              <a:gd fmla="val 4647"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r">
              <a:spcBef>
                <a:spcPts val="0"/>
              </a:spcBef>
              <a:spcAft>
                <a:spcPts val="0"/>
              </a:spcAft>
              <a:buNone/>
            </a:pPr>
            <a:r>
              <a:t/>
            </a:r>
            <a:endParaRPr/>
          </a:p>
        </p:txBody>
      </p:sp>
      <p:sp>
        <p:nvSpPr>
          <p:cNvPr id="131" name="Google Shape;131;p26"/>
          <p:cNvSpPr/>
          <p:nvPr/>
        </p:nvSpPr>
        <p:spPr>
          <a:xfrm>
            <a:off x="5663327" y="3633311"/>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מולטי-מודאלי</a:t>
            </a:r>
            <a:endParaRPr b="0" i="0" sz="1950" u="none" cap="none" strike="noStrike"/>
          </a:p>
        </p:txBody>
      </p:sp>
      <p:sp>
        <p:nvSpPr>
          <p:cNvPr id="132" name="Google Shape;132;p26"/>
          <p:cNvSpPr/>
          <p:nvPr/>
        </p:nvSpPr>
        <p:spPr>
          <a:xfrm>
            <a:off x="4877157" y="4062532"/>
            <a:ext cx="3267075" cy="95261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מבין ומייצר טקסט, תמונות, קוד, שמע ווידאו בו-זמנית — לא רק טקסט כמו מודלים קודמים</a:t>
            </a:r>
            <a:endParaRPr b="0" i="0" sz="1550" u="none" cap="none" strike="noStrike"/>
          </a:p>
        </p:txBody>
      </p:sp>
      <p:sp>
        <p:nvSpPr>
          <p:cNvPr id="133" name="Google Shape;133;p26"/>
          <p:cNvSpPr/>
          <p:nvPr/>
        </p:nvSpPr>
        <p:spPr>
          <a:xfrm>
            <a:off x="793790" y="3427333"/>
            <a:ext cx="3679031" cy="1793796"/>
          </a:xfrm>
          <a:prstGeom prst="roundRect">
            <a:avLst>
              <a:gd fmla="val 4647"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r">
              <a:spcBef>
                <a:spcPts val="0"/>
              </a:spcBef>
              <a:spcAft>
                <a:spcPts val="0"/>
              </a:spcAft>
              <a:buNone/>
            </a:pPr>
            <a:r>
              <a:t/>
            </a:r>
            <a:endParaRPr/>
          </a:p>
        </p:txBody>
      </p:sp>
      <p:sp>
        <p:nvSpPr>
          <p:cNvPr id="134" name="Google Shape;134;p26"/>
          <p:cNvSpPr/>
          <p:nvPr/>
        </p:nvSpPr>
        <p:spPr>
          <a:xfrm>
            <a:off x="1785938" y="3633311"/>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מובנה עם Google</a:t>
            </a:r>
            <a:endParaRPr b="0" i="0" sz="1950" u="none" cap="none" strike="noStrike"/>
          </a:p>
        </p:txBody>
      </p:sp>
      <p:sp>
        <p:nvSpPr>
          <p:cNvPr id="135" name="Google Shape;135;p26"/>
          <p:cNvSpPr/>
          <p:nvPr/>
        </p:nvSpPr>
        <p:spPr>
          <a:xfrm>
            <a:off x="999768" y="4062532"/>
            <a:ext cx="3267075" cy="95261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נבנה מהיסוד עם אינטגרציה עמוקה לתשתיות ומוצרי Google — חיפוש, Gmail, Docs ועוד</a:t>
            </a:r>
            <a:endParaRPr b="0" i="0" sz="1550" u="none" cap="none" strike="noStrike"/>
          </a:p>
        </p:txBody>
      </p:sp>
      <p:sp>
        <p:nvSpPr>
          <p:cNvPr id="136" name="Google Shape;136;p26"/>
          <p:cNvSpPr/>
          <p:nvPr/>
        </p:nvSpPr>
        <p:spPr>
          <a:xfrm>
            <a:off x="793790" y="5419487"/>
            <a:ext cx="7556421" cy="1158716"/>
          </a:xfrm>
          <a:prstGeom prst="roundRect">
            <a:avLst>
              <a:gd fmla="val 7194"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r">
              <a:spcBef>
                <a:spcPts val="0"/>
              </a:spcBef>
              <a:spcAft>
                <a:spcPts val="0"/>
              </a:spcAft>
              <a:buNone/>
            </a:pPr>
            <a:r>
              <a:t/>
            </a:r>
            <a:endParaRPr/>
          </a:p>
        </p:txBody>
      </p:sp>
      <p:sp>
        <p:nvSpPr>
          <p:cNvPr id="137" name="Google Shape;137;p26"/>
          <p:cNvSpPr/>
          <p:nvPr/>
        </p:nvSpPr>
        <p:spPr>
          <a:xfrm>
            <a:off x="5663327" y="5625465"/>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מחקר מתקדם</a:t>
            </a:r>
            <a:endParaRPr b="0" i="0" sz="1950" u="none" cap="none" strike="noStrike"/>
          </a:p>
        </p:txBody>
      </p:sp>
      <p:sp>
        <p:nvSpPr>
          <p:cNvPr id="138" name="Google Shape;138;p26"/>
          <p:cNvSpPr/>
          <p:nvPr/>
        </p:nvSpPr>
        <p:spPr>
          <a:xfrm>
            <a:off x="999768" y="6054685"/>
            <a:ext cx="7144464" cy="31754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מבוסס על מחקר AI מהחדיש בעולם, עם יכולות הבנה והיסק ברמה הגבוהה ביותר</a:t>
            </a:r>
            <a:endParaRPr b="0" i="0" sz="15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p:nvPr/>
        </p:nvSpPr>
        <p:spPr>
          <a:xfrm>
            <a:off x="8874800" y="1160264"/>
            <a:ext cx="4961811" cy="620078"/>
          </a:xfrm>
          <a:prstGeom prst="rect">
            <a:avLst/>
          </a:prstGeom>
          <a:noFill/>
          <a:ln>
            <a:noFill/>
          </a:ln>
        </p:spPr>
        <p:txBody>
          <a:bodyPr anchorCtr="0" anchor="t" bIns="0" lIns="0" spcFirstLastPara="1" rIns="0" wrap="square" tIns="0">
            <a:noAutofit/>
          </a:bodyPr>
          <a:lstStyle/>
          <a:p>
            <a:pPr indent="0" lvl="0" marL="0" marR="0" rtl="1" algn="r">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האבולוציה של Gemini</a:t>
            </a:r>
            <a:endParaRPr b="0" i="0" sz="3900" u="none" cap="none" strike="noStrike"/>
          </a:p>
        </p:txBody>
      </p:sp>
      <p:sp>
        <p:nvSpPr>
          <p:cNvPr id="145" name="Google Shape;145;p27"/>
          <p:cNvSpPr/>
          <p:nvPr/>
        </p:nvSpPr>
        <p:spPr>
          <a:xfrm>
            <a:off x="793790" y="2177177"/>
            <a:ext cx="13042821" cy="31754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מאז השקתו, Gemini עבר מסלול התפתחות מואץ — מדגם ניסיוני לפלטפורמה מלאה הזמינה למיליוני משתמשים ברחבי העולם.</a:t>
            </a:r>
            <a:endParaRPr b="0" i="0" sz="1550" u="none" cap="none" strike="noStrike"/>
          </a:p>
        </p:txBody>
      </p:sp>
      <p:sp>
        <p:nvSpPr>
          <p:cNvPr id="146" name="Google Shape;146;p27"/>
          <p:cNvSpPr/>
          <p:nvPr/>
        </p:nvSpPr>
        <p:spPr>
          <a:xfrm>
            <a:off x="793790" y="4893588"/>
            <a:ext cx="13042821" cy="22860"/>
          </a:xfrm>
          <a:prstGeom prst="roundRect">
            <a:avLst>
              <a:gd fmla="val 364651" name="adj"/>
            </a:avLst>
          </a:prstGeom>
          <a:solidFill>
            <a:srgbClr val="DABADD"/>
          </a:solidFill>
          <a:ln>
            <a:noFill/>
          </a:ln>
        </p:spPr>
        <p:txBody>
          <a:bodyPr anchorCtr="0" anchor="ctr" bIns="91425" lIns="91425" spcFirstLastPara="1" rIns="91425" wrap="square" tIns="91425">
            <a:noAutofit/>
          </a:bodyPr>
          <a:lstStyle/>
          <a:p>
            <a:pPr indent="0" lvl="0" marL="0" rtl="1" algn="ctr">
              <a:spcBef>
                <a:spcPts val="0"/>
              </a:spcBef>
              <a:spcAft>
                <a:spcPts val="0"/>
              </a:spcAft>
              <a:buNone/>
            </a:pPr>
            <a:r>
              <a:t/>
            </a:r>
            <a:endParaRPr/>
          </a:p>
        </p:txBody>
      </p:sp>
      <p:sp>
        <p:nvSpPr>
          <p:cNvPr id="147" name="Google Shape;147;p27"/>
          <p:cNvSpPr/>
          <p:nvPr/>
        </p:nvSpPr>
        <p:spPr>
          <a:xfrm>
            <a:off x="12050554" y="4298275"/>
            <a:ext cx="22860" cy="595313"/>
          </a:xfrm>
          <a:prstGeom prst="roundRect">
            <a:avLst>
              <a:gd fmla="val 364651" name="adj"/>
            </a:avLst>
          </a:prstGeom>
          <a:solidFill>
            <a:srgbClr val="DABADD"/>
          </a:solidFill>
          <a:ln>
            <a:noFill/>
          </a:ln>
        </p:spPr>
        <p:txBody>
          <a:bodyPr anchorCtr="0" anchor="ctr" bIns="91425" lIns="91425" spcFirstLastPara="1" rIns="91425" wrap="square" tIns="91425">
            <a:noAutofit/>
          </a:bodyPr>
          <a:lstStyle/>
          <a:p>
            <a:pPr indent="0" lvl="0" marL="0" rtl="1" algn="ctr">
              <a:spcBef>
                <a:spcPts val="0"/>
              </a:spcBef>
              <a:spcAft>
                <a:spcPts val="0"/>
              </a:spcAft>
              <a:buNone/>
            </a:pPr>
            <a:r>
              <a:t/>
            </a:r>
            <a:endParaRPr/>
          </a:p>
        </p:txBody>
      </p:sp>
      <p:sp>
        <p:nvSpPr>
          <p:cNvPr id="148" name="Google Shape;148;p27"/>
          <p:cNvSpPr/>
          <p:nvPr/>
        </p:nvSpPr>
        <p:spPr>
          <a:xfrm>
            <a:off x="11838742" y="4670346"/>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t/>
            </a:r>
            <a:endParaRPr/>
          </a:p>
        </p:txBody>
      </p:sp>
      <p:sp>
        <p:nvSpPr>
          <p:cNvPr id="149" name="Google Shape;149;p27"/>
          <p:cNvSpPr/>
          <p:nvPr/>
        </p:nvSpPr>
        <p:spPr>
          <a:xfrm>
            <a:off x="11913156" y="4707553"/>
            <a:ext cx="297656" cy="372070"/>
          </a:xfrm>
          <a:prstGeom prst="rect">
            <a:avLst/>
          </a:prstGeom>
          <a:noFill/>
          <a:ln>
            <a:noFill/>
          </a:ln>
        </p:spPr>
        <p:txBody>
          <a:bodyPr anchorCtr="0" anchor="t" bIns="0" lIns="0" spcFirstLastPara="1" rIns="0" wrap="square" tIns="0">
            <a:noAutofit/>
          </a:bodyPr>
          <a:lstStyle/>
          <a:p>
            <a:pPr indent="0" lvl="0" marL="0" marR="0" rtl="1" algn="ctr">
              <a:lnSpc>
                <a:spcPct val="100000"/>
              </a:lnSpc>
              <a:spcBef>
                <a:spcPts val="0"/>
              </a:spcBef>
              <a:spcAft>
                <a:spcPts val="0"/>
              </a:spcAft>
              <a:buClr>
                <a:srgbClr val="272525"/>
              </a:buClr>
              <a:buSzPts val="2300"/>
              <a:buFont typeface="Rubik"/>
              <a:buNone/>
            </a:pPr>
            <a:r>
              <a:rPr b="0" i="0" lang="en-US" sz="2300" u="none" cap="none" strike="noStrike">
                <a:solidFill>
                  <a:srgbClr val="272525"/>
                </a:solidFill>
                <a:latin typeface="Rubik"/>
                <a:ea typeface="Rubik"/>
                <a:cs typeface="Rubik"/>
                <a:sym typeface="Rubik"/>
              </a:rPr>
              <a:t>1</a:t>
            </a:r>
            <a:endParaRPr b="0" i="0" sz="2300" u="none" cap="none" strike="noStrike"/>
          </a:p>
        </p:txBody>
      </p:sp>
      <p:sp>
        <p:nvSpPr>
          <p:cNvPr id="150" name="Google Shape;150;p27"/>
          <p:cNvSpPr/>
          <p:nvPr/>
        </p:nvSpPr>
        <p:spPr>
          <a:xfrm>
            <a:off x="10821472" y="2717959"/>
            <a:ext cx="2480905" cy="310158"/>
          </a:xfrm>
          <a:prstGeom prst="rect">
            <a:avLst/>
          </a:prstGeom>
          <a:noFill/>
          <a:ln>
            <a:noFill/>
          </a:ln>
        </p:spPr>
        <p:txBody>
          <a:bodyPr anchorCtr="0" anchor="t" bIns="0" lIns="0" spcFirstLastPara="1" rIns="0" wrap="square" tIns="0">
            <a:noAutofit/>
          </a:bodyPr>
          <a:lstStyle/>
          <a:p>
            <a:pPr indent="0" lvl="0" marL="0" marR="0" rtl="1" algn="ct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לפני 2023</a:t>
            </a:r>
            <a:endParaRPr b="0" i="0" sz="1950" u="none" cap="none" strike="noStrike"/>
          </a:p>
        </p:txBody>
      </p:sp>
      <p:sp>
        <p:nvSpPr>
          <p:cNvPr id="151" name="Google Shape;151;p27"/>
          <p:cNvSpPr/>
          <p:nvPr/>
        </p:nvSpPr>
        <p:spPr>
          <a:xfrm>
            <a:off x="10485596" y="3147179"/>
            <a:ext cx="3152656" cy="635079"/>
          </a:xfrm>
          <a:prstGeom prst="rect">
            <a:avLst/>
          </a:prstGeom>
          <a:noFill/>
          <a:ln>
            <a:noFill/>
          </a:ln>
        </p:spPr>
        <p:txBody>
          <a:bodyPr anchorCtr="0" anchor="t" bIns="0" lIns="0" spcFirstLastPara="1" rIns="0" wrap="square" tIns="0">
            <a:noAutofit/>
          </a:bodyPr>
          <a:lstStyle/>
          <a:p>
            <a:pPr indent="0" lvl="0" marL="0" marR="0" rtl="1" algn="ct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מודלי שפה מוקדמים (LaMDA ו-PaLM) ששימשו את Bard בתחילת דרכו.</a:t>
            </a:r>
            <a:endParaRPr b="0" i="0" sz="1550" u="none" cap="none" strike="noStrike"/>
          </a:p>
        </p:txBody>
      </p:sp>
      <p:sp>
        <p:nvSpPr>
          <p:cNvPr id="152" name="Google Shape;152;p27"/>
          <p:cNvSpPr/>
          <p:nvPr/>
        </p:nvSpPr>
        <p:spPr>
          <a:xfrm>
            <a:off x="10151864" y="4893588"/>
            <a:ext cx="22860" cy="595313"/>
          </a:xfrm>
          <a:prstGeom prst="roundRect">
            <a:avLst>
              <a:gd fmla="val 364651" name="adj"/>
            </a:avLst>
          </a:prstGeom>
          <a:solidFill>
            <a:srgbClr val="DABADD"/>
          </a:solidFill>
          <a:ln>
            <a:noFill/>
          </a:ln>
        </p:spPr>
        <p:txBody>
          <a:bodyPr anchorCtr="0" anchor="ctr" bIns="91425" lIns="91425" spcFirstLastPara="1" rIns="91425" wrap="square" tIns="91425">
            <a:noAutofit/>
          </a:bodyPr>
          <a:lstStyle/>
          <a:p>
            <a:pPr indent="0" lvl="0" marL="0" rtl="1" algn="ctr">
              <a:spcBef>
                <a:spcPts val="0"/>
              </a:spcBef>
              <a:spcAft>
                <a:spcPts val="0"/>
              </a:spcAft>
              <a:buNone/>
            </a:pPr>
            <a:r>
              <a:t/>
            </a:r>
            <a:endParaRPr/>
          </a:p>
        </p:txBody>
      </p:sp>
      <p:sp>
        <p:nvSpPr>
          <p:cNvPr id="153" name="Google Shape;153;p27"/>
          <p:cNvSpPr/>
          <p:nvPr/>
        </p:nvSpPr>
        <p:spPr>
          <a:xfrm>
            <a:off x="9940052" y="4670346"/>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t/>
            </a:r>
            <a:endParaRPr/>
          </a:p>
        </p:txBody>
      </p:sp>
      <p:sp>
        <p:nvSpPr>
          <p:cNvPr id="154" name="Google Shape;154;p27"/>
          <p:cNvSpPr/>
          <p:nvPr/>
        </p:nvSpPr>
        <p:spPr>
          <a:xfrm>
            <a:off x="10014466" y="4707553"/>
            <a:ext cx="297656" cy="372070"/>
          </a:xfrm>
          <a:prstGeom prst="rect">
            <a:avLst/>
          </a:prstGeom>
          <a:noFill/>
          <a:ln>
            <a:noFill/>
          </a:ln>
        </p:spPr>
        <p:txBody>
          <a:bodyPr anchorCtr="0" anchor="t" bIns="0" lIns="0" spcFirstLastPara="1" rIns="0" wrap="square" tIns="0">
            <a:noAutofit/>
          </a:bodyPr>
          <a:lstStyle/>
          <a:p>
            <a:pPr indent="0" lvl="0" marL="0" marR="0" rtl="1" algn="ctr">
              <a:lnSpc>
                <a:spcPct val="100000"/>
              </a:lnSpc>
              <a:spcBef>
                <a:spcPts val="0"/>
              </a:spcBef>
              <a:spcAft>
                <a:spcPts val="0"/>
              </a:spcAft>
              <a:buClr>
                <a:srgbClr val="272525"/>
              </a:buClr>
              <a:buSzPts val="2300"/>
              <a:buFont typeface="Rubik"/>
              <a:buNone/>
            </a:pPr>
            <a:r>
              <a:rPr b="0" i="0" lang="en-US" sz="2300" u="none" cap="none" strike="noStrike">
                <a:solidFill>
                  <a:srgbClr val="272525"/>
                </a:solidFill>
                <a:latin typeface="Rubik"/>
                <a:ea typeface="Rubik"/>
                <a:cs typeface="Rubik"/>
                <a:sym typeface="Rubik"/>
              </a:rPr>
              <a:t>2</a:t>
            </a:r>
            <a:endParaRPr b="0" i="0" sz="2300" u="none" cap="none" strike="noStrike"/>
          </a:p>
        </p:txBody>
      </p:sp>
      <p:sp>
        <p:nvSpPr>
          <p:cNvPr id="155" name="Google Shape;155;p27"/>
          <p:cNvSpPr/>
          <p:nvPr/>
        </p:nvSpPr>
        <p:spPr>
          <a:xfrm>
            <a:off x="8922782" y="5687378"/>
            <a:ext cx="2480905" cy="310158"/>
          </a:xfrm>
          <a:prstGeom prst="rect">
            <a:avLst/>
          </a:prstGeom>
          <a:noFill/>
          <a:ln>
            <a:noFill/>
          </a:ln>
        </p:spPr>
        <p:txBody>
          <a:bodyPr anchorCtr="0" anchor="t" bIns="0" lIns="0" spcFirstLastPara="1" rIns="0" wrap="square" tIns="0">
            <a:noAutofit/>
          </a:bodyPr>
          <a:lstStyle/>
          <a:p>
            <a:pPr indent="0" lvl="0" marL="0" marR="0" rtl="1" algn="ct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2023</a:t>
            </a:r>
            <a:endParaRPr b="0" i="0" sz="1950" u="none" cap="none" strike="noStrike"/>
          </a:p>
        </p:txBody>
      </p:sp>
      <p:sp>
        <p:nvSpPr>
          <p:cNvPr id="156" name="Google Shape;156;p27"/>
          <p:cNvSpPr/>
          <p:nvPr/>
        </p:nvSpPr>
        <p:spPr>
          <a:xfrm>
            <a:off x="8586907" y="6116598"/>
            <a:ext cx="3152656" cy="952619"/>
          </a:xfrm>
          <a:prstGeom prst="rect">
            <a:avLst/>
          </a:prstGeom>
          <a:noFill/>
          <a:ln>
            <a:noFill/>
          </a:ln>
        </p:spPr>
        <p:txBody>
          <a:bodyPr anchorCtr="0" anchor="t" bIns="0" lIns="0" spcFirstLastPara="1" rIns="0" wrap="square" tIns="0">
            <a:noAutofit/>
          </a:bodyPr>
          <a:lstStyle/>
          <a:p>
            <a:pPr indent="0" lvl="0" marL="0" marR="0" rtl="1" algn="ct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ההכרזה על Gemini תחרותי ל-GPT-4, עם דגש על אינטגרציה עמוקה באקו-סיסטם של גוגל.</a:t>
            </a:r>
            <a:endParaRPr b="0" i="0" sz="1550" u="none" cap="none" strike="noStrike"/>
          </a:p>
        </p:txBody>
      </p:sp>
      <p:sp>
        <p:nvSpPr>
          <p:cNvPr id="157" name="Google Shape;157;p27"/>
          <p:cNvSpPr/>
          <p:nvPr/>
        </p:nvSpPr>
        <p:spPr>
          <a:xfrm>
            <a:off x="8253174" y="4298275"/>
            <a:ext cx="22860" cy="595313"/>
          </a:xfrm>
          <a:prstGeom prst="roundRect">
            <a:avLst>
              <a:gd fmla="val 364651" name="adj"/>
            </a:avLst>
          </a:prstGeom>
          <a:solidFill>
            <a:srgbClr val="DABADD"/>
          </a:solidFill>
          <a:ln>
            <a:noFill/>
          </a:ln>
        </p:spPr>
        <p:txBody>
          <a:bodyPr anchorCtr="0" anchor="ctr" bIns="91425" lIns="91425" spcFirstLastPara="1" rIns="91425" wrap="square" tIns="91425">
            <a:noAutofit/>
          </a:bodyPr>
          <a:lstStyle/>
          <a:p>
            <a:pPr indent="0" lvl="0" marL="0" rtl="1" algn="ctr">
              <a:spcBef>
                <a:spcPts val="0"/>
              </a:spcBef>
              <a:spcAft>
                <a:spcPts val="0"/>
              </a:spcAft>
              <a:buNone/>
            </a:pPr>
            <a:r>
              <a:t/>
            </a:r>
            <a:endParaRPr/>
          </a:p>
        </p:txBody>
      </p:sp>
      <p:sp>
        <p:nvSpPr>
          <p:cNvPr id="158" name="Google Shape;158;p27"/>
          <p:cNvSpPr/>
          <p:nvPr/>
        </p:nvSpPr>
        <p:spPr>
          <a:xfrm>
            <a:off x="8041362" y="4670346"/>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t/>
            </a:r>
            <a:endParaRPr/>
          </a:p>
        </p:txBody>
      </p:sp>
      <p:sp>
        <p:nvSpPr>
          <p:cNvPr id="159" name="Google Shape;159;p27"/>
          <p:cNvSpPr/>
          <p:nvPr/>
        </p:nvSpPr>
        <p:spPr>
          <a:xfrm>
            <a:off x="8115776" y="4707553"/>
            <a:ext cx="297656" cy="372070"/>
          </a:xfrm>
          <a:prstGeom prst="rect">
            <a:avLst/>
          </a:prstGeom>
          <a:noFill/>
          <a:ln>
            <a:noFill/>
          </a:ln>
        </p:spPr>
        <p:txBody>
          <a:bodyPr anchorCtr="0" anchor="t" bIns="0" lIns="0" spcFirstLastPara="1" rIns="0" wrap="square" tIns="0">
            <a:noAutofit/>
          </a:bodyPr>
          <a:lstStyle/>
          <a:p>
            <a:pPr indent="0" lvl="0" marL="0" marR="0" rtl="1" algn="ctr">
              <a:lnSpc>
                <a:spcPct val="100000"/>
              </a:lnSpc>
              <a:spcBef>
                <a:spcPts val="0"/>
              </a:spcBef>
              <a:spcAft>
                <a:spcPts val="0"/>
              </a:spcAft>
              <a:buClr>
                <a:srgbClr val="272525"/>
              </a:buClr>
              <a:buSzPts val="2300"/>
              <a:buFont typeface="Rubik"/>
              <a:buNone/>
            </a:pPr>
            <a:r>
              <a:rPr b="0" i="0" lang="en-US" sz="2300" u="none" cap="none" strike="noStrike">
                <a:solidFill>
                  <a:srgbClr val="272525"/>
                </a:solidFill>
                <a:latin typeface="Rubik"/>
                <a:ea typeface="Rubik"/>
                <a:cs typeface="Rubik"/>
                <a:sym typeface="Rubik"/>
              </a:rPr>
              <a:t>3</a:t>
            </a:r>
            <a:endParaRPr b="0" i="0" sz="2300" u="none" cap="none" strike="noStrike"/>
          </a:p>
        </p:txBody>
      </p:sp>
      <p:sp>
        <p:nvSpPr>
          <p:cNvPr id="160" name="Google Shape;160;p27"/>
          <p:cNvSpPr/>
          <p:nvPr/>
        </p:nvSpPr>
        <p:spPr>
          <a:xfrm>
            <a:off x="7024092" y="2717959"/>
            <a:ext cx="2480905" cy="310158"/>
          </a:xfrm>
          <a:prstGeom prst="rect">
            <a:avLst/>
          </a:prstGeom>
          <a:noFill/>
          <a:ln>
            <a:noFill/>
          </a:ln>
        </p:spPr>
        <p:txBody>
          <a:bodyPr anchorCtr="0" anchor="t" bIns="0" lIns="0" spcFirstLastPara="1" rIns="0" wrap="square" tIns="0">
            <a:noAutofit/>
          </a:bodyPr>
          <a:lstStyle/>
          <a:p>
            <a:pPr indent="0" lvl="0" marL="0" marR="0" rtl="1" algn="ct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דצמבר 2023</a:t>
            </a:r>
            <a:endParaRPr b="0" i="0" sz="1950" u="none" cap="none" strike="noStrike"/>
          </a:p>
        </p:txBody>
      </p:sp>
      <p:sp>
        <p:nvSpPr>
          <p:cNvPr id="161" name="Google Shape;161;p27"/>
          <p:cNvSpPr/>
          <p:nvPr/>
        </p:nvSpPr>
        <p:spPr>
          <a:xfrm>
            <a:off x="6688217" y="3147179"/>
            <a:ext cx="3152656" cy="952619"/>
          </a:xfrm>
          <a:prstGeom prst="rect">
            <a:avLst/>
          </a:prstGeom>
          <a:noFill/>
          <a:ln>
            <a:noFill/>
          </a:ln>
        </p:spPr>
        <p:txBody>
          <a:bodyPr anchorCtr="0" anchor="t" bIns="0" lIns="0" spcFirstLastPara="1" rIns="0" wrap="square" tIns="0">
            <a:noAutofit/>
          </a:bodyPr>
          <a:lstStyle/>
          <a:p>
            <a:pPr indent="0" lvl="0" marL="0" marR="0" rtl="1" algn="ctr">
              <a:lnSpc>
                <a:spcPct val="161290"/>
              </a:lnSpc>
              <a:spcBef>
                <a:spcPts val="0"/>
              </a:spcBef>
              <a:spcAft>
                <a:spcPts val="0"/>
              </a:spcAft>
              <a:buClr>
                <a:srgbClr val="272525"/>
              </a:buClr>
              <a:buSzPts val="1550"/>
              <a:buFont typeface="Open Sans"/>
              <a:buNone/>
            </a:pPr>
            <a:r>
              <a:rPr b="1" i="0" lang="en-US" sz="1550" u="none" cap="none" strike="noStrike">
                <a:solidFill>
                  <a:srgbClr val="272525"/>
                </a:solidFill>
                <a:latin typeface="Open Sans"/>
                <a:ea typeface="Open Sans"/>
                <a:cs typeface="Open Sans"/>
                <a:sym typeface="Open Sans"/>
              </a:rPr>
              <a:t>Gemini Nano</a:t>
            </a:r>
            <a:r>
              <a:rPr b="0" i="0" lang="en-US" sz="1550" u="none" cap="none" strike="noStrike">
                <a:solidFill>
                  <a:srgbClr val="272525"/>
                </a:solidFill>
                <a:latin typeface="Open Sans"/>
                <a:ea typeface="Open Sans"/>
                <a:cs typeface="Open Sans"/>
                <a:sym typeface="Open Sans"/>
              </a:rPr>
              <a:t> — תחילת הדרך. תוכנן למכשירים קטנים ותגובה מהירה, בבסיס הסמארטפונים של Google</a:t>
            </a:r>
            <a:endParaRPr b="0" i="0" sz="1550" u="none" cap="none" strike="noStrike"/>
          </a:p>
        </p:txBody>
      </p:sp>
      <p:sp>
        <p:nvSpPr>
          <p:cNvPr id="162" name="Google Shape;162;p27"/>
          <p:cNvSpPr/>
          <p:nvPr/>
        </p:nvSpPr>
        <p:spPr>
          <a:xfrm>
            <a:off x="6354485" y="4893588"/>
            <a:ext cx="22860" cy="595313"/>
          </a:xfrm>
          <a:prstGeom prst="roundRect">
            <a:avLst>
              <a:gd fmla="val 364651" name="adj"/>
            </a:avLst>
          </a:prstGeom>
          <a:solidFill>
            <a:srgbClr val="DABADD"/>
          </a:solidFill>
          <a:ln>
            <a:noFill/>
          </a:ln>
        </p:spPr>
        <p:txBody>
          <a:bodyPr anchorCtr="0" anchor="ctr" bIns="91425" lIns="91425" spcFirstLastPara="1" rIns="91425" wrap="square" tIns="91425">
            <a:noAutofit/>
          </a:bodyPr>
          <a:lstStyle/>
          <a:p>
            <a:pPr indent="0" lvl="0" marL="0" rtl="1" algn="ctr">
              <a:spcBef>
                <a:spcPts val="0"/>
              </a:spcBef>
              <a:spcAft>
                <a:spcPts val="0"/>
              </a:spcAft>
              <a:buNone/>
            </a:pPr>
            <a:r>
              <a:t/>
            </a:r>
            <a:endParaRPr/>
          </a:p>
        </p:txBody>
      </p:sp>
      <p:sp>
        <p:nvSpPr>
          <p:cNvPr id="163" name="Google Shape;163;p27"/>
          <p:cNvSpPr/>
          <p:nvPr/>
        </p:nvSpPr>
        <p:spPr>
          <a:xfrm>
            <a:off x="6142673" y="4670346"/>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t/>
            </a:r>
            <a:endParaRPr/>
          </a:p>
        </p:txBody>
      </p:sp>
      <p:sp>
        <p:nvSpPr>
          <p:cNvPr id="164" name="Google Shape;164;p27"/>
          <p:cNvSpPr/>
          <p:nvPr/>
        </p:nvSpPr>
        <p:spPr>
          <a:xfrm>
            <a:off x="6217087" y="4707553"/>
            <a:ext cx="297656" cy="372070"/>
          </a:xfrm>
          <a:prstGeom prst="rect">
            <a:avLst/>
          </a:prstGeom>
          <a:noFill/>
          <a:ln>
            <a:noFill/>
          </a:ln>
        </p:spPr>
        <p:txBody>
          <a:bodyPr anchorCtr="0" anchor="t" bIns="0" lIns="0" spcFirstLastPara="1" rIns="0" wrap="square" tIns="0">
            <a:noAutofit/>
          </a:bodyPr>
          <a:lstStyle/>
          <a:p>
            <a:pPr indent="0" lvl="0" marL="0" marR="0" rtl="1" algn="ctr">
              <a:lnSpc>
                <a:spcPct val="100000"/>
              </a:lnSpc>
              <a:spcBef>
                <a:spcPts val="0"/>
              </a:spcBef>
              <a:spcAft>
                <a:spcPts val="0"/>
              </a:spcAft>
              <a:buClr>
                <a:srgbClr val="272525"/>
              </a:buClr>
              <a:buSzPts val="2300"/>
              <a:buFont typeface="Rubik"/>
              <a:buNone/>
            </a:pPr>
            <a:r>
              <a:rPr b="0" i="0" lang="en-US" sz="2300" u="none" cap="none" strike="noStrike">
                <a:solidFill>
                  <a:srgbClr val="272525"/>
                </a:solidFill>
                <a:latin typeface="Rubik"/>
                <a:ea typeface="Rubik"/>
                <a:cs typeface="Rubik"/>
                <a:sym typeface="Rubik"/>
              </a:rPr>
              <a:t>4</a:t>
            </a:r>
            <a:endParaRPr b="0" i="0" sz="2300" u="none" cap="none" strike="noStrike"/>
          </a:p>
        </p:txBody>
      </p:sp>
      <p:sp>
        <p:nvSpPr>
          <p:cNvPr id="165" name="Google Shape;165;p27"/>
          <p:cNvSpPr/>
          <p:nvPr/>
        </p:nvSpPr>
        <p:spPr>
          <a:xfrm>
            <a:off x="5125403" y="5687378"/>
            <a:ext cx="2480905" cy="310158"/>
          </a:xfrm>
          <a:prstGeom prst="rect">
            <a:avLst/>
          </a:prstGeom>
          <a:noFill/>
          <a:ln>
            <a:noFill/>
          </a:ln>
        </p:spPr>
        <p:txBody>
          <a:bodyPr anchorCtr="0" anchor="t" bIns="0" lIns="0" spcFirstLastPara="1" rIns="0" wrap="square" tIns="0">
            <a:noAutofit/>
          </a:bodyPr>
          <a:lstStyle/>
          <a:p>
            <a:pPr indent="0" lvl="0" marL="0" marR="0" rtl="1" algn="ct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פברואר 2024</a:t>
            </a:r>
            <a:endParaRPr b="0" i="0" sz="1950" u="none" cap="none" strike="noStrike"/>
          </a:p>
        </p:txBody>
      </p:sp>
      <p:sp>
        <p:nvSpPr>
          <p:cNvPr id="166" name="Google Shape;166;p27"/>
          <p:cNvSpPr/>
          <p:nvPr/>
        </p:nvSpPr>
        <p:spPr>
          <a:xfrm>
            <a:off x="4789527" y="6116598"/>
            <a:ext cx="3152656" cy="952619"/>
          </a:xfrm>
          <a:prstGeom prst="rect">
            <a:avLst/>
          </a:prstGeom>
          <a:noFill/>
          <a:ln>
            <a:noFill/>
          </a:ln>
        </p:spPr>
        <p:txBody>
          <a:bodyPr anchorCtr="0" anchor="t" bIns="0" lIns="0" spcFirstLastPara="1" rIns="0" wrap="square" tIns="0">
            <a:noAutofit/>
          </a:bodyPr>
          <a:lstStyle/>
          <a:p>
            <a:pPr indent="0" lvl="0" marL="0" marR="0" rtl="1" algn="ctr">
              <a:lnSpc>
                <a:spcPct val="161290"/>
              </a:lnSpc>
              <a:spcBef>
                <a:spcPts val="0"/>
              </a:spcBef>
              <a:spcAft>
                <a:spcPts val="0"/>
              </a:spcAft>
              <a:buClr>
                <a:srgbClr val="272525"/>
              </a:buClr>
              <a:buSzPts val="1550"/>
              <a:buFont typeface="Open Sans"/>
              <a:buNone/>
            </a:pPr>
            <a:r>
              <a:rPr b="1" i="0" lang="en-US" sz="1550" u="none" cap="none" strike="noStrike">
                <a:solidFill>
                  <a:srgbClr val="272525"/>
                </a:solidFill>
                <a:latin typeface="Open Sans"/>
                <a:ea typeface="Open Sans"/>
                <a:cs typeface="Open Sans"/>
                <a:sym typeface="Open Sans"/>
              </a:rPr>
              <a:t>Gemini Ultra 1.0</a:t>
            </a:r>
            <a:r>
              <a:rPr b="0" i="0" lang="en-US" sz="1550" u="none" cap="none" strike="noStrike">
                <a:solidFill>
                  <a:srgbClr val="272525"/>
                </a:solidFill>
                <a:latin typeface="Open Sans"/>
                <a:ea typeface="Open Sans"/>
                <a:cs typeface="Open Sans"/>
                <a:sym typeface="Open Sans"/>
              </a:rPr>
              <a:t> — המודל החזק ביותר. תוכנן עבור מחקרים מתקדמים ואפליקציות ארגוניות. תכנית בתשלום</a:t>
            </a:r>
            <a:endParaRPr b="0" i="0" sz="1550" u="none" cap="none" strike="noStrike"/>
          </a:p>
        </p:txBody>
      </p:sp>
      <p:sp>
        <p:nvSpPr>
          <p:cNvPr id="167" name="Google Shape;167;p27"/>
          <p:cNvSpPr/>
          <p:nvPr/>
        </p:nvSpPr>
        <p:spPr>
          <a:xfrm>
            <a:off x="4455795" y="4298275"/>
            <a:ext cx="22860" cy="595313"/>
          </a:xfrm>
          <a:prstGeom prst="roundRect">
            <a:avLst>
              <a:gd fmla="val 364651" name="adj"/>
            </a:avLst>
          </a:prstGeom>
          <a:solidFill>
            <a:srgbClr val="DABADD"/>
          </a:solidFill>
          <a:ln>
            <a:noFill/>
          </a:ln>
        </p:spPr>
        <p:txBody>
          <a:bodyPr anchorCtr="0" anchor="ctr" bIns="91425" lIns="91425" spcFirstLastPara="1" rIns="91425" wrap="square" tIns="91425">
            <a:noAutofit/>
          </a:bodyPr>
          <a:lstStyle/>
          <a:p>
            <a:pPr indent="0" lvl="0" marL="0" rtl="1" algn="ctr">
              <a:spcBef>
                <a:spcPts val="0"/>
              </a:spcBef>
              <a:spcAft>
                <a:spcPts val="0"/>
              </a:spcAft>
              <a:buNone/>
            </a:pPr>
            <a:r>
              <a:t/>
            </a:r>
            <a:endParaRPr/>
          </a:p>
        </p:txBody>
      </p:sp>
      <p:sp>
        <p:nvSpPr>
          <p:cNvPr id="168" name="Google Shape;168;p27"/>
          <p:cNvSpPr/>
          <p:nvPr/>
        </p:nvSpPr>
        <p:spPr>
          <a:xfrm>
            <a:off x="4243983" y="4670346"/>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t/>
            </a:r>
            <a:endParaRPr/>
          </a:p>
        </p:txBody>
      </p:sp>
      <p:sp>
        <p:nvSpPr>
          <p:cNvPr id="169" name="Google Shape;169;p27"/>
          <p:cNvSpPr/>
          <p:nvPr/>
        </p:nvSpPr>
        <p:spPr>
          <a:xfrm>
            <a:off x="4318397" y="4707553"/>
            <a:ext cx="297656" cy="372070"/>
          </a:xfrm>
          <a:prstGeom prst="rect">
            <a:avLst/>
          </a:prstGeom>
          <a:noFill/>
          <a:ln>
            <a:noFill/>
          </a:ln>
        </p:spPr>
        <p:txBody>
          <a:bodyPr anchorCtr="0" anchor="t" bIns="0" lIns="0" spcFirstLastPara="1" rIns="0" wrap="square" tIns="0">
            <a:noAutofit/>
          </a:bodyPr>
          <a:lstStyle/>
          <a:p>
            <a:pPr indent="0" lvl="0" marL="0" marR="0" rtl="1" algn="ctr">
              <a:lnSpc>
                <a:spcPct val="100000"/>
              </a:lnSpc>
              <a:spcBef>
                <a:spcPts val="0"/>
              </a:spcBef>
              <a:spcAft>
                <a:spcPts val="0"/>
              </a:spcAft>
              <a:buClr>
                <a:srgbClr val="272525"/>
              </a:buClr>
              <a:buSzPts val="2300"/>
              <a:buFont typeface="Rubik"/>
              <a:buNone/>
            </a:pPr>
            <a:r>
              <a:rPr b="0" i="0" lang="en-US" sz="2300" u="none" cap="none" strike="noStrike">
                <a:solidFill>
                  <a:srgbClr val="272525"/>
                </a:solidFill>
                <a:latin typeface="Rubik"/>
                <a:ea typeface="Rubik"/>
                <a:cs typeface="Rubik"/>
                <a:sym typeface="Rubik"/>
              </a:rPr>
              <a:t>5</a:t>
            </a:r>
            <a:endParaRPr b="0" i="0" sz="2300" u="none" cap="none" strike="noStrike"/>
          </a:p>
        </p:txBody>
      </p:sp>
      <p:sp>
        <p:nvSpPr>
          <p:cNvPr id="170" name="Google Shape;170;p27"/>
          <p:cNvSpPr/>
          <p:nvPr/>
        </p:nvSpPr>
        <p:spPr>
          <a:xfrm>
            <a:off x="3226713" y="2717959"/>
            <a:ext cx="2480905" cy="310158"/>
          </a:xfrm>
          <a:prstGeom prst="rect">
            <a:avLst/>
          </a:prstGeom>
          <a:noFill/>
          <a:ln>
            <a:noFill/>
          </a:ln>
        </p:spPr>
        <p:txBody>
          <a:bodyPr anchorCtr="0" anchor="t" bIns="0" lIns="0" spcFirstLastPara="1" rIns="0" wrap="square" tIns="0">
            <a:noAutofit/>
          </a:bodyPr>
          <a:lstStyle/>
          <a:p>
            <a:pPr indent="0" lvl="0" marL="0" marR="0" rtl="1" algn="ct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מאי 2024</a:t>
            </a:r>
            <a:endParaRPr b="0" i="0" sz="1950" u="none" cap="none" strike="noStrike"/>
          </a:p>
        </p:txBody>
      </p:sp>
      <p:sp>
        <p:nvSpPr>
          <p:cNvPr id="171" name="Google Shape;171;p27"/>
          <p:cNvSpPr/>
          <p:nvPr/>
        </p:nvSpPr>
        <p:spPr>
          <a:xfrm>
            <a:off x="2890837" y="3147179"/>
            <a:ext cx="3152656" cy="635079"/>
          </a:xfrm>
          <a:prstGeom prst="rect">
            <a:avLst/>
          </a:prstGeom>
          <a:noFill/>
          <a:ln>
            <a:noFill/>
          </a:ln>
        </p:spPr>
        <p:txBody>
          <a:bodyPr anchorCtr="0" anchor="t" bIns="0" lIns="0" spcFirstLastPara="1" rIns="0" wrap="square" tIns="0">
            <a:noAutofit/>
          </a:bodyPr>
          <a:lstStyle/>
          <a:p>
            <a:pPr indent="0" lvl="0" marL="0" marR="0" rtl="1" algn="ctr">
              <a:lnSpc>
                <a:spcPct val="161290"/>
              </a:lnSpc>
              <a:spcBef>
                <a:spcPts val="0"/>
              </a:spcBef>
              <a:spcAft>
                <a:spcPts val="0"/>
              </a:spcAft>
              <a:buClr>
                <a:srgbClr val="272525"/>
              </a:buClr>
              <a:buSzPts val="1550"/>
              <a:buFont typeface="Open Sans"/>
              <a:buNone/>
            </a:pPr>
            <a:r>
              <a:rPr b="1" i="0" lang="en-US" sz="1550" u="none" cap="none" strike="noStrike">
                <a:solidFill>
                  <a:srgbClr val="272525"/>
                </a:solidFill>
                <a:latin typeface="Open Sans"/>
                <a:ea typeface="Open Sans"/>
                <a:cs typeface="Open Sans"/>
                <a:sym typeface="Open Sans"/>
              </a:rPr>
              <a:t>Gemini Flash 1.5</a:t>
            </a:r>
            <a:r>
              <a:rPr b="0" i="0" lang="en-US" sz="1550" u="none" cap="none" strike="noStrike">
                <a:solidFill>
                  <a:srgbClr val="272525"/>
                </a:solidFill>
                <a:latin typeface="Open Sans"/>
                <a:ea typeface="Open Sans"/>
                <a:cs typeface="Open Sans"/>
                <a:sym typeface="Open Sans"/>
              </a:rPr>
              <a:t> — מהיר, יעיל וזמין בחינם. מאוזן בין ביצועים לעלות</a:t>
            </a:r>
            <a:endParaRPr b="0" i="0" sz="1550" u="none" cap="none" strike="noStrike"/>
          </a:p>
        </p:txBody>
      </p:sp>
      <p:sp>
        <p:nvSpPr>
          <p:cNvPr id="172" name="Google Shape;172;p27"/>
          <p:cNvSpPr/>
          <p:nvPr/>
        </p:nvSpPr>
        <p:spPr>
          <a:xfrm>
            <a:off x="2557105" y="4893588"/>
            <a:ext cx="22860" cy="595313"/>
          </a:xfrm>
          <a:prstGeom prst="roundRect">
            <a:avLst>
              <a:gd fmla="val 364651" name="adj"/>
            </a:avLst>
          </a:prstGeom>
          <a:solidFill>
            <a:srgbClr val="DABADD"/>
          </a:solidFill>
          <a:ln>
            <a:noFill/>
          </a:ln>
        </p:spPr>
        <p:txBody>
          <a:bodyPr anchorCtr="0" anchor="ctr" bIns="91425" lIns="91425" spcFirstLastPara="1" rIns="91425" wrap="square" tIns="91425">
            <a:noAutofit/>
          </a:bodyPr>
          <a:lstStyle/>
          <a:p>
            <a:pPr indent="0" lvl="0" marL="0" rtl="1" algn="ctr">
              <a:spcBef>
                <a:spcPts val="0"/>
              </a:spcBef>
              <a:spcAft>
                <a:spcPts val="0"/>
              </a:spcAft>
              <a:buNone/>
            </a:pPr>
            <a:r>
              <a:t/>
            </a:r>
            <a:endParaRPr/>
          </a:p>
        </p:txBody>
      </p:sp>
      <p:sp>
        <p:nvSpPr>
          <p:cNvPr id="173" name="Google Shape;173;p27"/>
          <p:cNvSpPr/>
          <p:nvPr/>
        </p:nvSpPr>
        <p:spPr>
          <a:xfrm>
            <a:off x="2345293" y="4670346"/>
            <a:ext cx="446484" cy="446484"/>
          </a:xfrm>
          <a:prstGeom prst="roundRect">
            <a:avLst>
              <a:gd fmla="val 18670"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ctr">
              <a:spcBef>
                <a:spcPts val="0"/>
              </a:spcBef>
              <a:spcAft>
                <a:spcPts val="0"/>
              </a:spcAft>
              <a:buNone/>
            </a:pPr>
            <a:r>
              <a:t/>
            </a:r>
            <a:endParaRPr/>
          </a:p>
        </p:txBody>
      </p:sp>
      <p:sp>
        <p:nvSpPr>
          <p:cNvPr id="174" name="Google Shape;174;p27"/>
          <p:cNvSpPr/>
          <p:nvPr/>
        </p:nvSpPr>
        <p:spPr>
          <a:xfrm>
            <a:off x="2419707" y="4707553"/>
            <a:ext cx="297656" cy="372070"/>
          </a:xfrm>
          <a:prstGeom prst="rect">
            <a:avLst/>
          </a:prstGeom>
          <a:noFill/>
          <a:ln>
            <a:noFill/>
          </a:ln>
        </p:spPr>
        <p:txBody>
          <a:bodyPr anchorCtr="0" anchor="t" bIns="0" lIns="0" spcFirstLastPara="1" rIns="0" wrap="square" tIns="0">
            <a:noAutofit/>
          </a:bodyPr>
          <a:lstStyle/>
          <a:p>
            <a:pPr indent="0" lvl="0" marL="0" marR="0" rtl="1" algn="ctr">
              <a:lnSpc>
                <a:spcPct val="100000"/>
              </a:lnSpc>
              <a:spcBef>
                <a:spcPts val="0"/>
              </a:spcBef>
              <a:spcAft>
                <a:spcPts val="0"/>
              </a:spcAft>
              <a:buClr>
                <a:srgbClr val="272525"/>
              </a:buClr>
              <a:buSzPts val="2300"/>
              <a:buFont typeface="Rubik"/>
              <a:buNone/>
            </a:pPr>
            <a:r>
              <a:rPr b="0" i="0" lang="en-US" sz="2300" u="none" cap="none" strike="noStrike">
                <a:solidFill>
                  <a:srgbClr val="272525"/>
                </a:solidFill>
                <a:latin typeface="Rubik"/>
                <a:ea typeface="Rubik"/>
                <a:cs typeface="Rubik"/>
                <a:sym typeface="Rubik"/>
              </a:rPr>
              <a:t>6</a:t>
            </a:r>
            <a:endParaRPr b="0" i="0" sz="2300" u="none" cap="none" strike="noStrike"/>
          </a:p>
        </p:txBody>
      </p:sp>
      <p:sp>
        <p:nvSpPr>
          <p:cNvPr id="175" name="Google Shape;175;p27"/>
          <p:cNvSpPr/>
          <p:nvPr/>
        </p:nvSpPr>
        <p:spPr>
          <a:xfrm>
            <a:off x="1328023" y="5687378"/>
            <a:ext cx="2480905" cy="310158"/>
          </a:xfrm>
          <a:prstGeom prst="rect">
            <a:avLst/>
          </a:prstGeom>
          <a:noFill/>
          <a:ln>
            <a:noFill/>
          </a:ln>
        </p:spPr>
        <p:txBody>
          <a:bodyPr anchorCtr="0" anchor="t" bIns="0" lIns="0" spcFirstLastPara="1" rIns="0" wrap="square" tIns="0">
            <a:noAutofit/>
          </a:bodyPr>
          <a:lstStyle/>
          <a:p>
            <a:pPr indent="0" lvl="0" marL="0" marR="0" rtl="1" algn="ct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מאי–דצמבר 2024</a:t>
            </a:r>
            <a:endParaRPr b="0" i="0" sz="1950" u="none" cap="none" strike="noStrike"/>
          </a:p>
        </p:txBody>
      </p:sp>
      <p:sp>
        <p:nvSpPr>
          <p:cNvPr id="176" name="Google Shape;176;p27"/>
          <p:cNvSpPr/>
          <p:nvPr/>
        </p:nvSpPr>
        <p:spPr>
          <a:xfrm>
            <a:off x="992148" y="6116598"/>
            <a:ext cx="3152656" cy="952619"/>
          </a:xfrm>
          <a:prstGeom prst="rect">
            <a:avLst/>
          </a:prstGeom>
          <a:noFill/>
          <a:ln>
            <a:noFill/>
          </a:ln>
        </p:spPr>
        <p:txBody>
          <a:bodyPr anchorCtr="0" anchor="t" bIns="0" lIns="0" spcFirstLastPara="1" rIns="0" wrap="square" tIns="0">
            <a:noAutofit/>
          </a:bodyPr>
          <a:lstStyle/>
          <a:p>
            <a:pPr indent="0" lvl="0" marL="0" marR="0" rtl="1" algn="ctr">
              <a:lnSpc>
                <a:spcPct val="161290"/>
              </a:lnSpc>
              <a:spcBef>
                <a:spcPts val="0"/>
              </a:spcBef>
              <a:spcAft>
                <a:spcPts val="0"/>
              </a:spcAft>
              <a:buClr>
                <a:srgbClr val="272525"/>
              </a:buClr>
              <a:buSzPts val="1550"/>
              <a:buFont typeface="Open Sans"/>
              <a:buNone/>
            </a:pPr>
            <a:r>
              <a:rPr b="1" i="0" lang="en-US" sz="1550" u="none" cap="none" strike="noStrike">
                <a:solidFill>
                  <a:srgbClr val="272525"/>
                </a:solidFill>
                <a:latin typeface="Open Sans"/>
                <a:ea typeface="Open Sans"/>
                <a:cs typeface="Open Sans"/>
                <a:sym typeface="Open Sans"/>
              </a:rPr>
              <a:t>Gemini Pro 1.5 &amp; Flash 2</a:t>
            </a:r>
            <a:r>
              <a:rPr b="0" i="0" lang="en-US" sz="1550" u="none" cap="none" strike="noStrike">
                <a:solidFill>
                  <a:srgbClr val="272525"/>
                </a:solidFill>
                <a:latin typeface="Open Sans"/>
                <a:ea typeface="Open Sans"/>
                <a:cs typeface="Open Sans"/>
                <a:sym typeface="Open Sans"/>
              </a:rPr>
              <a:t> — מיקוד בדיוק, משימות מורכבות וביצועים משופרים. תכנית Pro בתשלום</a:t>
            </a:r>
            <a:endParaRPr b="0" i="0" sz="15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 name="Shape 180"/>
        <p:cNvGrpSpPr/>
        <p:nvPr/>
      </p:nvGrpSpPr>
      <p:grpSpPr>
        <a:xfrm>
          <a:off x="0" y="0"/>
          <a:ext cx="0" cy="0"/>
          <a:chOff x="0" y="0"/>
          <a:chExt cx="0" cy="0"/>
        </a:xfrm>
      </p:grpSpPr>
      <p:sp>
        <p:nvSpPr>
          <p:cNvPr descr="image.png" id="181" name="Google Shape;181;p28"/>
          <p:cNvSpPr/>
          <p:nvPr/>
        </p:nvSpPr>
        <p:spPr>
          <a:xfrm>
            <a:off x="685800" y="7315200"/>
            <a:ext cx="13258800" cy="342900"/>
          </a:xfrm>
          <a:prstGeom prst="rect">
            <a:avLst/>
          </a:prstGeom>
          <a:noFill/>
          <a:ln>
            <a:noFill/>
          </a:ln>
        </p:spPr>
      </p:sp>
      <p:sp>
        <p:nvSpPr>
          <p:cNvPr descr="image.png" id="182" name="Google Shape;182;p28"/>
          <p:cNvSpPr/>
          <p:nvPr/>
        </p:nvSpPr>
        <p:spPr>
          <a:xfrm>
            <a:off x="12633900" y="4491990"/>
            <a:ext cx="411480" cy="411480"/>
          </a:xfrm>
          <a:prstGeom prst="rect">
            <a:avLst/>
          </a:prstGeom>
          <a:noFill/>
          <a:ln>
            <a:noFill/>
          </a:ln>
        </p:spPr>
      </p:sp>
      <p:sp>
        <p:nvSpPr>
          <p:cNvPr descr="image.png" id="183" name="Google Shape;183;p28"/>
          <p:cNvSpPr/>
          <p:nvPr/>
        </p:nvSpPr>
        <p:spPr>
          <a:xfrm>
            <a:off x="10424160" y="4491990"/>
            <a:ext cx="411480" cy="411480"/>
          </a:xfrm>
          <a:prstGeom prst="rect">
            <a:avLst/>
          </a:prstGeom>
          <a:noFill/>
          <a:ln>
            <a:noFill/>
          </a:ln>
        </p:spPr>
      </p:sp>
      <p:sp>
        <p:nvSpPr>
          <p:cNvPr descr="image.png" id="184" name="Google Shape;184;p28"/>
          <p:cNvSpPr/>
          <p:nvPr/>
        </p:nvSpPr>
        <p:spPr>
          <a:xfrm>
            <a:off x="8214419" y="4491990"/>
            <a:ext cx="411480" cy="411480"/>
          </a:xfrm>
          <a:prstGeom prst="rect">
            <a:avLst/>
          </a:prstGeom>
          <a:noFill/>
          <a:ln>
            <a:noFill/>
          </a:ln>
        </p:spPr>
      </p:sp>
      <p:sp>
        <p:nvSpPr>
          <p:cNvPr descr="image.png" id="185" name="Google Shape;185;p28"/>
          <p:cNvSpPr/>
          <p:nvPr/>
        </p:nvSpPr>
        <p:spPr>
          <a:xfrm>
            <a:off x="6004679" y="4491990"/>
            <a:ext cx="411480" cy="411480"/>
          </a:xfrm>
          <a:prstGeom prst="rect">
            <a:avLst/>
          </a:prstGeom>
          <a:noFill/>
          <a:ln>
            <a:noFill/>
          </a:ln>
        </p:spPr>
      </p:sp>
      <p:sp>
        <p:nvSpPr>
          <p:cNvPr descr="image.png" id="186" name="Google Shape;186;p28"/>
          <p:cNvSpPr/>
          <p:nvPr/>
        </p:nvSpPr>
        <p:spPr>
          <a:xfrm>
            <a:off x="3794938" y="4491990"/>
            <a:ext cx="411480" cy="411480"/>
          </a:xfrm>
          <a:prstGeom prst="rect">
            <a:avLst/>
          </a:prstGeom>
          <a:noFill/>
          <a:ln>
            <a:noFill/>
          </a:ln>
        </p:spPr>
      </p:sp>
      <p:sp>
        <p:nvSpPr>
          <p:cNvPr descr="image.png" id="187" name="Google Shape;187;p28"/>
          <p:cNvSpPr/>
          <p:nvPr/>
        </p:nvSpPr>
        <p:spPr>
          <a:xfrm>
            <a:off x="1585198" y="4491990"/>
            <a:ext cx="411480" cy="411480"/>
          </a:xfrm>
          <a:prstGeom prst="rect">
            <a:avLst/>
          </a:prstGeom>
          <a:noFill/>
          <a:ln>
            <a:noFill/>
          </a:ln>
        </p:spPr>
      </p:sp>
      <p:sp>
        <p:nvSpPr>
          <p:cNvPr id="188" name="Google Shape;188;p28"/>
          <p:cNvSpPr txBox="1"/>
          <p:nvPr/>
        </p:nvSpPr>
        <p:spPr>
          <a:xfrm>
            <a:off x="354330" y="571500"/>
            <a:ext cx="13921800" cy="723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700" u="none" cap="none" strike="noStrike">
                <a:solidFill>
                  <a:srgbClr val="B967E8"/>
                </a:solidFill>
                <a:latin typeface="Rubik"/>
                <a:ea typeface="Rubik"/>
                <a:cs typeface="Rubik"/>
                <a:sym typeface="Rubik"/>
              </a:rPr>
              <a:t>האבולוציה של Gemini</a:t>
            </a:r>
            <a:endParaRPr sz="1700"/>
          </a:p>
        </p:txBody>
      </p:sp>
      <p:sp>
        <p:nvSpPr>
          <p:cNvPr id="189" name="Google Shape;189;p28"/>
          <p:cNvSpPr txBox="1"/>
          <p:nvPr/>
        </p:nvSpPr>
        <p:spPr>
          <a:xfrm>
            <a:off x="1885950" y="1417320"/>
            <a:ext cx="10858800" cy="277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800" u="none" cap="none" strike="noStrike">
                <a:solidFill>
                  <a:srgbClr val="475569"/>
                </a:solidFill>
                <a:latin typeface="Assistant"/>
                <a:ea typeface="Assistant"/>
                <a:cs typeface="Assistant"/>
                <a:sym typeface="Assistant"/>
              </a:rPr>
              <a:t>המשך מסלול ההתפתחות המואץ — מעבר לעידן סוכני ה-AI, מודלי היסוד 2.0 ו-3.0, ויכולות חשיבה ומולטי-מודאליות בזמן אמת.</a:t>
            </a:r>
            <a:endParaRPr sz="1700"/>
          </a:p>
        </p:txBody>
      </p:sp>
      <p:sp>
        <p:nvSpPr>
          <p:cNvPr id="190" name="Google Shape;190;p28"/>
          <p:cNvSpPr txBox="1"/>
          <p:nvPr/>
        </p:nvSpPr>
        <p:spPr>
          <a:xfrm>
            <a:off x="11167110" y="7463790"/>
            <a:ext cx="2777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94A3B8"/>
                </a:solidFill>
                <a:latin typeface="Assistant"/>
                <a:ea typeface="Assistant"/>
                <a:cs typeface="Assistant"/>
                <a:sym typeface="Assistant"/>
              </a:rPr>
              <a:t>Google AI Research • ציר זמן היסטורי 2025–2026</a:t>
            </a:r>
            <a:endParaRPr sz="1700"/>
          </a:p>
        </p:txBody>
      </p:sp>
      <p:sp>
        <p:nvSpPr>
          <p:cNvPr id="191" name="Google Shape;191;p28"/>
          <p:cNvSpPr txBox="1"/>
          <p:nvPr/>
        </p:nvSpPr>
        <p:spPr>
          <a:xfrm>
            <a:off x="685800" y="7463790"/>
            <a:ext cx="377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94A3B8"/>
                </a:solidFill>
                <a:latin typeface="Assistant"/>
                <a:ea typeface="Assistant"/>
                <a:cs typeface="Assistant"/>
                <a:sym typeface="Assistant"/>
              </a:rPr>
              <a:t>חלק ב'</a:t>
            </a:r>
            <a:endParaRPr sz="1700"/>
          </a:p>
        </p:txBody>
      </p:sp>
      <p:sp>
        <p:nvSpPr>
          <p:cNvPr id="192" name="Google Shape;192;p28"/>
          <p:cNvSpPr/>
          <p:nvPr/>
        </p:nvSpPr>
        <p:spPr>
          <a:xfrm>
            <a:off x="12828210" y="4126230"/>
            <a:ext cx="23100" cy="365700"/>
          </a:xfrm>
          <a:prstGeom prst="rect">
            <a:avLst/>
          </a:prstGeom>
          <a:solidFill>
            <a:srgbClr val="D8B4FE"/>
          </a:solidFill>
          <a:ln>
            <a:noFill/>
          </a:ln>
        </p:spPr>
        <p:txBody>
          <a:bodyPr anchorCtr="0" anchor="ctr" bIns="54850" lIns="109700" spcFirstLastPara="1" rIns="109700" wrap="square" tIns="5485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193" name="Google Shape;193;p28"/>
          <p:cNvSpPr/>
          <p:nvPr/>
        </p:nvSpPr>
        <p:spPr>
          <a:xfrm>
            <a:off x="10618470" y="4903470"/>
            <a:ext cx="23100" cy="365700"/>
          </a:xfrm>
          <a:prstGeom prst="rect">
            <a:avLst/>
          </a:prstGeom>
          <a:solidFill>
            <a:srgbClr val="D8B4FE"/>
          </a:solidFill>
          <a:ln>
            <a:noFill/>
          </a:ln>
        </p:spPr>
        <p:txBody>
          <a:bodyPr anchorCtr="0" anchor="ctr" bIns="54850" lIns="109700" spcFirstLastPara="1" rIns="109700" wrap="square" tIns="5485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194" name="Google Shape;194;p28"/>
          <p:cNvSpPr/>
          <p:nvPr/>
        </p:nvSpPr>
        <p:spPr>
          <a:xfrm>
            <a:off x="8408729" y="4126230"/>
            <a:ext cx="23100" cy="365700"/>
          </a:xfrm>
          <a:prstGeom prst="rect">
            <a:avLst/>
          </a:prstGeom>
          <a:solidFill>
            <a:srgbClr val="D8B4FE"/>
          </a:solidFill>
          <a:ln>
            <a:noFill/>
          </a:ln>
        </p:spPr>
        <p:txBody>
          <a:bodyPr anchorCtr="0" anchor="ctr" bIns="54850" lIns="109700" spcFirstLastPara="1" rIns="109700" wrap="square" tIns="5485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195" name="Google Shape;195;p28"/>
          <p:cNvSpPr/>
          <p:nvPr/>
        </p:nvSpPr>
        <p:spPr>
          <a:xfrm>
            <a:off x="6198989" y="4903470"/>
            <a:ext cx="23100" cy="365700"/>
          </a:xfrm>
          <a:prstGeom prst="rect">
            <a:avLst/>
          </a:prstGeom>
          <a:solidFill>
            <a:srgbClr val="D8B4FE"/>
          </a:solidFill>
          <a:ln>
            <a:noFill/>
          </a:ln>
        </p:spPr>
        <p:txBody>
          <a:bodyPr anchorCtr="0" anchor="ctr" bIns="54850" lIns="109700" spcFirstLastPara="1" rIns="109700" wrap="square" tIns="5485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196" name="Google Shape;196;p28"/>
          <p:cNvSpPr/>
          <p:nvPr/>
        </p:nvSpPr>
        <p:spPr>
          <a:xfrm>
            <a:off x="3989248" y="4126230"/>
            <a:ext cx="23100" cy="365700"/>
          </a:xfrm>
          <a:prstGeom prst="rect">
            <a:avLst/>
          </a:prstGeom>
          <a:solidFill>
            <a:srgbClr val="D8B4FE"/>
          </a:solidFill>
          <a:ln>
            <a:noFill/>
          </a:ln>
        </p:spPr>
        <p:txBody>
          <a:bodyPr anchorCtr="0" anchor="ctr" bIns="54850" lIns="109700" spcFirstLastPara="1" rIns="109700" wrap="square" tIns="5485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197" name="Google Shape;197;p28"/>
          <p:cNvSpPr/>
          <p:nvPr/>
        </p:nvSpPr>
        <p:spPr>
          <a:xfrm>
            <a:off x="1779508" y="4903470"/>
            <a:ext cx="23100" cy="365700"/>
          </a:xfrm>
          <a:prstGeom prst="rect">
            <a:avLst/>
          </a:prstGeom>
          <a:solidFill>
            <a:srgbClr val="D8B4FE"/>
          </a:solidFill>
          <a:ln>
            <a:noFill/>
          </a:ln>
        </p:spPr>
        <p:txBody>
          <a:bodyPr anchorCtr="0" anchor="ctr" bIns="54850" lIns="109700" spcFirstLastPara="1" rIns="109700" wrap="square" tIns="5485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
        <p:nvSpPr>
          <p:cNvPr id="198" name="Google Shape;198;p28"/>
          <p:cNvSpPr txBox="1"/>
          <p:nvPr/>
        </p:nvSpPr>
        <p:spPr>
          <a:xfrm>
            <a:off x="11826299" y="2948225"/>
            <a:ext cx="20268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1E293B"/>
                </a:solidFill>
                <a:latin typeface="Rubik"/>
                <a:ea typeface="Rubik"/>
                <a:cs typeface="Rubik"/>
                <a:sym typeface="Rubik"/>
              </a:rPr>
              <a:t>דצמבר 2024</a:t>
            </a:r>
            <a:endParaRPr sz="1700"/>
          </a:p>
        </p:txBody>
      </p:sp>
      <p:sp>
        <p:nvSpPr>
          <p:cNvPr id="199" name="Google Shape;199;p28"/>
          <p:cNvSpPr txBox="1"/>
          <p:nvPr/>
        </p:nvSpPr>
        <p:spPr>
          <a:xfrm>
            <a:off x="11826299" y="3291125"/>
            <a:ext cx="2026800" cy="484800"/>
          </a:xfrm>
          <a:prstGeom prst="rect">
            <a:avLst/>
          </a:prstGeom>
          <a:noFill/>
          <a:ln>
            <a:noFill/>
          </a:ln>
        </p:spPr>
        <p:txBody>
          <a:bodyPr anchorCtr="0" anchor="t" bIns="0" lIns="0" spcFirstLastPara="1" rIns="0" wrap="square" tIns="0">
            <a:spAutoFit/>
          </a:bodyPr>
          <a:lstStyle/>
          <a:p>
            <a:pPr indent="0" lvl="0" marL="0" marR="0" rtl="0" algn="ctr">
              <a:lnSpc>
                <a:spcPct val="124977"/>
              </a:lnSpc>
              <a:spcBef>
                <a:spcPts val="0"/>
              </a:spcBef>
              <a:spcAft>
                <a:spcPts val="0"/>
              </a:spcAft>
              <a:buNone/>
            </a:pPr>
            <a:r>
              <a:rPr b="1" i="0" lang="en-US" sz="1400" u="none" cap="none" strike="noStrike">
                <a:solidFill>
                  <a:srgbClr val="0F172A"/>
                </a:solidFill>
                <a:latin typeface="Assistant"/>
                <a:ea typeface="Assistant"/>
                <a:cs typeface="Assistant"/>
                <a:sym typeface="Assistant"/>
              </a:rPr>
              <a:t>Gemini 2.0 Flash — עידן ה-Agents</a:t>
            </a:r>
            <a:endParaRPr sz="1700"/>
          </a:p>
        </p:txBody>
      </p:sp>
      <p:sp>
        <p:nvSpPr>
          <p:cNvPr id="200" name="Google Shape;200;p28"/>
          <p:cNvSpPr txBox="1"/>
          <p:nvPr/>
        </p:nvSpPr>
        <p:spPr>
          <a:xfrm>
            <a:off x="11826299" y="3788330"/>
            <a:ext cx="2026800" cy="701400"/>
          </a:xfrm>
          <a:prstGeom prst="rect">
            <a:avLst/>
          </a:prstGeom>
          <a:noFill/>
          <a:ln>
            <a:noFill/>
          </a:ln>
        </p:spPr>
        <p:txBody>
          <a:bodyPr anchorCtr="0" anchor="t" bIns="0" lIns="0" spcFirstLastPara="1" rIns="0" wrap="square" tIns="0">
            <a:spAutoFit/>
          </a:bodyPr>
          <a:lstStyle/>
          <a:p>
            <a:pPr indent="0" lvl="0" marL="0" marR="0" rtl="0" algn="ctr">
              <a:lnSpc>
                <a:spcPct val="139897"/>
              </a:lnSpc>
              <a:spcBef>
                <a:spcPts val="0"/>
              </a:spcBef>
              <a:spcAft>
                <a:spcPts val="0"/>
              </a:spcAft>
              <a:buNone/>
            </a:pPr>
            <a:r>
              <a:rPr b="0" i="0" lang="en-US" sz="1200" u="none" cap="none" strike="noStrike">
                <a:solidFill>
                  <a:srgbClr val="64748B"/>
                </a:solidFill>
                <a:latin typeface="Assistant"/>
                <a:ea typeface="Assistant"/>
                <a:cs typeface="Assistant"/>
                <a:sym typeface="Assistant"/>
              </a:rPr>
              <a:t>פתיחת עידן ה-Agentic AI. מעבר למודלים מהירים בעלי יכולות תכנון אוטונומיות ומצב Thinking.</a:t>
            </a:r>
            <a:endParaRPr sz="1700"/>
          </a:p>
        </p:txBody>
      </p:sp>
      <p:sp>
        <p:nvSpPr>
          <p:cNvPr id="201" name="Google Shape;201;p28"/>
          <p:cNvSpPr txBox="1"/>
          <p:nvPr/>
        </p:nvSpPr>
        <p:spPr>
          <a:xfrm>
            <a:off x="9616559" y="4983480"/>
            <a:ext cx="20268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1E293B"/>
                </a:solidFill>
                <a:latin typeface="Rubik"/>
                <a:ea typeface="Rubik"/>
                <a:cs typeface="Rubik"/>
                <a:sym typeface="Rubik"/>
              </a:rPr>
              <a:t>מאי 2025</a:t>
            </a:r>
            <a:endParaRPr sz="1700"/>
          </a:p>
        </p:txBody>
      </p:sp>
      <p:sp>
        <p:nvSpPr>
          <p:cNvPr id="202" name="Google Shape;202;p28"/>
          <p:cNvSpPr txBox="1"/>
          <p:nvPr/>
        </p:nvSpPr>
        <p:spPr>
          <a:xfrm>
            <a:off x="9616559" y="5326380"/>
            <a:ext cx="2026800" cy="484800"/>
          </a:xfrm>
          <a:prstGeom prst="rect">
            <a:avLst/>
          </a:prstGeom>
          <a:noFill/>
          <a:ln>
            <a:noFill/>
          </a:ln>
        </p:spPr>
        <p:txBody>
          <a:bodyPr anchorCtr="0" anchor="t" bIns="0" lIns="0" spcFirstLastPara="1" rIns="0" wrap="square" tIns="0">
            <a:spAutoFit/>
          </a:bodyPr>
          <a:lstStyle/>
          <a:p>
            <a:pPr indent="0" lvl="0" marL="0" marR="0" rtl="0" algn="ctr">
              <a:lnSpc>
                <a:spcPct val="124977"/>
              </a:lnSpc>
              <a:spcBef>
                <a:spcPts val="0"/>
              </a:spcBef>
              <a:spcAft>
                <a:spcPts val="0"/>
              </a:spcAft>
              <a:buNone/>
            </a:pPr>
            <a:r>
              <a:rPr b="1" i="0" lang="en-US" sz="1400" u="none" cap="none" strike="noStrike">
                <a:solidFill>
                  <a:srgbClr val="0F172A"/>
                </a:solidFill>
                <a:latin typeface="Assistant"/>
                <a:ea typeface="Assistant"/>
                <a:cs typeface="Assistant"/>
                <a:sym typeface="Assistant"/>
              </a:rPr>
              <a:t>Gemini 2.5 Pro — הסקה וקול</a:t>
            </a:r>
            <a:endParaRPr sz="1700"/>
          </a:p>
        </p:txBody>
      </p:sp>
      <p:sp>
        <p:nvSpPr>
          <p:cNvPr id="203" name="Google Shape;203;p28"/>
          <p:cNvSpPr txBox="1"/>
          <p:nvPr/>
        </p:nvSpPr>
        <p:spPr>
          <a:xfrm>
            <a:off x="9616559" y="5823584"/>
            <a:ext cx="2026800" cy="701400"/>
          </a:xfrm>
          <a:prstGeom prst="rect">
            <a:avLst/>
          </a:prstGeom>
          <a:noFill/>
          <a:ln>
            <a:noFill/>
          </a:ln>
        </p:spPr>
        <p:txBody>
          <a:bodyPr anchorCtr="0" anchor="t" bIns="0" lIns="0" spcFirstLastPara="1" rIns="0" wrap="square" tIns="0">
            <a:spAutoFit/>
          </a:bodyPr>
          <a:lstStyle/>
          <a:p>
            <a:pPr indent="0" lvl="0" marL="0" marR="0" rtl="0" algn="ctr">
              <a:lnSpc>
                <a:spcPct val="139897"/>
              </a:lnSpc>
              <a:spcBef>
                <a:spcPts val="0"/>
              </a:spcBef>
              <a:spcAft>
                <a:spcPts val="0"/>
              </a:spcAft>
              <a:buNone/>
            </a:pPr>
            <a:r>
              <a:rPr b="0" i="0" lang="en-US" sz="1200" u="none" cap="none" strike="noStrike">
                <a:solidFill>
                  <a:srgbClr val="64748B"/>
                </a:solidFill>
                <a:latin typeface="Assistant"/>
                <a:ea typeface="Assistant"/>
                <a:cs typeface="Assistant"/>
                <a:sym typeface="Assistant"/>
              </a:rPr>
              <a:t>שיפור דרמטי ביכולות מתמטיקה וקוד, והטמעת עיבוד שמע ווידאו בזמן אמת באופן נייטיבי.</a:t>
            </a:r>
            <a:endParaRPr sz="1700"/>
          </a:p>
        </p:txBody>
      </p:sp>
      <p:sp>
        <p:nvSpPr>
          <p:cNvPr id="204" name="Google Shape;204;p28"/>
          <p:cNvSpPr txBox="1"/>
          <p:nvPr/>
        </p:nvSpPr>
        <p:spPr>
          <a:xfrm>
            <a:off x="7406818" y="2948225"/>
            <a:ext cx="20268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1E293B"/>
                </a:solidFill>
                <a:latin typeface="Rubik"/>
                <a:ea typeface="Rubik"/>
                <a:cs typeface="Rubik"/>
                <a:sym typeface="Rubik"/>
              </a:rPr>
              <a:t>נובמבר 2025</a:t>
            </a:r>
            <a:endParaRPr sz="1700"/>
          </a:p>
        </p:txBody>
      </p:sp>
      <p:sp>
        <p:nvSpPr>
          <p:cNvPr id="205" name="Google Shape;205;p28"/>
          <p:cNvSpPr txBox="1"/>
          <p:nvPr/>
        </p:nvSpPr>
        <p:spPr>
          <a:xfrm>
            <a:off x="7406818" y="3291125"/>
            <a:ext cx="2026800" cy="484800"/>
          </a:xfrm>
          <a:prstGeom prst="rect">
            <a:avLst/>
          </a:prstGeom>
          <a:noFill/>
          <a:ln>
            <a:noFill/>
          </a:ln>
        </p:spPr>
        <p:txBody>
          <a:bodyPr anchorCtr="0" anchor="t" bIns="0" lIns="0" spcFirstLastPara="1" rIns="0" wrap="square" tIns="0">
            <a:spAutoFit/>
          </a:bodyPr>
          <a:lstStyle/>
          <a:p>
            <a:pPr indent="0" lvl="0" marL="0" marR="0" rtl="0" algn="ctr">
              <a:lnSpc>
                <a:spcPct val="124977"/>
              </a:lnSpc>
              <a:spcBef>
                <a:spcPts val="0"/>
              </a:spcBef>
              <a:spcAft>
                <a:spcPts val="0"/>
              </a:spcAft>
              <a:buNone/>
            </a:pPr>
            <a:r>
              <a:rPr b="1" i="0" lang="en-US" sz="1400" u="none" cap="none" strike="noStrike">
                <a:solidFill>
                  <a:srgbClr val="0F172A"/>
                </a:solidFill>
                <a:latin typeface="Assistant"/>
                <a:ea typeface="Assistant"/>
                <a:cs typeface="Assistant"/>
                <a:sym typeface="Assistant"/>
              </a:rPr>
              <a:t>Gemini 3.0 Pro &amp; Deep Think</a:t>
            </a:r>
            <a:endParaRPr sz="1700"/>
          </a:p>
        </p:txBody>
      </p:sp>
      <p:sp>
        <p:nvSpPr>
          <p:cNvPr id="206" name="Google Shape;206;p28"/>
          <p:cNvSpPr txBox="1"/>
          <p:nvPr/>
        </p:nvSpPr>
        <p:spPr>
          <a:xfrm>
            <a:off x="7406818" y="3788330"/>
            <a:ext cx="2026800" cy="701400"/>
          </a:xfrm>
          <a:prstGeom prst="rect">
            <a:avLst/>
          </a:prstGeom>
          <a:noFill/>
          <a:ln>
            <a:noFill/>
          </a:ln>
        </p:spPr>
        <p:txBody>
          <a:bodyPr anchorCtr="0" anchor="t" bIns="0" lIns="0" spcFirstLastPara="1" rIns="0" wrap="square" tIns="0">
            <a:spAutoFit/>
          </a:bodyPr>
          <a:lstStyle/>
          <a:p>
            <a:pPr indent="0" lvl="0" marL="0" marR="0" rtl="0" algn="ctr">
              <a:lnSpc>
                <a:spcPct val="139897"/>
              </a:lnSpc>
              <a:spcBef>
                <a:spcPts val="0"/>
              </a:spcBef>
              <a:spcAft>
                <a:spcPts val="0"/>
              </a:spcAft>
              <a:buNone/>
            </a:pPr>
            <a:r>
              <a:rPr b="0" i="0" lang="en-US" sz="1200" u="none" cap="none" strike="noStrike">
                <a:solidFill>
                  <a:srgbClr val="64748B"/>
                </a:solidFill>
                <a:latin typeface="Assistant"/>
                <a:ea typeface="Assistant"/>
                <a:cs typeface="Assistant"/>
                <a:sym typeface="Assistant"/>
              </a:rPr>
              <a:t>מודל היסוד בסדרת Gemini 3.0 עם מנוע Reasoning עמוק לפתרון בעיות מחקר מורכבות.</a:t>
            </a:r>
            <a:endParaRPr sz="1700"/>
          </a:p>
        </p:txBody>
      </p:sp>
      <p:sp>
        <p:nvSpPr>
          <p:cNvPr id="207" name="Google Shape;207;p28"/>
          <p:cNvSpPr txBox="1"/>
          <p:nvPr/>
        </p:nvSpPr>
        <p:spPr>
          <a:xfrm>
            <a:off x="5197078" y="4983480"/>
            <a:ext cx="20268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1E293B"/>
                </a:solidFill>
                <a:latin typeface="Rubik"/>
                <a:ea typeface="Rubik"/>
                <a:cs typeface="Rubik"/>
                <a:sym typeface="Rubik"/>
              </a:rPr>
              <a:t>פברואר 2026</a:t>
            </a:r>
            <a:endParaRPr sz="1700"/>
          </a:p>
        </p:txBody>
      </p:sp>
      <p:sp>
        <p:nvSpPr>
          <p:cNvPr id="208" name="Google Shape;208;p28"/>
          <p:cNvSpPr txBox="1"/>
          <p:nvPr/>
        </p:nvSpPr>
        <p:spPr>
          <a:xfrm>
            <a:off x="5197078" y="5326380"/>
            <a:ext cx="2026800" cy="484800"/>
          </a:xfrm>
          <a:prstGeom prst="rect">
            <a:avLst/>
          </a:prstGeom>
          <a:noFill/>
          <a:ln>
            <a:noFill/>
          </a:ln>
        </p:spPr>
        <p:txBody>
          <a:bodyPr anchorCtr="0" anchor="t" bIns="0" lIns="0" spcFirstLastPara="1" rIns="0" wrap="square" tIns="0">
            <a:spAutoFit/>
          </a:bodyPr>
          <a:lstStyle/>
          <a:p>
            <a:pPr indent="0" lvl="0" marL="0" marR="0" rtl="0" algn="ctr">
              <a:lnSpc>
                <a:spcPct val="124977"/>
              </a:lnSpc>
              <a:spcBef>
                <a:spcPts val="0"/>
              </a:spcBef>
              <a:spcAft>
                <a:spcPts val="0"/>
              </a:spcAft>
              <a:buNone/>
            </a:pPr>
            <a:r>
              <a:rPr b="1" i="0" lang="en-US" sz="1400" u="none" cap="none" strike="noStrike">
                <a:solidFill>
                  <a:srgbClr val="0F172A"/>
                </a:solidFill>
                <a:latin typeface="Assistant"/>
                <a:ea typeface="Assistant"/>
                <a:cs typeface="Assistant"/>
                <a:sym typeface="Assistant"/>
              </a:rPr>
              <a:t>Gemini 3.1 &amp; Nano Banana 2</a:t>
            </a:r>
            <a:endParaRPr sz="1700"/>
          </a:p>
        </p:txBody>
      </p:sp>
      <p:sp>
        <p:nvSpPr>
          <p:cNvPr id="209" name="Google Shape;209;p28"/>
          <p:cNvSpPr txBox="1"/>
          <p:nvPr/>
        </p:nvSpPr>
        <p:spPr>
          <a:xfrm>
            <a:off x="5197078" y="5823584"/>
            <a:ext cx="2026800" cy="701400"/>
          </a:xfrm>
          <a:prstGeom prst="rect">
            <a:avLst/>
          </a:prstGeom>
          <a:noFill/>
          <a:ln>
            <a:noFill/>
          </a:ln>
        </p:spPr>
        <p:txBody>
          <a:bodyPr anchorCtr="0" anchor="t" bIns="0" lIns="0" spcFirstLastPara="1" rIns="0" wrap="square" tIns="0">
            <a:spAutoFit/>
          </a:bodyPr>
          <a:lstStyle/>
          <a:p>
            <a:pPr indent="0" lvl="0" marL="0" marR="0" rtl="0" algn="ctr">
              <a:lnSpc>
                <a:spcPct val="139897"/>
              </a:lnSpc>
              <a:spcBef>
                <a:spcPts val="0"/>
              </a:spcBef>
              <a:spcAft>
                <a:spcPts val="0"/>
              </a:spcAft>
              <a:buNone/>
            </a:pPr>
            <a:r>
              <a:rPr b="0" i="0" lang="en-US" sz="1200" u="none" cap="none" strike="noStrike">
                <a:solidFill>
                  <a:srgbClr val="64748B"/>
                </a:solidFill>
                <a:latin typeface="Assistant"/>
                <a:ea typeface="Assistant"/>
                <a:cs typeface="Assistant"/>
                <a:sym typeface="Assistant"/>
              </a:rPr>
              <a:t>אינטגרציה מלאה של דור ה-Nano Banana ליצירה ופענוח ויזואלי ברזולוציה גבוהה.</a:t>
            </a:r>
            <a:endParaRPr sz="1700"/>
          </a:p>
        </p:txBody>
      </p:sp>
      <p:sp>
        <p:nvSpPr>
          <p:cNvPr id="210" name="Google Shape;210;p28"/>
          <p:cNvSpPr txBox="1"/>
          <p:nvPr/>
        </p:nvSpPr>
        <p:spPr>
          <a:xfrm>
            <a:off x="2987338" y="3162538"/>
            <a:ext cx="20268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1E293B"/>
                </a:solidFill>
                <a:latin typeface="Rubik"/>
                <a:ea typeface="Rubik"/>
                <a:cs typeface="Rubik"/>
                <a:sym typeface="Rubik"/>
              </a:rPr>
              <a:t>מאי 2026</a:t>
            </a:r>
            <a:endParaRPr sz="1700"/>
          </a:p>
        </p:txBody>
      </p:sp>
      <p:sp>
        <p:nvSpPr>
          <p:cNvPr id="211" name="Google Shape;211;p28"/>
          <p:cNvSpPr txBox="1"/>
          <p:nvPr/>
        </p:nvSpPr>
        <p:spPr>
          <a:xfrm>
            <a:off x="2987338" y="3505438"/>
            <a:ext cx="2026800" cy="215400"/>
          </a:xfrm>
          <a:prstGeom prst="rect">
            <a:avLst/>
          </a:prstGeom>
          <a:noFill/>
          <a:ln>
            <a:noFill/>
          </a:ln>
        </p:spPr>
        <p:txBody>
          <a:bodyPr anchorCtr="0" anchor="t" bIns="0" lIns="0" spcFirstLastPara="1" rIns="0" wrap="square" tIns="0">
            <a:spAutoFit/>
          </a:bodyPr>
          <a:lstStyle/>
          <a:p>
            <a:pPr indent="0" lvl="0" marL="0" marR="0" rtl="0" algn="ctr">
              <a:lnSpc>
                <a:spcPct val="124977"/>
              </a:lnSpc>
              <a:spcBef>
                <a:spcPts val="0"/>
              </a:spcBef>
              <a:spcAft>
                <a:spcPts val="0"/>
              </a:spcAft>
              <a:buNone/>
            </a:pPr>
            <a:r>
              <a:rPr b="1" i="0" lang="en-US" sz="1400" u="none" cap="none" strike="noStrike">
                <a:solidFill>
                  <a:srgbClr val="0F172A"/>
                </a:solidFill>
                <a:latin typeface="Assistant"/>
                <a:ea typeface="Assistant"/>
                <a:cs typeface="Assistant"/>
                <a:sym typeface="Assistant"/>
              </a:rPr>
              <a:t>Gemini 3.5 &amp; 3.6 Flash</a:t>
            </a:r>
            <a:endParaRPr sz="1700"/>
          </a:p>
        </p:txBody>
      </p:sp>
      <p:sp>
        <p:nvSpPr>
          <p:cNvPr id="212" name="Google Shape;212;p28"/>
          <p:cNvSpPr txBox="1"/>
          <p:nvPr/>
        </p:nvSpPr>
        <p:spPr>
          <a:xfrm>
            <a:off x="2987338" y="3788330"/>
            <a:ext cx="2026800" cy="701400"/>
          </a:xfrm>
          <a:prstGeom prst="rect">
            <a:avLst/>
          </a:prstGeom>
          <a:noFill/>
          <a:ln>
            <a:noFill/>
          </a:ln>
        </p:spPr>
        <p:txBody>
          <a:bodyPr anchorCtr="0" anchor="t" bIns="0" lIns="0" spcFirstLastPara="1" rIns="0" wrap="square" tIns="0">
            <a:spAutoFit/>
          </a:bodyPr>
          <a:lstStyle/>
          <a:p>
            <a:pPr indent="0" lvl="0" marL="0" marR="0" rtl="0" algn="ctr">
              <a:lnSpc>
                <a:spcPct val="139897"/>
              </a:lnSpc>
              <a:spcBef>
                <a:spcPts val="0"/>
              </a:spcBef>
              <a:spcAft>
                <a:spcPts val="0"/>
              </a:spcAft>
              <a:buNone/>
            </a:pPr>
            <a:r>
              <a:rPr b="0" i="0" lang="en-US" sz="1200" u="none" cap="none" strike="noStrike">
                <a:solidFill>
                  <a:srgbClr val="64748B"/>
                </a:solidFill>
                <a:latin typeface="Assistant"/>
                <a:ea typeface="Assistant"/>
                <a:cs typeface="Assistant"/>
                <a:sym typeface="Assistant"/>
              </a:rPr>
              <a:t>יעילות חסרת תקדים וזמן תגובה אפסי להרצת סוכנים אוטונומיים בסביבות ענן וקצה.</a:t>
            </a:r>
            <a:endParaRPr sz="1700"/>
          </a:p>
        </p:txBody>
      </p:sp>
      <p:sp>
        <p:nvSpPr>
          <p:cNvPr id="213" name="Google Shape;213;p28"/>
          <p:cNvSpPr txBox="1"/>
          <p:nvPr/>
        </p:nvSpPr>
        <p:spPr>
          <a:xfrm>
            <a:off x="777596" y="4983480"/>
            <a:ext cx="20268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1E293B"/>
                </a:solidFill>
                <a:latin typeface="Rubik"/>
                <a:ea typeface="Rubik"/>
                <a:cs typeface="Rubik"/>
                <a:sym typeface="Rubik"/>
              </a:rPr>
              <a:t>אוגוסט 2026</a:t>
            </a:r>
            <a:endParaRPr sz="1700"/>
          </a:p>
        </p:txBody>
      </p:sp>
      <p:sp>
        <p:nvSpPr>
          <p:cNvPr id="214" name="Google Shape;214;p28"/>
          <p:cNvSpPr txBox="1"/>
          <p:nvPr/>
        </p:nvSpPr>
        <p:spPr>
          <a:xfrm>
            <a:off x="777596" y="5326380"/>
            <a:ext cx="2026800" cy="484800"/>
          </a:xfrm>
          <a:prstGeom prst="rect">
            <a:avLst/>
          </a:prstGeom>
          <a:noFill/>
          <a:ln>
            <a:noFill/>
          </a:ln>
        </p:spPr>
        <p:txBody>
          <a:bodyPr anchorCtr="0" anchor="t" bIns="0" lIns="0" spcFirstLastPara="1" rIns="0" wrap="square" tIns="0">
            <a:spAutoFit/>
          </a:bodyPr>
          <a:lstStyle/>
          <a:p>
            <a:pPr indent="0" lvl="0" marL="0" marR="0" rtl="0" algn="ctr">
              <a:lnSpc>
                <a:spcPct val="124977"/>
              </a:lnSpc>
              <a:spcBef>
                <a:spcPts val="0"/>
              </a:spcBef>
              <a:spcAft>
                <a:spcPts val="0"/>
              </a:spcAft>
              <a:buNone/>
            </a:pPr>
            <a:r>
              <a:rPr b="1" i="0" lang="en-US" sz="1400" u="none" cap="none" strike="noStrike">
                <a:solidFill>
                  <a:srgbClr val="0F172A"/>
                </a:solidFill>
                <a:latin typeface="Assistant"/>
                <a:ea typeface="Assistant"/>
                <a:cs typeface="Assistant"/>
                <a:sym typeface="Assistant"/>
              </a:rPr>
              <a:t>Gemini 3.7 Flash — דור הקצה</a:t>
            </a:r>
            <a:endParaRPr sz="1700"/>
          </a:p>
        </p:txBody>
      </p:sp>
      <p:sp>
        <p:nvSpPr>
          <p:cNvPr id="215" name="Google Shape;215;p28"/>
          <p:cNvSpPr txBox="1"/>
          <p:nvPr/>
        </p:nvSpPr>
        <p:spPr>
          <a:xfrm>
            <a:off x="777596" y="5823584"/>
            <a:ext cx="2026800" cy="701400"/>
          </a:xfrm>
          <a:prstGeom prst="rect">
            <a:avLst/>
          </a:prstGeom>
          <a:noFill/>
          <a:ln>
            <a:noFill/>
          </a:ln>
        </p:spPr>
        <p:txBody>
          <a:bodyPr anchorCtr="0" anchor="t" bIns="0" lIns="0" spcFirstLastPara="1" rIns="0" wrap="square" tIns="0">
            <a:spAutoFit/>
          </a:bodyPr>
          <a:lstStyle/>
          <a:p>
            <a:pPr indent="0" lvl="0" marL="0" marR="0" rtl="0" algn="ctr">
              <a:lnSpc>
                <a:spcPct val="139897"/>
              </a:lnSpc>
              <a:spcBef>
                <a:spcPts val="0"/>
              </a:spcBef>
              <a:spcAft>
                <a:spcPts val="0"/>
              </a:spcAft>
              <a:buNone/>
            </a:pPr>
            <a:r>
              <a:rPr b="0" i="0" lang="en-US" sz="1200" u="none" cap="none" strike="noStrike">
                <a:solidFill>
                  <a:srgbClr val="64748B"/>
                </a:solidFill>
                <a:latin typeface="Assistant"/>
                <a:ea typeface="Assistant"/>
                <a:cs typeface="Assistant"/>
                <a:sym typeface="Assistant"/>
              </a:rPr>
              <a:t>מודל קצה חדשני המשלב חשיבה מהירה, הסקת מסקנות מתקדמת והבנה הוליסטית של כל המדיה.</a:t>
            </a:r>
            <a:endParaRPr sz="1700"/>
          </a:p>
        </p:txBody>
      </p:sp>
      <p:sp>
        <p:nvSpPr>
          <p:cNvPr id="216" name="Google Shape;216;p28"/>
          <p:cNvSpPr/>
          <p:nvPr/>
        </p:nvSpPr>
        <p:spPr>
          <a:xfrm>
            <a:off x="914400" y="4686300"/>
            <a:ext cx="12801600" cy="23100"/>
          </a:xfrm>
          <a:prstGeom prst="rect">
            <a:avLst/>
          </a:prstGeom>
          <a:solidFill>
            <a:srgbClr val="E9D5FF"/>
          </a:solidFill>
          <a:ln>
            <a:noFill/>
          </a:ln>
        </p:spPr>
        <p:txBody>
          <a:bodyPr anchorCtr="0" anchor="ctr" bIns="54850" lIns="109700" spcFirstLastPara="1" rIns="109700" wrap="square" tIns="54850">
            <a:noAutofit/>
          </a:bodyPr>
          <a:lstStyle/>
          <a:p>
            <a:pPr indent="0" lvl="0" marL="0" marR="0" rtl="0" algn="ctr">
              <a:spcBef>
                <a:spcPts val="0"/>
              </a:spcBef>
              <a:spcAft>
                <a:spcPts val="0"/>
              </a:spcAft>
              <a:buNone/>
            </a:pPr>
            <a:r>
              <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descr="preencoded.png" id="222" name="Google Shape;222;p29"/>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223" name="Google Shape;223;p29"/>
          <p:cNvSpPr/>
          <p:nvPr/>
        </p:nvSpPr>
        <p:spPr>
          <a:xfrm>
            <a:off x="793853" y="1475170"/>
            <a:ext cx="7556400" cy="1240200"/>
          </a:xfrm>
          <a:prstGeom prst="rect">
            <a:avLst/>
          </a:prstGeom>
          <a:noFill/>
          <a:ln>
            <a:noFill/>
          </a:ln>
        </p:spPr>
        <p:txBody>
          <a:bodyPr anchorCtr="0" anchor="t" bIns="0" lIns="0" spcFirstLastPara="1" rIns="0" wrap="square" tIns="0">
            <a:noAutofit/>
          </a:bodyPr>
          <a:lstStyle/>
          <a:p>
            <a:pPr indent="0" lvl="0" marL="0" marR="0" rtl="1" algn="r">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הארכיטקטורה – Native Multimodality</a:t>
            </a:r>
            <a:endParaRPr b="0" i="0" sz="3900" u="none" cap="none" strike="noStrike"/>
          </a:p>
        </p:txBody>
      </p:sp>
      <p:sp>
        <p:nvSpPr>
          <p:cNvPr id="224" name="Google Shape;224;p29"/>
          <p:cNvSpPr/>
          <p:nvPr/>
        </p:nvSpPr>
        <p:spPr>
          <a:xfrm>
            <a:off x="793790" y="2938582"/>
            <a:ext cx="7556421" cy="63507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בניגוד למודלים אחרים ש"חוברו" להם יכולות, Gemini נבנה מהיסוד עם יכולת מולטי-מודאלית טבעית, המאפשרת לו להבין ולעבד מידע ממגוון מקורות בו-זמנית.</a:t>
            </a:r>
            <a:endParaRPr b="0" i="0" sz="1550" u="none" cap="none" strike="noStrike"/>
          </a:p>
        </p:txBody>
      </p:sp>
      <p:sp>
        <p:nvSpPr>
          <p:cNvPr id="225" name="Google Shape;225;p29"/>
          <p:cNvSpPr/>
          <p:nvPr/>
        </p:nvSpPr>
        <p:spPr>
          <a:xfrm>
            <a:off x="5963722" y="4094559"/>
            <a:ext cx="2386489" cy="2734270"/>
          </a:xfrm>
          <a:prstGeom prst="roundRect">
            <a:avLst>
              <a:gd fmla="val 459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9"/>
          <p:cNvSpPr/>
          <p:nvPr/>
        </p:nvSpPr>
        <p:spPr>
          <a:xfrm>
            <a:off x="5963722" y="4071699"/>
            <a:ext cx="2386489" cy="91440"/>
          </a:xfrm>
          <a:prstGeom prst="roundRect">
            <a:avLst>
              <a:gd fmla="val 91163"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9"/>
          <p:cNvSpPr/>
          <p:nvPr/>
        </p:nvSpPr>
        <p:spPr>
          <a:xfrm>
            <a:off x="6859310" y="3796903"/>
            <a:ext cx="595313" cy="595313"/>
          </a:xfrm>
          <a:prstGeom prst="roundRect">
            <a:avLst>
              <a:gd fmla="val 153600"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8" name="Google Shape;228;p29"/>
          <p:cNvPicPr preferRelativeResize="0"/>
          <p:nvPr/>
        </p:nvPicPr>
        <p:blipFill rotWithShape="1">
          <a:blip r:embed="rId4">
            <a:alphaModFix/>
          </a:blip>
          <a:srcRect b="0" l="0" r="0" t="0"/>
          <a:stretch/>
        </p:blipFill>
        <p:spPr>
          <a:xfrm>
            <a:off x="7037903" y="3975497"/>
            <a:ext cx="238125" cy="238125"/>
          </a:xfrm>
          <a:prstGeom prst="rect">
            <a:avLst/>
          </a:prstGeom>
          <a:noFill/>
          <a:ln>
            <a:noFill/>
          </a:ln>
        </p:spPr>
      </p:pic>
      <p:sp>
        <p:nvSpPr>
          <p:cNvPr id="229" name="Google Shape;229;p29"/>
          <p:cNvSpPr/>
          <p:nvPr/>
        </p:nvSpPr>
        <p:spPr>
          <a:xfrm>
            <a:off x="6184940" y="4590693"/>
            <a:ext cx="1944053"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מולטי-מודאליות </a:t>
            </a:r>
            <a:endParaRPr b="0" i="0" sz="1950" u="none" cap="none" strike="noStrike"/>
          </a:p>
        </p:txBody>
      </p:sp>
      <p:sp>
        <p:nvSpPr>
          <p:cNvPr id="230" name="Google Shape;230;p29"/>
          <p:cNvSpPr/>
          <p:nvPr/>
        </p:nvSpPr>
        <p:spPr>
          <a:xfrm>
            <a:off x="6184940" y="5019913"/>
            <a:ext cx="1944053" cy="1587698"/>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אומן במקביל על טקסט, קוד, תמונה, אודיו ווידאו – גישה הוליסטית שמבדלת אותו ממודלים אחרים.</a:t>
            </a:r>
            <a:endParaRPr b="0" i="0" sz="1550" u="none" cap="none" strike="noStrike"/>
          </a:p>
        </p:txBody>
      </p:sp>
      <p:sp>
        <p:nvSpPr>
          <p:cNvPr id="231" name="Google Shape;231;p29"/>
          <p:cNvSpPr/>
          <p:nvPr/>
        </p:nvSpPr>
        <p:spPr>
          <a:xfrm>
            <a:off x="3378756" y="4094559"/>
            <a:ext cx="2386608" cy="2734270"/>
          </a:xfrm>
          <a:prstGeom prst="roundRect">
            <a:avLst>
              <a:gd fmla="val 459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9"/>
          <p:cNvSpPr/>
          <p:nvPr/>
        </p:nvSpPr>
        <p:spPr>
          <a:xfrm>
            <a:off x="3378756" y="4071699"/>
            <a:ext cx="2386608" cy="91440"/>
          </a:xfrm>
          <a:prstGeom prst="roundRect">
            <a:avLst>
              <a:gd fmla="val 91163"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9"/>
          <p:cNvSpPr/>
          <p:nvPr/>
        </p:nvSpPr>
        <p:spPr>
          <a:xfrm>
            <a:off x="4274344" y="3796903"/>
            <a:ext cx="595313" cy="595313"/>
          </a:xfrm>
          <a:prstGeom prst="roundRect">
            <a:avLst>
              <a:gd fmla="val 153600"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4" name="Google Shape;234;p29"/>
          <p:cNvPicPr preferRelativeResize="0"/>
          <p:nvPr/>
        </p:nvPicPr>
        <p:blipFill rotWithShape="1">
          <a:blip r:embed="rId5">
            <a:alphaModFix/>
          </a:blip>
          <a:srcRect b="0" l="0" r="0" t="0"/>
          <a:stretch/>
        </p:blipFill>
        <p:spPr>
          <a:xfrm>
            <a:off x="4452938" y="3975497"/>
            <a:ext cx="238125" cy="238125"/>
          </a:xfrm>
          <a:prstGeom prst="rect">
            <a:avLst/>
          </a:prstGeom>
          <a:noFill/>
          <a:ln>
            <a:noFill/>
          </a:ln>
        </p:spPr>
      </p:pic>
      <p:sp>
        <p:nvSpPr>
          <p:cNvPr id="235" name="Google Shape;235;p29"/>
          <p:cNvSpPr/>
          <p:nvPr/>
        </p:nvSpPr>
        <p:spPr>
          <a:xfrm>
            <a:off x="3599974" y="4590693"/>
            <a:ext cx="1944172" cy="620316"/>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יכולת הכללה מתקדמת</a:t>
            </a:r>
            <a:endParaRPr b="0" i="0" sz="1950" u="none" cap="none" strike="noStrike"/>
          </a:p>
        </p:txBody>
      </p:sp>
      <p:sp>
        <p:nvSpPr>
          <p:cNvPr id="236" name="Google Shape;236;p29"/>
          <p:cNvSpPr/>
          <p:nvPr/>
        </p:nvSpPr>
        <p:spPr>
          <a:xfrm>
            <a:off x="3599974" y="5330071"/>
            <a:ext cx="1944172" cy="127015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מבין הקשרים מורכבים בין סוגי מדיה שונים, כמו ניתוח סרטון והפקת קוד מדויק בהתבסס עליו.</a:t>
            </a:r>
            <a:endParaRPr b="0" i="0" sz="1550" u="none" cap="none" strike="noStrike"/>
          </a:p>
        </p:txBody>
      </p:sp>
      <p:sp>
        <p:nvSpPr>
          <p:cNvPr id="237" name="Google Shape;237;p29"/>
          <p:cNvSpPr/>
          <p:nvPr/>
        </p:nvSpPr>
        <p:spPr>
          <a:xfrm>
            <a:off x="793790" y="4094559"/>
            <a:ext cx="2386608" cy="2734270"/>
          </a:xfrm>
          <a:prstGeom prst="roundRect">
            <a:avLst>
              <a:gd fmla="val 459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9"/>
          <p:cNvSpPr/>
          <p:nvPr/>
        </p:nvSpPr>
        <p:spPr>
          <a:xfrm>
            <a:off x="793790" y="4071699"/>
            <a:ext cx="2386608" cy="91440"/>
          </a:xfrm>
          <a:prstGeom prst="roundRect">
            <a:avLst>
              <a:gd fmla="val 91163"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9"/>
          <p:cNvSpPr/>
          <p:nvPr/>
        </p:nvSpPr>
        <p:spPr>
          <a:xfrm>
            <a:off x="1689378" y="3796903"/>
            <a:ext cx="595313" cy="595313"/>
          </a:xfrm>
          <a:prstGeom prst="roundRect">
            <a:avLst>
              <a:gd fmla="val 153600"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0" name="Google Shape;240;p29"/>
          <p:cNvPicPr preferRelativeResize="0"/>
          <p:nvPr/>
        </p:nvPicPr>
        <p:blipFill rotWithShape="1">
          <a:blip r:embed="rId6">
            <a:alphaModFix/>
          </a:blip>
          <a:srcRect b="0" l="0" r="0" t="0"/>
          <a:stretch/>
        </p:blipFill>
        <p:spPr>
          <a:xfrm>
            <a:off x="1867972" y="3975497"/>
            <a:ext cx="238125" cy="238125"/>
          </a:xfrm>
          <a:prstGeom prst="rect">
            <a:avLst/>
          </a:prstGeom>
          <a:noFill/>
          <a:ln>
            <a:noFill/>
          </a:ln>
        </p:spPr>
      </p:pic>
      <p:sp>
        <p:nvSpPr>
          <p:cNvPr id="241" name="Google Shape;241;p29"/>
          <p:cNvSpPr/>
          <p:nvPr/>
        </p:nvSpPr>
        <p:spPr>
          <a:xfrm>
            <a:off x="1015008" y="4590693"/>
            <a:ext cx="1944172" cy="620316"/>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משפחת מודלים גמישה</a:t>
            </a:r>
            <a:endParaRPr b="0" i="0" sz="1950" u="none" cap="none" strike="noStrike"/>
          </a:p>
        </p:txBody>
      </p:sp>
      <p:sp>
        <p:nvSpPr>
          <p:cNvPr id="242" name="Google Shape;242;p29"/>
          <p:cNvSpPr/>
          <p:nvPr/>
        </p:nvSpPr>
        <p:spPr>
          <a:xfrm>
            <a:off x="1015008" y="5330071"/>
            <a:ext cx="1944172" cy="127015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חלוקה לגרסאות: Ultra (משימות מורכבות), Pro (איזון מושלם) ו-Flash (מהירות ויעילות מירבית).</a:t>
            </a:r>
            <a:endParaRPr b="0" i="0" sz="15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0"/>
          <p:cNvSpPr/>
          <p:nvPr/>
        </p:nvSpPr>
        <p:spPr>
          <a:xfrm>
            <a:off x="2800469" y="969407"/>
            <a:ext cx="11036141" cy="620078"/>
          </a:xfrm>
          <a:prstGeom prst="rect">
            <a:avLst/>
          </a:prstGeom>
          <a:noFill/>
          <a:ln>
            <a:noFill/>
          </a:ln>
        </p:spPr>
        <p:txBody>
          <a:bodyPr anchorCtr="0" anchor="t" bIns="0" lIns="0" spcFirstLastPara="1" rIns="0" wrap="square" tIns="0">
            <a:noAutofit/>
          </a:bodyPr>
          <a:lstStyle/>
          <a:p>
            <a:pPr indent="0" lvl="0" marL="0" marR="0" rtl="1" algn="r">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חלון ההקשר (Context Window) – היתרון המשמעותי</a:t>
            </a:r>
            <a:endParaRPr b="0" i="0" sz="3900" u="none" cap="none" strike="noStrike"/>
          </a:p>
        </p:txBody>
      </p:sp>
      <p:sp>
        <p:nvSpPr>
          <p:cNvPr id="249" name="Google Shape;249;p30"/>
          <p:cNvSpPr/>
          <p:nvPr/>
        </p:nvSpPr>
        <p:spPr>
          <a:xfrm>
            <a:off x="793790" y="2065734"/>
            <a:ext cx="7632025" cy="63507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אחד היתרונות הבולטים של Gemini, המבדיל אותו ממודלים אחרים, הוא חלון ההקשר העצום שלו. יכולת זו משפיעה באופן דרמטי על הבנתו וביצועיו במשימות מורכבות.</a:t>
            </a:r>
            <a:endParaRPr b="0" i="0" sz="1550" u="none" cap="none" strike="noStrike"/>
          </a:p>
        </p:txBody>
      </p:sp>
      <p:sp>
        <p:nvSpPr>
          <p:cNvPr id="250" name="Google Shape;250;p30"/>
          <p:cNvSpPr/>
          <p:nvPr/>
        </p:nvSpPr>
        <p:spPr>
          <a:xfrm>
            <a:off x="8326636" y="3029486"/>
            <a:ext cx="99179" cy="99179"/>
          </a:xfrm>
          <a:prstGeom prst="roundRect">
            <a:avLst>
              <a:gd fmla="val 460985"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0"/>
          <p:cNvSpPr/>
          <p:nvPr/>
        </p:nvSpPr>
        <p:spPr>
          <a:xfrm>
            <a:off x="5647373" y="2924056"/>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קיבולת זיכרון יוצאת דופן</a:t>
            </a:r>
            <a:endParaRPr b="0" i="0" sz="1950" u="none" cap="none" strike="noStrike"/>
          </a:p>
        </p:txBody>
      </p:sp>
      <p:sp>
        <p:nvSpPr>
          <p:cNvPr id="252" name="Google Shape;252;p30"/>
          <p:cNvSpPr/>
          <p:nvPr/>
        </p:nvSpPr>
        <p:spPr>
          <a:xfrm>
            <a:off x="4733806" y="3432572"/>
            <a:ext cx="3394472" cy="127015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מודלי Gemini המתקדמים מציעים חלון הקשר של מיליון עד 2 מיליון טוקנים, המאפשר עיבוד מידע בהיקפים חסרי תקדים.</a:t>
            </a:r>
            <a:endParaRPr b="0" i="0" sz="1550" u="none" cap="none" strike="noStrike"/>
          </a:p>
        </p:txBody>
      </p:sp>
      <p:sp>
        <p:nvSpPr>
          <p:cNvPr id="253" name="Google Shape;253;p30"/>
          <p:cNvSpPr/>
          <p:nvPr/>
        </p:nvSpPr>
        <p:spPr>
          <a:xfrm>
            <a:off x="4386620" y="3029486"/>
            <a:ext cx="99179" cy="99179"/>
          </a:xfrm>
          <a:prstGeom prst="roundRect">
            <a:avLst>
              <a:gd fmla="val 460985"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0"/>
          <p:cNvSpPr/>
          <p:nvPr/>
        </p:nvSpPr>
        <p:spPr>
          <a:xfrm>
            <a:off x="1707356" y="2924056"/>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משמעות פרקטית</a:t>
            </a:r>
            <a:endParaRPr b="0" i="0" sz="1950" u="none" cap="none" strike="noStrike"/>
          </a:p>
        </p:txBody>
      </p:sp>
      <p:sp>
        <p:nvSpPr>
          <p:cNvPr id="255" name="Google Shape;255;p30"/>
          <p:cNvSpPr/>
          <p:nvPr/>
        </p:nvSpPr>
        <p:spPr>
          <a:xfrm>
            <a:off x="793790" y="3432572"/>
            <a:ext cx="3394472" cy="95261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היכולת של Gemini "לקרוא" בבת אחת מאות ספרים, שעות של וידאו או עשרות אלפי שורות קוד, ולהבין את ההקשר במלואו.</a:t>
            </a:r>
            <a:endParaRPr b="0" i="0" sz="1550" u="none" cap="none" strike="noStrike"/>
          </a:p>
        </p:txBody>
      </p:sp>
      <p:sp>
        <p:nvSpPr>
          <p:cNvPr id="256" name="Google Shape;256;p30"/>
          <p:cNvSpPr/>
          <p:nvPr/>
        </p:nvSpPr>
        <p:spPr>
          <a:xfrm>
            <a:off x="8326636" y="5204996"/>
            <a:ext cx="99179" cy="99179"/>
          </a:xfrm>
          <a:prstGeom prst="roundRect">
            <a:avLst>
              <a:gd fmla="val 460985"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0"/>
          <p:cNvSpPr/>
          <p:nvPr/>
        </p:nvSpPr>
        <p:spPr>
          <a:xfrm>
            <a:off x="5647373" y="5099566"/>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דיוק בשליפה</a:t>
            </a:r>
            <a:endParaRPr b="0" i="0" sz="1950" u="none" cap="none" strike="noStrike"/>
          </a:p>
        </p:txBody>
      </p:sp>
      <p:sp>
        <p:nvSpPr>
          <p:cNvPr id="258" name="Google Shape;258;p30"/>
          <p:cNvSpPr/>
          <p:nvPr/>
        </p:nvSpPr>
        <p:spPr>
          <a:xfrm>
            <a:off x="793790" y="5608082"/>
            <a:ext cx="7334488" cy="63507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ביצועים גבוהים במציאת פרטי מידע ספציפיים ורלוונטיים (כמו "מחט בערימת שחת") בתוך כמויות מידע אדירות, הודות להבנת הקשר עמוקה.</a:t>
            </a:r>
            <a:endParaRPr b="0" i="0" sz="1550" u="none" cap="none" strike="noStrike"/>
          </a:p>
        </p:txBody>
      </p:sp>
      <p:pic>
        <p:nvPicPr>
          <p:cNvPr descr="preencoded.png" id="259" name="Google Shape;259;p30"/>
          <p:cNvPicPr preferRelativeResize="0"/>
          <p:nvPr/>
        </p:nvPicPr>
        <p:blipFill rotWithShape="1">
          <a:blip r:embed="rId3">
            <a:alphaModFix/>
          </a:blip>
          <a:srcRect b="0" l="0" r="0" t="0"/>
          <a:stretch/>
        </p:blipFill>
        <p:spPr>
          <a:xfrm>
            <a:off x="8917543" y="2110383"/>
            <a:ext cx="4926568" cy="492656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descr="preencoded.png" id="265" name="Google Shape;265;p3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266" name="Google Shape;266;p31"/>
          <p:cNvSpPr/>
          <p:nvPr/>
        </p:nvSpPr>
        <p:spPr>
          <a:xfrm>
            <a:off x="793790" y="3028355"/>
            <a:ext cx="7556421" cy="1240155"/>
          </a:xfrm>
          <a:prstGeom prst="rect">
            <a:avLst/>
          </a:prstGeom>
          <a:noFill/>
          <a:ln>
            <a:noFill/>
          </a:ln>
        </p:spPr>
        <p:txBody>
          <a:bodyPr anchorCtr="0" anchor="t" bIns="0" lIns="0" spcFirstLastPara="1" rIns="0" wrap="square" tIns="0">
            <a:noAutofit/>
          </a:bodyPr>
          <a:lstStyle/>
          <a:p>
            <a:pPr indent="0" lvl="0" marL="0" marR="0" rtl="1" algn="r">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מאפיין מפתח של Gemini: שילוב עמוק עם כלי Google</a:t>
            </a:r>
            <a:endParaRPr b="0" i="0" sz="3900" u="none" cap="none" strike="noStrike"/>
          </a:p>
        </p:txBody>
      </p:sp>
      <p:sp>
        <p:nvSpPr>
          <p:cNvPr id="267" name="Google Shape;267;p31"/>
          <p:cNvSpPr/>
          <p:nvPr/>
        </p:nvSpPr>
        <p:spPr>
          <a:xfrm>
            <a:off x="793790" y="4566166"/>
            <a:ext cx="7556421" cy="63507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בניגוד לכלי AI עצמאיים, Gemini משולב בצורה אורגנית בכל מוצרי Google — מה שמאפשר לו גישה לנתונים עדכניים, תשתיות חזקות, ויכולות שאף מודל אחר אינו מציע.</a:t>
            </a:r>
            <a:endParaRPr b="0" i="0" sz="155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2"/>
          <p:cNvSpPr/>
          <p:nvPr/>
        </p:nvSpPr>
        <p:spPr>
          <a:xfrm>
            <a:off x="6930194" y="610325"/>
            <a:ext cx="6906300" cy="465300"/>
          </a:xfrm>
          <a:prstGeom prst="rect">
            <a:avLst/>
          </a:prstGeom>
          <a:noFill/>
          <a:ln>
            <a:noFill/>
          </a:ln>
        </p:spPr>
        <p:txBody>
          <a:bodyPr anchorCtr="0" anchor="t" bIns="0" lIns="0" spcFirstLastPara="1" rIns="0" wrap="square" tIns="0">
            <a:noAutofit/>
          </a:bodyPr>
          <a:lstStyle/>
          <a:p>
            <a:pPr indent="0" lvl="0" marL="0" marR="0" rtl="1" algn="r">
              <a:lnSpc>
                <a:spcPct val="125862"/>
              </a:lnSpc>
              <a:spcBef>
                <a:spcPts val="0"/>
              </a:spcBef>
              <a:spcAft>
                <a:spcPts val="0"/>
              </a:spcAft>
              <a:buClr>
                <a:srgbClr val="D75BE2"/>
              </a:buClr>
              <a:buSzPts val="2900"/>
              <a:buFont typeface="Rubik"/>
              <a:buNone/>
            </a:pPr>
            <a:r>
              <a:rPr b="0" i="0" lang="en-US" sz="3200" u="none" cap="none" strike="noStrike">
                <a:solidFill>
                  <a:srgbClr val="D75BE2"/>
                </a:solidFill>
                <a:latin typeface="Rubik"/>
                <a:ea typeface="Rubik"/>
                <a:cs typeface="Rubik"/>
                <a:sym typeface="Rubik"/>
              </a:rPr>
              <a:t>דוגמאות מעשיות עם Gemini</a:t>
            </a:r>
            <a:endParaRPr b="0" i="0" sz="3200" u="none" cap="none" strike="noStrike"/>
          </a:p>
        </p:txBody>
      </p:sp>
      <p:sp>
        <p:nvSpPr>
          <p:cNvPr id="274" name="Google Shape;274;p32"/>
          <p:cNvSpPr/>
          <p:nvPr/>
        </p:nvSpPr>
        <p:spPr>
          <a:xfrm>
            <a:off x="793790" y="1298734"/>
            <a:ext cx="13042821" cy="208359"/>
          </a:xfrm>
          <a:prstGeom prst="rect">
            <a:avLst/>
          </a:prstGeom>
          <a:noFill/>
          <a:ln>
            <a:noFill/>
          </a:ln>
        </p:spPr>
        <p:txBody>
          <a:bodyPr anchorCtr="0" anchor="t" bIns="0" lIns="0" spcFirstLastPara="1" rIns="0" wrap="square" tIns="0">
            <a:noAutofit/>
          </a:bodyPr>
          <a:lstStyle/>
          <a:p>
            <a:pPr indent="0" lvl="0" marL="0" marR="0" rtl="1" algn="r">
              <a:lnSpc>
                <a:spcPct val="139130"/>
              </a:lnSpc>
              <a:spcBef>
                <a:spcPts val="0"/>
              </a:spcBef>
              <a:spcAft>
                <a:spcPts val="0"/>
              </a:spcAft>
              <a:buClr>
                <a:srgbClr val="272525"/>
              </a:buClr>
              <a:buSzPts val="1150"/>
              <a:buFont typeface="Open Sans"/>
              <a:buNone/>
            </a:pPr>
            <a:r>
              <a:rPr b="0" i="0" lang="en-US" sz="1450" u="none" cap="none" strike="noStrike">
                <a:solidFill>
                  <a:srgbClr val="272525"/>
                </a:solidFill>
                <a:latin typeface="Open Sans"/>
                <a:ea typeface="Open Sans"/>
                <a:cs typeface="Open Sans"/>
                <a:sym typeface="Open Sans"/>
              </a:rPr>
              <a:t>שלושת סוגי השימוש המרכזיים שנסקור — מהשימוש היומיומי הפשוט ועד לאינטגרציה עמוקה בסביבת העבודה.</a:t>
            </a:r>
            <a:endParaRPr b="0" i="0" sz="1450" u="none" cap="none" strike="noStrike"/>
          </a:p>
        </p:txBody>
      </p:sp>
      <p:sp>
        <p:nvSpPr>
          <p:cNvPr id="275" name="Google Shape;275;p32"/>
          <p:cNvSpPr/>
          <p:nvPr/>
        </p:nvSpPr>
        <p:spPr>
          <a:xfrm>
            <a:off x="9563447" y="1632574"/>
            <a:ext cx="4273200" cy="1510800"/>
          </a:xfrm>
          <a:prstGeom prst="roundRect">
            <a:avLst>
              <a:gd fmla="val 4793"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r">
              <a:spcBef>
                <a:spcPts val="0"/>
              </a:spcBef>
              <a:spcAft>
                <a:spcPts val="0"/>
              </a:spcAft>
              <a:buNone/>
            </a:pPr>
            <a:r>
              <a:t/>
            </a:r>
            <a:endParaRPr sz="1700"/>
          </a:p>
        </p:txBody>
      </p:sp>
      <p:sp>
        <p:nvSpPr>
          <p:cNvPr id="276" name="Google Shape;276;p32"/>
          <p:cNvSpPr/>
          <p:nvPr/>
        </p:nvSpPr>
        <p:spPr>
          <a:xfrm>
            <a:off x="11819573" y="1789033"/>
            <a:ext cx="1860590" cy="232529"/>
          </a:xfrm>
          <a:prstGeom prst="rect">
            <a:avLst/>
          </a:prstGeom>
          <a:noFill/>
          <a:ln>
            <a:noFill/>
          </a:ln>
        </p:spPr>
        <p:txBody>
          <a:bodyPr anchorCtr="0" anchor="t" bIns="0" lIns="0" spcFirstLastPara="1" rIns="0" wrap="square" tIns="0">
            <a:noAutofit/>
          </a:bodyPr>
          <a:lstStyle/>
          <a:p>
            <a:pPr indent="0" lvl="0" marL="0" marR="0" rtl="1" algn="r">
              <a:lnSpc>
                <a:spcPct val="124137"/>
              </a:lnSpc>
              <a:spcBef>
                <a:spcPts val="0"/>
              </a:spcBef>
              <a:spcAft>
                <a:spcPts val="0"/>
              </a:spcAft>
              <a:buClr>
                <a:srgbClr val="272525"/>
              </a:buClr>
              <a:buSzPts val="1450"/>
              <a:buFont typeface="Rubik"/>
              <a:buNone/>
            </a:pPr>
            <a:r>
              <a:rPr b="0" i="0" lang="en-US" sz="1750" u="none" cap="none" strike="noStrike">
                <a:solidFill>
                  <a:srgbClr val="272525"/>
                </a:solidFill>
                <a:latin typeface="Rubik"/>
                <a:ea typeface="Rubik"/>
                <a:cs typeface="Rubik"/>
                <a:sym typeface="Rubik"/>
              </a:rPr>
              <a:t>1. שימושי פנאי</a:t>
            </a:r>
            <a:endParaRPr b="0" i="0" sz="1750" u="none" cap="none" strike="noStrike"/>
          </a:p>
        </p:txBody>
      </p:sp>
      <p:sp>
        <p:nvSpPr>
          <p:cNvPr id="277" name="Google Shape;277;p32"/>
          <p:cNvSpPr/>
          <p:nvPr/>
        </p:nvSpPr>
        <p:spPr>
          <a:xfrm>
            <a:off x="9719905" y="2203978"/>
            <a:ext cx="3960300" cy="208500"/>
          </a:xfrm>
          <a:prstGeom prst="rect">
            <a:avLst/>
          </a:prstGeom>
          <a:noFill/>
          <a:ln>
            <a:noFill/>
          </a:ln>
        </p:spPr>
        <p:txBody>
          <a:bodyPr anchorCtr="0" anchor="t" bIns="0" lIns="0" spcFirstLastPara="1" rIns="0" wrap="square" tIns="0">
            <a:noAutofit/>
          </a:bodyPr>
          <a:lstStyle/>
          <a:p>
            <a:pPr indent="0" lvl="0" marL="0" marR="0" rtl="1" algn="r">
              <a:lnSpc>
                <a:spcPct val="139130"/>
              </a:lnSpc>
              <a:spcBef>
                <a:spcPts val="0"/>
              </a:spcBef>
              <a:spcAft>
                <a:spcPts val="0"/>
              </a:spcAft>
              <a:buClr>
                <a:srgbClr val="272525"/>
              </a:buClr>
              <a:buSzPts val="1150"/>
              <a:buFont typeface="Open Sans"/>
              <a:buNone/>
            </a:pPr>
            <a:r>
              <a:rPr b="0" i="0" lang="en-US" sz="1450" u="none" cap="none" strike="noStrike">
                <a:solidFill>
                  <a:srgbClr val="272525"/>
                </a:solidFill>
                <a:latin typeface="Open Sans"/>
                <a:ea typeface="Open Sans"/>
                <a:cs typeface="Open Sans"/>
                <a:sym typeface="Open Sans"/>
              </a:rPr>
              <a:t>עוזר לפעילות היומיומית שלנו, כמו </a:t>
            </a:r>
            <a:r>
              <a:rPr b="1" i="0" lang="en-US" sz="1450" u="none" cap="none" strike="noStrike">
                <a:solidFill>
                  <a:srgbClr val="272525"/>
                </a:solidFill>
                <a:latin typeface="Open Sans"/>
                <a:ea typeface="Open Sans"/>
                <a:cs typeface="Open Sans"/>
                <a:sym typeface="Open Sans"/>
              </a:rPr>
              <a:t>חבר </a:t>
            </a:r>
            <a:r>
              <a:rPr b="0" i="0" lang="en-US" sz="1450" u="none" cap="none" strike="noStrike">
                <a:solidFill>
                  <a:srgbClr val="272525"/>
                </a:solidFill>
                <a:latin typeface="Open Sans"/>
                <a:ea typeface="Open Sans"/>
                <a:cs typeface="Open Sans"/>
                <a:sym typeface="Open Sans"/>
              </a:rPr>
              <a:t>שניתן להתייעץ איתו</a:t>
            </a:r>
            <a:endParaRPr b="0" i="0" sz="1450" u="none" cap="none" strike="noStrike"/>
          </a:p>
        </p:txBody>
      </p:sp>
      <p:sp>
        <p:nvSpPr>
          <p:cNvPr id="278" name="Google Shape;278;p32"/>
          <p:cNvSpPr/>
          <p:nvPr/>
        </p:nvSpPr>
        <p:spPr>
          <a:xfrm>
            <a:off x="5178614" y="1632574"/>
            <a:ext cx="4273200" cy="1510800"/>
          </a:xfrm>
          <a:prstGeom prst="roundRect">
            <a:avLst>
              <a:gd fmla="val 4793"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r">
              <a:spcBef>
                <a:spcPts val="0"/>
              </a:spcBef>
              <a:spcAft>
                <a:spcPts val="0"/>
              </a:spcAft>
              <a:buNone/>
            </a:pPr>
            <a:r>
              <a:t/>
            </a:r>
            <a:endParaRPr sz="1700"/>
          </a:p>
        </p:txBody>
      </p:sp>
      <p:sp>
        <p:nvSpPr>
          <p:cNvPr id="279" name="Google Shape;279;p32"/>
          <p:cNvSpPr/>
          <p:nvPr/>
        </p:nvSpPr>
        <p:spPr>
          <a:xfrm>
            <a:off x="6641426" y="1789025"/>
            <a:ext cx="2654100" cy="232500"/>
          </a:xfrm>
          <a:prstGeom prst="rect">
            <a:avLst/>
          </a:prstGeom>
          <a:noFill/>
          <a:ln>
            <a:noFill/>
          </a:ln>
        </p:spPr>
        <p:txBody>
          <a:bodyPr anchorCtr="0" anchor="t" bIns="0" lIns="0" spcFirstLastPara="1" rIns="0" wrap="square" tIns="0">
            <a:noAutofit/>
          </a:bodyPr>
          <a:lstStyle/>
          <a:p>
            <a:pPr indent="0" lvl="0" marL="0" marR="0" rtl="1" algn="r">
              <a:lnSpc>
                <a:spcPct val="124137"/>
              </a:lnSpc>
              <a:spcBef>
                <a:spcPts val="0"/>
              </a:spcBef>
              <a:spcAft>
                <a:spcPts val="0"/>
              </a:spcAft>
              <a:buClr>
                <a:srgbClr val="272525"/>
              </a:buClr>
              <a:buSzPts val="1450"/>
              <a:buFont typeface="Rubik"/>
              <a:buNone/>
            </a:pPr>
            <a:r>
              <a:rPr b="0" i="0" lang="en-US" sz="1750" u="none" cap="none" strike="noStrike">
                <a:solidFill>
                  <a:srgbClr val="272525"/>
                </a:solidFill>
                <a:latin typeface="Rubik"/>
                <a:ea typeface="Rubik"/>
                <a:cs typeface="Rubik"/>
                <a:sym typeface="Rubik"/>
              </a:rPr>
              <a:t>2. שימושיים מקצועיים</a:t>
            </a:r>
            <a:endParaRPr b="0" i="0" sz="1750" u="none" cap="none" strike="noStrike"/>
          </a:p>
        </p:txBody>
      </p:sp>
      <p:sp>
        <p:nvSpPr>
          <p:cNvPr id="280" name="Google Shape;280;p32"/>
          <p:cNvSpPr/>
          <p:nvPr/>
        </p:nvSpPr>
        <p:spPr>
          <a:xfrm>
            <a:off x="5335072" y="2203978"/>
            <a:ext cx="3960300" cy="416700"/>
          </a:xfrm>
          <a:prstGeom prst="rect">
            <a:avLst/>
          </a:prstGeom>
          <a:noFill/>
          <a:ln>
            <a:noFill/>
          </a:ln>
        </p:spPr>
        <p:txBody>
          <a:bodyPr anchorCtr="0" anchor="t" bIns="0" lIns="0" spcFirstLastPara="1" rIns="0" wrap="square" tIns="0">
            <a:noAutofit/>
          </a:bodyPr>
          <a:lstStyle/>
          <a:p>
            <a:pPr indent="0" lvl="0" marL="0" marR="0" rtl="1" algn="r">
              <a:lnSpc>
                <a:spcPct val="139130"/>
              </a:lnSpc>
              <a:spcBef>
                <a:spcPts val="0"/>
              </a:spcBef>
              <a:spcAft>
                <a:spcPts val="0"/>
              </a:spcAft>
              <a:buClr>
                <a:srgbClr val="272525"/>
              </a:buClr>
              <a:buSzPts val="1150"/>
              <a:buFont typeface="Open Sans"/>
              <a:buNone/>
            </a:pPr>
            <a:r>
              <a:rPr b="0" i="0" lang="en-US" sz="1450" u="none" cap="none" strike="noStrike">
                <a:solidFill>
                  <a:srgbClr val="272525"/>
                </a:solidFill>
                <a:latin typeface="Open Sans"/>
                <a:ea typeface="Open Sans"/>
                <a:cs typeface="Open Sans"/>
                <a:sym typeface="Open Sans"/>
              </a:rPr>
              <a:t>יכול לסייע בניתוח, מחקר, הסקת מסקנות מדאטא, יצירת גרפים ועוד. כמו </a:t>
            </a:r>
            <a:r>
              <a:rPr b="1" i="0" lang="en-US" sz="1450" u="none" cap="none" strike="noStrike">
                <a:solidFill>
                  <a:srgbClr val="272525"/>
                </a:solidFill>
                <a:latin typeface="Open Sans"/>
                <a:ea typeface="Open Sans"/>
                <a:cs typeface="Open Sans"/>
                <a:sym typeface="Open Sans"/>
              </a:rPr>
              <a:t>יועץ עסקי</a:t>
            </a:r>
            <a:r>
              <a:rPr b="0" i="0" lang="en-US" sz="1450" u="none" cap="none" strike="noStrike">
                <a:solidFill>
                  <a:srgbClr val="272525"/>
                </a:solidFill>
                <a:latin typeface="Open Sans"/>
                <a:ea typeface="Open Sans"/>
                <a:cs typeface="Open Sans"/>
                <a:sym typeface="Open Sans"/>
              </a:rPr>
              <a:t> לכל נושא</a:t>
            </a:r>
            <a:endParaRPr b="0" i="0" sz="1450" u="none" cap="none" strike="noStrike"/>
          </a:p>
        </p:txBody>
      </p:sp>
      <p:sp>
        <p:nvSpPr>
          <p:cNvPr id="281" name="Google Shape;281;p32"/>
          <p:cNvSpPr/>
          <p:nvPr/>
        </p:nvSpPr>
        <p:spPr>
          <a:xfrm>
            <a:off x="5335063" y="2720917"/>
            <a:ext cx="3960300" cy="241500"/>
          </a:xfrm>
          <a:prstGeom prst="rect">
            <a:avLst/>
          </a:prstGeom>
          <a:noFill/>
          <a:ln>
            <a:noFill/>
          </a:ln>
        </p:spPr>
        <p:txBody>
          <a:bodyPr anchorCtr="0" anchor="t" bIns="0" lIns="0" spcFirstLastPara="1" rIns="0" wrap="square" tIns="0">
            <a:noAutofit/>
          </a:bodyPr>
          <a:lstStyle/>
          <a:p>
            <a:pPr indent="0" lvl="0" marL="0" marR="0" rtl="1" algn="r">
              <a:lnSpc>
                <a:spcPct val="139130"/>
              </a:lnSpc>
              <a:spcBef>
                <a:spcPts val="0"/>
              </a:spcBef>
              <a:spcAft>
                <a:spcPts val="0"/>
              </a:spcAft>
              <a:buSzPts val="1150"/>
              <a:buFont typeface="Arial"/>
              <a:buNone/>
            </a:pPr>
            <a:r>
              <a:t/>
            </a:r>
            <a:endParaRPr b="0" i="0" sz="1450" u="none" cap="none" strike="noStrike"/>
          </a:p>
        </p:txBody>
      </p:sp>
      <p:sp>
        <p:nvSpPr>
          <p:cNvPr id="282" name="Google Shape;282;p32"/>
          <p:cNvSpPr/>
          <p:nvPr/>
        </p:nvSpPr>
        <p:spPr>
          <a:xfrm>
            <a:off x="793900" y="1632574"/>
            <a:ext cx="4273200" cy="1510800"/>
          </a:xfrm>
          <a:prstGeom prst="roundRect">
            <a:avLst>
              <a:gd fmla="val 4793"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r">
              <a:spcBef>
                <a:spcPts val="0"/>
              </a:spcBef>
              <a:spcAft>
                <a:spcPts val="0"/>
              </a:spcAft>
              <a:buNone/>
            </a:pPr>
            <a:r>
              <a:t/>
            </a:r>
            <a:endParaRPr sz="1700"/>
          </a:p>
        </p:txBody>
      </p:sp>
      <p:sp>
        <p:nvSpPr>
          <p:cNvPr id="283" name="Google Shape;283;p32"/>
          <p:cNvSpPr/>
          <p:nvPr/>
        </p:nvSpPr>
        <p:spPr>
          <a:xfrm>
            <a:off x="3050024" y="1789033"/>
            <a:ext cx="1860590" cy="232529"/>
          </a:xfrm>
          <a:prstGeom prst="rect">
            <a:avLst/>
          </a:prstGeom>
          <a:noFill/>
          <a:ln>
            <a:noFill/>
          </a:ln>
        </p:spPr>
        <p:txBody>
          <a:bodyPr anchorCtr="0" anchor="t" bIns="0" lIns="0" spcFirstLastPara="1" rIns="0" wrap="square" tIns="0">
            <a:noAutofit/>
          </a:bodyPr>
          <a:lstStyle/>
          <a:p>
            <a:pPr indent="0" lvl="0" marL="0" marR="0" rtl="1" algn="r">
              <a:lnSpc>
                <a:spcPct val="124137"/>
              </a:lnSpc>
              <a:spcBef>
                <a:spcPts val="0"/>
              </a:spcBef>
              <a:spcAft>
                <a:spcPts val="0"/>
              </a:spcAft>
              <a:buClr>
                <a:srgbClr val="272525"/>
              </a:buClr>
              <a:buSzPts val="1450"/>
              <a:buFont typeface="Rubik"/>
              <a:buNone/>
            </a:pPr>
            <a:r>
              <a:rPr b="0" i="0" lang="en-US" sz="1750" u="none" cap="none" strike="noStrike">
                <a:solidFill>
                  <a:srgbClr val="272525"/>
                </a:solidFill>
                <a:latin typeface="Rubik"/>
                <a:ea typeface="Rubik"/>
                <a:cs typeface="Rubik"/>
                <a:sym typeface="Rubik"/>
              </a:rPr>
              <a:t>3. תוספי Gemini</a:t>
            </a:r>
            <a:endParaRPr b="0" i="0" sz="1750" u="none" cap="none" strike="noStrike"/>
          </a:p>
        </p:txBody>
      </p:sp>
      <p:sp>
        <p:nvSpPr>
          <p:cNvPr id="284" name="Google Shape;284;p32"/>
          <p:cNvSpPr/>
          <p:nvPr/>
        </p:nvSpPr>
        <p:spPr>
          <a:xfrm>
            <a:off x="950357" y="2203978"/>
            <a:ext cx="3960300" cy="416700"/>
          </a:xfrm>
          <a:prstGeom prst="rect">
            <a:avLst/>
          </a:prstGeom>
          <a:noFill/>
          <a:ln>
            <a:noFill/>
          </a:ln>
        </p:spPr>
        <p:txBody>
          <a:bodyPr anchorCtr="0" anchor="t" bIns="0" lIns="0" spcFirstLastPara="1" rIns="0" wrap="square" tIns="0">
            <a:noAutofit/>
          </a:bodyPr>
          <a:lstStyle/>
          <a:p>
            <a:pPr indent="0" lvl="0" marL="0" marR="0" rtl="1" algn="r">
              <a:lnSpc>
                <a:spcPct val="139130"/>
              </a:lnSpc>
              <a:spcBef>
                <a:spcPts val="0"/>
              </a:spcBef>
              <a:spcAft>
                <a:spcPts val="0"/>
              </a:spcAft>
              <a:buClr>
                <a:srgbClr val="272525"/>
              </a:buClr>
              <a:buSzPts val="1150"/>
              <a:buFont typeface="Open Sans"/>
              <a:buNone/>
            </a:pPr>
            <a:r>
              <a:rPr b="0" i="0" lang="en-US" sz="1450" u="none" cap="none" strike="noStrike">
                <a:solidFill>
                  <a:srgbClr val="272525"/>
                </a:solidFill>
                <a:latin typeface="Open Sans"/>
                <a:ea typeface="Open Sans"/>
                <a:cs typeface="Open Sans"/>
                <a:sym typeface="Open Sans"/>
              </a:rPr>
              <a:t>שימוש ביכולות Google תוך כדי שיחה, כמו </a:t>
            </a:r>
            <a:r>
              <a:rPr b="1" i="0" lang="en-US" sz="1450" u="none" cap="none" strike="noStrike">
                <a:solidFill>
                  <a:srgbClr val="272525"/>
                </a:solidFill>
                <a:latin typeface="Open Sans"/>
                <a:ea typeface="Open Sans"/>
                <a:cs typeface="Open Sans"/>
                <a:sym typeface="Open Sans"/>
              </a:rPr>
              <a:t>עוזר אישי</a:t>
            </a:r>
            <a:r>
              <a:rPr b="0" i="0" lang="en-US" sz="1450" u="none" cap="none" strike="noStrike">
                <a:solidFill>
                  <a:srgbClr val="272525"/>
                </a:solidFill>
                <a:latin typeface="Open Sans"/>
                <a:ea typeface="Open Sans"/>
                <a:cs typeface="Open Sans"/>
                <a:sym typeface="Open Sans"/>
              </a:rPr>
              <a:t> שיכול לקבוע פגישות, לחפש טיסות, להמליץ על סרטונים ועוד.</a:t>
            </a:r>
            <a:endParaRPr b="0" i="0" sz="1450" u="none" cap="none" strike="noStrike"/>
          </a:p>
        </p:txBody>
      </p:sp>
      <p:sp>
        <p:nvSpPr>
          <p:cNvPr id="285" name="Google Shape;285;p32"/>
          <p:cNvSpPr/>
          <p:nvPr/>
        </p:nvSpPr>
        <p:spPr>
          <a:xfrm>
            <a:off x="7371041" y="3308347"/>
            <a:ext cx="6465600" cy="1390800"/>
          </a:xfrm>
          <a:prstGeom prst="roundRect">
            <a:avLst>
              <a:gd fmla="val 6075"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r">
              <a:spcBef>
                <a:spcPts val="0"/>
              </a:spcBef>
              <a:spcAft>
                <a:spcPts val="0"/>
              </a:spcAft>
              <a:buNone/>
            </a:pPr>
            <a:r>
              <a:t/>
            </a:r>
            <a:endParaRPr sz="1700"/>
          </a:p>
        </p:txBody>
      </p:sp>
      <p:sp>
        <p:nvSpPr>
          <p:cNvPr id="286" name="Google Shape;286;p32"/>
          <p:cNvSpPr/>
          <p:nvPr/>
        </p:nvSpPr>
        <p:spPr>
          <a:xfrm>
            <a:off x="11026127" y="3464800"/>
            <a:ext cx="2654100" cy="232500"/>
          </a:xfrm>
          <a:prstGeom prst="rect">
            <a:avLst/>
          </a:prstGeom>
          <a:noFill/>
          <a:ln>
            <a:noFill/>
          </a:ln>
        </p:spPr>
        <p:txBody>
          <a:bodyPr anchorCtr="0" anchor="t" bIns="0" lIns="0" spcFirstLastPara="1" rIns="0" wrap="square" tIns="0">
            <a:noAutofit/>
          </a:bodyPr>
          <a:lstStyle/>
          <a:p>
            <a:pPr indent="0" lvl="0" marL="0" marR="0" rtl="1" algn="r">
              <a:lnSpc>
                <a:spcPct val="124137"/>
              </a:lnSpc>
              <a:spcBef>
                <a:spcPts val="0"/>
              </a:spcBef>
              <a:spcAft>
                <a:spcPts val="0"/>
              </a:spcAft>
              <a:buClr>
                <a:srgbClr val="272525"/>
              </a:buClr>
              <a:buSzPts val="1450"/>
              <a:buFont typeface="Rubik"/>
              <a:buNone/>
            </a:pPr>
            <a:r>
              <a:rPr lang="en-US" sz="1750">
                <a:solidFill>
                  <a:srgbClr val="272525"/>
                </a:solidFill>
                <a:latin typeface="Rubik"/>
                <a:ea typeface="Rubik"/>
                <a:cs typeface="Rubik"/>
                <a:sym typeface="Rubik"/>
              </a:rPr>
              <a:t>4</a:t>
            </a:r>
            <a:r>
              <a:rPr b="0" i="0" lang="en-US" sz="1750" u="none" cap="none" strike="noStrike">
                <a:solidFill>
                  <a:srgbClr val="272525"/>
                </a:solidFill>
                <a:latin typeface="Rubik"/>
                <a:ea typeface="Rubik"/>
                <a:cs typeface="Rubik"/>
                <a:sym typeface="Rubik"/>
              </a:rPr>
              <a:t>. עוזר AI במוצרי Google</a:t>
            </a:r>
            <a:endParaRPr b="0" i="0" sz="1750" u="none" cap="none" strike="noStrike"/>
          </a:p>
        </p:txBody>
      </p:sp>
      <p:sp>
        <p:nvSpPr>
          <p:cNvPr id="287" name="Google Shape;287;p32"/>
          <p:cNvSpPr/>
          <p:nvPr/>
        </p:nvSpPr>
        <p:spPr>
          <a:xfrm>
            <a:off x="7527488" y="3908628"/>
            <a:ext cx="6152700" cy="416700"/>
          </a:xfrm>
          <a:prstGeom prst="rect">
            <a:avLst/>
          </a:prstGeom>
          <a:noFill/>
          <a:ln>
            <a:noFill/>
          </a:ln>
        </p:spPr>
        <p:txBody>
          <a:bodyPr anchorCtr="0" anchor="t" bIns="0" lIns="0" spcFirstLastPara="1" rIns="0" wrap="square" tIns="0">
            <a:noAutofit/>
          </a:bodyPr>
          <a:lstStyle/>
          <a:p>
            <a:pPr indent="0" lvl="0" marL="0" marR="0" rtl="1" algn="r">
              <a:lnSpc>
                <a:spcPct val="139130"/>
              </a:lnSpc>
              <a:spcBef>
                <a:spcPts val="0"/>
              </a:spcBef>
              <a:spcAft>
                <a:spcPts val="0"/>
              </a:spcAft>
              <a:buClr>
                <a:srgbClr val="272525"/>
              </a:buClr>
              <a:buSzPts val="1150"/>
              <a:buFont typeface="Open Sans"/>
              <a:buNone/>
            </a:pPr>
            <a:r>
              <a:rPr b="0" i="0" lang="en-US" sz="1450" u="none" cap="none" strike="noStrike">
                <a:solidFill>
                  <a:srgbClr val="272525"/>
                </a:solidFill>
                <a:latin typeface="Open Sans"/>
                <a:ea typeface="Open Sans"/>
                <a:cs typeface="Open Sans"/>
                <a:sym typeface="Open Sans"/>
              </a:rPr>
              <a:t>הדגמת עוצמת Gemini יכול </a:t>
            </a:r>
            <a:r>
              <a:rPr lang="en-US" sz="1450">
                <a:solidFill>
                  <a:srgbClr val="272525"/>
                </a:solidFill>
                <a:latin typeface="Open Sans"/>
                <a:ea typeface="Open Sans"/>
                <a:cs typeface="Open Sans"/>
                <a:sym typeface="Open Sans"/>
              </a:rPr>
              <a:t>להכניס </a:t>
            </a:r>
            <a:r>
              <a:rPr b="0" i="0" lang="en-US" sz="1450" u="none" cap="none" strike="noStrike">
                <a:solidFill>
                  <a:srgbClr val="272525"/>
                </a:solidFill>
                <a:latin typeface="Open Sans"/>
                <a:ea typeface="Open Sans"/>
                <a:cs typeface="Open Sans"/>
                <a:sym typeface="Open Sans"/>
              </a:rPr>
              <a:t>ממש לתוך Docs, Sheets ועוד ולעזור לנו לערוך את המסמכים, כמו </a:t>
            </a:r>
            <a:r>
              <a:rPr b="1" i="0" lang="en-US" sz="1450" u="none" cap="none" strike="noStrike">
                <a:solidFill>
                  <a:srgbClr val="272525"/>
                </a:solidFill>
                <a:latin typeface="Open Sans"/>
                <a:ea typeface="Open Sans"/>
                <a:cs typeface="Open Sans"/>
                <a:sym typeface="Open Sans"/>
              </a:rPr>
              <a:t>מתמחה או קולגה.</a:t>
            </a:r>
            <a:r>
              <a:rPr b="0" i="0" lang="en-US" sz="1450" u="none" cap="none" strike="noStrike">
                <a:solidFill>
                  <a:srgbClr val="272525"/>
                </a:solidFill>
                <a:latin typeface="Open Sans"/>
                <a:ea typeface="Open Sans"/>
                <a:cs typeface="Open Sans"/>
                <a:sym typeface="Open Sans"/>
              </a:rPr>
              <a:t> (זמין בתשלום בלבד)</a:t>
            </a:r>
            <a:endParaRPr b="0" i="0" sz="1450" u="none" cap="none" strike="noStrike"/>
          </a:p>
        </p:txBody>
      </p:sp>
      <p:sp>
        <p:nvSpPr>
          <p:cNvPr id="288" name="Google Shape;288;p32"/>
          <p:cNvSpPr/>
          <p:nvPr/>
        </p:nvSpPr>
        <p:spPr>
          <a:xfrm>
            <a:off x="793900" y="3308347"/>
            <a:ext cx="6465600" cy="1390800"/>
          </a:xfrm>
          <a:prstGeom prst="roundRect">
            <a:avLst>
              <a:gd fmla="val 6075"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1" algn="r">
              <a:spcBef>
                <a:spcPts val="0"/>
              </a:spcBef>
              <a:spcAft>
                <a:spcPts val="0"/>
              </a:spcAft>
              <a:buNone/>
            </a:pPr>
            <a:r>
              <a:t/>
            </a:r>
            <a:endParaRPr sz="1700"/>
          </a:p>
        </p:txBody>
      </p:sp>
      <p:sp>
        <p:nvSpPr>
          <p:cNvPr id="289" name="Google Shape;289;p32"/>
          <p:cNvSpPr/>
          <p:nvPr/>
        </p:nvSpPr>
        <p:spPr>
          <a:xfrm>
            <a:off x="3928750" y="3372700"/>
            <a:ext cx="3174300" cy="416700"/>
          </a:xfrm>
          <a:prstGeom prst="rect">
            <a:avLst/>
          </a:prstGeom>
          <a:noFill/>
          <a:ln>
            <a:noFill/>
          </a:ln>
        </p:spPr>
        <p:txBody>
          <a:bodyPr anchorCtr="0" anchor="t" bIns="0" lIns="0" spcFirstLastPara="1" rIns="0" wrap="square" tIns="0">
            <a:noAutofit/>
          </a:bodyPr>
          <a:lstStyle/>
          <a:p>
            <a:pPr indent="0" lvl="0" marL="0" marR="0" rtl="1" algn="r">
              <a:lnSpc>
                <a:spcPct val="124137"/>
              </a:lnSpc>
              <a:spcBef>
                <a:spcPts val="0"/>
              </a:spcBef>
              <a:spcAft>
                <a:spcPts val="0"/>
              </a:spcAft>
              <a:buClr>
                <a:srgbClr val="272525"/>
              </a:buClr>
              <a:buSzPts val="1450"/>
              <a:buFont typeface="Rubik"/>
              <a:buNone/>
            </a:pPr>
            <a:r>
              <a:rPr b="0" i="0" lang="en-US" sz="1750" u="none" cap="none" strike="noStrike">
                <a:solidFill>
                  <a:srgbClr val="272525"/>
                </a:solidFill>
                <a:latin typeface="Rubik"/>
                <a:ea typeface="Rubik"/>
                <a:cs typeface="Rubik"/>
                <a:sym typeface="Rubik"/>
              </a:rPr>
              <a:t>5. Google  </a:t>
            </a:r>
            <a:r>
              <a:rPr lang="en-US" sz="1750">
                <a:solidFill>
                  <a:srgbClr val="272525"/>
                </a:solidFill>
                <a:latin typeface="Rubik"/>
                <a:ea typeface="Rubik"/>
                <a:cs typeface="Rubik"/>
                <a:sym typeface="Rubik"/>
              </a:rPr>
              <a:t>AI </a:t>
            </a:r>
            <a:r>
              <a:rPr b="0" i="0" lang="en-US" sz="1750" u="none" cap="none" strike="noStrike">
                <a:solidFill>
                  <a:srgbClr val="272525"/>
                </a:solidFill>
                <a:latin typeface="Rubik"/>
                <a:ea typeface="Rubik"/>
                <a:cs typeface="Rubik"/>
                <a:sym typeface="Rubik"/>
              </a:rPr>
              <a:t>Studio</a:t>
            </a:r>
            <a:endParaRPr b="0" i="0" sz="1750" u="none" cap="none" strike="noStrike"/>
          </a:p>
        </p:txBody>
      </p:sp>
      <p:sp>
        <p:nvSpPr>
          <p:cNvPr id="290" name="Google Shape;290;p32"/>
          <p:cNvSpPr/>
          <p:nvPr/>
        </p:nvSpPr>
        <p:spPr>
          <a:xfrm>
            <a:off x="950357" y="3908628"/>
            <a:ext cx="6152700" cy="416700"/>
          </a:xfrm>
          <a:prstGeom prst="rect">
            <a:avLst/>
          </a:prstGeom>
          <a:noFill/>
          <a:ln>
            <a:noFill/>
          </a:ln>
        </p:spPr>
        <p:txBody>
          <a:bodyPr anchorCtr="0" anchor="t" bIns="0" lIns="0" spcFirstLastPara="1" rIns="0" wrap="square" tIns="0">
            <a:noAutofit/>
          </a:bodyPr>
          <a:lstStyle/>
          <a:p>
            <a:pPr indent="0" lvl="0" marL="0" marR="0" rtl="1" algn="r">
              <a:lnSpc>
                <a:spcPct val="139130"/>
              </a:lnSpc>
              <a:spcBef>
                <a:spcPts val="0"/>
              </a:spcBef>
              <a:spcAft>
                <a:spcPts val="0"/>
              </a:spcAft>
              <a:buClr>
                <a:srgbClr val="272525"/>
              </a:buClr>
              <a:buSzPts val="1150"/>
              <a:buFont typeface="Open Sans"/>
              <a:buNone/>
            </a:pPr>
            <a:r>
              <a:rPr b="0" i="0" lang="en-US" sz="1450" u="none" cap="none" strike="noStrike">
                <a:solidFill>
                  <a:srgbClr val="272525"/>
                </a:solidFill>
                <a:latin typeface="Open Sans"/>
                <a:ea typeface="Open Sans"/>
                <a:cs typeface="Open Sans"/>
                <a:sym typeface="Open Sans"/>
              </a:rPr>
              <a:t>"מגרש משחקים" לחובבי AI, מאפשר גישה להגדרות רבות של מאחורי הקלעים עבור שיחה יותר מותאמת עם הצ'אט.</a:t>
            </a:r>
            <a:endParaRPr b="0" i="0" sz="1450" u="none" cap="none" strike="noStrike"/>
          </a:p>
        </p:txBody>
      </p:sp>
      <p:pic>
        <p:nvPicPr>
          <p:cNvPr descr="preencoded.png" id="291" name="Google Shape;291;p32"/>
          <p:cNvPicPr preferRelativeResize="0"/>
          <p:nvPr/>
        </p:nvPicPr>
        <p:blipFill rotWithShape="1">
          <a:blip r:embed="rId3">
            <a:alphaModFix/>
          </a:blip>
          <a:srcRect b="0" l="0" r="0" t="0"/>
          <a:stretch/>
        </p:blipFill>
        <p:spPr>
          <a:xfrm>
            <a:off x="5607129" y="4813450"/>
            <a:ext cx="3416141" cy="341614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3"/>
          <p:cNvSpPr/>
          <p:nvPr/>
        </p:nvSpPr>
        <p:spPr>
          <a:xfrm>
            <a:off x="8386882" y="1353741"/>
            <a:ext cx="5449729" cy="620078"/>
          </a:xfrm>
          <a:prstGeom prst="rect">
            <a:avLst/>
          </a:prstGeom>
          <a:noFill/>
          <a:ln>
            <a:noFill/>
          </a:ln>
        </p:spPr>
        <p:txBody>
          <a:bodyPr anchorCtr="0" anchor="t" bIns="0" lIns="0" spcFirstLastPara="1" rIns="0" wrap="square" tIns="0">
            <a:noAutofit/>
          </a:bodyPr>
          <a:lstStyle/>
          <a:p>
            <a:pPr indent="0" lvl="0" marL="0" marR="0" rtl="1" algn="r">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1. שימושי פנאי עם Gemini</a:t>
            </a:r>
            <a:endParaRPr b="0" i="0" sz="3900" u="none" cap="none" strike="noStrike"/>
          </a:p>
        </p:txBody>
      </p:sp>
      <p:sp>
        <p:nvSpPr>
          <p:cNvPr id="298" name="Google Shape;298;p33"/>
          <p:cNvSpPr/>
          <p:nvPr/>
        </p:nvSpPr>
        <p:spPr>
          <a:xfrm>
            <a:off x="793790" y="2370653"/>
            <a:ext cx="13042821" cy="31754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הנה כמה דוגמאות שתוכלו לנסות כבר היום:</a:t>
            </a:r>
            <a:endParaRPr b="0" i="0" sz="1550" u="none" cap="none" strike="noStrike"/>
          </a:p>
        </p:txBody>
      </p:sp>
      <p:sp>
        <p:nvSpPr>
          <p:cNvPr id="299" name="Google Shape;299;p33"/>
          <p:cNvSpPr/>
          <p:nvPr/>
        </p:nvSpPr>
        <p:spPr>
          <a:xfrm>
            <a:off x="7414379" y="2911435"/>
            <a:ext cx="6422231" cy="1189196"/>
          </a:xfrm>
          <a:prstGeom prst="roundRect">
            <a:avLst>
              <a:gd fmla="val 9227" name="adj"/>
            </a:avLst>
          </a:prstGeom>
          <a:solidFill>
            <a:srgbClr val="FFFFFF"/>
          </a:solidFill>
          <a:ln cap="flat" cmpd="sng" w="22850">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3"/>
          <p:cNvSpPr/>
          <p:nvPr/>
        </p:nvSpPr>
        <p:spPr>
          <a:xfrm>
            <a:off x="13768030" y="2911435"/>
            <a:ext cx="91440" cy="1189196"/>
          </a:xfrm>
          <a:prstGeom prst="roundRect">
            <a:avLst>
              <a:gd fmla="val 91163"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3"/>
          <p:cNvSpPr/>
          <p:nvPr/>
        </p:nvSpPr>
        <p:spPr>
          <a:xfrm>
            <a:off x="11065907" y="3132653"/>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000000"/>
              </a:buClr>
              <a:buSzPts val="1950"/>
              <a:buFont typeface="Rubik"/>
              <a:buNone/>
            </a:pPr>
            <a:r>
              <a:rPr b="0" i="0" lang="en-US" sz="1950" u="none" cap="none" strike="noStrike">
                <a:solidFill>
                  <a:srgbClr val="000000"/>
                </a:solidFill>
                <a:latin typeface="Rubik"/>
                <a:ea typeface="Rubik"/>
                <a:cs typeface="Rubik"/>
                <a:sym typeface="Rubik"/>
              </a:rPr>
              <a:t>✉️</a:t>
            </a:r>
            <a:r>
              <a:rPr b="0" i="0" lang="en-US" sz="1950" u="none" cap="none" strike="noStrike">
                <a:solidFill>
                  <a:srgbClr val="272525"/>
                </a:solidFill>
                <a:latin typeface="Rubik"/>
                <a:ea typeface="Rubik"/>
                <a:cs typeface="Rubik"/>
                <a:sym typeface="Rubik"/>
              </a:rPr>
              <a:t> דוא"ל מקצועי</a:t>
            </a:r>
            <a:endParaRPr b="0" i="0" sz="1950" u="none" cap="none" strike="noStrike"/>
          </a:p>
        </p:txBody>
      </p:sp>
      <p:sp>
        <p:nvSpPr>
          <p:cNvPr id="302" name="Google Shape;302;p33"/>
          <p:cNvSpPr/>
          <p:nvPr/>
        </p:nvSpPr>
        <p:spPr>
          <a:xfrm>
            <a:off x="7635597" y="3561874"/>
            <a:ext cx="5911215" cy="31754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"צור לי טיוטה מקצועית של דוא"ל המבקש מהבוס שלי יום חופשה"</a:t>
            </a:r>
            <a:endParaRPr b="0" i="0" sz="1550" u="none" cap="none" strike="noStrike"/>
          </a:p>
        </p:txBody>
      </p:sp>
      <p:sp>
        <p:nvSpPr>
          <p:cNvPr id="303" name="Google Shape;303;p33"/>
          <p:cNvSpPr/>
          <p:nvPr/>
        </p:nvSpPr>
        <p:spPr>
          <a:xfrm>
            <a:off x="793790" y="2911435"/>
            <a:ext cx="6422231" cy="1189196"/>
          </a:xfrm>
          <a:prstGeom prst="roundRect">
            <a:avLst>
              <a:gd fmla="val 9227" name="adj"/>
            </a:avLst>
          </a:prstGeom>
          <a:solidFill>
            <a:srgbClr val="FFFFFF"/>
          </a:solidFill>
          <a:ln cap="flat" cmpd="sng" w="22850">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3"/>
          <p:cNvSpPr/>
          <p:nvPr/>
        </p:nvSpPr>
        <p:spPr>
          <a:xfrm>
            <a:off x="7147441" y="2911435"/>
            <a:ext cx="91440" cy="1189196"/>
          </a:xfrm>
          <a:prstGeom prst="roundRect">
            <a:avLst>
              <a:gd fmla="val 91163"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3"/>
          <p:cNvSpPr/>
          <p:nvPr/>
        </p:nvSpPr>
        <p:spPr>
          <a:xfrm>
            <a:off x="4445318" y="3132653"/>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000000"/>
              </a:buClr>
              <a:buSzPts val="1950"/>
              <a:buFont typeface="Rubik"/>
              <a:buNone/>
            </a:pPr>
            <a:r>
              <a:rPr b="0" i="0" lang="en-US" sz="1950" u="none" cap="none" strike="noStrike">
                <a:solidFill>
                  <a:srgbClr val="000000"/>
                </a:solidFill>
                <a:latin typeface="Rubik"/>
                <a:ea typeface="Rubik"/>
                <a:cs typeface="Rubik"/>
                <a:sym typeface="Rubik"/>
              </a:rPr>
              <a:t>🍝</a:t>
            </a:r>
            <a:r>
              <a:rPr b="0" i="0" lang="en-US" sz="1950" u="none" cap="none" strike="noStrike">
                <a:solidFill>
                  <a:srgbClr val="272525"/>
                </a:solidFill>
                <a:latin typeface="Rubik"/>
                <a:ea typeface="Rubik"/>
                <a:cs typeface="Rubik"/>
                <a:sym typeface="Rubik"/>
              </a:rPr>
              <a:t> תפריטים ומתכונים</a:t>
            </a:r>
            <a:endParaRPr b="0" i="0" sz="1950" u="none" cap="none" strike="noStrike"/>
          </a:p>
        </p:txBody>
      </p:sp>
      <p:sp>
        <p:nvSpPr>
          <p:cNvPr id="306" name="Google Shape;306;p33"/>
          <p:cNvSpPr/>
          <p:nvPr/>
        </p:nvSpPr>
        <p:spPr>
          <a:xfrm>
            <a:off x="1015008" y="3561874"/>
            <a:ext cx="5911215" cy="31754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"צור לי תפריט בריא וטעים של פסטה צמחונית לארוחת ערב"</a:t>
            </a:r>
            <a:endParaRPr b="0" i="0" sz="1550" u="none" cap="none" strike="noStrike"/>
          </a:p>
        </p:txBody>
      </p:sp>
      <p:sp>
        <p:nvSpPr>
          <p:cNvPr id="307" name="Google Shape;307;p33"/>
          <p:cNvSpPr/>
          <p:nvPr/>
        </p:nvSpPr>
        <p:spPr>
          <a:xfrm>
            <a:off x="7414379" y="4298990"/>
            <a:ext cx="6422231" cy="1189196"/>
          </a:xfrm>
          <a:prstGeom prst="roundRect">
            <a:avLst>
              <a:gd fmla="val 9227" name="adj"/>
            </a:avLst>
          </a:prstGeom>
          <a:solidFill>
            <a:srgbClr val="FFFFFF"/>
          </a:solidFill>
          <a:ln cap="flat" cmpd="sng" w="22850">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3"/>
          <p:cNvSpPr/>
          <p:nvPr/>
        </p:nvSpPr>
        <p:spPr>
          <a:xfrm>
            <a:off x="13768030" y="4298990"/>
            <a:ext cx="91440" cy="1189196"/>
          </a:xfrm>
          <a:prstGeom prst="roundRect">
            <a:avLst>
              <a:gd fmla="val 91163"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3"/>
          <p:cNvSpPr/>
          <p:nvPr/>
        </p:nvSpPr>
        <p:spPr>
          <a:xfrm>
            <a:off x="11065907" y="4520208"/>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000000"/>
              </a:buClr>
              <a:buSzPts val="1950"/>
              <a:buFont typeface="Rubik"/>
              <a:buNone/>
            </a:pPr>
            <a:r>
              <a:rPr b="0" i="0" lang="en-US" sz="1950" u="none" cap="none" strike="noStrike">
                <a:solidFill>
                  <a:srgbClr val="000000"/>
                </a:solidFill>
                <a:latin typeface="Rubik"/>
                <a:ea typeface="Rubik"/>
                <a:cs typeface="Rubik"/>
                <a:sym typeface="Rubik"/>
              </a:rPr>
              <a:t>📚</a:t>
            </a:r>
            <a:r>
              <a:rPr b="0" i="0" lang="en-US" sz="1950" u="none" cap="none" strike="noStrike">
                <a:solidFill>
                  <a:srgbClr val="272525"/>
                </a:solidFill>
                <a:latin typeface="Rubik"/>
                <a:ea typeface="Rubik"/>
                <a:cs typeface="Rubik"/>
                <a:sym typeface="Rubik"/>
              </a:rPr>
              <a:t> לימוד שפות</a:t>
            </a:r>
            <a:endParaRPr b="0" i="0" sz="1950" u="none" cap="none" strike="noStrike"/>
          </a:p>
        </p:txBody>
      </p:sp>
      <p:sp>
        <p:nvSpPr>
          <p:cNvPr id="310" name="Google Shape;310;p33"/>
          <p:cNvSpPr/>
          <p:nvPr/>
        </p:nvSpPr>
        <p:spPr>
          <a:xfrm>
            <a:off x="7635597" y="4949428"/>
            <a:ext cx="5911215" cy="31754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"עזור לי ללמוד אוצר מילים ספרדי הקשור לטיולים"</a:t>
            </a:r>
            <a:endParaRPr b="0" i="0" sz="1550" u="none" cap="none" strike="noStrike"/>
          </a:p>
        </p:txBody>
      </p:sp>
      <p:sp>
        <p:nvSpPr>
          <p:cNvPr id="311" name="Google Shape;311;p33"/>
          <p:cNvSpPr/>
          <p:nvPr/>
        </p:nvSpPr>
        <p:spPr>
          <a:xfrm>
            <a:off x="793790" y="4298990"/>
            <a:ext cx="6422231" cy="1189196"/>
          </a:xfrm>
          <a:prstGeom prst="roundRect">
            <a:avLst>
              <a:gd fmla="val 9227" name="adj"/>
            </a:avLst>
          </a:prstGeom>
          <a:solidFill>
            <a:srgbClr val="FFFFFF"/>
          </a:solidFill>
          <a:ln cap="flat" cmpd="sng" w="22850">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3"/>
          <p:cNvSpPr/>
          <p:nvPr/>
        </p:nvSpPr>
        <p:spPr>
          <a:xfrm>
            <a:off x="7147441" y="4298990"/>
            <a:ext cx="91440" cy="1189196"/>
          </a:xfrm>
          <a:prstGeom prst="roundRect">
            <a:avLst>
              <a:gd fmla="val 91163"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3"/>
          <p:cNvSpPr/>
          <p:nvPr/>
        </p:nvSpPr>
        <p:spPr>
          <a:xfrm>
            <a:off x="4445318" y="4520208"/>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000000"/>
              </a:buClr>
              <a:buSzPts val="1950"/>
              <a:buFont typeface="Rubik"/>
              <a:buNone/>
            </a:pPr>
            <a:r>
              <a:rPr b="0" i="0" lang="en-US" sz="1950" u="none" cap="none" strike="noStrike">
                <a:solidFill>
                  <a:srgbClr val="000000"/>
                </a:solidFill>
                <a:latin typeface="Rubik"/>
                <a:ea typeface="Rubik"/>
                <a:cs typeface="Rubik"/>
                <a:sym typeface="Rubik"/>
              </a:rPr>
              <a:t>🎤</a:t>
            </a:r>
            <a:r>
              <a:rPr b="0" i="0" lang="en-US" sz="1950" u="none" cap="none" strike="noStrike">
                <a:solidFill>
                  <a:srgbClr val="272525"/>
                </a:solidFill>
                <a:latin typeface="Rubik"/>
                <a:ea typeface="Rubik"/>
                <a:cs typeface="Rubik"/>
                <a:sym typeface="Rubik"/>
              </a:rPr>
              <a:t> הכנה להצגה</a:t>
            </a:r>
            <a:endParaRPr b="0" i="0" sz="1950" u="none" cap="none" strike="noStrike"/>
          </a:p>
        </p:txBody>
      </p:sp>
      <p:sp>
        <p:nvSpPr>
          <p:cNvPr id="314" name="Google Shape;314;p33"/>
          <p:cNvSpPr/>
          <p:nvPr/>
        </p:nvSpPr>
        <p:spPr>
          <a:xfrm>
            <a:off x="1015008" y="4949428"/>
            <a:ext cx="5911215" cy="31754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"עזור לי לנסח את ההערות שלי למצגת בנושא פינגווינים"</a:t>
            </a:r>
            <a:endParaRPr b="0" i="0" sz="1550" u="none" cap="none" strike="noStrike"/>
          </a:p>
        </p:txBody>
      </p:sp>
      <p:sp>
        <p:nvSpPr>
          <p:cNvPr id="315" name="Google Shape;315;p33"/>
          <p:cNvSpPr/>
          <p:nvPr/>
        </p:nvSpPr>
        <p:spPr>
          <a:xfrm>
            <a:off x="7414379" y="5686544"/>
            <a:ext cx="6422231" cy="1189196"/>
          </a:xfrm>
          <a:prstGeom prst="roundRect">
            <a:avLst>
              <a:gd fmla="val 9227" name="adj"/>
            </a:avLst>
          </a:prstGeom>
          <a:solidFill>
            <a:srgbClr val="FFFFFF"/>
          </a:solidFill>
          <a:ln cap="flat" cmpd="sng" w="22850">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3"/>
          <p:cNvSpPr/>
          <p:nvPr/>
        </p:nvSpPr>
        <p:spPr>
          <a:xfrm>
            <a:off x="13768030" y="5686544"/>
            <a:ext cx="91440" cy="1189196"/>
          </a:xfrm>
          <a:prstGeom prst="roundRect">
            <a:avLst>
              <a:gd fmla="val 91163"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3"/>
          <p:cNvSpPr/>
          <p:nvPr/>
        </p:nvSpPr>
        <p:spPr>
          <a:xfrm>
            <a:off x="10880884" y="5907762"/>
            <a:ext cx="2665928"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000000"/>
              </a:buClr>
              <a:buSzPts val="1950"/>
              <a:buFont typeface="Rubik"/>
              <a:buNone/>
            </a:pPr>
            <a:r>
              <a:rPr b="0" i="0" lang="en-US" sz="1950" u="none" cap="none" strike="noStrike">
                <a:solidFill>
                  <a:srgbClr val="000000"/>
                </a:solidFill>
                <a:latin typeface="Rubik"/>
                <a:ea typeface="Rubik"/>
                <a:cs typeface="Rubik"/>
                <a:sym typeface="Rubik"/>
              </a:rPr>
              <a:t>📱</a:t>
            </a:r>
            <a:r>
              <a:rPr b="0" i="0" lang="en-US" sz="1950" u="none" cap="none" strike="noStrike">
                <a:solidFill>
                  <a:srgbClr val="272525"/>
                </a:solidFill>
                <a:latin typeface="Rubik"/>
                <a:ea typeface="Rubik"/>
                <a:cs typeface="Rubik"/>
                <a:sym typeface="Rubik"/>
              </a:rPr>
              <a:t> תוכן לרשתות חברתיות</a:t>
            </a:r>
            <a:endParaRPr b="0" i="0" sz="1950" u="none" cap="none" strike="noStrike"/>
          </a:p>
        </p:txBody>
      </p:sp>
      <p:sp>
        <p:nvSpPr>
          <p:cNvPr id="318" name="Google Shape;318;p33"/>
          <p:cNvSpPr/>
          <p:nvPr/>
        </p:nvSpPr>
        <p:spPr>
          <a:xfrm>
            <a:off x="7635597" y="6336983"/>
            <a:ext cx="5911215" cy="31754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"צור לי פוסט לאינסטגרם לפי התמונות הללו"</a:t>
            </a:r>
            <a:endParaRPr b="0" i="0" sz="1550" u="none" cap="none" strike="noStrike"/>
          </a:p>
        </p:txBody>
      </p:sp>
      <p:sp>
        <p:nvSpPr>
          <p:cNvPr id="319" name="Google Shape;319;p33"/>
          <p:cNvSpPr/>
          <p:nvPr/>
        </p:nvSpPr>
        <p:spPr>
          <a:xfrm>
            <a:off x="793790" y="5686544"/>
            <a:ext cx="6422231" cy="1189196"/>
          </a:xfrm>
          <a:prstGeom prst="roundRect">
            <a:avLst>
              <a:gd fmla="val 9227" name="adj"/>
            </a:avLst>
          </a:prstGeom>
          <a:solidFill>
            <a:srgbClr val="FFFFFF"/>
          </a:solidFill>
          <a:ln cap="flat" cmpd="sng" w="22850">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3"/>
          <p:cNvSpPr/>
          <p:nvPr/>
        </p:nvSpPr>
        <p:spPr>
          <a:xfrm>
            <a:off x="7147441" y="5686544"/>
            <a:ext cx="91440" cy="1189196"/>
          </a:xfrm>
          <a:prstGeom prst="roundRect">
            <a:avLst>
              <a:gd fmla="val 91163"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3"/>
          <p:cNvSpPr/>
          <p:nvPr/>
        </p:nvSpPr>
        <p:spPr>
          <a:xfrm>
            <a:off x="4445318" y="5907762"/>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000000"/>
              </a:buClr>
              <a:buSzPts val="1950"/>
              <a:buFont typeface="Rubik"/>
              <a:buNone/>
            </a:pPr>
            <a:r>
              <a:rPr b="0" i="0" lang="en-US" sz="1950" u="none" cap="none" strike="noStrike">
                <a:solidFill>
                  <a:srgbClr val="000000"/>
                </a:solidFill>
                <a:latin typeface="Rubik"/>
                <a:ea typeface="Rubik"/>
                <a:cs typeface="Rubik"/>
                <a:sym typeface="Rubik"/>
              </a:rPr>
              <a:t>💼</a:t>
            </a:r>
            <a:r>
              <a:rPr b="0" i="0" lang="en-US" sz="1950" u="none" cap="none" strike="noStrike">
                <a:solidFill>
                  <a:srgbClr val="272525"/>
                </a:solidFill>
                <a:latin typeface="Rubik"/>
                <a:ea typeface="Rubik"/>
                <a:cs typeface="Rubik"/>
                <a:sym typeface="Rubik"/>
              </a:rPr>
              <a:t> ייעוץ קריירה</a:t>
            </a:r>
            <a:endParaRPr b="0" i="0" sz="1950" u="none" cap="none" strike="noStrike"/>
          </a:p>
        </p:txBody>
      </p:sp>
      <p:sp>
        <p:nvSpPr>
          <p:cNvPr id="322" name="Google Shape;322;p33"/>
          <p:cNvSpPr/>
          <p:nvPr/>
        </p:nvSpPr>
        <p:spPr>
          <a:xfrm>
            <a:off x="1015008" y="6336983"/>
            <a:ext cx="5911215" cy="31754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"איך אני יכול לשפר את קורות החיים שלי עבור תפקיד QA?"</a:t>
            </a:r>
            <a:endParaRPr b="0" i="0" sz="155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descr="preencoded.png" id="328" name="Google Shape;328;p34"/>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329" name="Google Shape;329;p34"/>
          <p:cNvSpPr/>
          <p:nvPr/>
        </p:nvSpPr>
        <p:spPr>
          <a:xfrm>
            <a:off x="3636526" y="698540"/>
            <a:ext cx="4713684" cy="589121"/>
          </a:xfrm>
          <a:prstGeom prst="rect">
            <a:avLst/>
          </a:prstGeom>
          <a:noFill/>
          <a:ln>
            <a:noFill/>
          </a:ln>
        </p:spPr>
        <p:txBody>
          <a:bodyPr anchorCtr="0" anchor="t" bIns="0" lIns="0" spcFirstLastPara="1" rIns="0" wrap="square" tIns="0">
            <a:noAutofit/>
          </a:bodyPr>
          <a:lstStyle/>
          <a:p>
            <a:pPr indent="0" lvl="0" marL="0" marR="0" rtl="1" algn="r">
              <a:lnSpc>
                <a:spcPct val="124324"/>
              </a:lnSpc>
              <a:spcBef>
                <a:spcPts val="0"/>
              </a:spcBef>
              <a:spcAft>
                <a:spcPts val="0"/>
              </a:spcAft>
              <a:buClr>
                <a:srgbClr val="D75BE2"/>
              </a:buClr>
              <a:buSzPts val="3700"/>
              <a:buFont typeface="Rubik"/>
              <a:buNone/>
            </a:pPr>
            <a:r>
              <a:rPr b="0" i="0" lang="en-US" sz="3700" u="none" cap="none" strike="noStrike">
                <a:solidFill>
                  <a:srgbClr val="D75BE2"/>
                </a:solidFill>
                <a:latin typeface="Rubik"/>
                <a:ea typeface="Rubik"/>
                <a:cs typeface="Rubik"/>
                <a:sym typeface="Rubik"/>
              </a:rPr>
              <a:t>2. שימושים מקצועיים</a:t>
            </a:r>
            <a:endParaRPr b="0" i="0" sz="3700" u="none" cap="none" strike="noStrike"/>
          </a:p>
        </p:txBody>
      </p:sp>
      <p:sp>
        <p:nvSpPr>
          <p:cNvPr id="330" name="Google Shape;330;p34"/>
          <p:cNvSpPr/>
          <p:nvPr/>
        </p:nvSpPr>
        <p:spPr>
          <a:xfrm>
            <a:off x="793790" y="1556266"/>
            <a:ext cx="7556421" cy="588407"/>
          </a:xfrm>
          <a:prstGeom prst="rect">
            <a:avLst/>
          </a:prstGeom>
          <a:noFill/>
          <a:ln>
            <a:noFill/>
          </a:ln>
        </p:spPr>
        <p:txBody>
          <a:bodyPr anchorCtr="0" anchor="t" bIns="0" lIns="0" spcFirstLastPara="1" rIns="0" wrap="square" tIns="0">
            <a:noAutofit/>
          </a:bodyPr>
          <a:lstStyle/>
          <a:p>
            <a:pPr indent="0" lvl="0" marL="0" marR="0" rtl="1" algn="r">
              <a:lnSpc>
                <a:spcPct val="158620"/>
              </a:lnSpc>
              <a:spcBef>
                <a:spcPts val="0"/>
              </a:spcBef>
              <a:spcAft>
                <a:spcPts val="0"/>
              </a:spcAft>
              <a:buClr>
                <a:srgbClr val="272525"/>
              </a:buClr>
              <a:buSzPts val="1450"/>
              <a:buFont typeface="Open Sans"/>
              <a:buNone/>
            </a:pPr>
            <a:r>
              <a:rPr b="0" i="0" lang="en-US" sz="1450" u="none" cap="none" strike="noStrike">
                <a:solidFill>
                  <a:srgbClr val="272525"/>
                </a:solidFill>
                <a:latin typeface="Open Sans"/>
                <a:ea typeface="Open Sans"/>
                <a:cs typeface="Open Sans"/>
                <a:sym typeface="Open Sans"/>
              </a:rPr>
              <a:t>Gemini מציע מגוון רחב של יכולות מתקדמות המאפשרות לבצע משימות מורכבות ביעילות ובדיוק מרביים, תוך שילוב בין הבנה וייצור תוכן.</a:t>
            </a:r>
            <a:endParaRPr b="0" i="0" sz="1450" u="none" cap="none" strike="noStrike"/>
          </a:p>
        </p:txBody>
      </p:sp>
      <p:pic>
        <p:nvPicPr>
          <p:cNvPr descr="preencoded.png" id="331" name="Google Shape;331;p34"/>
          <p:cNvPicPr preferRelativeResize="0"/>
          <p:nvPr/>
        </p:nvPicPr>
        <p:blipFill rotWithShape="1">
          <a:blip r:embed="rId4">
            <a:alphaModFix/>
          </a:blip>
          <a:srcRect b="0" l="0" r="0" t="0"/>
          <a:stretch/>
        </p:blipFill>
        <p:spPr>
          <a:xfrm>
            <a:off x="7878842" y="2346127"/>
            <a:ext cx="471368" cy="471368"/>
          </a:xfrm>
          <a:prstGeom prst="rect">
            <a:avLst/>
          </a:prstGeom>
          <a:noFill/>
          <a:ln>
            <a:noFill/>
          </a:ln>
        </p:spPr>
      </p:pic>
      <p:sp>
        <p:nvSpPr>
          <p:cNvPr id="332" name="Google Shape;332;p34"/>
          <p:cNvSpPr/>
          <p:nvPr/>
        </p:nvSpPr>
        <p:spPr>
          <a:xfrm>
            <a:off x="5993368" y="3041333"/>
            <a:ext cx="2356842" cy="294680"/>
          </a:xfrm>
          <a:prstGeom prst="rect">
            <a:avLst/>
          </a:prstGeom>
          <a:noFill/>
          <a:ln>
            <a:noFill/>
          </a:ln>
        </p:spPr>
        <p:txBody>
          <a:bodyPr anchorCtr="0" anchor="t" bIns="0" lIns="0" spcFirstLastPara="1" rIns="0" wrap="square" tIns="0">
            <a:noAutofit/>
          </a:bodyPr>
          <a:lstStyle/>
          <a:p>
            <a:pPr indent="0" lvl="0" marL="0" marR="0" rtl="1" algn="r">
              <a:lnSpc>
                <a:spcPct val="124324"/>
              </a:lnSpc>
              <a:spcBef>
                <a:spcPts val="0"/>
              </a:spcBef>
              <a:spcAft>
                <a:spcPts val="0"/>
              </a:spcAft>
              <a:buClr>
                <a:srgbClr val="272525"/>
              </a:buClr>
              <a:buSzPts val="1850"/>
              <a:buFont typeface="Rubik"/>
              <a:buNone/>
            </a:pPr>
            <a:r>
              <a:rPr b="0" i="0" lang="en-US" sz="1850" u="none" cap="none" strike="noStrike">
                <a:solidFill>
                  <a:srgbClr val="272525"/>
                </a:solidFill>
                <a:latin typeface="Rubik"/>
                <a:ea typeface="Rubik"/>
                <a:cs typeface="Rubik"/>
                <a:sym typeface="Rubik"/>
              </a:rPr>
              <a:t>ניתוח נתונים מתקדם</a:t>
            </a:r>
            <a:endParaRPr b="0" i="0" sz="1850" u="none" cap="none" strike="noStrike"/>
          </a:p>
        </p:txBody>
      </p:sp>
      <p:sp>
        <p:nvSpPr>
          <p:cNvPr id="333" name="Google Shape;333;p34"/>
          <p:cNvSpPr/>
          <p:nvPr/>
        </p:nvSpPr>
        <p:spPr>
          <a:xfrm>
            <a:off x="793790" y="3443407"/>
            <a:ext cx="7556421" cy="294203"/>
          </a:xfrm>
          <a:prstGeom prst="rect">
            <a:avLst/>
          </a:prstGeom>
          <a:noFill/>
          <a:ln>
            <a:noFill/>
          </a:ln>
        </p:spPr>
        <p:txBody>
          <a:bodyPr anchorCtr="0" anchor="t" bIns="0" lIns="0" spcFirstLastPara="1" rIns="0" wrap="square" tIns="0">
            <a:noAutofit/>
          </a:bodyPr>
          <a:lstStyle/>
          <a:p>
            <a:pPr indent="0" lvl="0" marL="0" marR="0" rtl="1" algn="r">
              <a:lnSpc>
                <a:spcPct val="158620"/>
              </a:lnSpc>
              <a:spcBef>
                <a:spcPts val="0"/>
              </a:spcBef>
              <a:spcAft>
                <a:spcPts val="0"/>
              </a:spcAft>
              <a:buClr>
                <a:srgbClr val="272525"/>
              </a:buClr>
              <a:buSzPts val="1450"/>
              <a:buFont typeface="Open Sans"/>
              <a:buNone/>
            </a:pPr>
            <a:r>
              <a:rPr b="0" i="0" lang="en-US" sz="1450" u="none" cap="none" strike="noStrike">
                <a:solidFill>
                  <a:srgbClr val="272525"/>
                </a:solidFill>
                <a:latin typeface="Open Sans"/>
                <a:ea typeface="Open Sans"/>
                <a:cs typeface="Open Sans"/>
                <a:sym typeface="Open Sans"/>
              </a:rPr>
              <a:t>עיבוד קבצי Excel מורכבים והפקת תובנות וגרפים בזמן אמת, כולל המלצות אסטרטגיות.</a:t>
            </a:r>
            <a:endParaRPr b="0" i="0" sz="1450" u="none" cap="none" strike="noStrike"/>
          </a:p>
        </p:txBody>
      </p:sp>
      <p:pic>
        <p:nvPicPr>
          <p:cNvPr descr="preencoded.png" id="334" name="Google Shape;334;p34"/>
          <p:cNvPicPr preferRelativeResize="0"/>
          <p:nvPr/>
        </p:nvPicPr>
        <p:blipFill rotWithShape="1">
          <a:blip r:embed="rId5">
            <a:alphaModFix/>
          </a:blip>
          <a:srcRect b="0" l="0" r="0" t="0"/>
          <a:stretch/>
        </p:blipFill>
        <p:spPr>
          <a:xfrm>
            <a:off x="7878842" y="4095750"/>
            <a:ext cx="471368" cy="471368"/>
          </a:xfrm>
          <a:prstGeom prst="rect">
            <a:avLst/>
          </a:prstGeom>
          <a:noFill/>
          <a:ln>
            <a:noFill/>
          </a:ln>
        </p:spPr>
      </p:pic>
      <p:sp>
        <p:nvSpPr>
          <p:cNvPr id="335" name="Google Shape;335;p34"/>
          <p:cNvSpPr/>
          <p:nvPr/>
        </p:nvSpPr>
        <p:spPr>
          <a:xfrm>
            <a:off x="5993368" y="4790956"/>
            <a:ext cx="2356842" cy="294680"/>
          </a:xfrm>
          <a:prstGeom prst="rect">
            <a:avLst/>
          </a:prstGeom>
          <a:noFill/>
          <a:ln>
            <a:noFill/>
          </a:ln>
        </p:spPr>
        <p:txBody>
          <a:bodyPr anchorCtr="0" anchor="t" bIns="0" lIns="0" spcFirstLastPara="1" rIns="0" wrap="square" tIns="0">
            <a:noAutofit/>
          </a:bodyPr>
          <a:lstStyle/>
          <a:p>
            <a:pPr indent="0" lvl="0" marL="0" marR="0" rtl="1" algn="r">
              <a:lnSpc>
                <a:spcPct val="124324"/>
              </a:lnSpc>
              <a:spcBef>
                <a:spcPts val="0"/>
              </a:spcBef>
              <a:spcAft>
                <a:spcPts val="0"/>
              </a:spcAft>
              <a:buClr>
                <a:srgbClr val="272525"/>
              </a:buClr>
              <a:buSzPts val="1850"/>
              <a:buFont typeface="Rubik"/>
              <a:buNone/>
            </a:pPr>
            <a:r>
              <a:rPr b="0" i="0" lang="en-US" sz="1850" u="none" cap="none" strike="noStrike">
                <a:solidFill>
                  <a:srgbClr val="272525"/>
                </a:solidFill>
                <a:latin typeface="Rubik"/>
                <a:ea typeface="Rubik"/>
                <a:cs typeface="Rubik"/>
                <a:sym typeface="Rubik"/>
              </a:rPr>
              <a:t>כתיבת קוד ופיתוח</a:t>
            </a:r>
            <a:endParaRPr b="0" i="0" sz="1850" u="none" cap="none" strike="noStrike"/>
          </a:p>
        </p:txBody>
      </p:sp>
      <p:sp>
        <p:nvSpPr>
          <p:cNvPr id="336" name="Google Shape;336;p34"/>
          <p:cNvSpPr/>
          <p:nvPr/>
        </p:nvSpPr>
        <p:spPr>
          <a:xfrm>
            <a:off x="793790" y="5193030"/>
            <a:ext cx="7556421" cy="294203"/>
          </a:xfrm>
          <a:prstGeom prst="rect">
            <a:avLst/>
          </a:prstGeom>
          <a:noFill/>
          <a:ln>
            <a:noFill/>
          </a:ln>
        </p:spPr>
        <p:txBody>
          <a:bodyPr anchorCtr="0" anchor="t" bIns="0" lIns="0" spcFirstLastPara="1" rIns="0" wrap="square" tIns="0">
            <a:noAutofit/>
          </a:bodyPr>
          <a:lstStyle/>
          <a:p>
            <a:pPr indent="0" lvl="0" marL="0" marR="0" rtl="1" algn="r">
              <a:lnSpc>
                <a:spcPct val="158620"/>
              </a:lnSpc>
              <a:spcBef>
                <a:spcPts val="0"/>
              </a:spcBef>
              <a:spcAft>
                <a:spcPts val="0"/>
              </a:spcAft>
              <a:buClr>
                <a:srgbClr val="272525"/>
              </a:buClr>
              <a:buSzPts val="1450"/>
              <a:buFont typeface="Open Sans"/>
              <a:buNone/>
            </a:pPr>
            <a:r>
              <a:rPr b="0" i="0" lang="en-US" sz="1450" u="none" cap="none" strike="noStrike">
                <a:solidFill>
                  <a:srgbClr val="272525"/>
                </a:solidFill>
                <a:latin typeface="Open Sans"/>
                <a:ea typeface="Open Sans"/>
                <a:cs typeface="Open Sans"/>
                <a:sym typeface="Open Sans"/>
              </a:rPr>
              <a:t>תמיכה ביותר מ-20 שפות תכנות, כולל יכולת הסבר של לוגיקת קוד מורכבת וניפוי שגיאות.</a:t>
            </a:r>
            <a:endParaRPr b="0" i="0" sz="1450" u="none" cap="none" strike="noStrike"/>
          </a:p>
        </p:txBody>
      </p:sp>
      <p:pic>
        <p:nvPicPr>
          <p:cNvPr descr="preencoded.png" id="337" name="Google Shape;337;p34"/>
          <p:cNvPicPr preferRelativeResize="0"/>
          <p:nvPr/>
        </p:nvPicPr>
        <p:blipFill rotWithShape="1">
          <a:blip r:embed="rId6">
            <a:alphaModFix/>
          </a:blip>
          <a:srcRect b="0" l="0" r="0" t="0"/>
          <a:stretch/>
        </p:blipFill>
        <p:spPr>
          <a:xfrm>
            <a:off x="7878842" y="5845373"/>
            <a:ext cx="471368" cy="471368"/>
          </a:xfrm>
          <a:prstGeom prst="rect">
            <a:avLst/>
          </a:prstGeom>
          <a:noFill/>
          <a:ln>
            <a:noFill/>
          </a:ln>
        </p:spPr>
      </p:pic>
      <p:sp>
        <p:nvSpPr>
          <p:cNvPr id="338" name="Google Shape;338;p34"/>
          <p:cNvSpPr/>
          <p:nvPr/>
        </p:nvSpPr>
        <p:spPr>
          <a:xfrm>
            <a:off x="5993368" y="6540579"/>
            <a:ext cx="2356842" cy="294680"/>
          </a:xfrm>
          <a:prstGeom prst="rect">
            <a:avLst/>
          </a:prstGeom>
          <a:noFill/>
          <a:ln>
            <a:noFill/>
          </a:ln>
        </p:spPr>
        <p:txBody>
          <a:bodyPr anchorCtr="0" anchor="t" bIns="0" lIns="0" spcFirstLastPara="1" rIns="0" wrap="square" tIns="0">
            <a:noAutofit/>
          </a:bodyPr>
          <a:lstStyle/>
          <a:p>
            <a:pPr indent="0" lvl="0" marL="0" marR="0" rtl="1" algn="r">
              <a:lnSpc>
                <a:spcPct val="124324"/>
              </a:lnSpc>
              <a:spcBef>
                <a:spcPts val="0"/>
              </a:spcBef>
              <a:spcAft>
                <a:spcPts val="0"/>
              </a:spcAft>
              <a:buClr>
                <a:srgbClr val="272525"/>
              </a:buClr>
              <a:buSzPts val="1850"/>
              <a:buFont typeface="Rubik"/>
              <a:buNone/>
            </a:pPr>
            <a:r>
              <a:rPr b="0" i="0" lang="en-US" sz="1850" u="none" cap="none" strike="noStrike">
                <a:solidFill>
                  <a:srgbClr val="272525"/>
                </a:solidFill>
                <a:latin typeface="Rubik"/>
                <a:ea typeface="Rubik"/>
                <a:cs typeface="Rubik"/>
                <a:sym typeface="Rubik"/>
              </a:rPr>
              <a:t>יצירתיות וייצור תוכן</a:t>
            </a:r>
            <a:endParaRPr b="0" i="0" sz="1850" u="none" cap="none" strike="noStrike"/>
          </a:p>
        </p:txBody>
      </p:sp>
      <p:sp>
        <p:nvSpPr>
          <p:cNvPr id="339" name="Google Shape;339;p34"/>
          <p:cNvSpPr/>
          <p:nvPr/>
        </p:nvSpPr>
        <p:spPr>
          <a:xfrm>
            <a:off x="793800" y="6942646"/>
            <a:ext cx="7671000" cy="1287000"/>
          </a:xfrm>
          <a:prstGeom prst="rect">
            <a:avLst/>
          </a:prstGeom>
          <a:noFill/>
          <a:ln>
            <a:noFill/>
          </a:ln>
        </p:spPr>
        <p:txBody>
          <a:bodyPr anchorCtr="0" anchor="t" bIns="0" lIns="0" spcFirstLastPara="1" rIns="0" wrap="square" tIns="0">
            <a:noAutofit/>
          </a:bodyPr>
          <a:lstStyle/>
          <a:p>
            <a:pPr indent="0" lvl="0" marL="0" marR="0" rtl="1" algn="r">
              <a:lnSpc>
                <a:spcPct val="158620"/>
              </a:lnSpc>
              <a:spcBef>
                <a:spcPts val="0"/>
              </a:spcBef>
              <a:spcAft>
                <a:spcPts val="0"/>
              </a:spcAft>
              <a:buClr>
                <a:srgbClr val="272525"/>
              </a:buClr>
              <a:buSzPts val="1450"/>
              <a:buFont typeface="Open Sans"/>
              <a:buNone/>
            </a:pPr>
            <a:r>
              <a:rPr b="0" i="0" lang="en-US" sz="1450" u="none" cap="none" strike="noStrike">
                <a:solidFill>
                  <a:srgbClr val="272525"/>
                </a:solidFill>
                <a:latin typeface="Open Sans"/>
                <a:ea typeface="Open Sans"/>
                <a:cs typeface="Open Sans"/>
                <a:sym typeface="Open Sans"/>
              </a:rPr>
              <a:t>יצירת תמונות מרהיבות (באמצעות Imagen 3), כתיבת תסריטים, מאמרים ושירה, תוך שילוב הבנה ויזואלית וטקסטואלית.</a:t>
            </a:r>
            <a:endParaRPr b="0" i="0" sz="1450" u="none" cap="none" strike="noStrike">
              <a:solidFill>
                <a:srgbClr val="272525"/>
              </a:solidFill>
              <a:latin typeface="Open Sans"/>
              <a:ea typeface="Open Sans"/>
              <a:cs typeface="Open Sans"/>
              <a:sym typeface="Open Sans"/>
            </a:endParaRPr>
          </a:p>
          <a:p>
            <a:pPr indent="0" lvl="0" marL="0" marR="0" rtl="1" algn="r">
              <a:lnSpc>
                <a:spcPct val="158620"/>
              </a:lnSpc>
              <a:spcBef>
                <a:spcPts val="0"/>
              </a:spcBef>
              <a:spcAft>
                <a:spcPts val="0"/>
              </a:spcAft>
              <a:buClr>
                <a:srgbClr val="272525"/>
              </a:buClr>
              <a:buSzPts val="1450"/>
              <a:buFont typeface="Open Sans"/>
              <a:buNone/>
            </a:pPr>
            <a:r>
              <a:rPr lang="en-US" sz="1450">
                <a:solidFill>
                  <a:srgbClr val="272525"/>
                </a:solidFill>
                <a:latin typeface="Open Sans"/>
                <a:ea typeface="Open Sans"/>
                <a:cs typeface="Open Sans"/>
                <a:sym typeface="Open Sans"/>
              </a:rPr>
              <a:t>הערה: Imagen3/4 הם כבר Legacy, היום (2026) Nano Banana זה המודל החדש והמודרני</a:t>
            </a:r>
            <a:endParaRPr sz="1450">
              <a:solidFill>
                <a:srgbClr val="272525"/>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5"/>
          <p:cNvSpPr/>
          <p:nvPr/>
        </p:nvSpPr>
        <p:spPr>
          <a:xfrm>
            <a:off x="8874800" y="1106448"/>
            <a:ext cx="4961811" cy="620078"/>
          </a:xfrm>
          <a:prstGeom prst="rect">
            <a:avLst/>
          </a:prstGeom>
          <a:noFill/>
          <a:ln>
            <a:noFill/>
          </a:ln>
        </p:spPr>
        <p:txBody>
          <a:bodyPr anchorCtr="0" anchor="t" bIns="0" lIns="0" spcFirstLastPara="1" rIns="0" wrap="square" tIns="0">
            <a:noAutofit/>
          </a:bodyPr>
          <a:lstStyle/>
          <a:p>
            <a:pPr indent="0" lvl="0" marL="0" marR="0" rtl="1" algn="r">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3. התוספים של Gemini</a:t>
            </a:r>
            <a:endParaRPr b="0" i="0" sz="3900" u="none" cap="none" strike="noStrike"/>
          </a:p>
        </p:txBody>
      </p:sp>
      <p:sp>
        <p:nvSpPr>
          <p:cNvPr id="346" name="Google Shape;346;p35"/>
          <p:cNvSpPr/>
          <p:nvPr/>
        </p:nvSpPr>
        <p:spPr>
          <a:xfrm>
            <a:off x="793790" y="2123361"/>
            <a:ext cx="13042800" cy="63510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תוספי Gemini מאפשרים לך לשלב את יכולות Google ישירות בתוך השיחה — מחיפוש מידע ועד מציאת טיסות, הכל מבלי לעזוב את ממשק Gemini. זמין גם בגרסה החינמית.</a:t>
            </a:r>
            <a:endParaRPr b="0" i="0" sz="1550" u="none" cap="none" strike="noStrike"/>
          </a:p>
        </p:txBody>
      </p:sp>
      <p:sp>
        <p:nvSpPr>
          <p:cNvPr id="347" name="Google Shape;347;p35"/>
          <p:cNvSpPr/>
          <p:nvPr/>
        </p:nvSpPr>
        <p:spPr>
          <a:xfrm>
            <a:off x="7920506" y="2981675"/>
            <a:ext cx="5916000" cy="843300"/>
          </a:xfrm>
          <a:prstGeom prst="roundRect">
            <a:avLst>
              <a:gd fmla="val 9886" name="adj"/>
            </a:avLst>
          </a:prstGeom>
          <a:solidFill>
            <a:srgbClr val="EFBE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8" name="Google Shape;348;p35"/>
          <p:cNvPicPr preferRelativeResize="0"/>
          <p:nvPr/>
        </p:nvPicPr>
        <p:blipFill rotWithShape="1">
          <a:blip r:embed="rId3">
            <a:alphaModFix/>
          </a:blip>
          <a:srcRect b="0" l="0" r="0" t="0"/>
          <a:stretch/>
        </p:blipFill>
        <p:spPr>
          <a:xfrm>
            <a:off x="8173548" y="3304152"/>
            <a:ext cx="248007" cy="198358"/>
          </a:xfrm>
          <a:prstGeom prst="rect">
            <a:avLst/>
          </a:prstGeom>
          <a:noFill/>
          <a:ln>
            <a:noFill/>
          </a:ln>
        </p:spPr>
      </p:pic>
      <p:sp>
        <p:nvSpPr>
          <p:cNvPr id="349" name="Google Shape;349;p35"/>
          <p:cNvSpPr/>
          <p:nvPr/>
        </p:nvSpPr>
        <p:spPr>
          <a:xfrm>
            <a:off x="8756875" y="3244575"/>
            <a:ext cx="4961700" cy="31740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000000"/>
              </a:buClr>
              <a:buSzPts val="1550"/>
              <a:buFont typeface="Open Sans"/>
              <a:buNone/>
            </a:pPr>
            <a:r>
              <a:rPr b="0" i="0" lang="en-US" sz="1550" u="none" cap="none" strike="noStrike">
                <a:solidFill>
                  <a:srgbClr val="000000"/>
                </a:solidFill>
                <a:latin typeface="Open Sans"/>
                <a:ea typeface="Open Sans"/>
                <a:cs typeface="Open Sans"/>
                <a:sym typeface="Open Sans"/>
              </a:rPr>
              <a:t>כדי להפעיל: Settings ← Add-ons ← בחר את התוסף הרצוי</a:t>
            </a:r>
            <a:endParaRPr b="0" i="0" sz="1550" u="none" cap="none" strike="noStrike"/>
          </a:p>
        </p:txBody>
      </p:sp>
      <p:pic>
        <p:nvPicPr>
          <p:cNvPr descr="preencoded.png" id="350" name="Google Shape;350;p35"/>
          <p:cNvPicPr preferRelativeResize="0"/>
          <p:nvPr/>
        </p:nvPicPr>
        <p:blipFill rotWithShape="1">
          <a:blip r:embed="rId4">
            <a:alphaModFix/>
          </a:blip>
          <a:srcRect b="0" l="0" r="0" t="0"/>
          <a:stretch/>
        </p:blipFill>
        <p:spPr>
          <a:xfrm>
            <a:off x="8421542" y="4048101"/>
            <a:ext cx="5127620" cy="4211375"/>
          </a:xfrm>
          <a:prstGeom prst="rect">
            <a:avLst/>
          </a:prstGeom>
          <a:noFill/>
          <a:ln>
            <a:noFill/>
          </a:ln>
        </p:spPr>
      </p:pic>
      <p:pic>
        <p:nvPicPr>
          <p:cNvPr id="351" name="Google Shape;351;p35"/>
          <p:cNvPicPr preferRelativeResize="0"/>
          <p:nvPr/>
        </p:nvPicPr>
        <p:blipFill>
          <a:blip r:embed="rId5">
            <a:alphaModFix/>
          </a:blip>
          <a:stretch>
            <a:fillRect/>
          </a:stretch>
        </p:blipFill>
        <p:spPr>
          <a:xfrm>
            <a:off x="793800" y="4018233"/>
            <a:ext cx="4996178" cy="4099917"/>
          </a:xfrm>
          <a:prstGeom prst="rect">
            <a:avLst/>
          </a:prstGeom>
          <a:noFill/>
          <a:ln>
            <a:noFill/>
          </a:ln>
        </p:spPr>
      </p:pic>
      <p:sp>
        <p:nvSpPr>
          <p:cNvPr id="352" name="Google Shape;352;p35"/>
          <p:cNvSpPr/>
          <p:nvPr/>
        </p:nvSpPr>
        <p:spPr>
          <a:xfrm>
            <a:off x="887875" y="2966700"/>
            <a:ext cx="6284400" cy="843300"/>
          </a:xfrm>
          <a:prstGeom prst="roundRect">
            <a:avLst>
              <a:gd fmla="val 9886" name="adj"/>
            </a:avLst>
          </a:prstGeom>
          <a:solidFill>
            <a:srgbClr val="EFBE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3" name="Google Shape;353;p35"/>
          <p:cNvPicPr preferRelativeResize="0"/>
          <p:nvPr/>
        </p:nvPicPr>
        <p:blipFill rotWithShape="1">
          <a:blip r:embed="rId3">
            <a:alphaModFix/>
          </a:blip>
          <a:srcRect b="0" l="0" r="0" t="0"/>
          <a:stretch/>
        </p:blipFill>
        <p:spPr>
          <a:xfrm>
            <a:off x="1140923" y="3289164"/>
            <a:ext cx="248007" cy="198358"/>
          </a:xfrm>
          <a:prstGeom prst="rect">
            <a:avLst/>
          </a:prstGeom>
          <a:noFill/>
          <a:ln>
            <a:noFill/>
          </a:ln>
        </p:spPr>
      </p:pic>
      <p:sp>
        <p:nvSpPr>
          <p:cNvPr id="354" name="Google Shape;354;p35"/>
          <p:cNvSpPr/>
          <p:nvPr/>
        </p:nvSpPr>
        <p:spPr>
          <a:xfrm>
            <a:off x="887876" y="3214575"/>
            <a:ext cx="6185700" cy="31740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000000"/>
              </a:buClr>
              <a:buSzPts val="1550"/>
              <a:buFont typeface="Open Sans"/>
              <a:buNone/>
            </a:pPr>
            <a:r>
              <a:rPr b="0" i="0" lang="en-US" sz="1550" u="none" cap="none" strike="noStrike">
                <a:solidFill>
                  <a:srgbClr val="000000"/>
                </a:solidFill>
                <a:latin typeface="Open Sans"/>
                <a:ea typeface="Open Sans"/>
                <a:cs typeface="Open Sans"/>
                <a:sym typeface="Open Sans"/>
              </a:rPr>
              <a:t>כדי להפעיל: </a:t>
            </a:r>
            <a:r>
              <a:rPr lang="en-US" sz="1550">
                <a:latin typeface="Open Sans"/>
                <a:ea typeface="Open Sans"/>
                <a:cs typeface="Open Sans"/>
                <a:sym typeface="Open Sans"/>
              </a:rPr>
              <a:t>Settings → Personal </a:t>
            </a:r>
            <a:r>
              <a:rPr lang="en-US" sz="1550">
                <a:latin typeface="Open Sans"/>
                <a:ea typeface="Open Sans"/>
                <a:cs typeface="Open Sans"/>
                <a:sym typeface="Open Sans"/>
              </a:rPr>
              <a:t>Intelligence</a:t>
            </a:r>
            <a:r>
              <a:rPr lang="en-US" sz="1550">
                <a:latin typeface="Open Sans"/>
                <a:ea typeface="Open Sans"/>
                <a:cs typeface="Open Sans"/>
                <a:sym typeface="Open Sans"/>
              </a:rPr>
              <a:t> → Connected Apps</a:t>
            </a:r>
            <a:endParaRPr b="0" i="0" sz="155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descr="preencoded.png" id="360" name="Google Shape;360;p36"/>
          <p:cNvPicPr preferRelativeResize="0"/>
          <p:nvPr/>
        </p:nvPicPr>
        <p:blipFill rotWithShape="1">
          <a:blip r:embed="rId3">
            <a:alphaModFix/>
          </a:blip>
          <a:srcRect b="0" l="0" r="0" t="0"/>
          <a:stretch/>
        </p:blipFill>
        <p:spPr>
          <a:xfrm>
            <a:off x="4800875" y="680500"/>
            <a:ext cx="8998950" cy="3190200"/>
          </a:xfrm>
          <a:prstGeom prst="rect">
            <a:avLst/>
          </a:prstGeom>
          <a:noFill/>
          <a:ln>
            <a:noFill/>
          </a:ln>
        </p:spPr>
      </p:pic>
      <p:pic>
        <p:nvPicPr>
          <p:cNvPr id="361" name="Google Shape;361;p36"/>
          <p:cNvPicPr preferRelativeResize="0"/>
          <p:nvPr/>
        </p:nvPicPr>
        <p:blipFill>
          <a:blip r:embed="rId4">
            <a:alphaModFix/>
          </a:blip>
          <a:stretch>
            <a:fillRect/>
          </a:stretch>
        </p:blipFill>
        <p:spPr>
          <a:xfrm>
            <a:off x="152400" y="4023376"/>
            <a:ext cx="7909251" cy="3870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descr="preencoded.png" id="367" name="Google Shape;367;p37"/>
          <p:cNvPicPr preferRelativeResize="0"/>
          <p:nvPr/>
        </p:nvPicPr>
        <p:blipFill rotWithShape="1">
          <a:blip r:embed="rId3">
            <a:alphaModFix/>
          </a:blip>
          <a:srcRect b="0" l="0" r="0" t="0"/>
          <a:stretch/>
        </p:blipFill>
        <p:spPr>
          <a:xfrm>
            <a:off x="744458" y="519773"/>
            <a:ext cx="13141474" cy="71900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8"/>
          <p:cNvSpPr/>
          <p:nvPr/>
        </p:nvSpPr>
        <p:spPr>
          <a:xfrm>
            <a:off x="7163276" y="545783"/>
            <a:ext cx="6673334" cy="620078"/>
          </a:xfrm>
          <a:prstGeom prst="rect">
            <a:avLst/>
          </a:prstGeom>
          <a:noFill/>
          <a:ln>
            <a:noFill/>
          </a:ln>
        </p:spPr>
        <p:txBody>
          <a:bodyPr anchorCtr="0" anchor="t" bIns="0" lIns="0" spcFirstLastPara="1" rIns="0" wrap="square" tIns="0">
            <a:noAutofit/>
          </a:bodyPr>
          <a:lstStyle/>
          <a:p>
            <a:pPr indent="0" lvl="0" marL="0" marR="0" rtl="1" algn="r">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שילוב Gemini עם מוצרי Google</a:t>
            </a:r>
            <a:endParaRPr b="0" i="0" sz="3900" u="none" cap="none" strike="noStrike"/>
          </a:p>
        </p:txBody>
      </p:sp>
      <p:pic>
        <p:nvPicPr>
          <p:cNvPr descr="preencoded.png" id="374" name="Google Shape;374;p38"/>
          <p:cNvPicPr preferRelativeResize="0"/>
          <p:nvPr/>
        </p:nvPicPr>
        <p:blipFill rotWithShape="1">
          <a:blip r:embed="rId3">
            <a:alphaModFix/>
          </a:blip>
          <a:srcRect b="0" l="0" r="0" t="0"/>
          <a:stretch/>
        </p:blipFill>
        <p:spPr>
          <a:xfrm>
            <a:off x="793790" y="1562695"/>
            <a:ext cx="496133" cy="496133"/>
          </a:xfrm>
          <a:prstGeom prst="rect">
            <a:avLst/>
          </a:prstGeom>
          <a:noFill/>
          <a:ln>
            <a:noFill/>
          </a:ln>
        </p:spPr>
      </p:pic>
      <p:sp>
        <p:nvSpPr>
          <p:cNvPr id="375" name="Google Shape;375;p38"/>
          <p:cNvSpPr/>
          <p:nvPr/>
        </p:nvSpPr>
        <p:spPr>
          <a:xfrm>
            <a:off x="793790" y="2306836"/>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Gmail</a:t>
            </a:r>
            <a:endParaRPr b="0" i="0" sz="1950" u="none" cap="none" strike="noStrike"/>
          </a:p>
        </p:txBody>
      </p:sp>
      <p:sp>
        <p:nvSpPr>
          <p:cNvPr id="376" name="Google Shape;376;p38"/>
          <p:cNvSpPr/>
          <p:nvPr/>
        </p:nvSpPr>
        <p:spPr>
          <a:xfrm>
            <a:off x="793790" y="2736056"/>
            <a:ext cx="6397347" cy="317540"/>
          </a:xfrm>
          <a:prstGeom prst="rect">
            <a:avLst/>
          </a:prstGeom>
          <a:noFill/>
          <a:ln>
            <a:noFill/>
          </a:ln>
        </p:spPr>
        <p:txBody>
          <a:bodyPr anchorCtr="0" anchor="t" bIns="0" lIns="0" spcFirstLastPara="1" rIns="0" wrap="square" tIns="0">
            <a:noAutofit/>
          </a:bodyPr>
          <a:lstStyle/>
          <a:p>
            <a:pPr indent="0" lvl="0" marL="0" marR="0" rtl="1"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אוטומציה של יצירת מיילים, תזמונם וארגונם. Gemini מבין הקשר ומנסח בשמך</a:t>
            </a:r>
            <a:endParaRPr b="0" i="0" sz="1550" u="none" cap="none" strike="noStrike"/>
          </a:p>
        </p:txBody>
      </p:sp>
      <p:pic>
        <p:nvPicPr>
          <p:cNvPr descr="preencoded.png" id="377" name="Google Shape;377;p38"/>
          <p:cNvPicPr preferRelativeResize="0"/>
          <p:nvPr/>
        </p:nvPicPr>
        <p:blipFill rotWithShape="1">
          <a:blip r:embed="rId4">
            <a:alphaModFix/>
          </a:blip>
          <a:srcRect b="0" l="0" r="0" t="0"/>
          <a:stretch/>
        </p:blipFill>
        <p:spPr>
          <a:xfrm>
            <a:off x="7439144" y="1562695"/>
            <a:ext cx="496133" cy="496133"/>
          </a:xfrm>
          <a:prstGeom prst="rect">
            <a:avLst/>
          </a:prstGeom>
          <a:noFill/>
          <a:ln>
            <a:noFill/>
          </a:ln>
        </p:spPr>
      </p:pic>
      <p:sp>
        <p:nvSpPr>
          <p:cNvPr id="378" name="Google Shape;378;p38"/>
          <p:cNvSpPr/>
          <p:nvPr/>
        </p:nvSpPr>
        <p:spPr>
          <a:xfrm>
            <a:off x="7439144" y="2306836"/>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Google Search</a:t>
            </a:r>
            <a:endParaRPr b="0" i="0" sz="1950" u="none" cap="none" strike="noStrike"/>
          </a:p>
        </p:txBody>
      </p:sp>
      <p:sp>
        <p:nvSpPr>
          <p:cNvPr id="379" name="Google Shape;379;p38"/>
          <p:cNvSpPr/>
          <p:nvPr/>
        </p:nvSpPr>
        <p:spPr>
          <a:xfrm>
            <a:off x="7439144" y="2736056"/>
            <a:ext cx="6397466" cy="317540"/>
          </a:xfrm>
          <a:prstGeom prst="rect">
            <a:avLst/>
          </a:prstGeom>
          <a:noFill/>
          <a:ln>
            <a:noFill/>
          </a:ln>
        </p:spPr>
        <p:txBody>
          <a:bodyPr anchorCtr="0" anchor="t" bIns="0" lIns="0" spcFirstLastPara="1" rIns="0" wrap="square" tIns="0">
            <a:noAutofit/>
          </a:bodyPr>
          <a:lstStyle/>
          <a:p>
            <a:pPr indent="0" lvl="0" marL="0" marR="0" rtl="1"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מחובר למנוע החיפוש הגדול בעולם — גישה לנתונים עדכניים בזמן אמת</a:t>
            </a:r>
            <a:endParaRPr b="0" i="0" sz="1550" u="none" cap="none" strike="noStrike"/>
          </a:p>
        </p:txBody>
      </p:sp>
      <p:pic>
        <p:nvPicPr>
          <p:cNvPr descr="preencoded.png" id="380" name="Google Shape;380;p38"/>
          <p:cNvPicPr preferRelativeResize="0"/>
          <p:nvPr/>
        </p:nvPicPr>
        <p:blipFill rotWithShape="1">
          <a:blip r:embed="rId5">
            <a:alphaModFix/>
          </a:blip>
          <a:srcRect b="0" l="0" r="0" t="0"/>
          <a:stretch/>
        </p:blipFill>
        <p:spPr>
          <a:xfrm>
            <a:off x="793790" y="3450431"/>
            <a:ext cx="496133" cy="496133"/>
          </a:xfrm>
          <a:prstGeom prst="rect">
            <a:avLst/>
          </a:prstGeom>
          <a:noFill/>
          <a:ln>
            <a:noFill/>
          </a:ln>
        </p:spPr>
      </p:pic>
      <p:sp>
        <p:nvSpPr>
          <p:cNvPr id="381" name="Google Shape;381;p38"/>
          <p:cNvSpPr/>
          <p:nvPr/>
        </p:nvSpPr>
        <p:spPr>
          <a:xfrm>
            <a:off x="793790" y="4194572"/>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Google Colab</a:t>
            </a:r>
            <a:endParaRPr b="0" i="0" sz="1950" u="none" cap="none" strike="noStrike"/>
          </a:p>
        </p:txBody>
      </p:sp>
      <p:sp>
        <p:nvSpPr>
          <p:cNvPr id="382" name="Google Shape;382;p38"/>
          <p:cNvSpPr/>
          <p:nvPr/>
        </p:nvSpPr>
        <p:spPr>
          <a:xfrm>
            <a:off x="793790" y="4623792"/>
            <a:ext cx="6397347" cy="635079"/>
          </a:xfrm>
          <a:prstGeom prst="rect">
            <a:avLst/>
          </a:prstGeom>
          <a:noFill/>
          <a:ln>
            <a:noFill/>
          </a:ln>
        </p:spPr>
        <p:txBody>
          <a:bodyPr anchorCtr="0" anchor="t" bIns="0" lIns="0" spcFirstLastPara="1" rIns="0" wrap="square" tIns="0">
            <a:noAutofit/>
          </a:bodyPr>
          <a:lstStyle/>
          <a:p>
            <a:pPr indent="0" lvl="0" marL="0" marR="0" rtl="1"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משולב ב-Colab ובסביבות Python — מרחיב את יכולות הקידוד ומסייע בניפוי שגיאות</a:t>
            </a:r>
            <a:endParaRPr b="0" i="0" sz="1550" u="none" cap="none" strike="noStrike"/>
          </a:p>
        </p:txBody>
      </p:sp>
      <p:pic>
        <p:nvPicPr>
          <p:cNvPr descr="preencoded.png" id="383" name="Google Shape;383;p38"/>
          <p:cNvPicPr preferRelativeResize="0"/>
          <p:nvPr/>
        </p:nvPicPr>
        <p:blipFill rotWithShape="1">
          <a:blip r:embed="rId6">
            <a:alphaModFix/>
          </a:blip>
          <a:srcRect b="0" l="0" r="0" t="0"/>
          <a:stretch/>
        </p:blipFill>
        <p:spPr>
          <a:xfrm>
            <a:off x="7439144" y="3450431"/>
            <a:ext cx="496133" cy="496133"/>
          </a:xfrm>
          <a:prstGeom prst="rect">
            <a:avLst/>
          </a:prstGeom>
          <a:noFill/>
          <a:ln>
            <a:noFill/>
          </a:ln>
        </p:spPr>
      </p:pic>
      <p:sp>
        <p:nvSpPr>
          <p:cNvPr id="384" name="Google Shape;384;p38"/>
          <p:cNvSpPr/>
          <p:nvPr/>
        </p:nvSpPr>
        <p:spPr>
          <a:xfrm>
            <a:off x="7439144" y="4194572"/>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Docs &amp; Sheets</a:t>
            </a:r>
            <a:endParaRPr b="0" i="0" sz="1950" u="none" cap="none" strike="noStrike"/>
          </a:p>
        </p:txBody>
      </p:sp>
      <p:sp>
        <p:nvSpPr>
          <p:cNvPr id="385" name="Google Shape;385;p38"/>
          <p:cNvSpPr/>
          <p:nvPr/>
        </p:nvSpPr>
        <p:spPr>
          <a:xfrm>
            <a:off x="7439144" y="4623792"/>
            <a:ext cx="6397466" cy="317540"/>
          </a:xfrm>
          <a:prstGeom prst="rect">
            <a:avLst/>
          </a:prstGeom>
          <a:noFill/>
          <a:ln>
            <a:noFill/>
          </a:ln>
        </p:spPr>
        <p:txBody>
          <a:bodyPr anchorCtr="0" anchor="t" bIns="0" lIns="0" spcFirstLastPara="1" rIns="0" wrap="square" tIns="0">
            <a:noAutofit/>
          </a:bodyPr>
          <a:lstStyle/>
          <a:p>
            <a:pPr indent="0" lvl="0" marL="0" marR="0" rtl="1"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ייעול ניתוח נתונים, כתיבת תוכן וסיוע חכם ישירות בתוך המסמכים</a:t>
            </a:r>
            <a:endParaRPr b="0" i="0" sz="1550" u="none" cap="none" strike="noStrike"/>
          </a:p>
        </p:txBody>
      </p:sp>
      <p:pic>
        <p:nvPicPr>
          <p:cNvPr descr="preencoded.png" id="386" name="Google Shape;386;p38"/>
          <p:cNvPicPr preferRelativeResize="0"/>
          <p:nvPr/>
        </p:nvPicPr>
        <p:blipFill rotWithShape="1">
          <a:blip r:embed="rId7">
            <a:alphaModFix/>
          </a:blip>
          <a:srcRect b="0" l="0" r="0" t="0"/>
          <a:stretch/>
        </p:blipFill>
        <p:spPr>
          <a:xfrm>
            <a:off x="793790" y="5655707"/>
            <a:ext cx="496133" cy="496133"/>
          </a:xfrm>
          <a:prstGeom prst="rect">
            <a:avLst/>
          </a:prstGeom>
          <a:noFill/>
          <a:ln>
            <a:noFill/>
          </a:ln>
        </p:spPr>
      </p:pic>
      <p:sp>
        <p:nvSpPr>
          <p:cNvPr id="387" name="Google Shape;387;p38"/>
          <p:cNvSpPr/>
          <p:nvPr/>
        </p:nvSpPr>
        <p:spPr>
          <a:xfrm>
            <a:off x="793790" y="6399848"/>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Flights &amp; Maps</a:t>
            </a:r>
            <a:endParaRPr b="0" i="0" sz="1950" u="none" cap="none" strike="noStrike"/>
          </a:p>
        </p:txBody>
      </p:sp>
      <p:sp>
        <p:nvSpPr>
          <p:cNvPr id="388" name="Google Shape;388;p38"/>
          <p:cNvSpPr/>
          <p:nvPr/>
        </p:nvSpPr>
        <p:spPr>
          <a:xfrm>
            <a:off x="793790" y="6829068"/>
            <a:ext cx="6397347" cy="317540"/>
          </a:xfrm>
          <a:prstGeom prst="rect">
            <a:avLst/>
          </a:prstGeom>
          <a:noFill/>
          <a:ln>
            <a:noFill/>
          </a:ln>
        </p:spPr>
        <p:txBody>
          <a:bodyPr anchorCtr="0" anchor="t" bIns="0" lIns="0" spcFirstLastPara="1" rIns="0" wrap="square" tIns="0">
            <a:noAutofit/>
          </a:bodyPr>
          <a:lstStyle/>
          <a:p>
            <a:pPr indent="0" lvl="0" marL="0" marR="0" rtl="1"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מציאת טיסות ומסלולים עם מידע עדכני ישירות מ-Google Flights ו-Maps</a:t>
            </a:r>
            <a:endParaRPr b="0" i="0" sz="1550" u="none" cap="none" strike="noStrike"/>
          </a:p>
        </p:txBody>
      </p:sp>
      <p:pic>
        <p:nvPicPr>
          <p:cNvPr descr="preencoded.png" id="389" name="Google Shape;389;p38"/>
          <p:cNvPicPr preferRelativeResize="0"/>
          <p:nvPr/>
        </p:nvPicPr>
        <p:blipFill rotWithShape="1">
          <a:blip r:embed="rId8">
            <a:alphaModFix/>
          </a:blip>
          <a:srcRect b="0" l="0" r="0" t="0"/>
          <a:stretch/>
        </p:blipFill>
        <p:spPr>
          <a:xfrm>
            <a:off x="7439144" y="5655707"/>
            <a:ext cx="496133" cy="496133"/>
          </a:xfrm>
          <a:prstGeom prst="rect">
            <a:avLst/>
          </a:prstGeom>
          <a:noFill/>
          <a:ln>
            <a:noFill/>
          </a:ln>
        </p:spPr>
      </p:pic>
      <p:sp>
        <p:nvSpPr>
          <p:cNvPr id="390" name="Google Shape;390;p38"/>
          <p:cNvSpPr/>
          <p:nvPr/>
        </p:nvSpPr>
        <p:spPr>
          <a:xfrm>
            <a:off x="7439144" y="6399848"/>
            <a:ext cx="2480905" cy="310158"/>
          </a:xfrm>
          <a:prstGeom prst="rect">
            <a:avLst/>
          </a:prstGeom>
          <a:noFill/>
          <a:ln>
            <a:noFill/>
          </a:ln>
        </p:spPr>
        <p:txBody>
          <a:bodyPr anchorCtr="0" anchor="t" bIns="0" lIns="0" spcFirstLastPara="1" rIns="0" wrap="square" tIns="0">
            <a:noAutofit/>
          </a:bodyPr>
          <a:lstStyle/>
          <a:p>
            <a:pPr indent="0" lvl="0" marL="0" marR="0" rtl="1" algn="l">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יכולות רב-לשוניות</a:t>
            </a:r>
            <a:endParaRPr b="0" i="0" sz="1950" u="none" cap="none" strike="noStrike"/>
          </a:p>
        </p:txBody>
      </p:sp>
      <p:sp>
        <p:nvSpPr>
          <p:cNvPr id="391" name="Google Shape;391;p38"/>
          <p:cNvSpPr/>
          <p:nvPr/>
        </p:nvSpPr>
        <p:spPr>
          <a:xfrm>
            <a:off x="7439144" y="6829068"/>
            <a:ext cx="6397466" cy="317540"/>
          </a:xfrm>
          <a:prstGeom prst="rect">
            <a:avLst/>
          </a:prstGeom>
          <a:noFill/>
          <a:ln>
            <a:noFill/>
          </a:ln>
        </p:spPr>
        <p:txBody>
          <a:bodyPr anchorCtr="0" anchor="t" bIns="0" lIns="0" spcFirstLastPara="1" rIns="0" wrap="square" tIns="0">
            <a:noAutofit/>
          </a:bodyPr>
          <a:lstStyle/>
          <a:p>
            <a:pPr indent="0" lvl="0" marL="0" marR="0" rtl="1" algn="l">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לומד ממאגרי נתונים בעשרות שפות ומעודכן על ידי מומחי שפה של Google</a:t>
            </a:r>
            <a:endParaRPr b="0" i="0" sz="1550" u="none" cap="none" strike="noStrike"/>
          </a:p>
        </p:txBody>
      </p:sp>
      <p:sp>
        <p:nvSpPr>
          <p:cNvPr id="392" name="Google Shape;392;p38"/>
          <p:cNvSpPr/>
          <p:nvPr/>
        </p:nvSpPr>
        <p:spPr>
          <a:xfrm>
            <a:off x="793790" y="7369850"/>
            <a:ext cx="13042821" cy="317540"/>
          </a:xfrm>
          <a:prstGeom prst="rect">
            <a:avLst/>
          </a:prstGeom>
          <a:noFill/>
          <a:ln>
            <a:noFill/>
          </a:ln>
        </p:spPr>
        <p:txBody>
          <a:bodyPr anchorCtr="0" anchor="t" bIns="0" lIns="0" spcFirstLastPara="1" rIns="0" wrap="square" tIns="0">
            <a:noAutofit/>
          </a:bodyPr>
          <a:lstStyle/>
          <a:p>
            <a:pPr indent="0" lvl="0" marL="0" marR="0" rtl="0" algn="r">
              <a:lnSpc>
                <a:spcPct val="161290"/>
              </a:lnSpc>
              <a:spcBef>
                <a:spcPts val="0"/>
              </a:spcBef>
              <a:spcAft>
                <a:spcPts val="0"/>
              </a:spcAft>
              <a:buSzPts val="1550"/>
              <a:buFont typeface="Arial"/>
              <a:buNone/>
            </a:pPr>
            <a:r>
              <a:t/>
            </a:r>
            <a:endParaRPr b="0" i="0" sz="1550" u="none" cap="none" strike="noStrike"/>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9"/>
          <p:cNvSpPr/>
          <p:nvPr/>
        </p:nvSpPr>
        <p:spPr>
          <a:xfrm>
            <a:off x="6152317" y="797243"/>
            <a:ext cx="7684294" cy="589121"/>
          </a:xfrm>
          <a:prstGeom prst="rect">
            <a:avLst/>
          </a:prstGeom>
          <a:noFill/>
          <a:ln>
            <a:noFill/>
          </a:ln>
        </p:spPr>
        <p:txBody>
          <a:bodyPr anchorCtr="0" anchor="t" bIns="0" lIns="0" spcFirstLastPara="1" rIns="0" wrap="square" tIns="0">
            <a:noAutofit/>
          </a:bodyPr>
          <a:lstStyle/>
          <a:p>
            <a:pPr indent="0" lvl="0" marL="0" marR="0" rtl="1" algn="r">
              <a:lnSpc>
                <a:spcPct val="124324"/>
              </a:lnSpc>
              <a:spcBef>
                <a:spcPts val="0"/>
              </a:spcBef>
              <a:spcAft>
                <a:spcPts val="0"/>
              </a:spcAft>
              <a:buClr>
                <a:srgbClr val="D75BE2"/>
              </a:buClr>
              <a:buSzPts val="3700"/>
              <a:buFont typeface="Rubik"/>
              <a:buNone/>
            </a:pPr>
            <a:r>
              <a:rPr b="0" i="0" lang="en-US" sz="3700" u="none" cap="none" strike="noStrike">
                <a:solidFill>
                  <a:srgbClr val="D75BE2"/>
                </a:solidFill>
                <a:latin typeface="Rubik"/>
                <a:ea typeface="Rubik"/>
                <a:cs typeface="Rubik"/>
                <a:sym typeface="Rubik"/>
              </a:rPr>
              <a:t>דוגמה: מציאת טיסה לאיטליה בספטמבר</a:t>
            </a:r>
            <a:endParaRPr b="0" i="0" sz="3700" u="none" cap="none" strike="noStrike"/>
          </a:p>
        </p:txBody>
      </p:sp>
      <p:sp>
        <p:nvSpPr>
          <p:cNvPr id="399" name="Google Shape;399;p39"/>
          <p:cNvSpPr/>
          <p:nvPr/>
        </p:nvSpPr>
        <p:spPr>
          <a:xfrm>
            <a:off x="8749382" y="1654975"/>
            <a:ext cx="5087100" cy="294300"/>
          </a:xfrm>
          <a:prstGeom prst="rect">
            <a:avLst/>
          </a:prstGeom>
          <a:noFill/>
          <a:ln>
            <a:noFill/>
          </a:ln>
        </p:spPr>
        <p:txBody>
          <a:bodyPr anchorCtr="0" anchor="t" bIns="0" lIns="0" spcFirstLastPara="1" rIns="0" wrap="square" tIns="0">
            <a:noAutofit/>
          </a:bodyPr>
          <a:lstStyle/>
          <a:p>
            <a:pPr indent="0" lvl="0" marL="0" marR="0" rtl="1" algn="r">
              <a:lnSpc>
                <a:spcPct val="158620"/>
              </a:lnSpc>
              <a:spcBef>
                <a:spcPts val="0"/>
              </a:spcBef>
              <a:spcAft>
                <a:spcPts val="0"/>
              </a:spcAft>
              <a:buClr>
                <a:srgbClr val="272525"/>
              </a:buClr>
              <a:buSzPts val="1450"/>
              <a:buFont typeface="Open Sans"/>
              <a:buNone/>
            </a:pPr>
            <a:r>
              <a:rPr b="0" i="0" lang="en-US" sz="1450" u="none" cap="none" strike="noStrike">
                <a:solidFill>
                  <a:srgbClr val="272525"/>
                </a:solidFill>
                <a:latin typeface="Open Sans"/>
                <a:ea typeface="Open Sans"/>
                <a:cs typeface="Open Sans"/>
                <a:sym typeface="Open Sans"/>
              </a:rPr>
              <a:t>בדוגמה זו, Gemini מחפש טיסות בזמן אמת דרך Google Flights — כל שנדרש הוא לשאול בשפה טבעית. המערכת מבינה את הכוונה ומחזירה תוצאות רלוונטיות ישירות בשיחה.</a:t>
            </a:r>
            <a:endParaRPr b="0" i="0" sz="1450" u="none" cap="none" strike="noStrike"/>
          </a:p>
        </p:txBody>
      </p:sp>
      <p:pic>
        <p:nvPicPr>
          <p:cNvPr descr="preencoded.png" id="400" name="Google Shape;400;p39"/>
          <p:cNvPicPr preferRelativeResize="0"/>
          <p:nvPr/>
        </p:nvPicPr>
        <p:blipFill rotWithShape="1">
          <a:blip r:embed="rId3">
            <a:alphaModFix/>
          </a:blip>
          <a:srcRect b="0" l="0" r="0" t="0"/>
          <a:stretch/>
        </p:blipFill>
        <p:spPr>
          <a:xfrm>
            <a:off x="562800" y="1761425"/>
            <a:ext cx="7220325" cy="51367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5" name="Shape 405"/>
        <p:cNvGrpSpPr/>
        <p:nvPr/>
      </p:nvGrpSpPr>
      <p:grpSpPr>
        <a:xfrm>
          <a:off x="0" y="0"/>
          <a:ext cx="0" cy="0"/>
          <a:chOff x="0" y="0"/>
          <a:chExt cx="0" cy="0"/>
        </a:xfrm>
      </p:grpSpPr>
      <p:sp>
        <p:nvSpPr>
          <p:cNvPr id="406" name="Google Shape;406;p40"/>
          <p:cNvSpPr/>
          <p:nvPr/>
        </p:nvSpPr>
        <p:spPr>
          <a:xfrm>
            <a:off x="6482001" y="772597"/>
            <a:ext cx="7354610" cy="527090"/>
          </a:xfrm>
          <a:prstGeom prst="rect">
            <a:avLst/>
          </a:prstGeom>
          <a:noFill/>
          <a:ln>
            <a:noFill/>
          </a:ln>
        </p:spPr>
        <p:txBody>
          <a:bodyPr anchorCtr="0" anchor="t" bIns="0" lIns="0" spcFirstLastPara="1" rIns="0" wrap="square" tIns="0">
            <a:noAutofit/>
          </a:bodyPr>
          <a:lstStyle/>
          <a:p>
            <a:pPr indent="0" lvl="0" marL="0" marR="0" rtl="1" algn="r">
              <a:lnSpc>
                <a:spcPct val="125757"/>
              </a:lnSpc>
              <a:spcBef>
                <a:spcPts val="0"/>
              </a:spcBef>
              <a:spcAft>
                <a:spcPts val="0"/>
              </a:spcAft>
              <a:buClr>
                <a:srgbClr val="D75BE2"/>
              </a:buClr>
              <a:buSzPts val="3300"/>
              <a:buFont typeface="Rubik"/>
              <a:buNone/>
            </a:pPr>
            <a:r>
              <a:rPr b="0" i="0" lang="en-US" sz="3300" u="none" cap="none" strike="noStrike">
                <a:solidFill>
                  <a:srgbClr val="D75BE2"/>
                </a:solidFill>
                <a:latin typeface="Rubik"/>
                <a:ea typeface="Rubik"/>
                <a:cs typeface="Rubik"/>
                <a:sym typeface="Rubik"/>
              </a:rPr>
              <a:t>4. האקו-סיסטם של ג'מיני (Integrations)</a:t>
            </a:r>
            <a:endParaRPr b="0" i="0" sz="3300" u="none" cap="none" strike="noStrike"/>
          </a:p>
        </p:txBody>
      </p:sp>
      <p:sp>
        <p:nvSpPr>
          <p:cNvPr id="407" name="Google Shape;407;p40"/>
          <p:cNvSpPr/>
          <p:nvPr/>
        </p:nvSpPr>
        <p:spPr>
          <a:xfrm>
            <a:off x="793790" y="1586389"/>
            <a:ext cx="13042821" cy="249674"/>
          </a:xfrm>
          <a:prstGeom prst="rect">
            <a:avLst/>
          </a:prstGeom>
          <a:noFill/>
          <a:ln>
            <a:noFill/>
          </a:ln>
        </p:spPr>
        <p:txBody>
          <a:bodyPr anchorCtr="0" anchor="t" bIns="0" lIns="0" spcFirstLastPara="1" rIns="0" wrap="square" tIns="0">
            <a:noAutofit/>
          </a:bodyPr>
          <a:lstStyle/>
          <a:p>
            <a:pPr indent="0" lvl="0" marL="0" marR="0" rtl="1" algn="r">
              <a:lnSpc>
                <a:spcPct val="150000"/>
              </a:lnSpc>
              <a:spcBef>
                <a:spcPts val="0"/>
              </a:spcBef>
              <a:spcAft>
                <a:spcPts val="0"/>
              </a:spcAft>
              <a:buClr>
                <a:srgbClr val="272525"/>
              </a:buClr>
              <a:buSzPts val="1300"/>
              <a:buFont typeface="Open Sans"/>
              <a:buNone/>
            </a:pPr>
            <a:r>
              <a:rPr b="0" i="0" lang="en-US" sz="1300" u="none" cap="none" strike="noStrike">
                <a:solidFill>
                  <a:srgbClr val="272525"/>
                </a:solidFill>
                <a:latin typeface="Open Sans"/>
                <a:ea typeface="Open Sans"/>
                <a:cs typeface="Open Sans"/>
                <a:sym typeface="Open Sans"/>
              </a:rPr>
              <a:t>Gemini משתלב עמוקות בתוך Google Workspace, ומאפשר אוטומציה, ניתוח נתונים, ויצירת תוכן חכמה ישירות ביישומים המוכרים שבהם אתם עובדים מדי יום, ללא צורך במעבר בין פלטפורמות.</a:t>
            </a:r>
            <a:endParaRPr b="0" i="0" sz="1300" u="none" cap="none" strike="noStrike"/>
          </a:p>
        </p:txBody>
      </p:sp>
      <p:pic>
        <p:nvPicPr>
          <p:cNvPr descr="preencoded.png" id="408" name="Google Shape;408;p40"/>
          <p:cNvPicPr preferRelativeResize="0"/>
          <p:nvPr/>
        </p:nvPicPr>
        <p:blipFill rotWithShape="1">
          <a:blip r:embed="rId3">
            <a:alphaModFix/>
          </a:blip>
          <a:srcRect b="0" l="0" r="0" t="0"/>
          <a:stretch/>
        </p:blipFill>
        <p:spPr>
          <a:xfrm>
            <a:off x="793790" y="2179558"/>
            <a:ext cx="168593" cy="168593"/>
          </a:xfrm>
          <a:prstGeom prst="rect">
            <a:avLst/>
          </a:prstGeom>
          <a:noFill/>
          <a:ln>
            <a:noFill/>
          </a:ln>
        </p:spPr>
      </p:pic>
      <p:sp>
        <p:nvSpPr>
          <p:cNvPr id="409" name="Google Shape;409;p40"/>
          <p:cNvSpPr/>
          <p:nvPr/>
        </p:nvSpPr>
        <p:spPr>
          <a:xfrm>
            <a:off x="793790" y="2422327"/>
            <a:ext cx="7661077" cy="22860"/>
          </a:xfrm>
          <a:prstGeom prst="rect">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40"/>
          <p:cNvSpPr/>
          <p:nvPr/>
        </p:nvSpPr>
        <p:spPr>
          <a:xfrm>
            <a:off x="793790" y="2552343"/>
            <a:ext cx="2108716" cy="263485"/>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272525"/>
              </a:buClr>
              <a:buSzPts val="1650"/>
              <a:buFont typeface="Rubik"/>
              <a:buNone/>
            </a:pPr>
            <a:r>
              <a:rPr b="0" i="0" lang="en-US" sz="1650" u="none" cap="none" strike="noStrike">
                <a:solidFill>
                  <a:srgbClr val="272525"/>
                </a:solidFill>
                <a:latin typeface="Rubik"/>
                <a:ea typeface="Rubik"/>
                <a:cs typeface="Rubik"/>
                <a:sym typeface="Rubik"/>
              </a:rPr>
              <a:t>Google Drive</a:t>
            </a:r>
            <a:endParaRPr b="0" i="0" sz="1650" u="none" cap="none" strike="noStrike"/>
          </a:p>
        </p:txBody>
      </p:sp>
      <p:sp>
        <p:nvSpPr>
          <p:cNvPr id="411" name="Google Shape;411;p40"/>
          <p:cNvSpPr/>
          <p:nvPr/>
        </p:nvSpPr>
        <p:spPr>
          <a:xfrm>
            <a:off x="793790" y="2959179"/>
            <a:ext cx="7661077" cy="249674"/>
          </a:xfrm>
          <a:prstGeom prst="rect">
            <a:avLst/>
          </a:prstGeom>
          <a:noFill/>
          <a:ln>
            <a:noFill/>
          </a:ln>
        </p:spPr>
        <p:txBody>
          <a:bodyPr anchorCtr="0" anchor="t" bIns="0" lIns="0" spcFirstLastPara="1" rIns="0" wrap="square" tIns="0">
            <a:noAutofit/>
          </a:bodyPr>
          <a:lstStyle/>
          <a:p>
            <a:pPr indent="0" lvl="0" marL="0" marR="0" rtl="1" algn="r">
              <a:lnSpc>
                <a:spcPct val="150000"/>
              </a:lnSpc>
              <a:spcBef>
                <a:spcPts val="0"/>
              </a:spcBef>
              <a:spcAft>
                <a:spcPts val="0"/>
              </a:spcAft>
              <a:buClr>
                <a:srgbClr val="272525"/>
              </a:buClr>
              <a:buSzPts val="1300"/>
              <a:buFont typeface="Open Sans"/>
              <a:buNone/>
            </a:pPr>
            <a:r>
              <a:rPr b="0" i="0" lang="en-US" sz="1300" u="none" cap="none" strike="noStrike">
                <a:solidFill>
                  <a:srgbClr val="272525"/>
                </a:solidFill>
                <a:latin typeface="Open Sans"/>
                <a:ea typeface="Open Sans"/>
                <a:cs typeface="Open Sans"/>
                <a:sym typeface="Open Sans"/>
              </a:rPr>
              <a:t>איתור מסמכים מהיר, סיכום תוכן של קבצים מורכבים, וארגון אוטומטי של תיקיות וקבצים.</a:t>
            </a:r>
            <a:endParaRPr b="0" i="0" sz="1300" u="none" cap="none" strike="noStrike"/>
          </a:p>
        </p:txBody>
      </p:sp>
      <p:pic>
        <p:nvPicPr>
          <p:cNvPr descr="preencoded.png" id="412" name="Google Shape;412;p40"/>
          <p:cNvPicPr preferRelativeResize="0"/>
          <p:nvPr/>
        </p:nvPicPr>
        <p:blipFill rotWithShape="1">
          <a:blip r:embed="rId4">
            <a:alphaModFix/>
          </a:blip>
          <a:srcRect b="0" l="0" r="0" t="0"/>
          <a:stretch/>
        </p:blipFill>
        <p:spPr>
          <a:xfrm>
            <a:off x="793790" y="3499723"/>
            <a:ext cx="168593" cy="168593"/>
          </a:xfrm>
          <a:prstGeom prst="rect">
            <a:avLst/>
          </a:prstGeom>
          <a:noFill/>
          <a:ln>
            <a:noFill/>
          </a:ln>
        </p:spPr>
      </p:pic>
      <p:sp>
        <p:nvSpPr>
          <p:cNvPr id="413" name="Google Shape;413;p40"/>
          <p:cNvSpPr/>
          <p:nvPr/>
        </p:nvSpPr>
        <p:spPr>
          <a:xfrm>
            <a:off x="793790" y="3742492"/>
            <a:ext cx="7661077" cy="22860"/>
          </a:xfrm>
          <a:prstGeom prst="rect">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40"/>
          <p:cNvSpPr/>
          <p:nvPr/>
        </p:nvSpPr>
        <p:spPr>
          <a:xfrm>
            <a:off x="793790" y="3872508"/>
            <a:ext cx="2108716" cy="263485"/>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272525"/>
              </a:buClr>
              <a:buSzPts val="1650"/>
              <a:buFont typeface="Rubik"/>
              <a:buNone/>
            </a:pPr>
            <a:r>
              <a:rPr b="0" i="0" lang="en-US" sz="1650" u="none" cap="none" strike="noStrike">
                <a:solidFill>
                  <a:srgbClr val="272525"/>
                </a:solidFill>
                <a:latin typeface="Rubik"/>
                <a:ea typeface="Rubik"/>
                <a:cs typeface="Rubik"/>
                <a:sym typeface="Rubik"/>
              </a:rPr>
              <a:t>Google Docs</a:t>
            </a:r>
            <a:endParaRPr b="0" i="0" sz="1650" u="none" cap="none" strike="noStrike"/>
          </a:p>
        </p:txBody>
      </p:sp>
      <p:sp>
        <p:nvSpPr>
          <p:cNvPr id="415" name="Google Shape;415;p40"/>
          <p:cNvSpPr/>
          <p:nvPr/>
        </p:nvSpPr>
        <p:spPr>
          <a:xfrm>
            <a:off x="793790" y="4279344"/>
            <a:ext cx="7661077" cy="249674"/>
          </a:xfrm>
          <a:prstGeom prst="rect">
            <a:avLst/>
          </a:prstGeom>
          <a:noFill/>
          <a:ln>
            <a:noFill/>
          </a:ln>
        </p:spPr>
        <p:txBody>
          <a:bodyPr anchorCtr="0" anchor="t" bIns="0" lIns="0" spcFirstLastPara="1" rIns="0" wrap="square" tIns="0">
            <a:noAutofit/>
          </a:bodyPr>
          <a:lstStyle/>
          <a:p>
            <a:pPr indent="0" lvl="0" marL="0" marR="0" rtl="1" algn="r">
              <a:lnSpc>
                <a:spcPct val="150000"/>
              </a:lnSpc>
              <a:spcBef>
                <a:spcPts val="0"/>
              </a:spcBef>
              <a:spcAft>
                <a:spcPts val="0"/>
              </a:spcAft>
              <a:buClr>
                <a:srgbClr val="272525"/>
              </a:buClr>
              <a:buSzPts val="1300"/>
              <a:buFont typeface="Open Sans"/>
              <a:buNone/>
            </a:pPr>
            <a:r>
              <a:rPr b="0" i="0" lang="en-US" sz="1300" u="none" cap="none" strike="noStrike">
                <a:solidFill>
                  <a:srgbClr val="272525"/>
                </a:solidFill>
                <a:latin typeface="Open Sans"/>
                <a:ea typeface="Open Sans"/>
                <a:cs typeface="Open Sans"/>
                <a:sym typeface="Open Sans"/>
              </a:rPr>
              <a:t>כתיבת טיוטות למסמכים, שיפור ניסוחים והגהה, סיכום מסמכים ארוכים והצעת נקודות עיקריות.</a:t>
            </a:r>
            <a:endParaRPr b="0" i="0" sz="1300" u="none" cap="none" strike="noStrike"/>
          </a:p>
        </p:txBody>
      </p:sp>
      <p:pic>
        <p:nvPicPr>
          <p:cNvPr descr="preencoded.png" id="416" name="Google Shape;416;p40"/>
          <p:cNvPicPr preferRelativeResize="0"/>
          <p:nvPr/>
        </p:nvPicPr>
        <p:blipFill rotWithShape="1">
          <a:blip r:embed="rId5">
            <a:alphaModFix/>
          </a:blip>
          <a:srcRect b="0" l="0" r="0" t="0"/>
          <a:stretch/>
        </p:blipFill>
        <p:spPr>
          <a:xfrm>
            <a:off x="793790" y="4819888"/>
            <a:ext cx="168593" cy="168593"/>
          </a:xfrm>
          <a:prstGeom prst="rect">
            <a:avLst/>
          </a:prstGeom>
          <a:noFill/>
          <a:ln>
            <a:noFill/>
          </a:ln>
        </p:spPr>
      </p:pic>
      <p:sp>
        <p:nvSpPr>
          <p:cNvPr id="417" name="Google Shape;417;p40"/>
          <p:cNvSpPr/>
          <p:nvPr/>
        </p:nvSpPr>
        <p:spPr>
          <a:xfrm>
            <a:off x="793790" y="5062657"/>
            <a:ext cx="7661077" cy="22860"/>
          </a:xfrm>
          <a:prstGeom prst="rect">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0"/>
          <p:cNvSpPr/>
          <p:nvPr/>
        </p:nvSpPr>
        <p:spPr>
          <a:xfrm>
            <a:off x="793790" y="5192673"/>
            <a:ext cx="2108716" cy="263485"/>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272525"/>
              </a:buClr>
              <a:buSzPts val="1650"/>
              <a:buFont typeface="Rubik"/>
              <a:buNone/>
            </a:pPr>
            <a:r>
              <a:rPr b="0" i="0" lang="en-US" sz="1650" u="none" cap="none" strike="noStrike">
                <a:solidFill>
                  <a:srgbClr val="272525"/>
                </a:solidFill>
                <a:latin typeface="Rubik"/>
                <a:ea typeface="Rubik"/>
                <a:cs typeface="Rubik"/>
                <a:sym typeface="Rubik"/>
              </a:rPr>
              <a:t>Gmail</a:t>
            </a:r>
            <a:endParaRPr b="0" i="0" sz="1650" u="none" cap="none" strike="noStrike"/>
          </a:p>
        </p:txBody>
      </p:sp>
      <p:sp>
        <p:nvSpPr>
          <p:cNvPr id="419" name="Google Shape;419;p40"/>
          <p:cNvSpPr/>
          <p:nvPr/>
        </p:nvSpPr>
        <p:spPr>
          <a:xfrm>
            <a:off x="793790" y="5599509"/>
            <a:ext cx="7661077" cy="249674"/>
          </a:xfrm>
          <a:prstGeom prst="rect">
            <a:avLst/>
          </a:prstGeom>
          <a:noFill/>
          <a:ln>
            <a:noFill/>
          </a:ln>
        </p:spPr>
        <p:txBody>
          <a:bodyPr anchorCtr="0" anchor="t" bIns="0" lIns="0" spcFirstLastPara="1" rIns="0" wrap="square" tIns="0">
            <a:noAutofit/>
          </a:bodyPr>
          <a:lstStyle/>
          <a:p>
            <a:pPr indent="0" lvl="0" marL="0" marR="0" rtl="1" algn="r">
              <a:lnSpc>
                <a:spcPct val="150000"/>
              </a:lnSpc>
              <a:spcBef>
                <a:spcPts val="0"/>
              </a:spcBef>
              <a:spcAft>
                <a:spcPts val="0"/>
              </a:spcAft>
              <a:buClr>
                <a:srgbClr val="272525"/>
              </a:buClr>
              <a:buSzPts val="1300"/>
              <a:buFont typeface="Open Sans"/>
              <a:buNone/>
            </a:pPr>
            <a:r>
              <a:rPr b="0" i="0" lang="en-US" sz="1300" u="none" cap="none" strike="noStrike">
                <a:solidFill>
                  <a:srgbClr val="272525"/>
                </a:solidFill>
                <a:latin typeface="Open Sans"/>
                <a:ea typeface="Open Sans"/>
                <a:cs typeface="Open Sans"/>
                <a:sym typeface="Open Sans"/>
              </a:rPr>
              <a:t>ניסוח מיילים מקצועיים, מתן מענה אוטומטי חכם, וסיכום שרשורי התכתבות ארוכים.</a:t>
            </a:r>
            <a:endParaRPr b="0" i="0" sz="1300" u="none" cap="none" strike="noStrike"/>
          </a:p>
        </p:txBody>
      </p:sp>
      <p:pic>
        <p:nvPicPr>
          <p:cNvPr descr="preencoded.png" id="420" name="Google Shape;420;p40"/>
          <p:cNvPicPr preferRelativeResize="0"/>
          <p:nvPr/>
        </p:nvPicPr>
        <p:blipFill rotWithShape="1">
          <a:blip r:embed="rId6">
            <a:alphaModFix/>
          </a:blip>
          <a:srcRect b="0" l="0" r="0" t="0"/>
          <a:stretch/>
        </p:blipFill>
        <p:spPr>
          <a:xfrm>
            <a:off x="793790" y="6140053"/>
            <a:ext cx="168593" cy="168593"/>
          </a:xfrm>
          <a:prstGeom prst="rect">
            <a:avLst/>
          </a:prstGeom>
          <a:noFill/>
          <a:ln>
            <a:noFill/>
          </a:ln>
        </p:spPr>
      </p:pic>
      <p:sp>
        <p:nvSpPr>
          <p:cNvPr id="421" name="Google Shape;421;p40"/>
          <p:cNvSpPr/>
          <p:nvPr/>
        </p:nvSpPr>
        <p:spPr>
          <a:xfrm>
            <a:off x="793790" y="6382822"/>
            <a:ext cx="7661077" cy="22860"/>
          </a:xfrm>
          <a:prstGeom prst="rect">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40"/>
          <p:cNvSpPr/>
          <p:nvPr/>
        </p:nvSpPr>
        <p:spPr>
          <a:xfrm>
            <a:off x="793790" y="6512838"/>
            <a:ext cx="2108716" cy="263485"/>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272525"/>
              </a:buClr>
              <a:buSzPts val="1650"/>
              <a:buFont typeface="Rubik"/>
              <a:buNone/>
            </a:pPr>
            <a:r>
              <a:rPr b="0" i="0" lang="en-US" sz="1650" u="none" cap="none" strike="noStrike">
                <a:solidFill>
                  <a:srgbClr val="272525"/>
                </a:solidFill>
                <a:latin typeface="Rubik"/>
                <a:ea typeface="Rubik"/>
                <a:cs typeface="Rubik"/>
                <a:sym typeface="Rubik"/>
              </a:rPr>
              <a:t>Google Sheets</a:t>
            </a:r>
            <a:endParaRPr b="0" i="0" sz="1650" u="none" cap="none" strike="noStrike"/>
          </a:p>
        </p:txBody>
      </p:sp>
      <p:sp>
        <p:nvSpPr>
          <p:cNvPr id="423" name="Google Shape;423;p40"/>
          <p:cNvSpPr/>
          <p:nvPr/>
        </p:nvSpPr>
        <p:spPr>
          <a:xfrm>
            <a:off x="793790" y="6919674"/>
            <a:ext cx="7661077" cy="249674"/>
          </a:xfrm>
          <a:prstGeom prst="rect">
            <a:avLst/>
          </a:prstGeom>
          <a:noFill/>
          <a:ln>
            <a:noFill/>
          </a:ln>
        </p:spPr>
        <p:txBody>
          <a:bodyPr anchorCtr="0" anchor="t" bIns="0" lIns="0" spcFirstLastPara="1" rIns="0" wrap="square" tIns="0">
            <a:noAutofit/>
          </a:bodyPr>
          <a:lstStyle/>
          <a:p>
            <a:pPr indent="0" lvl="0" marL="0" marR="0" rtl="1" algn="r">
              <a:lnSpc>
                <a:spcPct val="150000"/>
              </a:lnSpc>
              <a:spcBef>
                <a:spcPts val="0"/>
              </a:spcBef>
              <a:spcAft>
                <a:spcPts val="0"/>
              </a:spcAft>
              <a:buClr>
                <a:srgbClr val="272525"/>
              </a:buClr>
              <a:buSzPts val="1300"/>
              <a:buFont typeface="Open Sans"/>
              <a:buNone/>
            </a:pPr>
            <a:r>
              <a:rPr b="0" i="0" lang="en-US" sz="1300" u="none" cap="none" strike="noStrike">
                <a:solidFill>
                  <a:srgbClr val="272525"/>
                </a:solidFill>
                <a:latin typeface="Open Sans"/>
                <a:ea typeface="Open Sans"/>
                <a:cs typeface="Open Sans"/>
                <a:sym typeface="Open Sans"/>
              </a:rPr>
              <a:t>ניתוח נתונים מורכבים, יצירת נוסחאות אוטומטיות, והפקת תובנות וגרפים ויזואליים ממידע גולמי.</a:t>
            </a:r>
            <a:endParaRPr b="0" i="0" sz="1300" u="none" cap="none" strike="noStrike"/>
          </a:p>
        </p:txBody>
      </p:sp>
      <p:pic>
        <p:nvPicPr>
          <p:cNvPr descr="preencoded.png" id="424" name="Google Shape;424;p40"/>
          <p:cNvPicPr preferRelativeResize="0"/>
          <p:nvPr/>
        </p:nvPicPr>
        <p:blipFill rotWithShape="1">
          <a:blip r:embed="rId7">
            <a:alphaModFix/>
          </a:blip>
          <a:srcRect b="0" l="0" r="0" t="0"/>
          <a:stretch/>
        </p:blipFill>
        <p:spPr>
          <a:xfrm>
            <a:off x="9619536" y="2158484"/>
            <a:ext cx="4224576" cy="42245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41"/>
          <p:cNvSpPr/>
          <p:nvPr/>
        </p:nvSpPr>
        <p:spPr>
          <a:xfrm>
            <a:off x="793790" y="1273373"/>
            <a:ext cx="4961811"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5. Google AI Studio</a:t>
            </a:r>
            <a:endParaRPr b="0" i="0" sz="3900" u="none" cap="none" strike="noStrike"/>
          </a:p>
        </p:txBody>
      </p:sp>
      <p:sp>
        <p:nvSpPr>
          <p:cNvPr id="431" name="Google Shape;431;p41"/>
          <p:cNvSpPr/>
          <p:nvPr/>
        </p:nvSpPr>
        <p:spPr>
          <a:xfrm>
            <a:off x="793790" y="2290286"/>
            <a:ext cx="13042821" cy="63507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Google AI Studio הוא ממשק המשתמש הרשמי של Google לחקירת מודלי ה-AI השונים — טקסט, תמונות, קוד ועוד. כל מי שיש לו חשבון Google יכול להתנסות בחינם, כולל דגמים חדשים שאינם בהכרח זמינים בגרסה הרגילה של Gemini.</a:t>
            </a:r>
            <a:endParaRPr b="0" i="0" sz="1550" u="none" cap="none" strike="noStrike"/>
          </a:p>
        </p:txBody>
      </p:sp>
      <p:sp>
        <p:nvSpPr>
          <p:cNvPr id="432" name="Google Shape;432;p41"/>
          <p:cNvSpPr/>
          <p:nvPr/>
        </p:nvSpPr>
        <p:spPr>
          <a:xfrm>
            <a:off x="650915" y="3148608"/>
            <a:ext cx="6565106" cy="3266718"/>
          </a:xfrm>
          <a:prstGeom prst="roundRect">
            <a:avLst>
              <a:gd fmla="val 4374"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41"/>
          <p:cNvSpPr/>
          <p:nvPr/>
        </p:nvSpPr>
        <p:spPr>
          <a:xfrm>
            <a:off x="4536758" y="3346966"/>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000000"/>
              </a:buClr>
              <a:buSzPts val="1950"/>
              <a:buFont typeface="Rubik Medium"/>
              <a:buNone/>
            </a:pPr>
            <a:r>
              <a:rPr b="0" i="0" lang="en-US" sz="1950" u="none" cap="none" strike="noStrike">
                <a:solidFill>
                  <a:srgbClr val="000000"/>
                </a:solidFill>
                <a:latin typeface="Rubik Medium"/>
                <a:ea typeface="Rubik Medium"/>
                <a:cs typeface="Rubik Medium"/>
                <a:sym typeface="Rubik Medium"/>
              </a:rPr>
              <a:t>למי זה מתאים?</a:t>
            </a:r>
            <a:endParaRPr b="0" i="0" sz="1950" u="none" cap="none" strike="noStrike"/>
          </a:p>
        </p:txBody>
      </p:sp>
      <p:sp>
        <p:nvSpPr>
          <p:cNvPr id="434" name="Google Shape;434;p41"/>
          <p:cNvSpPr/>
          <p:nvPr/>
        </p:nvSpPr>
        <p:spPr>
          <a:xfrm>
            <a:off x="849273" y="3855482"/>
            <a:ext cx="6168390" cy="1478399"/>
          </a:xfrm>
          <a:prstGeom prst="rect">
            <a:avLst/>
          </a:prstGeom>
          <a:noFill/>
          <a:ln>
            <a:noFill/>
          </a:ln>
        </p:spPr>
        <p:txBody>
          <a:bodyPr anchorCtr="0" anchor="t" bIns="0" lIns="0" spcFirstLastPara="1" rIns="0" wrap="square" tIns="0">
            <a:noAutofit/>
          </a:bodyPr>
          <a:lstStyle/>
          <a:p>
            <a:pPr indent="-342900" lvl="0" marL="342900" marR="0" rtl="1" algn="r">
              <a:lnSpc>
                <a:spcPct val="161290"/>
              </a:lnSpc>
              <a:spcBef>
                <a:spcPts val="0"/>
              </a:spcBef>
              <a:spcAft>
                <a:spcPts val="0"/>
              </a:spcAft>
              <a:buClr>
                <a:srgbClr val="000000"/>
              </a:buClr>
              <a:buSzPts val="1550"/>
              <a:buFont typeface="Open Sans"/>
              <a:buChar char="•"/>
            </a:pPr>
            <a:r>
              <a:rPr b="0" i="0" lang="en-US" sz="1550" u="none" cap="none" strike="noStrike">
                <a:solidFill>
                  <a:srgbClr val="000000"/>
                </a:solidFill>
                <a:latin typeface="Open Sans"/>
                <a:ea typeface="Open Sans"/>
                <a:cs typeface="Open Sans"/>
                <a:sym typeface="Open Sans"/>
              </a:rPr>
              <a:t>מפתחים המעוניינים בגישה ל-API</a:t>
            </a:r>
            <a:endParaRPr b="0" i="0" sz="1550" u="none" cap="none" strike="noStrike"/>
          </a:p>
          <a:p>
            <a:pPr indent="-342900" lvl="0" marL="342900" marR="0" rtl="1" algn="r">
              <a:lnSpc>
                <a:spcPct val="161290"/>
              </a:lnSpc>
              <a:spcBef>
                <a:spcPts val="0"/>
              </a:spcBef>
              <a:spcAft>
                <a:spcPts val="0"/>
              </a:spcAft>
              <a:buClr>
                <a:srgbClr val="000000"/>
              </a:buClr>
              <a:buSzPts val="1550"/>
              <a:buFont typeface="Open Sans"/>
              <a:buChar char="•"/>
            </a:pPr>
            <a:r>
              <a:rPr b="0" i="0" lang="en-US" sz="1550" u="none" cap="none" strike="noStrike">
                <a:solidFill>
                  <a:srgbClr val="000000"/>
                </a:solidFill>
                <a:latin typeface="Open Sans"/>
                <a:ea typeface="Open Sans"/>
                <a:cs typeface="Open Sans"/>
                <a:sym typeface="Open Sans"/>
              </a:rPr>
              <a:t>חוקרים שרוצים לבחון מודלים חדשים</a:t>
            </a:r>
            <a:endParaRPr b="0" i="0" sz="1550" u="none" cap="none" strike="noStrike"/>
          </a:p>
          <a:p>
            <a:pPr indent="-342900" lvl="0" marL="342900" marR="0" rtl="1" algn="r">
              <a:lnSpc>
                <a:spcPct val="161290"/>
              </a:lnSpc>
              <a:spcBef>
                <a:spcPts val="0"/>
              </a:spcBef>
              <a:spcAft>
                <a:spcPts val="0"/>
              </a:spcAft>
              <a:buClr>
                <a:srgbClr val="000000"/>
              </a:buClr>
              <a:buSzPts val="1550"/>
              <a:buFont typeface="Open Sans"/>
              <a:buChar char="•"/>
            </a:pPr>
            <a:r>
              <a:rPr b="0" i="0" lang="en-US" sz="1550" u="none" cap="none" strike="noStrike">
                <a:solidFill>
                  <a:srgbClr val="000000"/>
                </a:solidFill>
                <a:latin typeface="Open Sans"/>
                <a:ea typeface="Open Sans"/>
                <a:cs typeface="Open Sans"/>
                <a:sym typeface="Open Sans"/>
              </a:rPr>
              <a:t>מנהלים טכנולוגיים שרוצים להבין את היכולות</a:t>
            </a:r>
            <a:endParaRPr b="0" i="0" sz="1550" u="none" cap="none" strike="noStrike"/>
          </a:p>
        </p:txBody>
      </p:sp>
      <p:pic>
        <p:nvPicPr>
          <p:cNvPr descr="preencoded.png" id="435" name="Google Shape;435;p41"/>
          <p:cNvPicPr preferRelativeResize="0"/>
          <p:nvPr/>
        </p:nvPicPr>
        <p:blipFill rotWithShape="1">
          <a:blip r:embed="rId3">
            <a:alphaModFix/>
          </a:blip>
          <a:srcRect b="0" l="0" r="0" t="0"/>
          <a:stretch/>
        </p:blipFill>
        <p:spPr>
          <a:xfrm>
            <a:off x="7564874" y="3371850"/>
            <a:ext cx="6279356" cy="2820233"/>
          </a:xfrm>
          <a:prstGeom prst="rect">
            <a:avLst/>
          </a:prstGeom>
          <a:noFill/>
          <a:ln>
            <a:noFill/>
          </a:ln>
        </p:spPr>
      </p:pic>
      <p:sp>
        <p:nvSpPr>
          <p:cNvPr id="436" name="Google Shape;436;p41"/>
          <p:cNvSpPr/>
          <p:nvPr/>
        </p:nvSpPr>
        <p:spPr>
          <a:xfrm>
            <a:off x="793790" y="6638568"/>
            <a:ext cx="13042821" cy="317540"/>
          </a:xfrm>
          <a:prstGeom prst="rect">
            <a:avLst/>
          </a:prstGeom>
          <a:noFill/>
          <a:ln>
            <a:noFill/>
          </a:ln>
        </p:spPr>
        <p:txBody>
          <a:bodyPr anchorCtr="0" anchor="t" bIns="0" lIns="0" spcFirstLastPara="1" rIns="0" wrap="square" tIns="0">
            <a:noAutofit/>
          </a:bodyPr>
          <a:lstStyle/>
          <a:p>
            <a:pPr indent="0" lvl="0" marL="0" marR="0" rtl="0" algn="r">
              <a:lnSpc>
                <a:spcPct val="161290"/>
              </a:lnSpc>
              <a:spcBef>
                <a:spcPts val="0"/>
              </a:spcBef>
              <a:spcAft>
                <a:spcPts val="0"/>
              </a:spcAft>
              <a:buSzPts val="1550"/>
              <a:buFont typeface="Arial"/>
              <a:buNone/>
            </a:pPr>
            <a:r>
              <a:t/>
            </a:r>
            <a:endParaRPr b="0" i="0" sz="1550" u="none" cap="none" strike="noStrike"/>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2"/>
          <p:cNvSpPr/>
          <p:nvPr/>
        </p:nvSpPr>
        <p:spPr>
          <a:xfrm>
            <a:off x="8120063" y="1466969"/>
            <a:ext cx="5716548" cy="620078"/>
          </a:xfrm>
          <a:prstGeom prst="rect">
            <a:avLst/>
          </a:prstGeom>
          <a:noFill/>
          <a:ln>
            <a:noFill/>
          </a:ln>
        </p:spPr>
        <p:txBody>
          <a:bodyPr anchorCtr="0" anchor="t" bIns="0" lIns="0" spcFirstLastPara="1" rIns="0" wrap="square" tIns="0">
            <a:noAutofit/>
          </a:bodyPr>
          <a:lstStyle/>
          <a:p>
            <a:pPr indent="0" lvl="0" marL="0" marR="0" rtl="1" algn="r">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חוזקות מרכזיות של Gemini</a:t>
            </a:r>
            <a:endParaRPr b="0" i="0" sz="3900" u="none" cap="none" strike="noStrike"/>
          </a:p>
        </p:txBody>
      </p:sp>
      <p:sp>
        <p:nvSpPr>
          <p:cNvPr id="443" name="Google Shape;443;p42"/>
          <p:cNvSpPr/>
          <p:nvPr/>
        </p:nvSpPr>
        <p:spPr>
          <a:xfrm>
            <a:off x="793790" y="2483882"/>
            <a:ext cx="13042821" cy="31754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Gemini מציג מספר יתרונות אסטרטגיים ההופכים אותו לכלי AI חזק ורב-גוני במיוחד:</a:t>
            </a:r>
            <a:endParaRPr b="0" i="0" sz="1550" u="none" cap="none" strike="noStrike"/>
          </a:p>
        </p:txBody>
      </p:sp>
      <p:pic>
        <p:nvPicPr>
          <p:cNvPr descr="preencoded.png" id="444" name="Google Shape;444;p42"/>
          <p:cNvPicPr preferRelativeResize="0"/>
          <p:nvPr/>
        </p:nvPicPr>
        <p:blipFill rotWithShape="1">
          <a:blip r:embed="rId3">
            <a:alphaModFix/>
          </a:blip>
          <a:srcRect b="0" l="0" r="0" t="0"/>
          <a:stretch/>
        </p:blipFill>
        <p:spPr>
          <a:xfrm>
            <a:off x="1645626" y="3024664"/>
            <a:ext cx="2425659" cy="2425659"/>
          </a:xfrm>
          <a:prstGeom prst="rect">
            <a:avLst/>
          </a:prstGeom>
          <a:noFill/>
          <a:ln>
            <a:noFill/>
          </a:ln>
        </p:spPr>
      </p:pic>
      <p:sp>
        <p:nvSpPr>
          <p:cNvPr id="445" name="Google Shape;445;p42"/>
          <p:cNvSpPr/>
          <p:nvPr/>
        </p:nvSpPr>
        <p:spPr>
          <a:xfrm>
            <a:off x="1644340" y="5673581"/>
            <a:ext cx="2481000" cy="310200"/>
          </a:xfrm>
          <a:prstGeom prst="rect">
            <a:avLst/>
          </a:prstGeom>
          <a:noFill/>
          <a:ln>
            <a:noFill/>
          </a:ln>
        </p:spPr>
        <p:txBody>
          <a:bodyPr anchorCtr="0" anchor="t" bIns="0" lIns="0" spcFirstLastPara="1" rIns="0" wrap="square" tIns="0">
            <a:noAutofit/>
          </a:bodyPr>
          <a:lstStyle/>
          <a:p>
            <a:pPr indent="0" lvl="0" marL="0" marR="0" rtl="1" algn="ct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Context ארוך במיוחד</a:t>
            </a:r>
            <a:endParaRPr b="0" i="0" sz="1950" u="none" cap="none" strike="noStrike"/>
          </a:p>
        </p:txBody>
      </p:sp>
      <p:sp>
        <p:nvSpPr>
          <p:cNvPr id="446" name="Google Shape;446;p42"/>
          <p:cNvSpPr/>
          <p:nvPr/>
        </p:nvSpPr>
        <p:spPr>
          <a:xfrm>
            <a:off x="793790" y="6127552"/>
            <a:ext cx="4182189" cy="635079"/>
          </a:xfrm>
          <a:prstGeom prst="rect">
            <a:avLst/>
          </a:prstGeom>
          <a:noFill/>
          <a:ln>
            <a:noFill/>
          </a:ln>
        </p:spPr>
        <p:txBody>
          <a:bodyPr anchorCtr="0" anchor="t" bIns="0" lIns="0" spcFirstLastPara="1" rIns="0" wrap="square" tIns="0">
            <a:noAutofit/>
          </a:bodyPr>
          <a:lstStyle/>
          <a:p>
            <a:pPr indent="0" lvl="0" marL="0" marR="0" rtl="1" algn="ct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יכולת עבודה עם כמויות עצומות של מידע לניתוח מעמיק במחקר, משפט ופיתוח תוכנה מורכב.</a:t>
            </a:r>
            <a:endParaRPr b="0" i="0" sz="1550" u="none" cap="none" strike="noStrike"/>
          </a:p>
        </p:txBody>
      </p:sp>
      <p:pic>
        <p:nvPicPr>
          <p:cNvPr descr="preencoded.png" id="447" name="Google Shape;447;p42"/>
          <p:cNvPicPr preferRelativeResize="0"/>
          <p:nvPr/>
        </p:nvPicPr>
        <p:blipFill rotWithShape="1">
          <a:blip r:embed="rId4">
            <a:alphaModFix/>
          </a:blip>
          <a:srcRect b="0" l="0" r="0" t="0"/>
          <a:stretch/>
        </p:blipFill>
        <p:spPr>
          <a:xfrm>
            <a:off x="5902567" y="3024664"/>
            <a:ext cx="2425659" cy="2425659"/>
          </a:xfrm>
          <a:prstGeom prst="rect">
            <a:avLst/>
          </a:prstGeom>
          <a:noFill/>
          <a:ln>
            <a:noFill/>
          </a:ln>
        </p:spPr>
      </p:pic>
      <p:sp>
        <p:nvSpPr>
          <p:cNvPr id="448" name="Google Shape;448;p42"/>
          <p:cNvSpPr/>
          <p:nvPr/>
        </p:nvSpPr>
        <p:spPr>
          <a:xfrm>
            <a:off x="6074636" y="5673581"/>
            <a:ext cx="2481000" cy="310200"/>
          </a:xfrm>
          <a:prstGeom prst="rect">
            <a:avLst/>
          </a:prstGeom>
          <a:noFill/>
          <a:ln>
            <a:noFill/>
          </a:ln>
        </p:spPr>
        <p:txBody>
          <a:bodyPr anchorCtr="0" anchor="t" bIns="0" lIns="0" spcFirstLastPara="1" rIns="0" wrap="square" tIns="0">
            <a:noAutofit/>
          </a:bodyPr>
          <a:lstStyle/>
          <a:p>
            <a:pPr indent="0" lvl="0" marL="0" marR="0" rtl="1" algn="ct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מהירות ויעילות</a:t>
            </a:r>
            <a:endParaRPr b="0" i="0" sz="1950" u="none" cap="none" strike="noStrike"/>
          </a:p>
        </p:txBody>
      </p:sp>
      <p:sp>
        <p:nvSpPr>
          <p:cNvPr id="449" name="Google Shape;449;p42"/>
          <p:cNvSpPr/>
          <p:nvPr/>
        </p:nvSpPr>
        <p:spPr>
          <a:xfrm>
            <a:off x="5223986" y="6127552"/>
            <a:ext cx="4182308" cy="635079"/>
          </a:xfrm>
          <a:prstGeom prst="rect">
            <a:avLst/>
          </a:prstGeom>
          <a:noFill/>
          <a:ln>
            <a:noFill/>
          </a:ln>
        </p:spPr>
        <p:txBody>
          <a:bodyPr anchorCtr="0" anchor="t" bIns="0" lIns="0" spcFirstLastPara="1" rIns="0" wrap="square" tIns="0">
            <a:noAutofit/>
          </a:bodyPr>
          <a:lstStyle/>
          <a:p>
            <a:pPr indent="0" lvl="0" marL="0" marR="0" rtl="1" algn="ct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תגובה מהירה במיוחד (בגרסאות ה-Flash) המאפשרת יישומים ואינטראקציות בזמן אמת.</a:t>
            </a:r>
            <a:endParaRPr b="0" i="0" sz="1550" u="none" cap="none" strike="noStrike"/>
          </a:p>
        </p:txBody>
      </p:sp>
      <p:pic>
        <p:nvPicPr>
          <p:cNvPr descr="preencoded.png" id="450" name="Google Shape;450;p42"/>
          <p:cNvPicPr preferRelativeResize="0"/>
          <p:nvPr/>
        </p:nvPicPr>
        <p:blipFill rotWithShape="1">
          <a:blip r:embed="rId5">
            <a:alphaModFix/>
          </a:blip>
          <a:srcRect b="0" l="0" r="0" t="0"/>
          <a:stretch/>
        </p:blipFill>
        <p:spPr>
          <a:xfrm>
            <a:off x="10506138" y="3024664"/>
            <a:ext cx="2425659" cy="2425659"/>
          </a:xfrm>
          <a:prstGeom prst="rect">
            <a:avLst/>
          </a:prstGeom>
          <a:noFill/>
          <a:ln>
            <a:noFill/>
          </a:ln>
        </p:spPr>
      </p:pic>
      <p:sp>
        <p:nvSpPr>
          <p:cNvPr id="451" name="Google Shape;451;p42"/>
          <p:cNvSpPr/>
          <p:nvPr/>
        </p:nvSpPr>
        <p:spPr>
          <a:xfrm>
            <a:off x="10505002" y="5673581"/>
            <a:ext cx="2481000" cy="310200"/>
          </a:xfrm>
          <a:prstGeom prst="rect">
            <a:avLst/>
          </a:prstGeom>
          <a:noFill/>
          <a:ln>
            <a:noFill/>
          </a:ln>
        </p:spPr>
        <p:txBody>
          <a:bodyPr anchorCtr="0" anchor="t" bIns="0" lIns="0" spcFirstLastPara="1" rIns="0" wrap="square" tIns="0">
            <a:noAutofit/>
          </a:bodyPr>
          <a:lstStyle/>
          <a:p>
            <a:pPr indent="0" lvl="0" marL="0" marR="0" rtl="1" algn="ct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מקורות ואימות</a:t>
            </a:r>
            <a:endParaRPr b="0" i="0" sz="1950" u="none" cap="none" strike="noStrike"/>
          </a:p>
        </p:txBody>
      </p:sp>
      <p:sp>
        <p:nvSpPr>
          <p:cNvPr id="452" name="Google Shape;452;p42"/>
          <p:cNvSpPr/>
          <p:nvPr/>
        </p:nvSpPr>
        <p:spPr>
          <a:xfrm>
            <a:off x="9654302" y="6127552"/>
            <a:ext cx="4182308" cy="635079"/>
          </a:xfrm>
          <a:prstGeom prst="rect">
            <a:avLst/>
          </a:prstGeom>
          <a:noFill/>
          <a:ln>
            <a:noFill/>
          </a:ln>
        </p:spPr>
        <p:txBody>
          <a:bodyPr anchorCtr="0" anchor="t" bIns="0" lIns="0" spcFirstLastPara="1" rIns="0" wrap="square" tIns="0">
            <a:noAutofit/>
          </a:bodyPr>
          <a:lstStyle/>
          <a:p>
            <a:pPr indent="0" lvl="0" marL="0" marR="0" rtl="1" algn="ct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קישוריות מובנית לחיפוש בגוגל המפחיתה הסתמכות על ידע קפוא ומספקת מידע עדכני ומאומת.</a:t>
            </a:r>
            <a:endParaRPr b="0" i="0" sz="1550" u="none" cap="none" strike="noStrike"/>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3"/>
          <p:cNvSpPr/>
          <p:nvPr/>
        </p:nvSpPr>
        <p:spPr>
          <a:xfrm>
            <a:off x="7988141" y="729377"/>
            <a:ext cx="5848469" cy="527090"/>
          </a:xfrm>
          <a:prstGeom prst="rect">
            <a:avLst/>
          </a:prstGeom>
          <a:noFill/>
          <a:ln>
            <a:noFill/>
          </a:ln>
        </p:spPr>
        <p:txBody>
          <a:bodyPr anchorCtr="0" anchor="t" bIns="0" lIns="0" spcFirstLastPara="1" rIns="0" wrap="square" tIns="0">
            <a:noAutofit/>
          </a:bodyPr>
          <a:lstStyle/>
          <a:p>
            <a:pPr indent="0" lvl="0" marL="0" marR="0" rtl="1" algn="r">
              <a:lnSpc>
                <a:spcPct val="125757"/>
              </a:lnSpc>
              <a:spcBef>
                <a:spcPts val="0"/>
              </a:spcBef>
              <a:spcAft>
                <a:spcPts val="0"/>
              </a:spcAft>
              <a:buClr>
                <a:srgbClr val="D75BE2"/>
              </a:buClr>
              <a:buSzPts val="3300"/>
              <a:buFont typeface="Rubik"/>
              <a:buNone/>
            </a:pPr>
            <a:r>
              <a:rPr b="0" i="0" lang="en-US" sz="3400" u="none" cap="none" strike="noStrike">
                <a:solidFill>
                  <a:srgbClr val="D75BE2"/>
                </a:solidFill>
                <a:latin typeface="Rubik"/>
                <a:ea typeface="Rubik"/>
                <a:cs typeface="Rubik"/>
                <a:sym typeface="Rubik"/>
              </a:rPr>
              <a:t>חולשות ומגבלות – מה עדיין חסר?</a:t>
            </a:r>
            <a:endParaRPr b="0" i="0" sz="3400" u="none" cap="none" strike="noStrike"/>
          </a:p>
        </p:txBody>
      </p:sp>
      <p:sp>
        <p:nvSpPr>
          <p:cNvPr id="459" name="Google Shape;459;p43"/>
          <p:cNvSpPr/>
          <p:nvPr/>
        </p:nvSpPr>
        <p:spPr>
          <a:xfrm>
            <a:off x="793790" y="1471493"/>
            <a:ext cx="13042821" cy="249674"/>
          </a:xfrm>
          <a:prstGeom prst="rect">
            <a:avLst/>
          </a:prstGeom>
          <a:noFill/>
          <a:ln>
            <a:noFill/>
          </a:ln>
        </p:spPr>
        <p:txBody>
          <a:bodyPr anchorCtr="0" anchor="t" bIns="0" lIns="0" spcFirstLastPara="1" rIns="0" wrap="square" tIns="0">
            <a:noAutofit/>
          </a:bodyPr>
          <a:lstStyle/>
          <a:p>
            <a:pPr indent="0" lvl="0" marL="0" marR="0" rtl="1" algn="r">
              <a:lnSpc>
                <a:spcPct val="150000"/>
              </a:lnSpc>
              <a:spcBef>
                <a:spcPts val="0"/>
              </a:spcBef>
              <a:spcAft>
                <a:spcPts val="0"/>
              </a:spcAft>
              <a:buClr>
                <a:srgbClr val="272525"/>
              </a:buClr>
              <a:buSzPts val="1300"/>
              <a:buFont typeface="Open Sans"/>
              <a:buNone/>
            </a:pPr>
            <a:r>
              <a:rPr b="0" i="0" lang="en-US" u="none" cap="none" strike="noStrike">
                <a:solidFill>
                  <a:srgbClr val="272525"/>
                </a:solidFill>
                <a:latin typeface="Open Sans"/>
                <a:ea typeface="Open Sans"/>
                <a:cs typeface="Open Sans"/>
                <a:sym typeface="Open Sans"/>
              </a:rPr>
              <a:t>למרות יכולותיו המרשימות, ל-Gemini, כמו לכל מודל AI מתקדם, ישנן מגבלות ואתגרים שהוא עדיין מתמודד איתם:</a:t>
            </a:r>
            <a:endParaRPr b="0" i="0" u="none" cap="none" strike="noStrike"/>
          </a:p>
        </p:txBody>
      </p:sp>
      <p:sp>
        <p:nvSpPr>
          <p:cNvPr id="460" name="Google Shape;460;p43"/>
          <p:cNvSpPr/>
          <p:nvPr/>
        </p:nvSpPr>
        <p:spPr>
          <a:xfrm>
            <a:off x="9584650" y="1882378"/>
            <a:ext cx="4251960" cy="1481376"/>
          </a:xfrm>
          <a:prstGeom prst="roundRect">
            <a:avLst>
              <a:gd fmla="val 7407" name="adj"/>
            </a:avLst>
          </a:prstGeom>
          <a:solidFill>
            <a:srgbClr val="FFFFFF"/>
          </a:solidFill>
          <a:ln cap="flat" cmpd="sng" w="22850">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461" name="Google Shape;461;p43"/>
          <p:cNvSpPr/>
          <p:nvPr/>
        </p:nvSpPr>
        <p:spPr>
          <a:xfrm>
            <a:off x="13768030" y="1882378"/>
            <a:ext cx="91440" cy="1481376"/>
          </a:xfrm>
          <a:prstGeom prst="roundRect">
            <a:avLst>
              <a:gd fmla="val 77488"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462" name="Google Shape;462;p43"/>
          <p:cNvSpPr/>
          <p:nvPr/>
        </p:nvSpPr>
        <p:spPr>
          <a:xfrm>
            <a:off x="11001674" y="2073825"/>
            <a:ext cx="2574900" cy="263400"/>
          </a:xfrm>
          <a:prstGeom prst="rect">
            <a:avLst/>
          </a:prstGeom>
          <a:noFill/>
          <a:ln>
            <a:noFill/>
          </a:ln>
        </p:spPr>
        <p:txBody>
          <a:bodyPr anchorCtr="0" anchor="t" bIns="0" lIns="0" spcFirstLastPara="1" rIns="0" wrap="square" tIns="0">
            <a:noAutofit/>
          </a:bodyPr>
          <a:lstStyle/>
          <a:p>
            <a:pPr indent="0" lvl="0" marL="0" marR="0" rtl="1" algn="r">
              <a:lnSpc>
                <a:spcPct val="124242"/>
              </a:lnSpc>
              <a:spcBef>
                <a:spcPts val="0"/>
              </a:spcBef>
              <a:spcAft>
                <a:spcPts val="0"/>
              </a:spcAft>
              <a:buClr>
                <a:srgbClr val="272525"/>
              </a:buClr>
              <a:buSzPts val="1650"/>
              <a:buFont typeface="Rubik"/>
              <a:buNone/>
            </a:pPr>
            <a:r>
              <a:rPr b="0" i="0" lang="en-US" sz="1750" u="none" cap="none" strike="noStrike">
                <a:solidFill>
                  <a:srgbClr val="272525"/>
                </a:solidFill>
                <a:latin typeface="Rubik"/>
                <a:ea typeface="Rubik"/>
                <a:cs typeface="Rubik"/>
                <a:sym typeface="Rubik"/>
              </a:rPr>
              <a:t>הזיות (Hallucinations)</a:t>
            </a:r>
            <a:endParaRPr b="0" i="0" sz="1750" u="none" cap="none" strike="noStrike"/>
          </a:p>
        </p:txBody>
      </p:sp>
      <p:sp>
        <p:nvSpPr>
          <p:cNvPr id="463" name="Google Shape;463;p43"/>
          <p:cNvSpPr/>
          <p:nvPr/>
        </p:nvSpPr>
        <p:spPr>
          <a:xfrm>
            <a:off x="9776103" y="2423279"/>
            <a:ext cx="3800475" cy="499348"/>
          </a:xfrm>
          <a:prstGeom prst="rect">
            <a:avLst/>
          </a:prstGeom>
          <a:noFill/>
          <a:ln>
            <a:noFill/>
          </a:ln>
        </p:spPr>
        <p:txBody>
          <a:bodyPr anchorCtr="0" anchor="t" bIns="0" lIns="0" spcFirstLastPara="1" rIns="0" wrap="square" tIns="0">
            <a:noAutofit/>
          </a:bodyPr>
          <a:lstStyle/>
          <a:p>
            <a:pPr indent="0" lvl="0" marL="0" marR="0" rtl="1" algn="r">
              <a:lnSpc>
                <a:spcPct val="150000"/>
              </a:lnSpc>
              <a:spcBef>
                <a:spcPts val="0"/>
              </a:spcBef>
              <a:spcAft>
                <a:spcPts val="0"/>
              </a:spcAft>
              <a:buClr>
                <a:srgbClr val="272525"/>
              </a:buClr>
              <a:buSzPts val="1300"/>
              <a:buFont typeface="Open Sans"/>
              <a:buNone/>
            </a:pPr>
            <a:r>
              <a:rPr b="0" i="0" lang="en-US" u="none" cap="none" strike="noStrike">
                <a:solidFill>
                  <a:srgbClr val="272525"/>
                </a:solidFill>
                <a:latin typeface="Open Sans"/>
                <a:ea typeface="Open Sans"/>
                <a:cs typeface="Open Sans"/>
                <a:sym typeface="Open Sans"/>
              </a:rPr>
              <a:t>כמו כל מודל שפה גדול (LLM), Gemini עלול להמציא עובדות שגויות בביטחון עצמי גבוה, מה שמחייב אימות.</a:t>
            </a:r>
            <a:endParaRPr b="0" i="0" u="none" cap="none" strike="noStrike"/>
          </a:p>
        </p:txBody>
      </p:sp>
      <p:sp>
        <p:nvSpPr>
          <p:cNvPr id="464" name="Google Shape;464;p43"/>
          <p:cNvSpPr/>
          <p:nvPr/>
        </p:nvSpPr>
        <p:spPr>
          <a:xfrm>
            <a:off x="5189220" y="1882378"/>
            <a:ext cx="4252079" cy="1481376"/>
          </a:xfrm>
          <a:prstGeom prst="roundRect">
            <a:avLst>
              <a:gd fmla="val 7407" name="adj"/>
            </a:avLst>
          </a:prstGeom>
          <a:solidFill>
            <a:srgbClr val="FFFFFF"/>
          </a:solidFill>
          <a:ln cap="flat" cmpd="sng" w="22850">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465" name="Google Shape;465;p43"/>
          <p:cNvSpPr/>
          <p:nvPr/>
        </p:nvSpPr>
        <p:spPr>
          <a:xfrm>
            <a:off x="9372719" y="1882378"/>
            <a:ext cx="91440" cy="1481376"/>
          </a:xfrm>
          <a:prstGeom prst="roundRect">
            <a:avLst>
              <a:gd fmla="val 77488"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466" name="Google Shape;466;p43"/>
          <p:cNvSpPr/>
          <p:nvPr/>
        </p:nvSpPr>
        <p:spPr>
          <a:xfrm>
            <a:off x="7072551" y="2073831"/>
            <a:ext cx="2108716" cy="263485"/>
          </a:xfrm>
          <a:prstGeom prst="rect">
            <a:avLst/>
          </a:prstGeom>
          <a:noFill/>
          <a:ln>
            <a:noFill/>
          </a:ln>
        </p:spPr>
        <p:txBody>
          <a:bodyPr anchorCtr="0" anchor="t" bIns="0" lIns="0" spcFirstLastPara="1" rIns="0" wrap="square" tIns="0">
            <a:noAutofit/>
          </a:bodyPr>
          <a:lstStyle/>
          <a:p>
            <a:pPr indent="0" lvl="0" marL="0" marR="0" rtl="1" algn="r">
              <a:lnSpc>
                <a:spcPct val="124242"/>
              </a:lnSpc>
              <a:spcBef>
                <a:spcPts val="0"/>
              </a:spcBef>
              <a:spcAft>
                <a:spcPts val="0"/>
              </a:spcAft>
              <a:buClr>
                <a:srgbClr val="272525"/>
              </a:buClr>
              <a:buSzPts val="1650"/>
              <a:buFont typeface="Rubik"/>
              <a:buNone/>
            </a:pPr>
            <a:r>
              <a:rPr b="0" i="0" lang="en-US" sz="1750" u="none" cap="none" strike="noStrike">
                <a:solidFill>
                  <a:srgbClr val="272525"/>
                </a:solidFill>
                <a:latin typeface="Rubik"/>
                <a:ea typeface="Rubik"/>
                <a:cs typeface="Rubik"/>
                <a:sym typeface="Rubik"/>
              </a:rPr>
              <a:t>צנזורה ובטיחות</a:t>
            </a:r>
            <a:endParaRPr b="0" i="0" sz="1750" u="none" cap="none" strike="noStrike"/>
          </a:p>
        </p:txBody>
      </p:sp>
      <p:sp>
        <p:nvSpPr>
          <p:cNvPr id="467" name="Google Shape;467;p43"/>
          <p:cNvSpPr/>
          <p:nvPr/>
        </p:nvSpPr>
        <p:spPr>
          <a:xfrm>
            <a:off x="5380673" y="2423279"/>
            <a:ext cx="3800594" cy="749022"/>
          </a:xfrm>
          <a:prstGeom prst="rect">
            <a:avLst/>
          </a:prstGeom>
          <a:noFill/>
          <a:ln>
            <a:noFill/>
          </a:ln>
        </p:spPr>
        <p:txBody>
          <a:bodyPr anchorCtr="0" anchor="t" bIns="0" lIns="0" spcFirstLastPara="1" rIns="0" wrap="square" tIns="0">
            <a:noAutofit/>
          </a:bodyPr>
          <a:lstStyle/>
          <a:p>
            <a:pPr indent="0" lvl="0" marL="0" marR="0" rtl="1" algn="r">
              <a:lnSpc>
                <a:spcPct val="150000"/>
              </a:lnSpc>
              <a:spcBef>
                <a:spcPts val="0"/>
              </a:spcBef>
              <a:spcAft>
                <a:spcPts val="0"/>
              </a:spcAft>
              <a:buClr>
                <a:srgbClr val="272525"/>
              </a:buClr>
              <a:buSzPts val="1300"/>
              <a:buFont typeface="Open Sans"/>
              <a:buNone/>
            </a:pPr>
            <a:r>
              <a:rPr b="0" i="0" lang="en-US" u="none" cap="none" strike="noStrike">
                <a:solidFill>
                  <a:srgbClr val="272525"/>
                </a:solidFill>
                <a:latin typeface="Open Sans"/>
                <a:ea typeface="Open Sans"/>
                <a:cs typeface="Open Sans"/>
                <a:sym typeface="Open Sans"/>
              </a:rPr>
              <a:t>לעיתים המודל נמנע ממענה על שאלות לגיטימיות בשל הגדרות בטיחות מחמירות מדי, העלולות להגביל את יכולתיו.</a:t>
            </a:r>
            <a:endParaRPr b="0" i="0" u="none" cap="none" strike="noStrike"/>
          </a:p>
        </p:txBody>
      </p:sp>
      <p:sp>
        <p:nvSpPr>
          <p:cNvPr id="468" name="Google Shape;468;p43"/>
          <p:cNvSpPr/>
          <p:nvPr/>
        </p:nvSpPr>
        <p:spPr>
          <a:xfrm>
            <a:off x="793790" y="1882378"/>
            <a:ext cx="4252079" cy="1481376"/>
          </a:xfrm>
          <a:prstGeom prst="roundRect">
            <a:avLst>
              <a:gd fmla="val 7407" name="adj"/>
            </a:avLst>
          </a:prstGeom>
          <a:solidFill>
            <a:srgbClr val="FFFFFF"/>
          </a:solidFill>
          <a:ln cap="flat" cmpd="sng" w="22850">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469" name="Google Shape;469;p43"/>
          <p:cNvSpPr/>
          <p:nvPr/>
        </p:nvSpPr>
        <p:spPr>
          <a:xfrm>
            <a:off x="4977289" y="1882378"/>
            <a:ext cx="91440" cy="1481376"/>
          </a:xfrm>
          <a:prstGeom prst="roundRect">
            <a:avLst>
              <a:gd fmla="val 77488" name="adj"/>
            </a:avLst>
          </a:prstGeom>
          <a:solidFill>
            <a:srgbClr val="D75B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470" name="Google Shape;470;p43"/>
          <p:cNvSpPr/>
          <p:nvPr/>
        </p:nvSpPr>
        <p:spPr>
          <a:xfrm>
            <a:off x="2677120" y="2073831"/>
            <a:ext cx="2108716" cy="263485"/>
          </a:xfrm>
          <a:prstGeom prst="rect">
            <a:avLst/>
          </a:prstGeom>
          <a:noFill/>
          <a:ln>
            <a:noFill/>
          </a:ln>
        </p:spPr>
        <p:txBody>
          <a:bodyPr anchorCtr="0" anchor="t" bIns="0" lIns="0" spcFirstLastPara="1" rIns="0" wrap="square" tIns="0">
            <a:noAutofit/>
          </a:bodyPr>
          <a:lstStyle/>
          <a:p>
            <a:pPr indent="0" lvl="0" marL="0" marR="0" rtl="1" algn="r">
              <a:lnSpc>
                <a:spcPct val="124242"/>
              </a:lnSpc>
              <a:spcBef>
                <a:spcPts val="0"/>
              </a:spcBef>
              <a:spcAft>
                <a:spcPts val="0"/>
              </a:spcAft>
              <a:buClr>
                <a:srgbClr val="272525"/>
              </a:buClr>
              <a:buSzPts val="1650"/>
              <a:buFont typeface="Rubik"/>
              <a:buNone/>
            </a:pPr>
            <a:r>
              <a:rPr b="0" i="0" lang="en-US" sz="1750" u="none" cap="none" strike="noStrike">
                <a:solidFill>
                  <a:srgbClr val="272525"/>
                </a:solidFill>
                <a:latin typeface="Rubik"/>
                <a:ea typeface="Rubik"/>
                <a:cs typeface="Rubik"/>
                <a:sym typeface="Rubik"/>
              </a:rPr>
              <a:t>עקביות</a:t>
            </a:r>
            <a:endParaRPr b="0" i="0" sz="1750" u="none" cap="none" strike="noStrike"/>
          </a:p>
        </p:txBody>
      </p:sp>
      <p:sp>
        <p:nvSpPr>
          <p:cNvPr id="471" name="Google Shape;471;p43"/>
          <p:cNvSpPr/>
          <p:nvPr/>
        </p:nvSpPr>
        <p:spPr>
          <a:xfrm>
            <a:off x="985242" y="2423279"/>
            <a:ext cx="3800594" cy="749022"/>
          </a:xfrm>
          <a:prstGeom prst="rect">
            <a:avLst/>
          </a:prstGeom>
          <a:noFill/>
          <a:ln>
            <a:noFill/>
          </a:ln>
        </p:spPr>
        <p:txBody>
          <a:bodyPr anchorCtr="0" anchor="t" bIns="0" lIns="0" spcFirstLastPara="1" rIns="0" wrap="square" tIns="0">
            <a:noAutofit/>
          </a:bodyPr>
          <a:lstStyle/>
          <a:p>
            <a:pPr indent="0" lvl="0" marL="0" marR="0" rtl="1" algn="r">
              <a:lnSpc>
                <a:spcPct val="150000"/>
              </a:lnSpc>
              <a:spcBef>
                <a:spcPts val="0"/>
              </a:spcBef>
              <a:spcAft>
                <a:spcPts val="0"/>
              </a:spcAft>
              <a:buClr>
                <a:srgbClr val="272525"/>
              </a:buClr>
              <a:buSzPts val="1300"/>
              <a:buFont typeface="Open Sans"/>
              <a:buNone/>
            </a:pPr>
            <a:r>
              <a:rPr b="0" i="0" lang="en-US" u="none" cap="none" strike="noStrike">
                <a:solidFill>
                  <a:srgbClr val="272525"/>
                </a:solidFill>
                <a:latin typeface="Open Sans"/>
                <a:ea typeface="Open Sans"/>
                <a:cs typeface="Open Sans"/>
                <a:sym typeface="Open Sans"/>
              </a:rPr>
              <a:t>במשימות לוגיות ארוכות ומורכבות מאוד, המודל עלול לעיתים לאבד את הקו המנחה המקורי ולהציג חוסר עקביות בתשובותיו.</a:t>
            </a:r>
            <a:endParaRPr b="0" i="0" u="none" cap="none" strike="noStrike"/>
          </a:p>
        </p:txBody>
      </p:sp>
      <p:sp>
        <p:nvSpPr>
          <p:cNvPr id="472" name="Google Shape;472;p43"/>
          <p:cNvSpPr/>
          <p:nvPr/>
        </p:nvSpPr>
        <p:spPr>
          <a:xfrm>
            <a:off x="793790" y="3653909"/>
            <a:ext cx="3961090" cy="249674"/>
          </a:xfrm>
          <a:prstGeom prst="rect">
            <a:avLst/>
          </a:prstGeom>
          <a:noFill/>
          <a:ln>
            <a:noFill/>
          </a:ln>
        </p:spPr>
        <p:txBody>
          <a:bodyPr anchorCtr="0" anchor="t" bIns="0" lIns="0" spcFirstLastPara="1" rIns="0" wrap="square" tIns="0">
            <a:noAutofit/>
          </a:bodyPr>
          <a:lstStyle/>
          <a:p>
            <a:pPr indent="0" lvl="0" marL="0" marR="0" rtl="0" algn="r">
              <a:lnSpc>
                <a:spcPct val="150000"/>
              </a:lnSpc>
              <a:spcBef>
                <a:spcPts val="0"/>
              </a:spcBef>
              <a:spcAft>
                <a:spcPts val="0"/>
              </a:spcAft>
              <a:buSzPts val="1300"/>
              <a:buFont typeface="Arial"/>
              <a:buNone/>
            </a:pPr>
            <a:r>
              <a:t/>
            </a:r>
            <a:endParaRPr b="0" i="0" sz="1300" u="none" cap="none" strike="noStrike"/>
          </a:p>
        </p:txBody>
      </p:sp>
      <p:pic>
        <p:nvPicPr>
          <p:cNvPr descr="preencoded.png" id="473" name="Google Shape;473;p43"/>
          <p:cNvPicPr preferRelativeResize="0"/>
          <p:nvPr/>
        </p:nvPicPr>
        <p:blipFill rotWithShape="1">
          <a:blip r:embed="rId3">
            <a:alphaModFix/>
          </a:blip>
          <a:srcRect b="0" l="0" r="0" t="0"/>
          <a:stretch/>
        </p:blipFill>
        <p:spPr>
          <a:xfrm>
            <a:off x="5496282" y="3686175"/>
            <a:ext cx="3652718" cy="3652718"/>
          </a:xfrm>
          <a:prstGeom prst="rect">
            <a:avLst/>
          </a:prstGeom>
          <a:noFill/>
          <a:ln>
            <a:noFill/>
          </a:ln>
        </p:spPr>
      </p:pic>
      <p:sp>
        <p:nvSpPr>
          <p:cNvPr id="474" name="Google Shape;474;p43"/>
          <p:cNvSpPr/>
          <p:nvPr/>
        </p:nvSpPr>
        <p:spPr>
          <a:xfrm>
            <a:off x="9890522" y="3653909"/>
            <a:ext cx="3961090" cy="249674"/>
          </a:xfrm>
          <a:prstGeom prst="rect">
            <a:avLst/>
          </a:prstGeom>
          <a:noFill/>
          <a:ln>
            <a:noFill/>
          </a:ln>
        </p:spPr>
        <p:txBody>
          <a:bodyPr anchorCtr="0" anchor="t" bIns="0" lIns="0" spcFirstLastPara="1" rIns="0" wrap="square" tIns="0">
            <a:noAutofit/>
          </a:bodyPr>
          <a:lstStyle/>
          <a:p>
            <a:pPr indent="0" lvl="0" marL="0" marR="0" rtl="0" algn="r">
              <a:lnSpc>
                <a:spcPct val="150000"/>
              </a:lnSpc>
              <a:spcBef>
                <a:spcPts val="0"/>
              </a:spcBef>
              <a:spcAft>
                <a:spcPts val="0"/>
              </a:spcAft>
              <a:buSzPts val="1300"/>
              <a:buFont typeface="Arial"/>
              <a:buNone/>
            </a:pPr>
            <a:r>
              <a:t/>
            </a:r>
            <a:endParaRPr b="0" i="0" sz="1300" u="none" cap="none" strike="noStrike"/>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pic>
        <p:nvPicPr>
          <p:cNvPr descr="preencoded.png" id="480" name="Google Shape;480;p44"/>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481" name="Google Shape;481;p44"/>
          <p:cNvSpPr/>
          <p:nvPr/>
        </p:nvSpPr>
        <p:spPr>
          <a:xfrm>
            <a:off x="3388400" y="979170"/>
            <a:ext cx="4961811" cy="620078"/>
          </a:xfrm>
          <a:prstGeom prst="rect">
            <a:avLst/>
          </a:prstGeom>
          <a:noFill/>
          <a:ln>
            <a:noFill/>
          </a:ln>
        </p:spPr>
        <p:txBody>
          <a:bodyPr anchorCtr="0" anchor="t" bIns="0" lIns="0" spcFirstLastPara="1" rIns="0" wrap="square" tIns="0">
            <a:noAutofit/>
          </a:bodyPr>
          <a:lstStyle/>
          <a:p>
            <a:pPr indent="0" lvl="0" marL="0" marR="0" rtl="1" algn="r">
              <a:lnSpc>
                <a:spcPct val="124358"/>
              </a:lnSpc>
              <a:spcBef>
                <a:spcPts val="0"/>
              </a:spcBef>
              <a:spcAft>
                <a:spcPts val="0"/>
              </a:spcAft>
              <a:buClr>
                <a:srgbClr val="D75BE2"/>
              </a:buClr>
              <a:buSzPts val="3900"/>
              <a:buFont typeface="Rubik"/>
              <a:buNone/>
            </a:pPr>
            <a:r>
              <a:rPr b="0" i="0" lang="en-US" sz="3900" u="none" cap="none" strike="noStrike">
                <a:solidFill>
                  <a:srgbClr val="D75BE2"/>
                </a:solidFill>
                <a:latin typeface="Rubik"/>
                <a:ea typeface="Rubik"/>
                <a:cs typeface="Rubik"/>
                <a:sym typeface="Rubik"/>
              </a:rPr>
              <a:t>סיכום ונקודות מפתח</a:t>
            </a:r>
            <a:endParaRPr b="0" i="0" sz="3900" u="none" cap="none" strike="noStrike"/>
          </a:p>
        </p:txBody>
      </p:sp>
      <p:sp>
        <p:nvSpPr>
          <p:cNvPr id="482" name="Google Shape;482;p44"/>
          <p:cNvSpPr/>
          <p:nvPr/>
        </p:nvSpPr>
        <p:spPr>
          <a:xfrm>
            <a:off x="793790" y="1896904"/>
            <a:ext cx="7556421" cy="63507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Gemini אינו רק עוד כלי AI — הוא מערכת אקולוגית שלמה המובנית בתוך עולם Google. הוא מציע יכולות שאין לאף מתחרה ישיר.</a:t>
            </a:r>
            <a:endParaRPr b="0" i="0" sz="1550" u="none" cap="none" strike="noStrike"/>
          </a:p>
        </p:txBody>
      </p:sp>
      <p:pic>
        <p:nvPicPr>
          <p:cNvPr descr="preencoded.png" id="483" name="Google Shape;483;p44"/>
          <p:cNvPicPr preferRelativeResize="0"/>
          <p:nvPr/>
        </p:nvPicPr>
        <p:blipFill rotWithShape="1">
          <a:blip r:embed="rId4">
            <a:alphaModFix/>
          </a:blip>
          <a:srcRect b="0" l="0" r="0" t="0"/>
          <a:stretch/>
        </p:blipFill>
        <p:spPr>
          <a:xfrm>
            <a:off x="7978140" y="2761298"/>
            <a:ext cx="297656" cy="297656"/>
          </a:xfrm>
          <a:prstGeom prst="rect">
            <a:avLst/>
          </a:prstGeom>
          <a:noFill/>
          <a:ln>
            <a:noFill/>
          </a:ln>
        </p:spPr>
      </p:pic>
      <p:sp>
        <p:nvSpPr>
          <p:cNvPr id="484" name="Google Shape;484;p44"/>
          <p:cNvSpPr/>
          <p:nvPr/>
        </p:nvSpPr>
        <p:spPr>
          <a:xfrm>
            <a:off x="5062299" y="2755225"/>
            <a:ext cx="2643068"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מולטי-מודאלי ורב-תכליתי</a:t>
            </a:r>
            <a:endParaRPr b="0" i="0" sz="1950" u="none" cap="none" strike="noStrike"/>
          </a:p>
        </p:txBody>
      </p:sp>
      <p:sp>
        <p:nvSpPr>
          <p:cNvPr id="485" name="Google Shape;485;p44"/>
          <p:cNvSpPr/>
          <p:nvPr/>
        </p:nvSpPr>
        <p:spPr>
          <a:xfrm>
            <a:off x="793790" y="3184446"/>
            <a:ext cx="6911578" cy="31754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מבין טקסט, תמונות, קוד ושמע — פתרון אחד לכל הצרכים</a:t>
            </a:r>
            <a:endParaRPr b="0" i="0" sz="1550" u="none" cap="none" strike="noStrike"/>
          </a:p>
        </p:txBody>
      </p:sp>
      <p:pic>
        <p:nvPicPr>
          <p:cNvPr descr="preencoded.png" id="486" name="Google Shape;486;p44"/>
          <p:cNvPicPr preferRelativeResize="0"/>
          <p:nvPr/>
        </p:nvPicPr>
        <p:blipFill rotWithShape="1">
          <a:blip r:embed="rId4">
            <a:alphaModFix/>
          </a:blip>
          <a:srcRect b="0" l="0" r="0" t="0"/>
          <a:stretch/>
        </p:blipFill>
        <p:spPr>
          <a:xfrm>
            <a:off x="7978140" y="3904893"/>
            <a:ext cx="297656" cy="297656"/>
          </a:xfrm>
          <a:prstGeom prst="rect">
            <a:avLst/>
          </a:prstGeom>
          <a:noFill/>
          <a:ln>
            <a:noFill/>
          </a:ln>
        </p:spPr>
      </p:pic>
      <p:sp>
        <p:nvSpPr>
          <p:cNvPr id="487" name="Google Shape;487;p44"/>
          <p:cNvSpPr/>
          <p:nvPr/>
        </p:nvSpPr>
        <p:spPr>
          <a:xfrm>
            <a:off x="5190649" y="3898821"/>
            <a:ext cx="2514719"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משולב עמוק עם Google</a:t>
            </a:r>
            <a:endParaRPr b="0" i="0" sz="1950" u="none" cap="none" strike="noStrike"/>
          </a:p>
        </p:txBody>
      </p:sp>
      <p:sp>
        <p:nvSpPr>
          <p:cNvPr id="488" name="Google Shape;488;p44"/>
          <p:cNvSpPr/>
          <p:nvPr/>
        </p:nvSpPr>
        <p:spPr>
          <a:xfrm>
            <a:off x="793790" y="4328041"/>
            <a:ext cx="6911578" cy="31754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Gmail, Docs, Search, Maps, Colab — כולם נגישים מממשק אחד</a:t>
            </a:r>
            <a:endParaRPr b="0" i="0" sz="1550" u="none" cap="none" strike="noStrike"/>
          </a:p>
        </p:txBody>
      </p:sp>
      <p:pic>
        <p:nvPicPr>
          <p:cNvPr descr="preencoded.png" id="489" name="Google Shape;489;p44"/>
          <p:cNvPicPr preferRelativeResize="0"/>
          <p:nvPr/>
        </p:nvPicPr>
        <p:blipFill rotWithShape="1">
          <a:blip r:embed="rId4">
            <a:alphaModFix/>
          </a:blip>
          <a:srcRect b="0" l="0" r="0" t="0"/>
          <a:stretch/>
        </p:blipFill>
        <p:spPr>
          <a:xfrm>
            <a:off x="7978140" y="5048488"/>
            <a:ext cx="297656" cy="297656"/>
          </a:xfrm>
          <a:prstGeom prst="rect">
            <a:avLst/>
          </a:prstGeom>
          <a:noFill/>
          <a:ln>
            <a:noFill/>
          </a:ln>
        </p:spPr>
      </p:pic>
      <p:sp>
        <p:nvSpPr>
          <p:cNvPr id="490" name="Google Shape;490;p44"/>
          <p:cNvSpPr/>
          <p:nvPr/>
        </p:nvSpPr>
        <p:spPr>
          <a:xfrm>
            <a:off x="5137904" y="5042416"/>
            <a:ext cx="2567464"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גרסאות לכל צורך ותקציב</a:t>
            </a:r>
            <a:endParaRPr b="0" i="0" sz="1950" u="none" cap="none" strike="noStrike"/>
          </a:p>
        </p:txBody>
      </p:sp>
      <p:sp>
        <p:nvSpPr>
          <p:cNvPr id="491" name="Google Shape;491;p44"/>
          <p:cNvSpPr/>
          <p:nvPr/>
        </p:nvSpPr>
        <p:spPr>
          <a:xfrm>
            <a:off x="793790" y="5471636"/>
            <a:ext cx="6911578" cy="317540"/>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b="0" i="0" lang="en-US" sz="1550" u="none" cap="none" strike="noStrike">
                <a:solidFill>
                  <a:srgbClr val="272525"/>
                </a:solidFill>
                <a:latin typeface="Open Sans"/>
                <a:ea typeface="Open Sans"/>
                <a:cs typeface="Open Sans"/>
                <a:sym typeface="Open Sans"/>
              </a:rPr>
              <a:t>מגרסה חינמית (Flash) ועד לגרסה ארגונית מלאה (Ultra) — מתאים לכולם</a:t>
            </a:r>
            <a:endParaRPr b="0" i="0" sz="1550" u="none" cap="none" strike="noStrike"/>
          </a:p>
        </p:txBody>
      </p:sp>
      <p:pic>
        <p:nvPicPr>
          <p:cNvPr descr="preencoded.png" id="492" name="Google Shape;492;p44"/>
          <p:cNvPicPr preferRelativeResize="0"/>
          <p:nvPr/>
        </p:nvPicPr>
        <p:blipFill rotWithShape="1">
          <a:blip r:embed="rId4">
            <a:alphaModFix/>
          </a:blip>
          <a:srcRect b="0" l="0" r="0" t="0"/>
          <a:stretch/>
        </p:blipFill>
        <p:spPr>
          <a:xfrm>
            <a:off x="7978140" y="6192083"/>
            <a:ext cx="297656" cy="297656"/>
          </a:xfrm>
          <a:prstGeom prst="rect">
            <a:avLst/>
          </a:prstGeom>
          <a:noFill/>
          <a:ln>
            <a:noFill/>
          </a:ln>
        </p:spPr>
      </p:pic>
      <p:sp>
        <p:nvSpPr>
          <p:cNvPr id="493" name="Google Shape;493;p44"/>
          <p:cNvSpPr/>
          <p:nvPr/>
        </p:nvSpPr>
        <p:spPr>
          <a:xfrm>
            <a:off x="5224462" y="6186011"/>
            <a:ext cx="2480905" cy="310158"/>
          </a:xfrm>
          <a:prstGeom prst="rect">
            <a:avLst/>
          </a:prstGeom>
          <a:noFill/>
          <a:ln>
            <a:noFill/>
          </a:ln>
        </p:spPr>
        <p:txBody>
          <a:bodyPr anchorCtr="0" anchor="t" bIns="0" lIns="0" spcFirstLastPara="1" rIns="0" wrap="square" tIns="0">
            <a:noAutofit/>
          </a:bodyPr>
          <a:lstStyle/>
          <a:p>
            <a:pPr indent="0" lvl="0" marL="0" marR="0" rtl="1" algn="r">
              <a:lnSpc>
                <a:spcPct val="123076"/>
              </a:lnSpc>
              <a:spcBef>
                <a:spcPts val="0"/>
              </a:spcBef>
              <a:spcAft>
                <a:spcPts val="0"/>
              </a:spcAft>
              <a:buClr>
                <a:srgbClr val="272525"/>
              </a:buClr>
              <a:buSzPts val="1950"/>
              <a:buFont typeface="Rubik"/>
              <a:buNone/>
            </a:pPr>
            <a:r>
              <a:rPr b="0" i="0" lang="en-US" sz="1950" u="none" cap="none" strike="noStrike">
                <a:solidFill>
                  <a:srgbClr val="272525"/>
                </a:solidFill>
                <a:latin typeface="Rubik"/>
                <a:ea typeface="Rubik"/>
                <a:cs typeface="Rubik"/>
                <a:sym typeface="Rubik"/>
              </a:rPr>
              <a:t>התחל עכשיו</a:t>
            </a:r>
            <a:endParaRPr b="0" i="0" sz="1950" u="none" cap="none" strike="noStrike"/>
          </a:p>
        </p:txBody>
      </p:sp>
      <p:sp>
        <p:nvSpPr>
          <p:cNvPr id="494" name="Google Shape;494;p44"/>
          <p:cNvSpPr/>
          <p:nvPr/>
        </p:nvSpPr>
        <p:spPr>
          <a:xfrm>
            <a:off x="793790" y="6615232"/>
            <a:ext cx="6911578" cy="635079"/>
          </a:xfrm>
          <a:prstGeom prst="rect">
            <a:avLst/>
          </a:prstGeom>
          <a:noFill/>
          <a:ln>
            <a:noFill/>
          </a:ln>
        </p:spPr>
        <p:txBody>
          <a:bodyPr anchorCtr="0" anchor="t" bIns="0" lIns="0" spcFirstLastPara="1" rIns="0" wrap="square" tIns="0">
            <a:noAutofit/>
          </a:bodyPr>
          <a:lstStyle/>
          <a:p>
            <a:pPr indent="0" lvl="0" marL="0" marR="0" rtl="1" algn="r">
              <a:lnSpc>
                <a:spcPct val="161290"/>
              </a:lnSpc>
              <a:spcBef>
                <a:spcPts val="0"/>
              </a:spcBef>
              <a:spcAft>
                <a:spcPts val="0"/>
              </a:spcAft>
              <a:buClr>
                <a:srgbClr val="272525"/>
              </a:buClr>
              <a:buSzPts val="1550"/>
              <a:buFont typeface="Open Sans"/>
              <a:buNone/>
            </a:pPr>
            <a:r>
              <a:rPr lang="en-US" sz="1550">
                <a:solidFill>
                  <a:srgbClr val="272525"/>
                </a:solidFill>
                <a:latin typeface="Open Sans"/>
                <a:ea typeface="Open Sans"/>
                <a:cs typeface="Open Sans"/>
                <a:sym typeface="Open Sans"/>
              </a:rPr>
              <a:t>בואו נדגים ונתרגל</a:t>
            </a:r>
            <a:r>
              <a:rPr b="0" i="0" lang="en-US" sz="1550" u="none" cap="none" strike="noStrike">
                <a:solidFill>
                  <a:srgbClr val="272525"/>
                </a:solidFill>
                <a:latin typeface="Open Sans"/>
                <a:ea typeface="Open Sans"/>
                <a:cs typeface="Open Sans"/>
                <a:sym typeface="Open Sans"/>
              </a:rPr>
              <a:t> את Gemini בכתובת gemini.google.com או ב-Google AI Studio</a:t>
            </a:r>
            <a:endParaRPr b="0" i="0" sz="15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