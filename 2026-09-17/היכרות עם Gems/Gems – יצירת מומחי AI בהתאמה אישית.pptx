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8229600" cx="14630400"/>
  <p:notesSz cx="8229600" cy="14630400"/>
  <p:embeddedFontLst>
    <p:embeddedFont>
      <p:font typeface="Rubik"/>
      <p:regular r:id="rId24"/>
      <p:bold r:id="rId25"/>
      <p:italic r:id="rId26"/>
      <p:boldItalic r:id="rId27"/>
    </p:embeddedFont>
    <p:embeddedFont>
      <p:font typeface="Open Sans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Rubik-regular.fntdata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Rubik-italic.fntdata"/><Relationship Id="rId25" Type="http://schemas.openxmlformats.org/officeDocument/2006/relationships/font" Target="fonts/Rubik-bold.fntdata"/><Relationship Id="rId28" Type="http://schemas.openxmlformats.org/officeDocument/2006/relationships/font" Target="fonts/OpenSans-regular.fntdata"/><Relationship Id="rId27" Type="http://schemas.openxmlformats.org/officeDocument/2006/relationships/font" Target="fonts/Rubik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OpenSans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OpenSans-boldItalic.fntdata"/><Relationship Id="rId30" Type="http://schemas.openxmlformats.org/officeDocument/2006/relationships/font" Target="fonts/OpenSans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1 master">
  <p:cSld name="Slide 11 master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2 master">
  <p:cSld name="Slide 12 mast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3 master">
  <p:cSld name="Slide 13 mast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4 master">
  <p:cSld name="Slide 14 mast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5 master">
  <p:cSld name="Slide 15 mast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6 master">
  <p:cSld name="Slide 16 mast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7 master">
  <p:cSld name="Slide 17 mast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8 master">
  <p:cSld name="Slide 18 master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9 master">
  <p:cSld name="Slide 19 master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0 master">
  <p:cSld name="Slide 20 master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1 master">
  <p:cSld name="Slide 21 master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2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Relationship Id="rId4" Type="http://schemas.openxmlformats.org/officeDocument/2006/relationships/image" Target="../media/image8.png"/><Relationship Id="rId5" Type="http://schemas.openxmlformats.org/officeDocument/2006/relationships/image" Target="../media/image16.png"/><Relationship Id="rId6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4.png"/><Relationship Id="rId4" Type="http://schemas.openxmlformats.org/officeDocument/2006/relationships/image" Target="../media/image13.png"/><Relationship Id="rId5" Type="http://schemas.openxmlformats.org/officeDocument/2006/relationships/image" Target="../media/image2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8.png"/><Relationship Id="rId4" Type="http://schemas.openxmlformats.org/officeDocument/2006/relationships/image" Target="../media/image23.png"/><Relationship Id="rId5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9" name="Google Shape;7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24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None/>
            </a:pPr>
            <a:r>
              <a:rPr b="0" i="0" lang="en-US" sz="44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Gems – יצירת מומחי AI בהתאמה אישית </a:t>
            </a:r>
            <a:endParaRPr b="0" i="0" sz="4450" u="none" cap="none" strike="noStrike"/>
          </a:p>
        </p:txBody>
      </p:sp>
      <p:sp>
        <p:nvSpPr>
          <p:cNvPr id="81" name="Google Shape;81;p24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גלו כיצד להפוך את Gemini לעוזרים אישיים ייעודיים שעובדים בדיוק כפי שאתם צריכים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7" name="Google Shape;8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25"/>
          <p:cNvSpPr/>
          <p:nvPr/>
        </p:nvSpPr>
        <p:spPr>
          <a:xfrm>
            <a:off x="8166021" y="3227427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None/>
            </a:pPr>
            <a:r>
              <a:rPr b="0" i="0" lang="en-US" sz="44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חלק א – היכרות</a:t>
            </a:r>
            <a:endParaRPr b="0" i="0" sz="4450" u="none" cap="none" strike="noStrike"/>
          </a:p>
        </p:txBody>
      </p:sp>
      <p:sp>
        <p:nvSpPr>
          <p:cNvPr id="89" name="Google Shape;89;p25"/>
          <p:cNvSpPr/>
          <p:nvPr/>
        </p:nvSpPr>
        <p:spPr>
          <a:xfrm>
            <a:off x="6280190" y="4276368"/>
            <a:ext cx="75564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נכיר את עולם ה-Gems – מה הם, למה להשתמש בהם, ואיך הם בנויים מבחינה טכנית.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5" name="Google Shape;9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2940" y="2698371"/>
            <a:ext cx="4341137" cy="4341137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6"/>
          <p:cNvSpPr/>
          <p:nvPr/>
        </p:nvSpPr>
        <p:spPr>
          <a:xfrm>
            <a:off x="793790" y="6256973"/>
            <a:ext cx="4341138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1750" u="none" cap="none" strike="noStrike"/>
          </a:p>
        </p:txBody>
      </p:sp>
      <p:sp>
        <p:nvSpPr>
          <p:cNvPr id="97" name="Google Shape;97;p26"/>
          <p:cNvSpPr/>
          <p:nvPr/>
        </p:nvSpPr>
        <p:spPr>
          <a:xfrm>
            <a:off x="4692324" y="1632000"/>
            <a:ext cx="9151800" cy="1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None/>
            </a:pPr>
            <a:r>
              <a:rPr b="0" i="0" lang="en-US" sz="44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מהם Gems? המומחים האישיים </a:t>
            </a:r>
            <a:r>
              <a:rPr b="0" i="0" lang="en-US" sz="44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שלכם</a:t>
            </a:r>
            <a:endParaRPr b="0" i="0" sz="4450" u="none" cap="none" strike="noStrike"/>
          </a:p>
        </p:txBody>
      </p:sp>
      <p:sp>
        <p:nvSpPr>
          <p:cNvPr id="98" name="Google Shape;98;p26"/>
          <p:cNvSpPr/>
          <p:nvPr/>
        </p:nvSpPr>
        <p:spPr>
          <a:xfrm>
            <a:off x="11279267" y="3304699"/>
            <a:ext cx="2564844" cy="3264575"/>
          </a:xfrm>
          <a:prstGeom prst="roundRect">
            <a:avLst>
              <a:gd fmla="val 5704" name="adj"/>
            </a:avLst>
          </a:prstGeom>
          <a:solidFill>
            <a:srgbClr val="FFFFFF"/>
          </a:solidFill>
          <a:ln cap="flat" cmpd="sng" w="3047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6"/>
          <p:cNvSpPr/>
          <p:nvPr/>
        </p:nvSpPr>
        <p:spPr>
          <a:xfrm>
            <a:off x="13752671" y="3304699"/>
            <a:ext cx="121920" cy="3264575"/>
          </a:xfrm>
          <a:prstGeom prst="roundRect">
            <a:avLst>
              <a:gd fmla="val 78139" name="adj"/>
            </a:avLst>
          </a:prstGeom>
          <a:solidFill>
            <a:srgbClr val="D75B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6"/>
          <p:cNvSpPr/>
          <p:nvPr/>
        </p:nvSpPr>
        <p:spPr>
          <a:xfrm>
            <a:off x="11536561" y="3561993"/>
            <a:ext cx="1958816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מותא</a:t>
            </a:r>
            <a:r>
              <a:rPr lang="en-US" sz="2200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ם</a:t>
            </a:r>
            <a:r>
              <a:rPr b="0" i="0" lang="en-US" sz="22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 אישית</a:t>
            </a:r>
            <a:endParaRPr b="0" i="0" sz="2200" u="none" cap="none" strike="noStrike"/>
          </a:p>
        </p:txBody>
      </p:sp>
      <p:sp>
        <p:nvSpPr>
          <p:cNvPr id="101" name="Google Shape;101;p26"/>
          <p:cNvSpPr/>
          <p:nvPr/>
        </p:nvSpPr>
        <p:spPr>
          <a:xfrm>
            <a:off x="11536586" y="4143130"/>
            <a:ext cx="1958700" cy="18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גרסאות של Gemini שניתן "לאמן" מראש לבצע משימות ספציפיות או לאמץ סגנון מסוים.</a:t>
            </a:r>
            <a:endParaRPr b="0" i="0" sz="1750" u="none" cap="none" strike="noStrike"/>
          </a:p>
        </p:txBody>
      </p:sp>
      <p:sp>
        <p:nvSpPr>
          <p:cNvPr id="102" name="Google Shape;102;p26"/>
          <p:cNvSpPr/>
          <p:nvPr/>
        </p:nvSpPr>
        <p:spPr>
          <a:xfrm>
            <a:off x="8487608" y="3304699"/>
            <a:ext cx="2564844" cy="3264575"/>
          </a:xfrm>
          <a:prstGeom prst="roundRect">
            <a:avLst>
              <a:gd fmla="val 5704" name="adj"/>
            </a:avLst>
          </a:prstGeom>
          <a:solidFill>
            <a:srgbClr val="FFFFFF"/>
          </a:solidFill>
          <a:ln cap="flat" cmpd="sng" w="3047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6"/>
          <p:cNvSpPr/>
          <p:nvPr/>
        </p:nvSpPr>
        <p:spPr>
          <a:xfrm>
            <a:off x="10961013" y="3304699"/>
            <a:ext cx="121920" cy="3264575"/>
          </a:xfrm>
          <a:prstGeom prst="roundRect">
            <a:avLst>
              <a:gd fmla="val 78139" name="adj"/>
            </a:avLst>
          </a:prstGeom>
          <a:solidFill>
            <a:srgbClr val="D75B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6"/>
          <p:cNvSpPr/>
          <p:nvPr/>
        </p:nvSpPr>
        <p:spPr>
          <a:xfrm>
            <a:off x="8744903" y="3561993"/>
            <a:ext cx="1958816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קיצור הדרך</a:t>
            </a:r>
            <a:endParaRPr b="0" i="0" sz="2200" u="none" cap="none" strike="noStrike"/>
          </a:p>
        </p:txBody>
      </p:sp>
      <p:sp>
        <p:nvSpPr>
          <p:cNvPr id="105" name="Google Shape;105;p26"/>
          <p:cNvSpPr/>
          <p:nvPr/>
        </p:nvSpPr>
        <p:spPr>
          <a:xfrm>
            <a:off x="8744903" y="4143137"/>
            <a:ext cx="1958816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במקום לכתוב פרומפט מורכב בכל פעם, ה-Gem כבר מכיר את ההקשר הקבוע שלכם.</a:t>
            </a:r>
            <a:endParaRPr b="0" i="0" sz="1750" u="none" cap="none" strike="noStrike"/>
          </a:p>
        </p:txBody>
      </p:sp>
      <p:sp>
        <p:nvSpPr>
          <p:cNvPr id="106" name="Google Shape;106;p26"/>
          <p:cNvSpPr/>
          <p:nvPr/>
        </p:nvSpPr>
        <p:spPr>
          <a:xfrm>
            <a:off x="5695950" y="3304699"/>
            <a:ext cx="2564844" cy="3264575"/>
          </a:xfrm>
          <a:prstGeom prst="roundRect">
            <a:avLst>
              <a:gd fmla="val 5704" name="adj"/>
            </a:avLst>
          </a:prstGeom>
          <a:solidFill>
            <a:srgbClr val="FFFFFF"/>
          </a:solidFill>
          <a:ln cap="flat" cmpd="sng" w="3047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6"/>
          <p:cNvSpPr/>
          <p:nvPr/>
        </p:nvSpPr>
        <p:spPr>
          <a:xfrm>
            <a:off x="8169354" y="3304699"/>
            <a:ext cx="121920" cy="3264575"/>
          </a:xfrm>
          <a:prstGeom prst="roundRect">
            <a:avLst>
              <a:gd fmla="val 78139" name="adj"/>
            </a:avLst>
          </a:prstGeom>
          <a:solidFill>
            <a:srgbClr val="D75B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6"/>
          <p:cNvSpPr/>
          <p:nvPr/>
        </p:nvSpPr>
        <p:spPr>
          <a:xfrm>
            <a:off x="5953244" y="3561993"/>
            <a:ext cx="1958816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ספרייה אישית</a:t>
            </a:r>
            <a:endParaRPr b="0" i="0" sz="2200" u="none" cap="none" strike="noStrike"/>
          </a:p>
        </p:txBody>
      </p:sp>
      <p:sp>
        <p:nvSpPr>
          <p:cNvPr id="109" name="Google Shape;109;p26"/>
          <p:cNvSpPr/>
          <p:nvPr/>
        </p:nvSpPr>
        <p:spPr>
          <a:xfrm>
            <a:off x="5953244" y="4143137"/>
            <a:ext cx="1958816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עוזרים דיגיטליים הזמינים לשימוש מיידי בכל רגע, מאורגנים בתפריט נוח.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5" name="Google Shape;11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7"/>
          <p:cNvSpPr/>
          <p:nvPr/>
        </p:nvSpPr>
        <p:spPr>
          <a:xfrm>
            <a:off x="793790" y="1255990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None/>
            </a:pPr>
            <a:r>
              <a:rPr b="0" i="0" lang="en-US" sz="44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למה להשתמש ב-Gems? הערך המוסף</a:t>
            </a:r>
            <a:endParaRPr b="0" i="0" sz="4450" u="none" cap="none" strike="noStrike"/>
          </a:p>
        </p:txBody>
      </p:sp>
      <p:sp>
        <p:nvSpPr>
          <p:cNvPr id="117" name="Google Shape;117;p27"/>
          <p:cNvSpPr/>
          <p:nvPr/>
        </p:nvSpPr>
        <p:spPr>
          <a:xfrm>
            <a:off x="4685467" y="3013710"/>
            <a:ext cx="3664744" cy="2047994"/>
          </a:xfrm>
          <a:prstGeom prst="roundRect">
            <a:avLst>
              <a:gd fmla="val 4652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7"/>
          <p:cNvSpPr/>
          <p:nvPr/>
        </p:nvSpPr>
        <p:spPr>
          <a:xfrm>
            <a:off x="5280541" y="324814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עקביות</a:t>
            </a:r>
            <a:endParaRPr b="0" i="0" sz="2200" u="none" cap="none" strike="noStrike"/>
          </a:p>
        </p:txBody>
      </p:sp>
      <p:sp>
        <p:nvSpPr>
          <p:cNvPr id="119" name="Google Shape;119;p27"/>
          <p:cNvSpPr/>
          <p:nvPr/>
        </p:nvSpPr>
        <p:spPr>
          <a:xfrm>
            <a:off x="4919901" y="3738563"/>
            <a:ext cx="3195876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המודל תמיד עונה באותו פורמט, טון ורמת פירוט שהגדרתם מראש – ללא סטיות.</a:t>
            </a:r>
            <a:endParaRPr b="0" i="0" sz="1750" u="none" cap="none" strike="noStrike"/>
          </a:p>
        </p:txBody>
      </p:sp>
      <p:sp>
        <p:nvSpPr>
          <p:cNvPr id="120" name="Google Shape;120;p27"/>
          <p:cNvSpPr/>
          <p:nvPr/>
        </p:nvSpPr>
        <p:spPr>
          <a:xfrm>
            <a:off x="793790" y="3013710"/>
            <a:ext cx="3664863" cy="2047994"/>
          </a:xfrm>
          <a:prstGeom prst="roundRect">
            <a:avLst>
              <a:gd fmla="val 4652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7"/>
          <p:cNvSpPr/>
          <p:nvPr/>
        </p:nvSpPr>
        <p:spPr>
          <a:xfrm>
            <a:off x="1388983" y="324814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יעילות תפעולית</a:t>
            </a:r>
            <a:endParaRPr b="0" i="0" sz="2200" u="none" cap="none" strike="noStrike"/>
          </a:p>
        </p:txBody>
      </p:sp>
      <p:sp>
        <p:nvSpPr>
          <p:cNvPr id="122" name="Google Shape;122;p27"/>
          <p:cNvSpPr/>
          <p:nvPr/>
        </p:nvSpPr>
        <p:spPr>
          <a:xfrm>
            <a:off x="1028224" y="3738563"/>
            <a:ext cx="3195995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חיסכון בזמן על ידי ביטול הצורך להסביר הכל מחדש בכל שיחה חדשה.</a:t>
            </a:r>
            <a:endParaRPr b="0" i="0" sz="1750" u="none" cap="none" strike="noStrike"/>
          </a:p>
        </p:txBody>
      </p:sp>
      <p:sp>
        <p:nvSpPr>
          <p:cNvPr id="123" name="Google Shape;123;p27"/>
          <p:cNvSpPr/>
          <p:nvPr/>
        </p:nvSpPr>
        <p:spPr>
          <a:xfrm>
            <a:off x="793790" y="5288518"/>
            <a:ext cx="7556421" cy="1685092"/>
          </a:xfrm>
          <a:prstGeom prst="roundRect">
            <a:avLst>
              <a:gd fmla="val 5654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7"/>
          <p:cNvSpPr/>
          <p:nvPr/>
        </p:nvSpPr>
        <p:spPr>
          <a:xfrm>
            <a:off x="5280541" y="552295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מיקוד מקצועי</a:t>
            </a:r>
            <a:endParaRPr b="0" i="0" sz="2200" u="none" cap="none" strike="noStrike"/>
          </a:p>
        </p:txBody>
      </p:sp>
      <p:sp>
        <p:nvSpPr>
          <p:cNvPr id="125" name="Google Shape;125;p27"/>
          <p:cNvSpPr/>
          <p:nvPr/>
        </p:nvSpPr>
        <p:spPr>
          <a:xfrm>
            <a:off x="1028224" y="6013371"/>
            <a:ext cx="7087553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הפרדה נקייה בין תפקידים – Gem לקוד, Gem לכתיבה שיווקית, Gem לניתוח נתונים.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8"/>
          <p:cNvSpPr/>
          <p:nvPr/>
        </p:nvSpPr>
        <p:spPr>
          <a:xfrm>
            <a:off x="8478798" y="593527"/>
            <a:ext cx="5396151" cy="6744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200"/>
              <a:buFont typeface="Rubik"/>
              <a:buNone/>
            </a:pPr>
            <a:r>
              <a:rPr b="0" i="0" lang="en-US" sz="420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הארכיטקטורה של Gem</a:t>
            </a:r>
            <a:endParaRPr b="0" i="0" sz="4200" u="none" cap="none" strike="noStrike"/>
          </a:p>
        </p:txBody>
      </p:sp>
      <p:pic>
        <p:nvPicPr>
          <p:cNvPr descr="preencoded.png" id="132" name="Google Shape;13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2493" y="1678781"/>
            <a:ext cx="12982456" cy="54173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3" name="Google Shape;133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299773" y="4525242"/>
            <a:ext cx="485824" cy="485824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8"/>
          <p:cNvSpPr/>
          <p:nvPr/>
        </p:nvSpPr>
        <p:spPr>
          <a:xfrm>
            <a:off x="3309570" y="1928442"/>
            <a:ext cx="2951842" cy="368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300"/>
              <a:buFont typeface="Rubik"/>
              <a:buNone/>
            </a:pPr>
            <a:r>
              <a:rPr b="0" i="0" lang="en-US" sz="230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הנחיות מערכת</a:t>
            </a:r>
            <a:endParaRPr b="0" i="0" sz="2300" u="none" cap="none" strike="noStrike"/>
          </a:p>
        </p:txBody>
      </p:sp>
      <p:sp>
        <p:nvSpPr>
          <p:cNvPr id="135" name="Google Shape;135;p28"/>
          <p:cNvSpPr/>
          <p:nvPr/>
        </p:nvSpPr>
        <p:spPr>
          <a:xfrm>
            <a:off x="1201463" y="2402376"/>
            <a:ext cx="5059948" cy="288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1621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Open Sans"/>
              <a:buNone/>
            </a:pPr>
            <a:r>
              <a:rPr b="0" i="0" lang="en-US" sz="18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תפקיד, הקשר ופורמט</a:t>
            </a:r>
            <a:endParaRPr b="0" i="0" sz="1850" u="none" cap="none" strike="noStrike"/>
          </a:p>
        </p:txBody>
      </p:sp>
      <p:pic>
        <p:nvPicPr>
          <p:cNvPr descr="preencoded.png" id="136" name="Google Shape;136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64815" y="4525242"/>
            <a:ext cx="485824" cy="485824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8"/>
          <p:cNvSpPr/>
          <p:nvPr/>
        </p:nvSpPr>
        <p:spPr>
          <a:xfrm>
            <a:off x="3309365" y="3691347"/>
            <a:ext cx="2951841" cy="368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300"/>
              <a:buFont typeface="Rubik"/>
              <a:buNone/>
            </a:pPr>
            <a:r>
              <a:rPr b="0" i="0" lang="en-US" sz="230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זיכרון ארוך</a:t>
            </a:r>
            <a:endParaRPr b="0" i="0" sz="2300" u="none" cap="none" strike="noStrike"/>
          </a:p>
        </p:txBody>
      </p:sp>
      <p:sp>
        <p:nvSpPr>
          <p:cNvPr id="138" name="Google Shape;138;p28"/>
          <p:cNvSpPr/>
          <p:nvPr/>
        </p:nvSpPr>
        <p:spPr>
          <a:xfrm>
            <a:off x="1201258" y="4165282"/>
            <a:ext cx="5059949" cy="288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1621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Open Sans"/>
              <a:buNone/>
            </a:pPr>
            <a:r>
              <a:rPr b="0" i="0" lang="en-US" sz="18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שומר תמיד את ההקשר</a:t>
            </a:r>
            <a:endParaRPr b="0" i="0" sz="1850" u="none" cap="none" strike="noStrike"/>
          </a:p>
        </p:txBody>
      </p:sp>
      <p:pic>
        <p:nvPicPr>
          <p:cNvPr descr="preencoded.png" id="139" name="Google Shape;139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42976" y="4525242"/>
            <a:ext cx="485825" cy="485824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8"/>
          <p:cNvSpPr/>
          <p:nvPr/>
        </p:nvSpPr>
        <p:spPr>
          <a:xfrm>
            <a:off x="3309365" y="5509805"/>
            <a:ext cx="2951841" cy="368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300"/>
              <a:buFont typeface="Rubik"/>
              <a:buNone/>
            </a:pPr>
            <a:r>
              <a:rPr b="0" i="0" lang="en-US" sz="230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ממשק משתמש</a:t>
            </a:r>
            <a:endParaRPr b="0" i="0" sz="2300" u="none" cap="none" strike="noStrike"/>
          </a:p>
        </p:txBody>
      </p:sp>
      <p:sp>
        <p:nvSpPr>
          <p:cNvPr id="141" name="Google Shape;141;p28"/>
          <p:cNvSpPr/>
          <p:nvPr/>
        </p:nvSpPr>
        <p:spPr>
          <a:xfrm>
            <a:off x="1201258" y="5983739"/>
            <a:ext cx="5059949" cy="288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1621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Open Sans"/>
              <a:buNone/>
            </a:pPr>
            <a:r>
              <a:rPr b="0" i="0" lang="en-US" sz="18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סרגל צד לבחירה מהירה</a:t>
            </a:r>
            <a:endParaRPr b="0" i="0" sz="1850" u="none" cap="none" strike="noStrike"/>
          </a:p>
        </p:txBody>
      </p:sp>
      <p:sp>
        <p:nvSpPr>
          <p:cNvPr id="142" name="Google Shape;142;p28"/>
          <p:cNvSpPr/>
          <p:nvPr/>
        </p:nvSpPr>
        <p:spPr>
          <a:xfrm>
            <a:off x="755452" y="7327106"/>
            <a:ext cx="13119497" cy="336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Open Sans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כל Gem בנוי משלושה שכבות: ההנחיות שמגדירות את אישיותו, הזיכרון שמשמר אותן לאורך זמן, וממשק פשוט לבחירה מהירה.</a:t>
            </a:r>
            <a:endParaRPr b="0" i="0" sz="165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8" name="Google Shape;14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9"/>
          <p:cNvSpPr/>
          <p:nvPr/>
        </p:nvSpPr>
        <p:spPr>
          <a:xfrm>
            <a:off x="8166021" y="3227427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None/>
            </a:pPr>
            <a:r>
              <a:rPr b="0" i="0" lang="en-US" sz="44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דוגמאות שימוש</a:t>
            </a:r>
            <a:endParaRPr b="0" i="0" sz="4450" u="none" cap="none" strike="noStrike"/>
          </a:p>
        </p:txBody>
      </p:sp>
      <p:sp>
        <p:nvSpPr>
          <p:cNvPr id="150" name="Google Shape;150;p29"/>
          <p:cNvSpPr/>
          <p:nvPr/>
        </p:nvSpPr>
        <p:spPr>
          <a:xfrm>
            <a:off x="6280190" y="4276368"/>
            <a:ext cx="75564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Gems מתאימים לכמעט כל תחום – עסקי, אקדמי ואישי. הנה כמה מהשימושים הפופולריים ביותר.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6" name="Google Shape;15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708315"/>
            <a:ext cx="5156954" cy="2812852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30"/>
          <p:cNvSpPr/>
          <p:nvPr/>
        </p:nvSpPr>
        <p:spPr>
          <a:xfrm>
            <a:off x="13076515" y="1837253"/>
            <a:ext cx="767596" cy="441484"/>
          </a:xfrm>
          <a:prstGeom prst="roundRect">
            <a:avLst>
              <a:gd fmla="val 17263" name="adj"/>
            </a:avLst>
          </a:prstGeom>
          <a:noFill/>
          <a:ln cap="flat" cmpd="sng" w="9525">
            <a:solidFill>
              <a:srgbClr val="D75B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30"/>
          <p:cNvSpPr/>
          <p:nvPr/>
        </p:nvSpPr>
        <p:spPr>
          <a:xfrm>
            <a:off x="13220224" y="1912858"/>
            <a:ext cx="480179" cy="290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1400"/>
              <a:buFont typeface="Open Sans"/>
              <a:buNone/>
            </a:pPr>
            <a:r>
              <a:rPr b="0" i="0" lang="en-US" sz="1400" u="none" cap="none" strike="noStrike">
                <a:solidFill>
                  <a:srgbClr val="D75BE2"/>
                </a:solidFill>
                <a:latin typeface="Open Sans"/>
                <a:ea typeface="Open Sans"/>
                <a:cs typeface="Open Sans"/>
                <a:sym typeface="Open Sans"/>
              </a:rPr>
              <a:t>עסקים</a:t>
            </a:r>
            <a:endParaRPr b="0" i="0" sz="1400" u="none" cap="none" strike="noStrike"/>
          </a:p>
        </p:txBody>
      </p:sp>
      <p:sp>
        <p:nvSpPr>
          <p:cNvPr id="159" name="Google Shape;159;p30"/>
          <p:cNvSpPr/>
          <p:nvPr/>
        </p:nvSpPr>
        <p:spPr>
          <a:xfrm>
            <a:off x="8173522" y="2369463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None/>
            </a:pPr>
            <a:r>
              <a:rPr b="0" i="0" lang="en-US" sz="44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בעולם העסקי</a:t>
            </a:r>
            <a:endParaRPr b="0" i="0" sz="4450" u="none" cap="none" strike="noStrike"/>
          </a:p>
        </p:txBody>
      </p:sp>
      <p:pic>
        <p:nvPicPr>
          <p:cNvPr descr="preencoded.png" id="160" name="Google Shape;160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13418939" y="3340418"/>
            <a:ext cx="340162" cy="340162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30"/>
          <p:cNvSpPr/>
          <p:nvPr/>
        </p:nvSpPr>
        <p:spPr>
          <a:xfrm>
            <a:off x="10319742" y="3333393"/>
            <a:ext cx="2787253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ניתוח דוחות כספיים</a:t>
            </a:r>
            <a:endParaRPr b="0" i="0" sz="2200" u="none" cap="none" strike="noStrike"/>
          </a:p>
        </p:txBody>
      </p:sp>
      <p:sp>
        <p:nvSpPr>
          <p:cNvPr id="162" name="Google Shape;162;p30"/>
          <p:cNvSpPr/>
          <p:nvPr/>
        </p:nvSpPr>
        <p:spPr>
          <a:xfrm>
            <a:off x="10319742" y="3914537"/>
            <a:ext cx="2787253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קריאה, סיכום ופרשנות של דוחות פיננסיים בקלות.</a:t>
            </a:r>
            <a:endParaRPr b="0" i="0" sz="1750" u="none" cap="none" strike="noStrike"/>
          </a:p>
        </p:txBody>
      </p:sp>
      <p:pic>
        <p:nvPicPr>
          <p:cNvPr descr="preencoded.png" id="163" name="Google Shape;163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9611082" y="3340418"/>
            <a:ext cx="340162" cy="340162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30"/>
          <p:cNvSpPr/>
          <p:nvPr/>
        </p:nvSpPr>
        <p:spPr>
          <a:xfrm>
            <a:off x="6511766" y="3333393"/>
            <a:ext cx="2787372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כתיבת פוסטים ללינקדאין</a:t>
            </a:r>
            <a:endParaRPr b="0" i="0" sz="2200" u="none" cap="none" strike="noStrike"/>
          </a:p>
        </p:txBody>
      </p:sp>
      <p:sp>
        <p:nvSpPr>
          <p:cNvPr id="165" name="Google Shape;165;p30"/>
          <p:cNvSpPr/>
          <p:nvPr/>
        </p:nvSpPr>
        <p:spPr>
          <a:xfrm>
            <a:off x="6511766" y="4268867"/>
            <a:ext cx="2787372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תוכן שיווקי מקצועי בקול ובסגנון שלכם.</a:t>
            </a:r>
            <a:endParaRPr b="0" i="0" sz="1750" u="none" cap="none" strike="noStrike"/>
          </a:p>
        </p:txBody>
      </p:sp>
      <p:pic>
        <p:nvPicPr>
          <p:cNvPr descr="preencoded.png" id="166" name="Google Shape;166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13418939" y="5455325"/>
            <a:ext cx="340162" cy="340162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30"/>
          <p:cNvSpPr/>
          <p:nvPr/>
        </p:nvSpPr>
        <p:spPr>
          <a:xfrm>
            <a:off x="10271760" y="544830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סיכום פגישות</a:t>
            </a:r>
            <a:endParaRPr b="0" i="0" sz="2200" u="none" cap="none" strike="noStrike"/>
          </a:p>
        </p:txBody>
      </p:sp>
      <p:sp>
        <p:nvSpPr>
          <p:cNvPr id="168" name="Google Shape;168;p30"/>
          <p:cNvSpPr/>
          <p:nvPr/>
        </p:nvSpPr>
        <p:spPr>
          <a:xfrm>
            <a:off x="6511766" y="6029444"/>
            <a:ext cx="659522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תמצית מובנית עם נקודות עיקריות ומשימות המשך.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74" name="Google Shape;17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300526"/>
            <a:ext cx="6652498" cy="3628549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31"/>
          <p:cNvSpPr/>
          <p:nvPr/>
        </p:nvSpPr>
        <p:spPr>
          <a:xfrm>
            <a:off x="13018532" y="2227064"/>
            <a:ext cx="825579" cy="441484"/>
          </a:xfrm>
          <a:prstGeom prst="roundRect">
            <a:avLst>
              <a:gd fmla="val 17263" name="adj"/>
            </a:avLst>
          </a:prstGeom>
          <a:noFill/>
          <a:ln cap="flat" cmpd="sng" w="9525">
            <a:solidFill>
              <a:srgbClr val="D75B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31"/>
          <p:cNvSpPr/>
          <p:nvPr/>
        </p:nvSpPr>
        <p:spPr>
          <a:xfrm>
            <a:off x="13162240" y="2302669"/>
            <a:ext cx="538163" cy="290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1400"/>
              <a:buFont typeface="Open Sans"/>
              <a:buNone/>
            </a:pPr>
            <a:r>
              <a:rPr b="0" i="0" lang="en-US" sz="1400" u="none" cap="none" strike="noStrike">
                <a:solidFill>
                  <a:srgbClr val="D75BE2"/>
                </a:solidFill>
                <a:latin typeface="Open Sans"/>
                <a:ea typeface="Open Sans"/>
                <a:cs typeface="Open Sans"/>
                <a:sym typeface="Open Sans"/>
              </a:rPr>
              <a:t>לימודים</a:t>
            </a:r>
            <a:endParaRPr b="0" i="0" sz="1400" u="none" cap="none" strike="noStrike"/>
          </a:p>
        </p:txBody>
      </p:sp>
      <p:sp>
        <p:nvSpPr>
          <p:cNvPr id="177" name="Google Shape;177;p31"/>
          <p:cNvSpPr/>
          <p:nvPr/>
        </p:nvSpPr>
        <p:spPr>
          <a:xfrm>
            <a:off x="8173522" y="2759273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None/>
            </a:pPr>
            <a:r>
              <a:rPr b="0" i="0" lang="en-US" sz="44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בעולם הלימודים</a:t>
            </a:r>
            <a:endParaRPr b="0" i="0" sz="4450" u="none" cap="none" strike="noStrike"/>
          </a:p>
        </p:txBody>
      </p:sp>
      <p:sp>
        <p:nvSpPr>
          <p:cNvPr id="178" name="Google Shape;178;p31"/>
          <p:cNvSpPr/>
          <p:nvPr/>
        </p:nvSpPr>
        <p:spPr>
          <a:xfrm>
            <a:off x="8007310" y="3694867"/>
            <a:ext cx="583680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Gem המשמש כחונך אישי המסביר מושגים מורכבים בשיטת </a:t>
            </a:r>
            <a:r>
              <a:rPr b="1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"חמש רמות קושי"</a:t>
            </a: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 – מהסבר לילד ועד לרמה אקדמית מתקדמת.</a:t>
            </a:r>
            <a:endParaRPr b="0" i="0" sz="1750" u="none" cap="none" strike="noStrike"/>
          </a:p>
        </p:txBody>
      </p:sp>
      <p:sp>
        <p:nvSpPr>
          <p:cNvPr id="179" name="Google Shape;179;p31"/>
          <p:cNvSpPr/>
          <p:nvPr/>
        </p:nvSpPr>
        <p:spPr>
          <a:xfrm>
            <a:off x="8007310" y="4675823"/>
            <a:ext cx="5836801" cy="1326713"/>
          </a:xfrm>
          <a:prstGeom prst="roundRect">
            <a:avLst>
              <a:gd fmla="val 7181" name="adj"/>
            </a:avLst>
          </a:prstGeom>
          <a:solidFill>
            <a:srgbClr val="EFBE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0" name="Google Shape;180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34124" y="5027533"/>
            <a:ext cx="283488" cy="226814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31"/>
          <p:cNvSpPr/>
          <p:nvPr/>
        </p:nvSpPr>
        <p:spPr>
          <a:xfrm>
            <a:off x="8744426" y="4959310"/>
            <a:ext cx="487287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הגדרת רמת ההסבר מראש מאפשרת לכל תלמיד לקבל מענה מותאם לרמתו האישית.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7" name="Google Shape;18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485787"/>
            <a:ext cx="5972770" cy="3257788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32"/>
          <p:cNvSpPr/>
          <p:nvPr/>
        </p:nvSpPr>
        <p:spPr>
          <a:xfrm>
            <a:off x="12844701" y="2297311"/>
            <a:ext cx="999411" cy="441484"/>
          </a:xfrm>
          <a:prstGeom prst="roundRect">
            <a:avLst>
              <a:gd fmla="val 17263" name="adj"/>
            </a:avLst>
          </a:prstGeom>
          <a:noFill/>
          <a:ln cap="flat" cmpd="sng" w="9525">
            <a:solidFill>
              <a:srgbClr val="D75B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32"/>
          <p:cNvSpPr/>
          <p:nvPr/>
        </p:nvSpPr>
        <p:spPr>
          <a:xfrm>
            <a:off x="12988409" y="2372916"/>
            <a:ext cx="711994" cy="290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1400"/>
              <a:buFont typeface="Open Sans"/>
              <a:buNone/>
            </a:pPr>
            <a:r>
              <a:rPr b="0" i="0" lang="en-US" sz="1400" u="none" cap="none" strike="noStrike">
                <a:solidFill>
                  <a:srgbClr val="D75BE2"/>
                </a:solidFill>
                <a:latin typeface="Open Sans"/>
                <a:ea typeface="Open Sans"/>
                <a:cs typeface="Open Sans"/>
                <a:sym typeface="Open Sans"/>
              </a:rPr>
              <a:t>חיי יום-יום</a:t>
            </a:r>
            <a:endParaRPr b="0" i="0" sz="1400" u="none" cap="none" strike="noStrike"/>
          </a:p>
        </p:txBody>
      </p:sp>
      <p:sp>
        <p:nvSpPr>
          <p:cNvPr id="190" name="Google Shape;190;p32"/>
          <p:cNvSpPr/>
          <p:nvPr/>
        </p:nvSpPr>
        <p:spPr>
          <a:xfrm>
            <a:off x="8173522" y="2829520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None/>
            </a:pPr>
            <a:r>
              <a:rPr b="0" i="0" lang="en-US" sz="44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בחיי היום-יום</a:t>
            </a:r>
            <a:endParaRPr b="0" i="0" sz="4450" u="none" cap="none" strike="noStrike"/>
          </a:p>
        </p:txBody>
      </p:sp>
      <p:sp>
        <p:nvSpPr>
          <p:cNvPr id="191" name="Google Shape;191;p32"/>
          <p:cNvSpPr/>
          <p:nvPr/>
        </p:nvSpPr>
        <p:spPr>
          <a:xfrm>
            <a:off x="10699313" y="3793450"/>
            <a:ext cx="3144798" cy="2138720"/>
          </a:xfrm>
          <a:prstGeom prst="roundRect">
            <a:avLst>
              <a:gd fmla="val 4454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32"/>
          <p:cNvSpPr/>
          <p:nvPr/>
        </p:nvSpPr>
        <p:spPr>
          <a:xfrm>
            <a:off x="10933748" y="4027884"/>
            <a:ext cx="2675930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Rubik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🏋️</a:t>
            </a:r>
            <a:r>
              <a:rPr b="0" i="0" lang="en-US" sz="22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 אימוני כושר</a:t>
            </a:r>
            <a:endParaRPr b="0" i="0" sz="2200" u="none" cap="none" strike="noStrike"/>
          </a:p>
        </p:txBody>
      </p:sp>
      <p:sp>
        <p:nvSpPr>
          <p:cNvPr id="193" name="Google Shape;193;p32"/>
          <p:cNvSpPr/>
          <p:nvPr/>
        </p:nvSpPr>
        <p:spPr>
          <a:xfrm>
            <a:off x="10933748" y="4609028"/>
            <a:ext cx="2675930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תכנון אימונים שבועיים מותאם לרמה ולמטרות האישיות שלכם.</a:t>
            </a:r>
            <a:endParaRPr b="0" i="0" sz="1750" u="none" cap="none" strike="noStrike"/>
          </a:p>
        </p:txBody>
      </p:sp>
      <p:sp>
        <p:nvSpPr>
          <p:cNvPr id="194" name="Google Shape;194;p32"/>
          <p:cNvSpPr/>
          <p:nvPr/>
        </p:nvSpPr>
        <p:spPr>
          <a:xfrm>
            <a:off x="7327583" y="3793450"/>
            <a:ext cx="3144917" cy="2138720"/>
          </a:xfrm>
          <a:prstGeom prst="roundRect">
            <a:avLst>
              <a:gd fmla="val 4454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32"/>
          <p:cNvSpPr/>
          <p:nvPr/>
        </p:nvSpPr>
        <p:spPr>
          <a:xfrm>
            <a:off x="7562017" y="4027884"/>
            <a:ext cx="2676049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Rubik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🍽️</a:t>
            </a:r>
            <a:r>
              <a:rPr b="0" i="0" lang="en-US" sz="22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 מתכונים חכמים</a:t>
            </a:r>
            <a:endParaRPr b="0" i="0" sz="2200" u="none" cap="none" strike="noStrike"/>
          </a:p>
        </p:txBody>
      </p:sp>
      <p:sp>
        <p:nvSpPr>
          <p:cNvPr id="196" name="Google Shape;196;p32"/>
          <p:cNvSpPr/>
          <p:nvPr/>
        </p:nvSpPr>
        <p:spPr>
          <a:xfrm>
            <a:off x="7562017" y="4609028"/>
            <a:ext cx="2676049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הצעות ארוחות בהתאמה לתקציב, להעדפות ולמלאי המקרר.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02" name="Google Shape;202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33"/>
          <p:cNvSpPr/>
          <p:nvPr/>
        </p:nvSpPr>
        <p:spPr>
          <a:xfrm>
            <a:off x="8166021" y="3227427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None/>
            </a:pPr>
            <a:r>
              <a:rPr b="0" i="0" lang="en-US" sz="44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חלק ב – שימוש פרקטי</a:t>
            </a:r>
            <a:endParaRPr b="0" i="0" sz="4450" u="none" cap="none" strike="noStrike"/>
          </a:p>
        </p:txBody>
      </p:sp>
      <p:sp>
        <p:nvSpPr>
          <p:cNvPr id="204" name="Google Shape;204;p33"/>
          <p:cNvSpPr/>
          <p:nvPr/>
        </p:nvSpPr>
        <p:spPr>
          <a:xfrm>
            <a:off x="6280190" y="4276368"/>
            <a:ext cx="75564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מדריך מעשי לבניית Gem משלכם – מהגדרה ראשונה ועד שליטה בפרמטרים מתקדמים.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4"/>
          <p:cNvSpPr/>
          <p:nvPr/>
        </p:nvSpPr>
        <p:spPr>
          <a:xfrm>
            <a:off x="8889802" y="787003"/>
            <a:ext cx="4143613" cy="5179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4615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3250"/>
              <a:buFont typeface="Rubik"/>
              <a:buNone/>
            </a:pPr>
            <a:r>
              <a:rPr b="0" i="0" lang="en-US" sz="35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יצירה</a:t>
            </a:r>
            <a:endParaRPr b="0" i="0" sz="3550" u="none" cap="none" strike="noStrike"/>
          </a:p>
        </p:txBody>
      </p:sp>
      <p:sp>
        <p:nvSpPr>
          <p:cNvPr id="211" name="Google Shape;211;p34"/>
          <p:cNvSpPr/>
          <p:nvPr/>
        </p:nvSpPr>
        <p:spPr>
          <a:xfrm>
            <a:off x="1596985" y="1547098"/>
            <a:ext cx="11436429" cy="2294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Open Sans"/>
              <a:buNone/>
            </a:pPr>
            <a:r>
              <a:rPr b="0" i="0" lang="en-US" sz="16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ניכנס ל"Gems" בתפריט בצד ואז נלחץ על "New Gem".</a:t>
            </a:r>
            <a:endParaRPr b="0" i="0" sz="1600" u="none" cap="none" strike="noStrike"/>
          </a:p>
        </p:txBody>
      </p:sp>
      <p:sp>
        <p:nvSpPr>
          <p:cNvPr id="212" name="Google Shape;212;p34"/>
          <p:cNvSpPr/>
          <p:nvPr/>
        </p:nvSpPr>
        <p:spPr>
          <a:xfrm>
            <a:off x="1596985" y="1912739"/>
            <a:ext cx="11436429" cy="2294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Open Sans"/>
              <a:buNone/>
            </a:pPr>
            <a:r>
              <a:rPr b="0" i="0" lang="en-US" sz="16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נשים לב שקיימים לנו במסך הזה </a:t>
            </a:r>
            <a:r>
              <a:rPr lang="en-US" sz="160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אפליקציות</a:t>
            </a:r>
            <a:r>
              <a:rPr b="0" i="0" lang="en-US" sz="16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של Labs</a:t>
            </a:r>
            <a:r>
              <a:rPr b="0" i="0" lang="en-US" sz="16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b="0" i="0" sz="1600" u="none" cap="none" strike="noStrike"/>
          </a:p>
        </p:txBody>
      </p:sp>
      <p:sp>
        <p:nvSpPr>
          <p:cNvPr id="213" name="Google Shape;213;p34"/>
          <p:cNvSpPr/>
          <p:nvPr/>
        </p:nvSpPr>
        <p:spPr>
          <a:xfrm>
            <a:off x="1596985" y="2278380"/>
            <a:ext cx="11436429" cy="2294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Open Sans"/>
              <a:buNone/>
            </a:pPr>
            <a:r>
              <a:rPr lang="en-US" sz="160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נגלול למטה אל </a:t>
            </a:r>
            <a:r>
              <a:rPr b="1" lang="en-US" sz="160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מנהל ה-Gems</a:t>
            </a:r>
            <a:r>
              <a:rPr lang="en-US" sz="160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, פה נוכל ליצור Gem חדש על ידי לחיצה על הכפתור הכחול וגם לראות את כל ה Gems שכבר יצרנו.</a:t>
            </a:r>
            <a:endParaRPr sz="24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marR="0" rtl="1" algn="r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Open Sans"/>
              <a:buNone/>
            </a:pPr>
            <a:r>
              <a:rPr lang="en-US" sz="160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0" i="0" sz="1600" u="none" cap="none" strike="noStrike"/>
          </a:p>
        </p:txBody>
      </p:sp>
      <p:sp>
        <p:nvSpPr>
          <p:cNvPr id="214" name="Google Shape;214;p34"/>
          <p:cNvSpPr/>
          <p:nvPr/>
        </p:nvSpPr>
        <p:spPr>
          <a:xfrm>
            <a:off x="1596985" y="6738461"/>
            <a:ext cx="7292102" cy="2294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None/>
            </a:pPr>
            <a:r>
              <a:t/>
            </a:r>
            <a:endParaRPr b="0" i="0" sz="1300" u="none" cap="none" strike="noStrike"/>
          </a:p>
        </p:txBody>
      </p:sp>
      <p:pic>
        <p:nvPicPr>
          <p:cNvPr descr="preencoded.png" id="215" name="Google Shape;215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38500" y="3274163"/>
            <a:ext cx="3147126" cy="2806899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4"/>
          <p:cNvSpPr/>
          <p:nvPr/>
        </p:nvSpPr>
        <p:spPr>
          <a:xfrm>
            <a:off x="1596985" y="7213044"/>
            <a:ext cx="11436429" cy="2294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None/>
            </a:pPr>
            <a:r>
              <a:t/>
            </a:r>
            <a:endParaRPr b="0" i="0" sz="1300" u="none" cap="none" strike="noStrike"/>
          </a:p>
        </p:txBody>
      </p:sp>
      <p:pic>
        <p:nvPicPr>
          <p:cNvPr id="217" name="Google Shape;217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40100" y="3145212"/>
            <a:ext cx="7232301" cy="29473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5"/>
          <p:cNvSpPr/>
          <p:nvPr/>
        </p:nvSpPr>
        <p:spPr>
          <a:xfrm>
            <a:off x="2684402" y="1031576"/>
            <a:ext cx="92616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None/>
            </a:pPr>
            <a:r>
              <a:rPr b="0" i="0" lang="en-US" sz="57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מדריך שלב אחר שלב – איך בונים Gem?</a:t>
            </a:r>
            <a:endParaRPr b="0" i="0" sz="5750" u="none" cap="none" strike="noStrike"/>
          </a:p>
        </p:txBody>
      </p:sp>
      <p:pic>
        <p:nvPicPr>
          <p:cNvPr id="224" name="Google Shape;22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6823" y="3300625"/>
            <a:ext cx="4856750" cy="4856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6"/>
          <p:cNvSpPr/>
          <p:nvPr/>
        </p:nvSpPr>
        <p:spPr>
          <a:xfrm>
            <a:off x="9039106" y="567095"/>
            <a:ext cx="45366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3550"/>
              <a:buFont typeface="Rubik"/>
              <a:buNone/>
            </a:pPr>
            <a:r>
              <a:rPr lang="en-US" sz="3550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Preview</a:t>
            </a:r>
            <a:endParaRPr b="0" i="0" sz="3550" u="none" cap="none" strike="noStrike"/>
          </a:p>
        </p:txBody>
      </p:sp>
      <p:sp>
        <p:nvSpPr>
          <p:cNvPr id="231" name="Google Shape;231;p36"/>
          <p:cNvSpPr/>
          <p:nvPr/>
        </p:nvSpPr>
        <p:spPr>
          <a:xfrm>
            <a:off x="1054775" y="1424345"/>
            <a:ext cx="125208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Open Sans"/>
              <a:buNone/>
            </a:pPr>
            <a:r>
              <a:rPr lang="en-US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מצד שמאל יפתח לנו חלון הPreview, חלון שיחה קטן בוא נוכל לצ'וטט עם הGem שלנו ולראות אם הוא מתפקד כראוי או שהוא צריך עוד עבודה.</a:t>
            </a:r>
            <a:endParaRPr>
              <a:solidFill>
                <a:srgbClr val="272525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1" algn="r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Open Sans"/>
              <a:buNone/>
            </a:pPr>
            <a:r>
              <a:rPr lang="en-US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לאחר שניסינו ושיפרנו וניסינו ושיפרנו אפשר ללחוץ "שמור" ומיד הGem יתווסף לסרגל מצד ימין.</a:t>
            </a:r>
            <a:endParaRPr>
              <a:solidFill>
                <a:srgbClr val="272525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1" algn="r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Open Sans"/>
              <a:buNone/>
            </a:pPr>
            <a:r>
              <a:rPr lang="en-US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בשלב הזה נוכל ללחוץ על השם שלו בכל פעם שנרצה לפתוח איתו שיחה.</a:t>
            </a:r>
            <a:endParaRPr>
              <a:solidFill>
                <a:srgbClr val="27252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2" name="Google Shape;232;p36"/>
          <p:cNvSpPr/>
          <p:nvPr/>
        </p:nvSpPr>
        <p:spPr>
          <a:xfrm>
            <a:off x="1054775" y="5936813"/>
            <a:ext cx="61686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 b="0" i="0" sz="1400" u="none" cap="none" strike="noStrike"/>
          </a:p>
        </p:txBody>
      </p:sp>
      <p:sp>
        <p:nvSpPr>
          <p:cNvPr id="233" name="Google Shape;233;p36"/>
          <p:cNvSpPr/>
          <p:nvPr/>
        </p:nvSpPr>
        <p:spPr>
          <a:xfrm>
            <a:off x="1054775" y="7401163"/>
            <a:ext cx="125208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 b="0" i="0" sz="1400" u="none" cap="none" strike="noStrike"/>
          </a:p>
        </p:txBody>
      </p:sp>
      <p:pic>
        <p:nvPicPr>
          <p:cNvPr id="234" name="Google Shape;23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0325" y="3202175"/>
            <a:ext cx="6065625" cy="484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24650" y="3567876"/>
            <a:ext cx="5069750" cy="339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7"/>
          <p:cNvSpPr/>
          <p:nvPr/>
        </p:nvSpPr>
        <p:spPr>
          <a:xfrm>
            <a:off x="8989576" y="549473"/>
            <a:ext cx="4405908" cy="5507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4637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3450"/>
              <a:buFont typeface="Rubik"/>
              <a:buNone/>
            </a:pPr>
            <a:r>
              <a:rPr b="0" i="0" lang="en-US" sz="34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הגדרה</a:t>
            </a:r>
            <a:endParaRPr b="0" i="0" sz="3450" u="none" cap="none" strike="noStrike"/>
          </a:p>
        </p:txBody>
      </p:sp>
      <p:sp>
        <p:nvSpPr>
          <p:cNvPr id="242" name="Google Shape;242;p37"/>
          <p:cNvSpPr/>
          <p:nvPr/>
        </p:nvSpPr>
        <p:spPr>
          <a:xfrm>
            <a:off x="1234916" y="1374100"/>
            <a:ext cx="12160568" cy="250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Open Sans"/>
              <a:buNone/>
            </a:pPr>
            <a:r>
              <a:rPr b="0" i="0" lang="en-US" sz="13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בשלב הזה נכתוב לGemini את ההנחיות עבור הGem שלנו.</a:t>
            </a:r>
            <a:endParaRPr b="0" i="0" sz="1350" u="none" cap="none" strike="noStrike">
              <a:solidFill>
                <a:srgbClr val="272525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1" algn="r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Open Sans"/>
              <a:buNone/>
            </a:pPr>
            <a:r>
              <a:rPr lang="en-US" sz="13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נתחיל ב</a:t>
            </a:r>
            <a:r>
              <a:rPr b="1" lang="en-US" sz="13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שם</a:t>
            </a:r>
            <a:r>
              <a:rPr lang="en-US" sz="13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 ואז </a:t>
            </a:r>
            <a:r>
              <a:rPr b="1" lang="en-US" sz="13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תיאור</a:t>
            </a:r>
            <a:r>
              <a:rPr lang="en-US" sz="13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. אמנם אין להם השפעה על התנהגות הAI אבל אסור לזלזל בהם!</a:t>
            </a:r>
            <a:endParaRPr sz="1350">
              <a:solidFill>
                <a:srgbClr val="272525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1" algn="r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Open Sans"/>
              <a:buNone/>
            </a:pPr>
            <a:r>
              <a:rPr lang="en-US" sz="13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נוסיף </a:t>
            </a:r>
            <a:r>
              <a:rPr b="1" lang="en-US" sz="13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הוראות</a:t>
            </a:r>
            <a:r>
              <a:rPr lang="en-US" sz="13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 - פה נסביר לGem מה הוא אמור לעשות ומה אנחנו מצפים לקבל.  זה המקום שלנו להפגין את כל יכולות ההנדסת פרומפטים שלמדנו.</a:t>
            </a:r>
            <a:endParaRPr sz="1350">
              <a:solidFill>
                <a:srgbClr val="272525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1" algn="r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Open Sans"/>
              <a:buNone/>
            </a:pPr>
            <a:r>
              <a:rPr lang="en-US" sz="13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בנוסף קיימת אפשרות לבקש בGemini לשפר את הפרומפט שלנו.</a:t>
            </a:r>
            <a:endParaRPr sz="1350">
              <a:solidFill>
                <a:srgbClr val="272525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1" algn="r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Open Sans"/>
              <a:buNone/>
            </a:pPr>
            <a:r>
              <a:rPr lang="en-US" sz="13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נבחר </a:t>
            </a:r>
            <a:r>
              <a:rPr b="1" lang="en-US" sz="13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כלי ברירת מחדל</a:t>
            </a:r>
            <a:r>
              <a:rPr lang="en-US" sz="13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 - זה יהיה הכלי שמתחילת השיחה יוגדר לצ'אט (כמו יצירת תמונה או חיפוש באינטרט), אין מה לדאוג שכן המשתמש תמיד יכול לשנות את זה תוך כדי שיחה.</a:t>
            </a:r>
            <a:endParaRPr sz="1350">
              <a:solidFill>
                <a:srgbClr val="272525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1" algn="r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Open Sans"/>
              <a:buNone/>
            </a:pPr>
            <a:r>
              <a:rPr lang="en-US" sz="13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לבסוף נוסיף </a:t>
            </a:r>
            <a:r>
              <a:rPr b="1" lang="en-US" sz="13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ידע</a:t>
            </a:r>
            <a:r>
              <a:rPr lang="en-US" sz="13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 - קבצים שיהיו כל מה שהGem יודע מראש ולא צריך לומר לו שוב.</a:t>
            </a:r>
            <a:endParaRPr sz="1350">
              <a:solidFill>
                <a:srgbClr val="272525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1" algn="r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Open Sans"/>
              <a:buNone/>
            </a:pPr>
            <a:r>
              <a:t/>
            </a:r>
            <a:endParaRPr sz="1350">
              <a:solidFill>
                <a:srgbClr val="272525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1" algn="r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Open Sans"/>
              <a:buNone/>
            </a:pPr>
            <a:r>
              <a:t/>
            </a:r>
            <a:endParaRPr sz="1350">
              <a:solidFill>
                <a:srgbClr val="272525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1" algn="r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Open Sans"/>
              <a:buNone/>
            </a:pPr>
            <a:r>
              <a:t/>
            </a:r>
            <a:endParaRPr sz="1350">
              <a:solidFill>
                <a:srgbClr val="27252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3" name="Google Shape;243;p37"/>
          <p:cNvSpPr/>
          <p:nvPr/>
        </p:nvSpPr>
        <p:spPr>
          <a:xfrm>
            <a:off x="1234916" y="1778437"/>
            <a:ext cx="12160568" cy="250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Open Sans"/>
              <a:buNone/>
            </a:pPr>
            <a:r>
              <a:t/>
            </a:r>
            <a:endParaRPr sz="1350">
              <a:solidFill>
                <a:srgbClr val="27252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4" name="Google Shape;244;p37"/>
          <p:cNvSpPr/>
          <p:nvPr/>
        </p:nvSpPr>
        <p:spPr>
          <a:xfrm>
            <a:off x="1234941" y="2138323"/>
            <a:ext cx="121605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Open Sans"/>
              <a:buNone/>
            </a:pPr>
            <a:r>
              <a:t/>
            </a:r>
            <a:endParaRPr sz="1350">
              <a:solidFill>
                <a:srgbClr val="27252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5" name="Google Shape;245;p37"/>
          <p:cNvSpPr/>
          <p:nvPr/>
        </p:nvSpPr>
        <p:spPr>
          <a:xfrm>
            <a:off x="1234916" y="7429738"/>
            <a:ext cx="12160568" cy="250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350"/>
              <a:buFont typeface="Arial"/>
              <a:buNone/>
            </a:pPr>
            <a:r>
              <a:t/>
            </a:r>
            <a:endParaRPr b="0" i="0" sz="1350" u="none" cap="none" strike="noStrike"/>
          </a:p>
        </p:txBody>
      </p:sp>
      <p:pic>
        <p:nvPicPr>
          <p:cNvPr id="246" name="Google Shape;24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22903" y="3905500"/>
            <a:ext cx="3428443" cy="27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2" y="3992350"/>
            <a:ext cx="4013075" cy="260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0423" y="4135663"/>
            <a:ext cx="4975699" cy="232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8"/>
          <p:cNvSpPr/>
          <p:nvPr/>
        </p:nvSpPr>
        <p:spPr>
          <a:xfrm>
            <a:off x="1629489" y="1837492"/>
            <a:ext cx="12207121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None/>
            </a:pPr>
            <a:r>
              <a:rPr b="0" i="0" lang="en-US" sz="44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"הכפתורים הנסתרים" – שליטה ב-Gem דרך פרומפט</a:t>
            </a:r>
            <a:endParaRPr b="0" i="0" sz="4450" u="none" cap="none" strike="noStrike"/>
          </a:p>
        </p:txBody>
      </p:sp>
      <p:sp>
        <p:nvSpPr>
          <p:cNvPr id="255" name="Google Shape;255;p38"/>
          <p:cNvSpPr/>
          <p:nvPr/>
        </p:nvSpPr>
        <p:spPr>
          <a:xfrm>
            <a:off x="793790" y="2999899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בניגוד למודלים אחרים, Gems שמים דגש על פשטות – אין פרמטרים טכניים לשינוי. השליטה מתבצעת </a:t>
            </a:r>
            <a:r>
              <a:rPr b="1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ברמת הנדסת הפרומפטים</a:t>
            </a: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 בלבד.</a:t>
            </a:r>
            <a:endParaRPr b="0" i="0" sz="1750" u="none" cap="none" strike="noStrike"/>
          </a:p>
        </p:txBody>
      </p:sp>
      <p:sp>
        <p:nvSpPr>
          <p:cNvPr id="256" name="Google Shape;256;p38"/>
          <p:cNvSpPr/>
          <p:nvPr/>
        </p:nvSpPr>
        <p:spPr>
          <a:xfrm>
            <a:off x="9640252" y="3617952"/>
            <a:ext cx="4196358" cy="2774156"/>
          </a:xfrm>
          <a:prstGeom prst="roundRect">
            <a:avLst>
              <a:gd fmla="val 3434" name="adj"/>
            </a:avLst>
          </a:prstGeom>
          <a:solidFill>
            <a:srgbClr val="FFFFFF"/>
          </a:solidFill>
          <a:ln cap="flat" cmpd="sng" w="3047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38"/>
          <p:cNvSpPr/>
          <p:nvPr/>
        </p:nvSpPr>
        <p:spPr>
          <a:xfrm>
            <a:off x="9670733" y="3648432"/>
            <a:ext cx="4135398" cy="680442"/>
          </a:xfrm>
          <a:prstGeom prst="roundRect">
            <a:avLst>
              <a:gd fmla="val 8626" name="adj"/>
            </a:avLst>
          </a:prstGeom>
          <a:solidFill>
            <a:srgbClr val="F4D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8" name="Google Shape;258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68351" y="3814643"/>
            <a:ext cx="340162" cy="340162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38"/>
          <p:cNvSpPr/>
          <p:nvPr/>
        </p:nvSpPr>
        <p:spPr>
          <a:xfrm>
            <a:off x="10744081" y="455568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שליטה ביצירתיות</a:t>
            </a:r>
            <a:endParaRPr b="0" i="0" sz="2200" u="none" cap="none" strike="noStrike"/>
          </a:p>
        </p:txBody>
      </p:sp>
      <p:sp>
        <p:nvSpPr>
          <p:cNvPr id="260" name="Google Shape;260;p38"/>
          <p:cNvSpPr/>
          <p:nvPr/>
        </p:nvSpPr>
        <p:spPr>
          <a:xfrm>
            <a:off x="9897547" y="5046107"/>
            <a:ext cx="368177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"היה עובדתי בלבד" מול "תמציא רעיונות פרועים" – הגדירו את הטווח בטקסט.</a:t>
            </a:r>
            <a:endParaRPr b="0" i="0" sz="1750" u="none" cap="none" strike="noStrike"/>
          </a:p>
        </p:txBody>
      </p:sp>
      <p:sp>
        <p:nvSpPr>
          <p:cNvPr id="261" name="Google Shape;261;p38"/>
          <p:cNvSpPr/>
          <p:nvPr/>
        </p:nvSpPr>
        <p:spPr>
          <a:xfrm>
            <a:off x="5217081" y="3617952"/>
            <a:ext cx="4196358" cy="2774156"/>
          </a:xfrm>
          <a:prstGeom prst="roundRect">
            <a:avLst>
              <a:gd fmla="val 3434" name="adj"/>
            </a:avLst>
          </a:prstGeom>
          <a:solidFill>
            <a:srgbClr val="FFFFFF"/>
          </a:solidFill>
          <a:ln cap="flat" cmpd="sng" w="3047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38"/>
          <p:cNvSpPr/>
          <p:nvPr/>
        </p:nvSpPr>
        <p:spPr>
          <a:xfrm>
            <a:off x="5247561" y="3648432"/>
            <a:ext cx="4135398" cy="680442"/>
          </a:xfrm>
          <a:prstGeom prst="roundRect">
            <a:avLst>
              <a:gd fmla="val 8626" name="adj"/>
            </a:avLst>
          </a:prstGeom>
          <a:solidFill>
            <a:srgbClr val="F4D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3" name="Google Shape;263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45179" y="3814643"/>
            <a:ext cx="340162" cy="340162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38"/>
          <p:cNvSpPr/>
          <p:nvPr/>
        </p:nvSpPr>
        <p:spPr>
          <a:xfrm>
            <a:off x="6320909" y="455568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עיצוב הפלט</a:t>
            </a:r>
            <a:endParaRPr b="0" i="0" sz="2200" u="none" cap="none" strike="noStrike"/>
          </a:p>
        </p:txBody>
      </p:sp>
      <p:sp>
        <p:nvSpPr>
          <p:cNvPr id="265" name="Google Shape;265;p38"/>
          <p:cNvSpPr/>
          <p:nvPr/>
        </p:nvSpPr>
        <p:spPr>
          <a:xfrm>
            <a:off x="5474375" y="5046107"/>
            <a:ext cx="3681770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קביעה מראש: האם ה-Gem יענה בטבלאות, בולטים, פורמט קוד, או פסקאות רצופות.</a:t>
            </a:r>
            <a:endParaRPr b="0" i="0" sz="1750" u="none" cap="none" strike="noStrike"/>
          </a:p>
        </p:txBody>
      </p:sp>
      <p:sp>
        <p:nvSpPr>
          <p:cNvPr id="266" name="Google Shape;266;p38"/>
          <p:cNvSpPr/>
          <p:nvPr/>
        </p:nvSpPr>
        <p:spPr>
          <a:xfrm>
            <a:off x="793909" y="3617952"/>
            <a:ext cx="4196358" cy="2774156"/>
          </a:xfrm>
          <a:prstGeom prst="roundRect">
            <a:avLst>
              <a:gd fmla="val 3434" name="adj"/>
            </a:avLst>
          </a:prstGeom>
          <a:solidFill>
            <a:srgbClr val="FFFFFF"/>
          </a:solidFill>
          <a:ln cap="flat" cmpd="sng" w="3047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38"/>
          <p:cNvSpPr/>
          <p:nvPr/>
        </p:nvSpPr>
        <p:spPr>
          <a:xfrm>
            <a:off x="824389" y="3648432"/>
            <a:ext cx="4135398" cy="680442"/>
          </a:xfrm>
          <a:prstGeom prst="roundRect">
            <a:avLst>
              <a:gd fmla="val 8626" name="adj"/>
            </a:avLst>
          </a:prstGeom>
          <a:solidFill>
            <a:srgbClr val="F4D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8" name="Google Shape;268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22007" y="3814643"/>
            <a:ext cx="340162" cy="340162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38"/>
          <p:cNvSpPr/>
          <p:nvPr/>
        </p:nvSpPr>
        <p:spPr>
          <a:xfrm>
            <a:off x="1897737" y="455568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פרסונה וגבולות</a:t>
            </a:r>
            <a:endParaRPr b="0" i="0" sz="2200" u="none" cap="none" strike="noStrike"/>
          </a:p>
        </p:txBody>
      </p:sp>
      <p:sp>
        <p:nvSpPr>
          <p:cNvPr id="270" name="Google Shape;270;p38"/>
          <p:cNvSpPr/>
          <p:nvPr/>
        </p:nvSpPr>
        <p:spPr>
          <a:xfrm>
            <a:off x="1051203" y="5046107"/>
            <a:ext cx="3681770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הגדירו טון דיבור (מקצועי/סלנג) ו-Guardrails – נושאים שהמודל לא יגע בהם.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6" name="Google Shape;27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9"/>
          <p:cNvSpPr/>
          <p:nvPr/>
        </p:nvSpPr>
        <p:spPr>
          <a:xfrm>
            <a:off x="8166021" y="3408878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None/>
            </a:pPr>
            <a:r>
              <a:rPr b="0" i="0" lang="en-US" sz="44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חלק ג – חשוב לדעת</a:t>
            </a:r>
            <a:endParaRPr b="0" i="0" sz="4450" u="none" cap="none" strike="noStrike"/>
          </a:p>
        </p:txBody>
      </p:sp>
      <p:sp>
        <p:nvSpPr>
          <p:cNvPr id="278" name="Google Shape;278;p39"/>
          <p:cNvSpPr/>
          <p:nvPr/>
        </p:nvSpPr>
        <p:spPr>
          <a:xfrm>
            <a:off x="6280190" y="4457819"/>
            <a:ext cx="75564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השוואות, מגבלות ודברים שכדאי לדעת לפני שצוללים לעבודה עם Gems.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0"/>
          <p:cNvSpPr/>
          <p:nvPr/>
        </p:nvSpPr>
        <p:spPr>
          <a:xfrm>
            <a:off x="3824702" y="719630"/>
            <a:ext cx="69810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None/>
            </a:pPr>
            <a:r>
              <a:rPr b="0" i="0" lang="en-US" sz="44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Gems מול GPTs – מי נגד מי?</a:t>
            </a:r>
            <a:endParaRPr b="0" i="0" sz="4450" u="none" cap="none" strike="noStrike"/>
          </a:p>
        </p:txBody>
      </p:sp>
      <p:sp>
        <p:nvSpPr>
          <p:cNvPr id="285" name="Google Shape;285;p40"/>
          <p:cNvSpPr/>
          <p:nvPr/>
        </p:nvSpPr>
        <p:spPr>
          <a:xfrm>
            <a:off x="4203263" y="299918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200"/>
              <a:buFont typeface="Rubik"/>
              <a:buNone/>
            </a:pPr>
            <a:r>
              <a:rPr b="0" i="0" lang="en-US" sz="220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מסקנה</a:t>
            </a:r>
            <a:endParaRPr b="0" i="0" sz="2200" u="none" cap="none" strike="noStrike"/>
          </a:p>
        </p:txBody>
      </p:sp>
      <p:sp>
        <p:nvSpPr>
          <p:cNvPr id="286" name="Google Shape;286;p40"/>
          <p:cNvSpPr/>
          <p:nvPr/>
        </p:nvSpPr>
        <p:spPr>
          <a:xfrm>
            <a:off x="793790" y="3580328"/>
            <a:ext cx="6244709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שני הכלים מאפשרים יצירת עוזרים ללא קוד. </a:t>
            </a:r>
            <a:r>
              <a:rPr b="1" i="0" lang="en-US" sz="1750" u="none" cap="none" strike="noStrike">
                <a:solidFill>
                  <a:srgbClr val="D75BE2"/>
                </a:solidFill>
                <a:latin typeface="Open Sans"/>
                <a:ea typeface="Open Sans"/>
                <a:cs typeface="Open Sans"/>
                <a:sym typeface="Open Sans"/>
              </a:rPr>
              <a:t>היתרון של Gems</a:t>
            </a: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 הוא האינטגרציה החלקה עם אקוסיסטם Google – אידיאלי למשתמשי Workspace.</a:t>
            </a:r>
            <a:endParaRPr b="0" i="0" sz="1750" u="none" cap="none" strike="noStrike"/>
          </a:p>
        </p:txBody>
      </p:sp>
      <p:sp>
        <p:nvSpPr>
          <p:cNvPr id="287" name="Google Shape;287;p40"/>
          <p:cNvSpPr/>
          <p:nvPr/>
        </p:nvSpPr>
        <p:spPr>
          <a:xfrm>
            <a:off x="793790" y="4924187"/>
            <a:ext cx="6244709" cy="1326713"/>
          </a:xfrm>
          <a:prstGeom prst="roundRect">
            <a:avLst>
              <a:gd fmla="val 7181" name="adj"/>
            </a:avLst>
          </a:prstGeom>
          <a:solidFill>
            <a:srgbClr val="EFBE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8" name="Google Shape;28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604" y="5275897"/>
            <a:ext cx="283488" cy="226814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40"/>
          <p:cNvSpPr/>
          <p:nvPr/>
        </p:nvSpPr>
        <p:spPr>
          <a:xfrm>
            <a:off x="1530906" y="5207675"/>
            <a:ext cx="5280779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אם אתם עובדים בסביבת Google (Drive, Gmail, Docs) – Gems הם הבחירה הטבעית.</a:t>
            </a:r>
            <a:endParaRPr b="0" i="0" sz="1750" u="none" cap="none" strike="noStrike"/>
          </a:p>
        </p:txBody>
      </p:sp>
      <p:sp>
        <p:nvSpPr>
          <p:cNvPr id="290" name="Google Shape;290;p40"/>
          <p:cNvSpPr/>
          <p:nvPr/>
        </p:nvSpPr>
        <p:spPr>
          <a:xfrm>
            <a:off x="7599521" y="3027521"/>
            <a:ext cx="3008948" cy="2501622"/>
          </a:xfrm>
          <a:prstGeom prst="roundRect">
            <a:avLst>
              <a:gd fmla="val 3808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40"/>
          <p:cNvSpPr/>
          <p:nvPr/>
        </p:nvSpPr>
        <p:spPr>
          <a:xfrm>
            <a:off x="7833955" y="3261955"/>
            <a:ext cx="2540079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Rubik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🟣</a:t>
            </a:r>
            <a:r>
              <a:rPr b="0" i="0" lang="en-US" sz="22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 Gems</a:t>
            </a:r>
            <a:endParaRPr b="0" i="0" sz="2200" u="none" cap="none" strike="noStrike"/>
          </a:p>
        </p:txBody>
      </p:sp>
      <p:sp>
        <p:nvSpPr>
          <p:cNvPr id="292" name="Google Shape;292;p40"/>
          <p:cNvSpPr/>
          <p:nvPr/>
        </p:nvSpPr>
        <p:spPr>
          <a:xfrm>
            <a:off x="7833955" y="3843099"/>
            <a:ext cx="2540079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אינטגרציה מובנית עם Drive, Gmail ו-Search. ממשק ידידותי ומהיר במיוחד.</a:t>
            </a:r>
            <a:endParaRPr b="0" i="0" sz="1750" u="none" cap="none" strike="noStrike"/>
          </a:p>
        </p:txBody>
      </p:sp>
      <p:sp>
        <p:nvSpPr>
          <p:cNvPr id="293" name="Google Shape;293;p40"/>
          <p:cNvSpPr/>
          <p:nvPr/>
        </p:nvSpPr>
        <p:spPr>
          <a:xfrm>
            <a:off x="10835283" y="3027521"/>
            <a:ext cx="3008948" cy="2501622"/>
          </a:xfrm>
          <a:prstGeom prst="roundRect">
            <a:avLst>
              <a:gd fmla="val 3808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40"/>
          <p:cNvSpPr/>
          <p:nvPr/>
        </p:nvSpPr>
        <p:spPr>
          <a:xfrm>
            <a:off x="11069717" y="3261955"/>
            <a:ext cx="2540079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Rubik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🟢</a:t>
            </a:r>
            <a:r>
              <a:rPr b="0" i="0" lang="en-US" sz="22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 GPTs</a:t>
            </a:r>
            <a:endParaRPr b="0" i="0" sz="2200" u="none" cap="none" strike="noStrike"/>
          </a:p>
        </p:txBody>
      </p:sp>
      <p:sp>
        <p:nvSpPr>
          <p:cNvPr id="295" name="Google Shape;295;p40"/>
          <p:cNvSpPr/>
          <p:nvPr/>
        </p:nvSpPr>
        <p:spPr>
          <a:xfrm>
            <a:off x="11069717" y="3843099"/>
            <a:ext cx="2540079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חיבורים חיצוניים (Plugins/APIs) עשירים יותר. הפרדה חדה בין הגדרות לתצוגה מקדימה.</a:t>
            </a:r>
            <a:endParaRPr b="0" i="0" sz="1750" u="none" cap="none" strike="noStrike"/>
          </a:p>
        </p:txBody>
      </p:sp>
      <p:sp>
        <p:nvSpPr>
          <p:cNvPr id="296" name="Google Shape;296;p40"/>
          <p:cNvSpPr/>
          <p:nvPr/>
        </p:nvSpPr>
        <p:spPr>
          <a:xfrm>
            <a:off x="7504190" y="1608753"/>
            <a:ext cx="62448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חלקכם אולי מכירים את המקבילה המפורסמת בOpenAI הGPTs.</a:t>
            </a:r>
            <a:endParaRPr sz="1750">
              <a:solidFill>
                <a:srgbClr val="272525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בוא נבין מה ההבדלים והקווי דמיון בין האפשרויות-</a:t>
            </a:r>
            <a:endParaRPr sz="1750">
              <a:solidFill>
                <a:srgbClr val="27252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02" name="Google Shape;302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930843"/>
            <a:ext cx="4341138" cy="2367796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41"/>
          <p:cNvSpPr/>
          <p:nvPr/>
        </p:nvSpPr>
        <p:spPr>
          <a:xfrm>
            <a:off x="5695950" y="2344936"/>
            <a:ext cx="5831443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None/>
            </a:pPr>
            <a:r>
              <a:rPr b="0" i="0" lang="en-US" sz="44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Gems וממשקים חיצוניים</a:t>
            </a:r>
            <a:endParaRPr b="0" i="0" sz="4450" u="none" cap="none" strike="noStrike"/>
          </a:p>
        </p:txBody>
      </p:sp>
      <p:sp>
        <p:nvSpPr>
          <p:cNvPr id="304" name="Google Shape;304;p41"/>
          <p:cNvSpPr/>
          <p:nvPr/>
        </p:nvSpPr>
        <p:spPr>
          <a:xfrm>
            <a:off x="9883497" y="3308866"/>
            <a:ext cx="3960614" cy="2547342"/>
          </a:xfrm>
          <a:prstGeom prst="roundRect">
            <a:avLst>
              <a:gd fmla="val 5743" name="adj"/>
            </a:avLst>
          </a:prstGeom>
          <a:solidFill>
            <a:srgbClr val="FFFFFF"/>
          </a:solidFill>
          <a:ln cap="flat" cmpd="sng" w="3047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41"/>
          <p:cNvSpPr/>
          <p:nvPr/>
        </p:nvSpPr>
        <p:spPr>
          <a:xfrm>
            <a:off x="13752671" y="3308866"/>
            <a:ext cx="121920" cy="2547342"/>
          </a:xfrm>
          <a:prstGeom prst="roundRect">
            <a:avLst>
              <a:gd fmla="val 78139" name="adj"/>
            </a:avLst>
          </a:prstGeom>
          <a:solidFill>
            <a:srgbClr val="D75B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41"/>
          <p:cNvSpPr/>
          <p:nvPr/>
        </p:nvSpPr>
        <p:spPr>
          <a:xfrm>
            <a:off x="10660142" y="356616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מגבלת הממשק</a:t>
            </a:r>
            <a:endParaRPr b="0" i="0" sz="2200" u="none" cap="none" strike="noStrike"/>
          </a:p>
        </p:txBody>
      </p:sp>
      <p:sp>
        <p:nvSpPr>
          <p:cNvPr id="307" name="Google Shape;307;p41"/>
          <p:cNvSpPr/>
          <p:nvPr/>
        </p:nvSpPr>
        <p:spPr>
          <a:xfrm>
            <a:off x="10140791" y="4147304"/>
            <a:ext cx="3354586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Gems הם כלי "סגור" בתוך Gemini – לא ניתן להטמיעם ישירות בפלטפורמות חיצוניות.</a:t>
            </a:r>
            <a:endParaRPr b="0" i="0" sz="1750" u="none" cap="none" strike="noStrike"/>
          </a:p>
        </p:txBody>
      </p:sp>
      <p:sp>
        <p:nvSpPr>
          <p:cNvPr id="308" name="Google Shape;308;p41"/>
          <p:cNvSpPr/>
          <p:nvPr/>
        </p:nvSpPr>
        <p:spPr>
          <a:xfrm>
            <a:off x="5695950" y="3308866"/>
            <a:ext cx="3960733" cy="2547342"/>
          </a:xfrm>
          <a:prstGeom prst="roundRect">
            <a:avLst>
              <a:gd fmla="val 5743" name="adj"/>
            </a:avLst>
          </a:prstGeom>
          <a:solidFill>
            <a:srgbClr val="FFFFFF"/>
          </a:solidFill>
          <a:ln cap="flat" cmpd="sng" w="3047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41"/>
          <p:cNvSpPr/>
          <p:nvPr/>
        </p:nvSpPr>
        <p:spPr>
          <a:xfrm>
            <a:off x="9565243" y="3308866"/>
            <a:ext cx="121920" cy="2547342"/>
          </a:xfrm>
          <a:prstGeom prst="roundRect">
            <a:avLst>
              <a:gd fmla="val 78139" name="adj"/>
            </a:avLst>
          </a:prstGeom>
          <a:solidFill>
            <a:srgbClr val="D75B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41"/>
          <p:cNvSpPr/>
          <p:nvPr/>
        </p:nvSpPr>
        <p:spPr>
          <a:xfrm>
            <a:off x="6472714" y="356616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הדרך לעקוף</a:t>
            </a:r>
            <a:endParaRPr b="0" i="0" sz="2200" u="none" cap="none" strike="noStrike"/>
          </a:p>
        </p:txBody>
      </p:sp>
      <p:sp>
        <p:nvSpPr>
          <p:cNvPr id="311" name="Google Shape;311;p41"/>
          <p:cNvSpPr/>
          <p:nvPr/>
        </p:nvSpPr>
        <p:spPr>
          <a:xfrm>
            <a:off x="5953244" y="4147304"/>
            <a:ext cx="3354705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בהמשך הקורס נלמד להשתמש במערכות אוטומציה חיצונית היכולות "לדבר" עם הGemini שלנו ובכך לחבר אותו לכל מערכת שנרצה.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7" name="Google Shape;31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42"/>
          <p:cNvSpPr/>
          <p:nvPr/>
        </p:nvSpPr>
        <p:spPr>
          <a:xfrm>
            <a:off x="2679621" y="703064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None/>
            </a:pPr>
            <a:r>
              <a:rPr b="0" i="0" lang="en-US" sz="44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חסרונות ומגבלות</a:t>
            </a:r>
            <a:endParaRPr b="0" i="0" sz="4450" u="none" cap="none" strike="noStrike"/>
          </a:p>
        </p:txBody>
      </p:sp>
      <p:sp>
        <p:nvSpPr>
          <p:cNvPr id="319" name="Google Shape;319;p42"/>
          <p:cNvSpPr/>
          <p:nvPr/>
        </p:nvSpPr>
        <p:spPr>
          <a:xfrm>
            <a:off x="793790" y="1752005"/>
            <a:ext cx="3664863" cy="2955250"/>
          </a:xfrm>
          <a:prstGeom prst="roundRect">
            <a:avLst>
              <a:gd fmla="val 3224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42"/>
          <p:cNvSpPr/>
          <p:nvPr/>
        </p:nvSpPr>
        <p:spPr>
          <a:xfrm>
            <a:off x="3543776" y="1986439"/>
            <a:ext cx="680442" cy="680442"/>
          </a:xfrm>
          <a:prstGeom prst="roundRect">
            <a:avLst>
              <a:gd fmla="val 13436980" name="adj"/>
            </a:avLst>
          </a:prstGeom>
          <a:solidFill>
            <a:srgbClr val="D75B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1" name="Google Shape;321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30943" y="2173486"/>
            <a:ext cx="306110" cy="30611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42"/>
          <p:cNvSpPr/>
          <p:nvPr/>
        </p:nvSpPr>
        <p:spPr>
          <a:xfrm>
            <a:off x="1388983" y="289369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שיתופיות מוגבלת</a:t>
            </a:r>
            <a:endParaRPr b="0" i="0" sz="2200" u="none" cap="none" strike="noStrike"/>
          </a:p>
        </p:txBody>
      </p:sp>
      <p:sp>
        <p:nvSpPr>
          <p:cNvPr id="323" name="Google Shape;323;p42"/>
          <p:cNvSpPr/>
          <p:nvPr/>
        </p:nvSpPr>
        <p:spPr>
          <a:xfrm>
            <a:off x="1028224" y="3384113"/>
            <a:ext cx="319599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אין חנות ציבורית מפותחת – Gems הם בעיקר כלי אישי או פנים-ארגוני.</a:t>
            </a:r>
            <a:endParaRPr b="0" i="0" sz="1750" u="none" cap="none" strike="noStrike"/>
          </a:p>
        </p:txBody>
      </p:sp>
      <p:sp>
        <p:nvSpPr>
          <p:cNvPr id="324" name="Google Shape;324;p42"/>
          <p:cNvSpPr/>
          <p:nvPr/>
        </p:nvSpPr>
        <p:spPr>
          <a:xfrm>
            <a:off x="793790" y="4934069"/>
            <a:ext cx="7556421" cy="2592348"/>
          </a:xfrm>
          <a:prstGeom prst="roundRect">
            <a:avLst>
              <a:gd fmla="val 3675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42"/>
          <p:cNvSpPr/>
          <p:nvPr/>
        </p:nvSpPr>
        <p:spPr>
          <a:xfrm>
            <a:off x="7435334" y="5168503"/>
            <a:ext cx="680442" cy="680442"/>
          </a:xfrm>
          <a:prstGeom prst="roundRect">
            <a:avLst>
              <a:gd fmla="val 13436980" name="adj"/>
            </a:avLst>
          </a:prstGeom>
          <a:solidFill>
            <a:srgbClr val="D75B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6" name="Google Shape;326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2500" y="5355550"/>
            <a:ext cx="306110" cy="30611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42"/>
          <p:cNvSpPr/>
          <p:nvPr/>
        </p:nvSpPr>
        <p:spPr>
          <a:xfrm>
            <a:off x="5280541" y="607575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איכות ההנחיות קריטית</a:t>
            </a:r>
            <a:endParaRPr b="0" i="0" sz="2200" u="none" cap="none" strike="noStrike"/>
          </a:p>
        </p:txBody>
      </p:sp>
      <p:sp>
        <p:nvSpPr>
          <p:cNvPr id="328" name="Google Shape;328;p42"/>
          <p:cNvSpPr/>
          <p:nvPr/>
        </p:nvSpPr>
        <p:spPr>
          <a:xfrm>
            <a:off x="1028224" y="6566178"/>
            <a:ext cx="7087553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Gem דורש הנדסת פרומפטים איכותית. הנחיות שטחיות יובילו לתוצאות בינוניות והזיות.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