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אחרי Gemini ו-Gems, היום עוברים ל-Claude. המטרה: להכיר את הממשק של claude.ai ולצאת עם artifact אחד משלכם.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ארבעה חלקים. החלק השלישי הוא הלב של השיעור: לכל סוג artifact נראה צילום מסך אמיתי של דוגמה, ונשאל מתי בוחרים בו.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שאלה לכיתה: כמה פעמים העתקתם טבלה או קוד מתשובה של צ'אט, ואיבדתם אותה אחר כך? זו הבעיה ש-Artifact פותר: התוצר יוצא מהשיחה ומקבל חיים משלו.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לעבור על המסך מימין לשמאל. להדגיש את Artifacts ו-Design בסרגל הצד, כי אליהם נחזור. את Projects ו-Cowork רק להזכיר, הם נושא לשיעור אחר.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הדגמה חיה: להקליד את אותו פרומפט מול הכיתה. להראות שהמחשבון עובד מיד, ואז לבקש שינוי אחד ולראות אותו מתעדכן. להצביע על Only you: אף אחד לא רואה את זה עד שמשתפים.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זו השקופית שכדאי שיזכרו. לא שמות של מוצרים, אלא שאלה אחת: מה אני עושה עם התוצר? התשובה בוחרת את הסוג. בשקופיות הבאות נראה כל סוג בצילום מסך.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להיכנס ל-Artifacts בסרגל הצד. להראות שכל artifact שנוצר בשיחה מופיע כאן גם בלי לחפש את השיחה. להצביע על המנעול מול הגלובוס בשורות.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גרגר הוא מותג בדיוני שבנינו להדגמה. המחשבון הוא הסוג הבסיסי ביותר: דף אחד עם לוגיקה. לשאול את הכיתה איזה מחשבון היה חוסך להם זמן בעבודה.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שתי דוגמאות מהחשבון שלי. המחוון נבנה לשיעור על טמפרטורה במודלי שפה. זה השימוש החזק ביותר ללמידה: מושג מופשט הופך למשהו שמזיזים ורואים.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הבריף הוא נקודת הפתיחה של כל פרויקט גרגר. להראות את מונה התגובות בפינה, ולהסביר שהמסמך חי: אפשר לחזור אליו, להגיב ולבקש מ-Claude לעדכן סעיף.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להראות את רצועת השקפים הממוזערים למטה ואת כפתורי ההורדה וההצגה למעלה. חשוב: אפשר להמשיך לערוך ידנית בעורך או לבקש מ-Claude שינוי.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ההבדל מ-HTML: כאן המטרה היא לראות איך זה ייראה, לא לבנות משהו שעובד. דף הנחיתה של גרגר מוצג בגרסת מחשב ובגרסת מובייל באותו קנבס.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הסוג הכי פחות מוכר והכי חשוב לעבודה מקצועית. בלי מערכת עיצוב, כל מצגת ודף נראים אחרת. עם מערכת עיצוב, Claude בונה בצבעים ובגופנים של המותג בלי שמזכירים לו.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תרגול מהיר בעל פה: לזרוק לכיתה צרכים ('תפריט למסעדה', 'הצעת מחיר', 'משחק טריוויה לצוות') ולבקש שיענו איזה סוג.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בדיוק מה שהתרגיל מבקש מהם לעשות. להראות את ארבעת ה-artifacts של גרגר בגלריה, אחד אחרי השני, כדי שיראו שכולם באותה שפה.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לעבור בין השולחנות. טעות נפוצה: מבקשים 'מצגת' ומקבלים דף HTML רגיל. הפתרון: לציין את הסוג בשם. טעות שנייה: שוכחים לשתף, והקישור לא נפתח למרצה.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לסגור עם שלושת המשפטים. אם נשאר זמן, להראות את ה-artifacts שהכיתה יצרה מתוך הגלריה, ברשות היוצרים.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926080"/>
            <a:ext cx="5120640" cy="512064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3" name="Shape 1"/>
          <p:cNvSpPr/>
          <p:nvPr/>
        </p:nvSpPr>
        <p:spPr>
          <a:xfrm>
            <a:off x="2468880" y="5120640"/>
            <a:ext cx="1188720" cy="1188720"/>
          </a:xfrm>
          <a:prstGeom prst="ellipse">
            <a:avLst/>
          </a:prstGeom>
          <a:solidFill>
            <a:srgbClr val="E9E4DC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0" y="1417320"/>
            <a:ext cx="7525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E08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A638 · מפגש ראשון עם Claude</a:t>
            </a:r>
            <a:endParaRPr lang="he-IL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874520"/>
            <a:ext cx="7525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היכרות עם Claude</a:t>
            </a:r>
            <a:endParaRPr lang="he-IL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3017520"/>
            <a:ext cx="7525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800" dirty="0">
                <a:solidFill>
                  <a:srgbClr val="E9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ו-Artifacts לסוגיהם</a:t>
            </a:r>
            <a:endParaRPr lang="he-IL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5760720"/>
            <a:ext cx="7525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A8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בספטמבר 2026</a:t>
            </a:r>
            <a:endParaRPr lang="he-IL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השיעור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עושים היום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9082735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4EFE9"/>
          </a:solidFill>
          <a:ln/>
        </p:spPr>
      </p:sp>
      <p:sp>
        <p:nvSpPr>
          <p:cNvPr id="5" name="Shape 3"/>
          <p:cNvSpPr/>
          <p:nvPr/>
        </p:nvSpPr>
        <p:spPr>
          <a:xfrm>
            <a:off x="10865815" y="2148840"/>
            <a:ext cx="502920" cy="50292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6581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357055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</a:t>
            </a:r>
            <a:endParaRPr lang="he-IL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357055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הממשק: סרגל הצד, תיבת הפרומפט, בחירת מודל</a:t>
            </a:r>
            <a:endParaRPr lang="he-IL" sz="1500" dirty="0"/>
          </a:p>
        </p:txBody>
      </p:sp>
      <p:sp>
        <p:nvSpPr>
          <p:cNvPr id="9" name="Shape 7"/>
          <p:cNvSpPr/>
          <p:nvPr/>
        </p:nvSpPr>
        <p:spPr>
          <a:xfrm>
            <a:off x="6238951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4EFE9"/>
          </a:solidFill>
          <a:ln/>
        </p:spPr>
      </p:sp>
      <p:sp>
        <p:nvSpPr>
          <p:cNvPr id="10" name="Shape 8"/>
          <p:cNvSpPr/>
          <p:nvPr/>
        </p:nvSpPr>
        <p:spPr>
          <a:xfrm>
            <a:off x="8022031" y="2148840"/>
            <a:ext cx="502920" cy="50292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22031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13271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Artifact</a:t>
            </a:r>
            <a:endParaRPr lang="he-IL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513271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 שיוצא מהשיחה ונשמר בנפרד ממנה</a:t>
            </a:r>
            <a:endParaRPr lang="he-IL" sz="1500" dirty="0"/>
          </a:p>
        </p:txBody>
      </p:sp>
      <p:sp>
        <p:nvSpPr>
          <p:cNvPr id="14" name="Shape 12"/>
          <p:cNvSpPr/>
          <p:nvPr/>
        </p:nvSpPr>
        <p:spPr>
          <a:xfrm>
            <a:off x="3395167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4EFE9"/>
          </a:solidFill>
          <a:ln/>
        </p:spPr>
      </p:sp>
      <p:sp>
        <p:nvSpPr>
          <p:cNvPr id="15" name="Shape 13"/>
          <p:cNvSpPr/>
          <p:nvPr/>
        </p:nvSpPr>
        <p:spPr>
          <a:xfrm>
            <a:off x="5178247" y="2148840"/>
            <a:ext cx="502920" cy="50292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78247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669487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חמשת הסוגים</a:t>
            </a:r>
            <a:endParaRPr lang="he-IL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3669487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Docs, Slides, Design, Design System</a:t>
            </a:r>
            <a:endParaRPr lang="he-IL" sz="1500" dirty="0"/>
          </a:p>
        </p:txBody>
      </p:sp>
      <p:sp>
        <p:nvSpPr>
          <p:cNvPr id="19" name="Shape 17"/>
          <p:cNvSpPr/>
          <p:nvPr/>
        </p:nvSpPr>
        <p:spPr>
          <a:xfrm>
            <a:off x="551383" y="18288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4EFE9"/>
          </a:solidFill>
          <a:ln/>
        </p:spPr>
      </p:sp>
      <p:sp>
        <p:nvSpPr>
          <p:cNvPr id="20" name="Shape 18"/>
          <p:cNvSpPr/>
          <p:nvPr/>
        </p:nvSpPr>
        <p:spPr>
          <a:xfrm>
            <a:off x="2334463" y="2148840"/>
            <a:ext cx="502920" cy="50292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334463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5703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</a:t>
            </a:r>
            <a:endParaRPr lang="he-IL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825703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מבריף למצגת, על עסק שאתם בוחרים</a:t>
            </a:r>
            <a:endParaRPr lang="he-IL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1F1E1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98348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בסוף השיעור יהיה לכל אחד artifact משלו: פרטי כברירת מחדל, ואפשר לשתף אותו בקישור.</a:t>
            </a:r>
            <a:endParaRPr lang="he-IL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תשובה בצ'אט נגללת ונעלמת</a:t>
            </a:r>
            <a:endParaRPr lang="he-IL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Artifact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109728" marB="109728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93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תשובה בצ'אט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109728" marB="109728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47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תוצר עצמאי עם כתובת משלו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109728" marB="109728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7A7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בועה בתוך השיחה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109728" marB="109728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נפתח בפאנל ליד השיחה ומופיע בגלריה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109728" marB="109728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7A7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נגללת למעלה ונשכחת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109728" marB="109728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מבקשים שינוי, ו-Claude מעדכן את אותו תוצר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109728" marB="109728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7A7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כדי לשנות, מעתיקים ומדביקים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109728" marB="109728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פרטי כברירת מחדל, ומשתפים בקישור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109728" marB="109728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7A7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כדי לשתף, שולחים צילום מסך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109728" marB="109728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 לזכור: Artifact הוא תוצר עם כתובת, לא עוד הודעה בשיחה.</a:t>
            </a:r>
            <a:endParaRPr lang="he-IL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המסך הראשי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7187184" cy="4018263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01_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00200"/>
            <a:ext cx="7040880" cy="38719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36751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צילום מסך: claude.ai, מסך צ'אט חדש</a:t>
            </a:r>
            <a:endParaRPr lang="he-IL" sz="1100" dirty="0"/>
          </a:p>
        </p:txBody>
      </p:sp>
      <p:sp>
        <p:nvSpPr>
          <p:cNvPr id="7" name="Shape 4"/>
          <p:cNvSpPr/>
          <p:nvPr/>
        </p:nvSpPr>
        <p:spPr>
          <a:xfrm>
            <a:off x="11259007" y="1645920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259007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627632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סרגל הצד</a:t>
            </a:r>
            <a:endParaRPr lang="he-IL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1993392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New, Projects, Artifacts, Scheduled, Design, Customize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11259007" y="2670048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259007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65176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תיבת הפרומפט</a:t>
            </a:r>
            <a:endParaRPr lang="he-IL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017520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מצבים: Chat לשיחה, Cowork למשימות עבודה</a:t>
            </a:r>
            <a:endParaRPr lang="he-IL" sz="1400" dirty="0"/>
          </a:p>
        </p:txBody>
      </p:sp>
      <p:sp>
        <p:nvSpPr>
          <p:cNvPr id="15" name="Shape 12"/>
          <p:cNvSpPr/>
          <p:nvPr/>
        </p:nvSpPr>
        <p:spPr>
          <a:xfrm>
            <a:off x="11259007" y="3694176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259007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675888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ומאמץ</a:t>
            </a:r>
            <a:endParaRPr lang="he-IL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041648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5.5 · Medium, ומשנים בלחיצה על השם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11259007" y="4718304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259007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700016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כפתור +</a:t>
            </a:r>
            <a:endParaRPr lang="he-IL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5065776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מצרפים קבצים ותוכן לשיחה</a:t>
            </a:r>
            <a:endParaRPr lang="he-IL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בפעולה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אחד, אפליקציה שעובדת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7187184" cy="4018263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10_chat_artifa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00200"/>
            <a:ext cx="7040880" cy="38719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36751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צילום מסך: צ'אט שיצר מחשבון טיפ. השיחה משמאל, ה-artifact מימין</a:t>
            </a:r>
            <a:endParaRPr lang="he-IL" sz="1100" dirty="0"/>
          </a:p>
        </p:txBody>
      </p:sp>
      <p:sp>
        <p:nvSpPr>
          <p:cNvPr id="7" name="Shape 4"/>
          <p:cNvSpPr/>
          <p:nvPr/>
        </p:nvSpPr>
        <p:spPr>
          <a:xfrm>
            <a:off x="11259007" y="1645920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259007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627632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הפרומפט</a:t>
            </a:r>
            <a:endParaRPr lang="he-IL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1993392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"צור artifact קטן בעברית: מחשבון טיפ למסעדה"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11259007" y="2670048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259007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65176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הכרטיס בשיחה</a:t>
            </a:r>
            <a:endParaRPr lang="he-IL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017520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· Only you: פרטי עד שמשתפים</a:t>
            </a:r>
            <a:endParaRPr lang="he-IL" sz="1400" dirty="0"/>
          </a:p>
        </p:txBody>
      </p:sp>
      <p:sp>
        <p:nvSpPr>
          <p:cNvPr id="15" name="Shape 12"/>
          <p:cNvSpPr/>
          <p:nvPr/>
        </p:nvSpPr>
        <p:spPr>
          <a:xfrm>
            <a:off x="11259007" y="3694176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259007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675888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הפאנל</a:t>
            </a:r>
            <a:endParaRPr lang="he-IL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041648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האפליקציה עולה ליד השיחה, ואפשר לעבוד איתה מיד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11259007" y="4718304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259007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700016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ממשיכים לשוחח</a:t>
            </a:r>
            <a:endParaRPr lang="he-IL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5065776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"תוסיף עיגול לשקל שלם", וה-artifact מתעדכן</a:t>
            </a:r>
            <a:endParaRPr lang="he-IL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הסוגים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סוגים, חמש שאלות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9585655" y="178308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4EFE9"/>
          </a:solidFill>
          <a:ln/>
        </p:spPr>
      </p:sp>
      <p:sp>
        <p:nvSpPr>
          <p:cNvPr id="5" name="Shape 3"/>
          <p:cNvSpPr/>
          <p:nvPr/>
        </p:nvSpPr>
        <p:spPr>
          <a:xfrm>
            <a:off x="10984687" y="2057400"/>
            <a:ext cx="411480" cy="41148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84687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68535" y="2606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768535" y="3429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או אפליקציה</a:t>
            </a:r>
            <a:endParaRPr lang="he-IL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768535" y="3886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צריך משהו שעושים בו פעולה</a:t>
            </a:r>
            <a:endParaRPr lang="he-IL" sz="1400" dirty="0"/>
          </a:p>
        </p:txBody>
      </p:sp>
      <p:sp>
        <p:nvSpPr>
          <p:cNvPr id="10" name="Shape 8"/>
          <p:cNvSpPr/>
          <p:nvPr/>
        </p:nvSpPr>
        <p:spPr>
          <a:xfrm>
            <a:off x="7345375" y="178308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4EFE9"/>
          </a:solidFill>
          <a:ln/>
        </p:spPr>
      </p:sp>
      <p:sp>
        <p:nvSpPr>
          <p:cNvPr id="11" name="Shape 9"/>
          <p:cNvSpPr/>
          <p:nvPr/>
        </p:nvSpPr>
        <p:spPr>
          <a:xfrm>
            <a:off x="8744407" y="2057400"/>
            <a:ext cx="411480" cy="41148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44407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28255" y="2606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7528255" y="3429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מסמך חי</a:t>
            </a:r>
            <a:endParaRPr lang="he-IL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28255" y="3886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צריך טקסט שקוראים ועורכים יחד</a:t>
            </a:r>
            <a:endParaRPr lang="he-IL" sz="1400" dirty="0"/>
          </a:p>
        </p:txBody>
      </p:sp>
      <p:sp>
        <p:nvSpPr>
          <p:cNvPr id="16" name="Shape 14"/>
          <p:cNvSpPr/>
          <p:nvPr/>
        </p:nvSpPr>
        <p:spPr>
          <a:xfrm>
            <a:off x="5105095" y="178308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4EFE9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4127" y="2057400"/>
            <a:ext cx="411480" cy="41148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4127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87975" y="2606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5287975" y="3429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מצגת</a:t>
            </a:r>
            <a:endParaRPr lang="he-IL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87975" y="3886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צריך להציג מול קהל</a:t>
            </a:r>
            <a:endParaRPr lang="he-IL" sz="1400" dirty="0"/>
          </a:p>
        </p:txBody>
      </p:sp>
      <p:sp>
        <p:nvSpPr>
          <p:cNvPr id="22" name="Shape 20"/>
          <p:cNvSpPr/>
          <p:nvPr/>
        </p:nvSpPr>
        <p:spPr>
          <a:xfrm>
            <a:off x="2864815" y="178308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F4EFE9"/>
          </a:solidFill>
          <a:ln/>
        </p:spPr>
      </p:sp>
      <p:sp>
        <p:nvSpPr>
          <p:cNvPr id="23" name="Shape 21"/>
          <p:cNvSpPr/>
          <p:nvPr/>
        </p:nvSpPr>
        <p:spPr>
          <a:xfrm>
            <a:off x="4263847" y="2057400"/>
            <a:ext cx="411480" cy="41148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263847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047695" y="2606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3047695" y="3429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קנבס עיצוב</a:t>
            </a:r>
            <a:endParaRPr lang="he-IL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047695" y="3886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צריך לראות איך זה ייראה על המסך</a:t>
            </a:r>
            <a:endParaRPr lang="he-IL" sz="1400" dirty="0"/>
          </a:p>
        </p:txBody>
      </p:sp>
      <p:sp>
        <p:nvSpPr>
          <p:cNvPr id="28" name="Shape 26"/>
          <p:cNvSpPr/>
          <p:nvPr/>
        </p:nvSpPr>
        <p:spPr>
          <a:xfrm>
            <a:off x="624535" y="178308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1F1E1D"/>
          </a:solidFill>
          <a:ln/>
        </p:spPr>
      </p:sp>
      <p:sp>
        <p:nvSpPr>
          <p:cNvPr id="29" name="Shape 27"/>
          <p:cNvSpPr/>
          <p:nvPr/>
        </p:nvSpPr>
        <p:spPr>
          <a:xfrm>
            <a:off x="2023567" y="2057400"/>
            <a:ext cx="411480" cy="411480"/>
          </a:xfrm>
          <a:prstGeom prst="ellipse">
            <a:avLst/>
          </a:prstGeom>
          <a:solidFill>
            <a:srgbClr val="E9E4D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023567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07415" y="2606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807415" y="3429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E08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שפה חזותית</a:t>
            </a:r>
            <a:endParaRPr lang="he-IL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07415" y="3886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E9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צריך שכל התוצרים ייראו אותו דבר</a:t>
            </a:r>
            <a:endParaRPr lang="he-IL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עומד מאחורי השאר: Slides ו-Design שואבים ממנו צבעים, גופנים ורכיבים.</a:t>
            </a:r>
            <a:endParaRPr lang="he-IL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הם גרים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גלריית ה-Artifacts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7187184" cy="4018263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09_galle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00200"/>
            <a:ext cx="7040880" cy="38719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36751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צילום מסך: claude.ai/artifacts</a:t>
            </a:r>
            <a:endParaRPr lang="he-IL" sz="1100" dirty="0"/>
          </a:p>
        </p:txBody>
      </p:sp>
      <p:sp>
        <p:nvSpPr>
          <p:cNvPr id="7" name="Shape 4"/>
          <p:cNvSpPr/>
          <p:nvPr/>
        </p:nvSpPr>
        <p:spPr>
          <a:xfrm>
            <a:off x="11259007" y="1645920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259007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627632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something new</a:t>
            </a:r>
            <a:endParaRPr lang="he-IL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1993392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Document, Presentation, Design, שלושתם בגרסת Beta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11259007" y="2670048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259007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65176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· Yours · Shared</a:t>
            </a:r>
            <a:endParaRPr lang="he-IL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017520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שיצרתם, ומה ששיתפו איתכם</a:t>
            </a:r>
            <a:endParaRPr lang="he-IL" sz="1400" dirty="0"/>
          </a:p>
        </p:txBody>
      </p:sp>
      <p:sp>
        <p:nvSpPr>
          <p:cNvPr id="15" name="Shape 12"/>
          <p:cNvSpPr/>
          <p:nvPr/>
        </p:nvSpPr>
        <p:spPr>
          <a:xfrm>
            <a:off x="11259007" y="3694176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259007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675888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אייקון לכל סוג</a:t>
            </a:r>
            <a:endParaRPr lang="he-IL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041648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סוגריים מסמנים קוד, פלטה מסמנת עיצוב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11259007" y="4718304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259007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700016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מנעול או גלובוס</a:t>
            </a:r>
            <a:endParaRPr lang="he-IL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5065776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מנעול: פרטי. גלובוס: משותף</a:t>
            </a:r>
            <a:endParaRPr lang="he-IL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 1 · HTML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שעושים בו משהו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7187184" cy="4018263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02_htm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00200"/>
            <a:ext cx="7040880" cy="38719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36751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צילום מסך: "גרגר – מחשבון קפה", artifact מסוג דף HTML</a:t>
            </a:r>
            <a:endParaRPr lang="he-IL" sz="1100" dirty="0"/>
          </a:p>
        </p:txBody>
      </p:sp>
      <p:sp>
        <p:nvSpPr>
          <p:cNvPr id="7" name="Shape 4"/>
          <p:cNvSpPr/>
          <p:nvPr/>
        </p:nvSpPr>
        <p:spPr>
          <a:xfrm>
            <a:off x="11259007" y="1645920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259007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627632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עמוד אחד</a:t>
            </a:r>
            <a:endParaRPr lang="he-IL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1993392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ו-JavaScript בקובץ אחד שרץ בדפדפן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11259007" y="2670048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259007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65176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</a:t>
            </a:r>
            <a:endParaRPr lang="he-IL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017520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מחשבון, טופס, דשבורד, דף מידע</a:t>
            </a:r>
            <a:endParaRPr lang="he-IL" sz="1400" dirty="0"/>
          </a:p>
        </p:txBody>
      </p:sp>
      <p:sp>
        <p:nvSpPr>
          <p:cNvPr id="15" name="Shape 12"/>
          <p:cNvSpPr/>
          <p:nvPr/>
        </p:nvSpPr>
        <p:spPr>
          <a:xfrm>
            <a:off x="11259007" y="3694176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259007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675888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עברית</a:t>
            </a:r>
            <a:endParaRPr lang="he-IL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041648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וגופנים עבריים עובדים כשמבקשים אותם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11259007" y="4718304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259007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700016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הדוגמה</a:t>
            </a:r>
            <a:endParaRPr lang="he-IL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5065776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בוחרים שיטת הכנה וכמות, ומקבלים גרם קפה ומים</a:t>
            </a:r>
            <a:endParaRPr lang="he-IL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 1 · HTML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סוג, עם מצב ואינטראקציה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6147511" y="1572768"/>
            <a:ext cx="5495544" cy="3087987"/>
          </a:xfrm>
          <a:prstGeom prst="roundRect">
            <a:avLst>
              <a:gd name="adj" fmla="val 2369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07_ga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0663" y="1645920"/>
            <a:ext cx="5349240" cy="29416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72768"/>
            <a:ext cx="5495544" cy="3087987"/>
          </a:xfrm>
          <a:prstGeom prst="roundRect">
            <a:avLst>
              <a:gd name="adj" fmla="val 2369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08_interactiv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5349240" cy="294168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20663" y="4816203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משחק: סוליטר</a:t>
            </a:r>
            <a:endParaRPr lang="he-IL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220663" y="5181963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ניקוד, טיימר, ביטול מהלך. כל המצב נשמר בתוך הדף.</a:t>
            </a:r>
            <a:endParaRPr lang="he-IL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21792" y="4816203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הדמיה: מחוון הטמפרטורה</a:t>
            </a:r>
            <a:endParaRPr lang="he-IL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21792" y="5181963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מזיזים סליידר, והתפלגות המילה הבאה משתנה מול העיניים. כלי הוראה.</a:t>
            </a:r>
            <a:endParaRPr lang="he-IL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 2 · Docs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מסמך שכותבים יחד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7187184" cy="4018263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04_doc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00200"/>
            <a:ext cx="7040880" cy="38719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36751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צילום מסך: "גרגר – בריף להשקת מינוי הקפה", artifact מסוג Docs</a:t>
            </a:r>
            <a:endParaRPr lang="he-IL" sz="1100" dirty="0"/>
          </a:p>
        </p:txBody>
      </p:sp>
      <p:sp>
        <p:nvSpPr>
          <p:cNvPr id="7" name="Shape 4"/>
          <p:cNvSpPr/>
          <p:nvPr/>
        </p:nvSpPr>
        <p:spPr>
          <a:xfrm>
            <a:off x="11259007" y="1645920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259007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627632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מסמך חי</a:t>
            </a:r>
            <a:endParaRPr lang="he-IL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1993392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כותרות, תאריך ומחבר, וטקסט שממשיך להשתנות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11259007" y="2670048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259007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65176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סרגל כלים</a:t>
            </a:r>
            <a:endParaRPr lang="he-IL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017520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Tabs, טבלאות, תמונות ורשימות משימות</a:t>
            </a:r>
            <a:endParaRPr lang="he-IL" sz="1400" dirty="0"/>
          </a:p>
        </p:txBody>
      </p:sp>
      <p:sp>
        <p:nvSpPr>
          <p:cNvPr id="15" name="Shape 12"/>
          <p:cNvSpPr/>
          <p:nvPr/>
        </p:nvSpPr>
        <p:spPr>
          <a:xfrm>
            <a:off x="11259007" y="3694176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259007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675888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תגובות</a:t>
            </a:r>
            <a:endParaRPr lang="he-IL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041648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מגיבים על קטע, ו-Claude יכול לענות ולערוך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11259007" y="4718304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259007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700016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</a:t>
            </a:r>
            <a:endParaRPr lang="he-IL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5065776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בריף, תוכנית עבודה, סיכום פגישה</a:t>
            </a:r>
            <a:endParaRPr lang="he-IL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 3 · Slides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מצגת שמציגים ומורידים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7187184" cy="4018263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03_slid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00200"/>
            <a:ext cx="7040880" cy="38719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36751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צילום מסך: "גרגר – מצגת מותג", artifact מסוג Slides</a:t>
            </a:r>
            <a:endParaRPr lang="he-IL" sz="1100" dirty="0"/>
          </a:p>
        </p:txBody>
      </p:sp>
      <p:sp>
        <p:nvSpPr>
          <p:cNvPr id="7" name="Shape 4"/>
          <p:cNvSpPr/>
          <p:nvPr/>
        </p:nvSpPr>
        <p:spPr>
          <a:xfrm>
            <a:off x="11259007" y="1645920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259007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627632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שקפים 16:9</a:t>
            </a:r>
            <a:endParaRPr lang="he-IL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1993392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עורך עם טקסט, תמונה, טבלה וצורות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11259007" y="2670048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259007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65176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הצגה</a:t>
            </a:r>
            <a:endParaRPr lang="he-IL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017520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כפתור ▶ מציג על מסך מלא</a:t>
            </a:r>
            <a:endParaRPr lang="he-IL" sz="1400" dirty="0"/>
          </a:p>
        </p:txBody>
      </p:sp>
      <p:sp>
        <p:nvSpPr>
          <p:cNvPr id="15" name="Shape 12"/>
          <p:cNvSpPr/>
          <p:nvPr/>
        </p:nvSpPr>
        <p:spPr>
          <a:xfrm>
            <a:off x="11259007" y="3694176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259007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675888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הורדה</a:t>
            </a:r>
            <a:endParaRPr lang="he-IL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041648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כקובץ PowerPoint או PDF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11259007" y="4718304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259007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700016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Design System</a:t>
            </a:r>
            <a:endParaRPr lang="he-IL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5065776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המצגת מקבלת את צבעי המותג וגופניו</a:t>
            </a:r>
            <a:endParaRPr lang="he-IL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 4 · Design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קנבס לעיצוב מסכים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7187184" cy="4018263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05_desig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00200"/>
            <a:ext cx="7040880" cy="38719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36751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צילום מסך: "גרגר – דף נחיתה", artifact מסוג Design</a:t>
            </a:r>
            <a:endParaRPr lang="he-IL" sz="1100" dirty="0"/>
          </a:p>
        </p:txBody>
      </p:sp>
      <p:sp>
        <p:nvSpPr>
          <p:cNvPr id="7" name="Shape 4"/>
          <p:cNvSpPr/>
          <p:nvPr/>
        </p:nvSpPr>
        <p:spPr>
          <a:xfrm>
            <a:off x="11259007" y="1645920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259007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627632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artboards</a:t>
            </a:r>
            <a:endParaRPr lang="he-IL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1993392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ו-Mobile זה לצד זה, על קנבס אחד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11259007" y="2670048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259007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65176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</a:t>
            </a:r>
            <a:endParaRPr lang="he-IL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017520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בחירה, טקסט, מסגרת, פתק, עיפרון וצורות</a:t>
            </a:r>
            <a:endParaRPr lang="he-IL" sz="1400" dirty="0"/>
          </a:p>
        </p:txBody>
      </p:sp>
      <p:sp>
        <p:nvSpPr>
          <p:cNvPr id="15" name="Shape 12"/>
          <p:cNvSpPr/>
          <p:nvPr/>
        </p:nvSpPr>
        <p:spPr>
          <a:xfrm>
            <a:off x="11259007" y="3694176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259007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675888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artboard</a:t>
            </a:r>
            <a:endParaRPr lang="he-IL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041648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כוונון, מסך מלא והורדה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11259007" y="4718304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259007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700016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</a:t>
            </a:r>
            <a:endParaRPr lang="he-IL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5065776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נחיתה, מסך באפליקציה, פוסט, מודעה</a:t>
            </a:r>
            <a:endParaRPr lang="he-IL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 5 · Design System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השפה החזותית של המותג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7187184" cy="4018263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06_designsyst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00200"/>
            <a:ext cx="7040880" cy="38719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36751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צילום מסך: "גרגר", artifact מסוג Design System</a:t>
            </a:r>
            <a:endParaRPr lang="he-IL" sz="1100" dirty="0"/>
          </a:p>
        </p:txBody>
      </p:sp>
      <p:sp>
        <p:nvSpPr>
          <p:cNvPr id="7" name="Shape 4"/>
          <p:cNvSpPr/>
          <p:nvPr/>
        </p:nvSpPr>
        <p:spPr>
          <a:xfrm>
            <a:off x="11259007" y="1645920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259007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627632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של המותג</a:t>
            </a:r>
            <a:endParaRPr lang="he-IL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1993392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קול וטון, יסודות חזותיים, מה עושים ומה לא</a:t>
            </a:r>
            <a:endParaRPr lang="he-IL" sz="1400" dirty="0"/>
          </a:p>
        </p:txBody>
      </p:sp>
      <p:sp>
        <p:nvSpPr>
          <p:cNvPr id="11" name="Shape 8"/>
          <p:cNvSpPr/>
          <p:nvPr/>
        </p:nvSpPr>
        <p:spPr>
          <a:xfrm>
            <a:off x="11259007" y="2670048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259007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65176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טוקנים</a:t>
            </a:r>
            <a:endParaRPr lang="he-IL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017520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Colors, Typography, Spacing, Corner radius, Shadows</a:t>
            </a:r>
            <a:endParaRPr lang="he-IL" sz="1400" dirty="0"/>
          </a:p>
        </p:txBody>
      </p:sp>
      <p:sp>
        <p:nvSpPr>
          <p:cNvPr id="15" name="Shape 12"/>
          <p:cNvSpPr/>
          <p:nvPr/>
        </p:nvSpPr>
        <p:spPr>
          <a:xfrm>
            <a:off x="11259007" y="3694176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259007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675888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רכיבים ונכסים</a:t>
            </a:r>
            <a:endParaRPr lang="he-IL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041648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ו-Assets, עם תצוגה חיה</a:t>
            </a:r>
            <a:endParaRPr lang="he-IL" sz="1400" dirty="0"/>
          </a:p>
        </p:txBody>
      </p:sp>
      <p:sp>
        <p:nvSpPr>
          <p:cNvPr id="19" name="Shape 16"/>
          <p:cNvSpPr/>
          <p:nvPr/>
        </p:nvSpPr>
        <p:spPr>
          <a:xfrm>
            <a:off x="11259007" y="4718304"/>
            <a:ext cx="384048" cy="384048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259007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700016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חשוב</a:t>
            </a:r>
            <a:endParaRPr lang="he-IL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5065776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ו-Design בונים עליו, והכול נראה אותו דבר</a:t>
            </a:r>
            <a:endParaRPr lang="he-IL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אצבע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בוחרים סוג</a:t>
            </a:r>
            <a:endParaRPr lang="he-IL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2773604"/>
                <a:gridCol w="4992487"/>
              </a:tblGrid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דוגמה מגרגר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הסוג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אני צריך...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מחשבון קפה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9E41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כלי שעושים בו פעולה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בריף להשקה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9E41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טקסט שעובדים עליו יחד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מצגת מותג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9E41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להציג מול קהל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דף נחיתה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9E41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לראות איך זה ייראה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גרגר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9E41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System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700" dirty="0">
                          <a:solidFill>
                            <a:srgbClr val="1F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שכל התוצרים ייראו אותו דבר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0" marR="228600" marT="91440" marB="91440"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שואלים מה עושים עם התוצר, והסוג נגזר מהתשובה.</a:t>
            </a:r>
            <a:endParaRPr lang="he-IL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הכול ביחד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מבריף למצגת: כך נבנה גרגר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9311335" y="210312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7255" y="2377440"/>
            <a:ext cx="438912" cy="438912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57255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494215" y="2971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494215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בריף</a:t>
            </a:r>
            <a:endParaRPr lang="he-IL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494215" y="3840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המוצר, למי, ומה ההצעה</a:t>
            </a:r>
            <a:endParaRPr lang="he-IL" sz="1400" dirty="0"/>
          </a:p>
        </p:txBody>
      </p:sp>
      <p:sp>
        <p:nvSpPr>
          <p:cNvPr id="10" name="Shape 8"/>
          <p:cNvSpPr/>
          <p:nvPr/>
        </p:nvSpPr>
        <p:spPr>
          <a:xfrm>
            <a:off x="8854135" y="3108960"/>
            <a:ext cx="347472" cy="347472"/>
          </a:xfrm>
          <a:prstGeom prst="leftArrow">
            <a:avLst/>
          </a:prstGeom>
          <a:solidFill>
            <a:srgbClr val="C2593A"/>
          </a:solidFill>
          <a:ln/>
        </p:spPr>
      </p:sp>
      <p:sp>
        <p:nvSpPr>
          <p:cNvPr id="11" name="Shape 9"/>
          <p:cNvSpPr/>
          <p:nvPr/>
        </p:nvSpPr>
        <p:spPr>
          <a:xfrm>
            <a:off x="6412687" y="210312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58607" y="2377440"/>
            <a:ext cx="438912" cy="438912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58607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95567" y="2971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595567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שפה חזותית</a:t>
            </a:r>
            <a:endParaRPr lang="he-IL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95567" y="3840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צבעים, גופנים, קול וטון</a:t>
            </a:r>
            <a:endParaRPr lang="he-IL" sz="1400" dirty="0"/>
          </a:p>
        </p:txBody>
      </p:sp>
      <p:sp>
        <p:nvSpPr>
          <p:cNvPr id="17" name="Shape 15"/>
          <p:cNvSpPr/>
          <p:nvPr/>
        </p:nvSpPr>
        <p:spPr>
          <a:xfrm>
            <a:off x="5955487" y="3108960"/>
            <a:ext cx="347472" cy="347472"/>
          </a:xfrm>
          <a:prstGeom prst="leftArrow">
            <a:avLst/>
          </a:prstGeom>
          <a:solidFill>
            <a:srgbClr val="C2593A"/>
          </a:solidFill>
          <a:ln/>
        </p:spPr>
      </p:sp>
      <p:sp>
        <p:nvSpPr>
          <p:cNvPr id="18" name="Shape 16"/>
          <p:cNvSpPr/>
          <p:nvPr/>
        </p:nvSpPr>
        <p:spPr>
          <a:xfrm>
            <a:off x="3514039" y="210312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59959" y="2377440"/>
            <a:ext cx="438912" cy="438912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59959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696919" y="2971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3696919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נחיתה</a:t>
            </a:r>
            <a:endParaRPr lang="he-IL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696919" y="3840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מחשב ומובייל, בצבעי המותג</a:t>
            </a:r>
            <a:endParaRPr lang="he-IL" sz="1400" dirty="0"/>
          </a:p>
        </p:txBody>
      </p:sp>
      <p:sp>
        <p:nvSpPr>
          <p:cNvPr id="24" name="Shape 22"/>
          <p:cNvSpPr/>
          <p:nvPr/>
        </p:nvSpPr>
        <p:spPr>
          <a:xfrm>
            <a:off x="3056839" y="3108960"/>
            <a:ext cx="347472" cy="347472"/>
          </a:xfrm>
          <a:prstGeom prst="leftArrow">
            <a:avLst/>
          </a:prstGeom>
          <a:solidFill>
            <a:srgbClr val="C2593A"/>
          </a:solidFill>
          <a:ln/>
        </p:spPr>
      </p:sp>
      <p:sp>
        <p:nvSpPr>
          <p:cNvPr id="25" name="Shape 23"/>
          <p:cNvSpPr/>
          <p:nvPr/>
        </p:nvSpPr>
        <p:spPr>
          <a:xfrm>
            <a:off x="615391" y="210312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6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61311" y="2377440"/>
            <a:ext cx="438912" cy="438912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261311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98271" y="2971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798271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מצגת</a:t>
            </a:r>
            <a:endParaRPr lang="he-IL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98271" y="3840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מציגים את ההשקה</a:t>
            </a:r>
            <a:endParaRPr lang="he-IL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שלב נשען על הקודם: הבריף מזין את מערכת העיצוב, ומערכת העיצוב מזינה את הדף ואת המצגת.</a:t>
            </a:r>
            <a:endParaRPr lang="he-IL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spc="100" kern="0" dirty="0">
                <a:solidFill>
                  <a:srgbClr val="C25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תרגיל: מותג משלכם</a:t>
            </a:r>
            <a:endParaRPr lang="he-IL" sz="3400" dirty="0"/>
          </a:p>
        </p:txBody>
      </p:sp>
      <p:sp>
        <p:nvSpPr>
          <p:cNvPr id="4" name="Shape 2"/>
          <p:cNvSpPr/>
          <p:nvPr/>
        </p:nvSpPr>
        <p:spPr>
          <a:xfrm>
            <a:off x="11185855" y="1691640"/>
            <a:ext cx="457200" cy="45720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85855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73352"/>
            <a:ext cx="620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בחרו עסק בדיוני</a:t>
            </a:r>
            <a:endParaRPr lang="he-IL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2039112"/>
            <a:ext cx="620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מאפייה, סטודיו ליוגה, חנות אופניים. שם ומשפט אחד עליו</a:t>
            </a:r>
            <a:endParaRPr lang="he-IL" sz="1500" dirty="0"/>
          </a:p>
        </p:txBody>
      </p:sp>
      <p:sp>
        <p:nvSpPr>
          <p:cNvPr id="8" name="Shape 6"/>
          <p:cNvSpPr/>
          <p:nvPr/>
        </p:nvSpPr>
        <p:spPr>
          <a:xfrm>
            <a:off x="11185855" y="2560320"/>
            <a:ext cx="457200" cy="45720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185855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542032"/>
            <a:ext cx="620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בריף ב-Docs</a:t>
            </a:r>
            <a:endParaRPr lang="he-IL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907792"/>
            <a:ext cx="620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 מ-Claude בריף קצר: קהל יעד, הצעה, טון</a:t>
            </a:r>
            <a:endParaRPr lang="he-IL" sz="1500" dirty="0"/>
          </a:p>
        </p:txBody>
      </p:sp>
      <p:sp>
        <p:nvSpPr>
          <p:cNvPr id="12" name="Shape 10"/>
          <p:cNvSpPr/>
          <p:nvPr/>
        </p:nvSpPr>
        <p:spPr>
          <a:xfrm>
            <a:off x="11185855" y="3429000"/>
            <a:ext cx="457200" cy="45720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185855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410712"/>
            <a:ext cx="620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he-IL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776472"/>
            <a:ext cx="620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 מערכת עיצוב שנשענת על הבריף</a:t>
            </a:r>
            <a:endParaRPr lang="he-IL" sz="1500" dirty="0"/>
          </a:p>
        </p:txBody>
      </p:sp>
      <p:sp>
        <p:nvSpPr>
          <p:cNvPr id="16" name="Shape 14"/>
          <p:cNvSpPr/>
          <p:nvPr/>
        </p:nvSpPr>
        <p:spPr>
          <a:xfrm>
            <a:off x="11185855" y="4297680"/>
            <a:ext cx="457200" cy="457200"/>
          </a:xfrm>
          <a:prstGeom prst="ellipse">
            <a:avLst/>
          </a:prstGeom>
          <a:solidFill>
            <a:srgbClr val="C259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185855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279392"/>
            <a:ext cx="620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9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 אחד לבחירה</a:t>
            </a:r>
            <a:endParaRPr lang="he-IL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4645152"/>
            <a:ext cx="620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נחיתה ב-Design, מצגת ב-Slides או מחשבון ב-HTML</a:t>
            </a:r>
            <a:endParaRPr lang="he-IL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1691640"/>
            <a:ext cx="3840480" cy="3383280"/>
          </a:xfrm>
          <a:prstGeom prst="roundRect">
            <a:avLst>
              <a:gd name="adj" fmla="val 3243"/>
            </a:avLst>
          </a:prstGeom>
          <a:solidFill>
            <a:srgbClr val="1F1E1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E08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התוצר להגשה</a:t>
            </a:r>
            <a:endParaRPr lang="he-IL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2423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קישור ל-artifact אחד לפחות, משותף עם המרצה.</a:t>
            </a:r>
            <a:endParaRPr lang="he-IL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E9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בונוס: שלושה סוגים שונים שנראים כמו אותו מותג.</a:t>
            </a:r>
            <a:endParaRPr lang="he-IL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i="1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טיפ: כתבו בפרומפט את שם הסוג במפורש, למשל "צור מצגת Slides".</a:t>
            </a:r>
            <a:endParaRPr lang="he-IL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E08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he-IL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משפטים לקחת הביתה</a:t>
            </a:r>
            <a:endParaRPr lang="he-IL" sz="3600" dirty="0"/>
          </a:p>
        </p:txBody>
      </p:sp>
      <p:sp>
        <p:nvSpPr>
          <p:cNvPr id="4" name="Shape 2"/>
          <p:cNvSpPr/>
          <p:nvPr/>
        </p:nvSpPr>
        <p:spPr>
          <a:xfrm>
            <a:off x="11094415" y="2240280"/>
            <a:ext cx="548640" cy="548640"/>
          </a:xfrm>
          <a:prstGeom prst="ellipse">
            <a:avLst/>
          </a:prstGeom>
          <a:solidFill>
            <a:srgbClr val="E9E4D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94415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הוא תוצר עם כתובת, לא עוד הודעה בשיחה.</a:t>
            </a:r>
            <a:endParaRPr lang="he-IL" sz="2400" dirty="0"/>
          </a:p>
        </p:txBody>
      </p:sp>
      <p:sp>
        <p:nvSpPr>
          <p:cNvPr id="7" name="Shape 5"/>
          <p:cNvSpPr/>
          <p:nvPr/>
        </p:nvSpPr>
        <p:spPr>
          <a:xfrm>
            <a:off x="11094415" y="3291840"/>
            <a:ext cx="548640" cy="548640"/>
          </a:xfrm>
          <a:prstGeom prst="ellipse">
            <a:avLst/>
          </a:prstGeom>
          <a:solidFill>
            <a:srgbClr val="E9E4D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094415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שואלים מה עושים עם התוצר, והסוג נגזר מהתשובה.</a:t>
            </a:r>
            <a:endParaRPr lang="he-IL" sz="2400" dirty="0"/>
          </a:p>
        </p:txBody>
      </p:sp>
      <p:sp>
        <p:nvSpPr>
          <p:cNvPr id="10" name="Shape 8"/>
          <p:cNvSpPr/>
          <p:nvPr/>
        </p:nvSpPr>
        <p:spPr>
          <a:xfrm>
            <a:off x="11094415" y="4343400"/>
            <a:ext cx="548640" cy="548640"/>
          </a:xfrm>
          <a:prstGeom prst="ellipse">
            <a:avLst/>
          </a:prstGeom>
          <a:solidFill>
            <a:srgbClr val="E9E4D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094415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10225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פרטי כברירת מחדל. משתפים כשמחליטים לשתף.</a:t>
            </a:r>
            <a:endParaRPr lang="he-IL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היכרות עם Claude — claude.ai ו-Artifacts</dc:title>
  <dc:subject>PptxGenJS Presentation</dc:subject>
  <dc:creator>PptxGenJS</dc:creator>
  <cp:lastModifiedBy>PptxGenJS</cp:lastModifiedBy>
  <cp:revision>1</cp:revision>
  <dcterms:created xsi:type="dcterms:W3CDTF">2026-09-24T17:49:09Z</dcterms:created>
  <dcterms:modified xsi:type="dcterms:W3CDTF">2026-09-24T17:49:09Z</dcterms:modified>
</cp:coreProperties>
</file>