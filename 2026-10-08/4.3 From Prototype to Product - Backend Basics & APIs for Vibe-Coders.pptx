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8229600" cx="14630400"/>
  <p:notesSz cx="8229600" cy="14630400"/>
  <p:embeddedFontLst>
    <p:embeddedFont>
      <p:font typeface="Rubik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ubik-bold.fntdata"/><Relationship Id="rId10" Type="http://schemas.openxmlformats.org/officeDocument/2006/relationships/slide" Target="slides/slide6.xml"/><Relationship Id="rId32" Type="http://schemas.openxmlformats.org/officeDocument/2006/relationships/font" Target="fonts/Rubik-regular.fntdata"/><Relationship Id="rId13" Type="http://schemas.openxmlformats.org/officeDocument/2006/relationships/slide" Target="slides/slide9.xml"/><Relationship Id="rId35" Type="http://schemas.openxmlformats.org/officeDocument/2006/relationships/font" Target="fonts/Rubik-boldItalic.fntdata"/><Relationship Id="rId12" Type="http://schemas.openxmlformats.org/officeDocument/2006/relationships/slide" Target="slides/slide8.xml"/><Relationship Id="rId34" Type="http://schemas.openxmlformats.org/officeDocument/2006/relationships/font" Target="fonts/Rubik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ec195ea59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6ec195ea59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ec195ea59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ec195ea59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6ec195ea59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6ec195ea59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ec195ea59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ec195ea59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6ec195ea59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ec195ea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6ec195ea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6ec195ea5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ec195ea59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6ec195ea59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6ec195ea59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6"/>
          <p:cNvSpPr/>
          <p:nvPr/>
        </p:nvSpPr>
        <p:spPr>
          <a:xfrm>
            <a:off x="6280200" y="1756399"/>
            <a:ext cx="7556400" cy="22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From Prototype to Product: </a:t>
            </a: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Technological Foundations for </a:t>
            </a: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Vibe-Coders</a:t>
            </a:r>
            <a:endParaRPr b="0" i="0" sz="4450" u="none" cap="none" strike="noStrike"/>
          </a:p>
        </p:txBody>
      </p:sp>
      <p:pic>
        <p:nvPicPr>
          <p:cNvPr descr="preencoded.png" id="87" name="Google Shape;8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3221" y="4451509"/>
            <a:ext cx="2870240" cy="126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6"/>
          <p:cNvSpPr/>
          <p:nvPr/>
        </p:nvSpPr>
        <p:spPr>
          <a:xfrm>
            <a:off x="6280190" y="6128385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comprehensive guide to understanding what happens behind the scenes when building real applications with vibe-coding tools.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793790" y="119264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Session Goals</a:t>
            </a:r>
            <a:endParaRPr b="0" i="0" sz="4450" u="none" cap="none" strike="noStrike"/>
          </a:p>
        </p:txBody>
      </p:sp>
      <p:sp>
        <p:nvSpPr>
          <p:cNvPr id="95" name="Google Shape;95;p27"/>
          <p:cNvSpPr/>
          <p:nvPr/>
        </p:nvSpPr>
        <p:spPr>
          <a:xfrm>
            <a:off x="793790" y="235505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7"/>
          <p:cNvSpPr/>
          <p:nvPr/>
        </p:nvSpPr>
        <p:spPr>
          <a:xfrm>
            <a:off x="1530906" y="243292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Bridge the gap</a:t>
            </a:r>
            <a:endParaRPr b="0" i="0" sz="2200" u="none" cap="none" strike="noStrike"/>
          </a:p>
        </p:txBody>
      </p:sp>
      <p:sp>
        <p:nvSpPr>
          <p:cNvPr id="97" name="Google Shape;97;p27"/>
          <p:cNvSpPr/>
          <p:nvPr/>
        </p:nvSpPr>
        <p:spPr>
          <a:xfrm>
            <a:off x="1530906" y="2923342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Learn the transition from prototyping with LLMs to full deployment using tools like Base44, Lovable, and Bolt</a:t>
            </a:r>
            <a:endParaRPr b="0" i="0" sz="1750" u="none" cap="none" strike="noStrike"/>
          </a:p>
        </p:txBody>
      </p:sp>
      <p:sp>
        <p:nvSpPr>
          <p:cNvPr id="98" name="Google Shape;98;p27"/>
          <p:cNvSpPr/>
          <p:nvPr/>
        </p:nvSpPr>
        <p:spPr>
          <a:xfrm>
            <a:off x="793790" y="373987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7"/>
          <p:cNvSpPr/>
          <p:nvPr/>
        </p:nvSpPr>
        <p:spPr>
          <a:xfrm>
            <a:off x="1530906" y="3817739"/>
            <a:ext cx="404514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Build foundational knowledge</a:t>
            </a:r>
            <a:endParaRPr b="0" i="0" sz="2200" u="none" cap="none" strike="noStrike"/>
          </a:p>
        </p:txBody>
      </p:sp>
      <p:sp>
        <p:nvSpPr>
          <p:cNvPr id="100" name="Google Shape;100;p27"/>
          <p:cNvSpPr/>
          <p:nvPr/>
        </p:nvSpPr>
        <p:spPr>
          <a:xfrm>
            <a:off x="1530906" y="430815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Understand backend systems, databases, and APIs without needing technical expertise</a:t>
            </a:r>
            <a:endParaRPr b="0" i="0" sz="1750" u="none" cap="none" strike="noStrike"/>
          </a:p>
        </p:txBody>
      </p:sp>
      <p:sp>
        <p:nvSpPr>
          <p:cNvPr id="101" name="Google Shape;101;p27"/>
          <p:cNvSpPr/>
          <p:nvPr/>
        </p:nvSpPr>
        <p:spPr>
          <a:xfrm>
            <a:off x="793790" y="512468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7"/>
          <p:cNvSpPr/>
          <p:nvPr/>
        </p:nvSpPr>
        <p:spPr>
          <a:xfrm>
            <a:off x="1530906" y="5202555"/>
            <a:ext cx="409753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Develop responsible practices</a:t>
            </a:r>
            <a:endParaRPr b="0" i="0" sz="2200" u="none" cap="none" strike="noStrike"/>
          </a:p>
        </p:txBody>
      </p:sp>
      <p:sp>
        <p:nvSpPr>
          <p:cNvPr id="103" name="Google Shape;103;p27"/>
          <p:cNvSpPr/>
          <p:nvPr/>
        </p:nvSpPr>
        <p:spPr>
          <a:xfrm>
            <a:off x="1530906" y="569297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Learn what you need to know to build effectively with Vibe-Coding platforms</a:t>
            </a:r>
            <a:endParaRPr b="0" i="0" sz="1750" u="none" cap="none" strike="noStrike"/>
          </a:p>
        </p:txBody>
      </p:sp>
      <p:sp>
        <p:nvSpPr>
          <p:cNvPr id="104" name="Google Shape;104;p27"/>
          <p:cNvSpPr/>
          <p:nvPr/>
        </p:nvSpPr>
        <p:spPr>
          <a:xfrm>
            <a:off x="793790" y="631102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session, you'll understand how apps run on the internet, where data is stored, and how APIs extend your app's capabilities.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Agenda</a:t>
            </a:r>
            <a:endParaRPr b="0" i="0" sz="4450" u="none" cap="none" strike="noStrike"/>
          </a:p>
        </p:txBody>
      </p:sp>
      <p:sp>
        <p:nvSpPr>
          <p:cNvPr id="111" name="Google Shape;111;p28"/>
          <p:cNvSpPr/>
          <p:nvPr/>
        </p:nvSpPr>
        <p:spPr>
          <a:xfrm>
            <a:off x="793790" y="17861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Quick recap - What is Prototyping?</a:t>
            </a:r>
            <a:endParaRPr b="0" i="0" sz="1750" u="none" cap="none" strike="noStrike"/>
          </a:p>
        </p:txBody>
      </p:sp>
      <p:sp>
        <p:nvSpPr>
          <p:cNvPr id="112" name="Google Shape;112;p28"/>
          <p:cNvSpPr/>
          <p:nvPr/>
        </p:nvSpPr>
        <p:spPr>
          <a:xfrm>
            <a:off x="793790" y="231898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Why Prototyping Isn't Enough</a:t>
            </a:r>
            <a:endParaRPr b="0" i="0" sz="1750" u="none" cap="none" strike="noStrike"/>
          </a:p>
        </p:txBody>
      </p:sp>
      <p:sp>
        <p:nvSpPr>
          <p:cNvPr id="113" name="Google Shape;113;p28"/>
          <p:cNvSpPr/>
          <p:nvPr/>
        </p:nvSpPr>
        <p:spPr>
          <a:xfrm>
            <a:off x="793790" y="2851785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3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Basic Developing Foundational Concepts</a:t>
            </a:r>
            <a:endParaRPr b="0" i="0" sz="1750" u="none" cap="none" strike="noStrike"/>
          </a:p>
        </p:txBody>
      </p:sp>
      <p:sp>
        <p:nvSpPr>
          <p:cNvPr id="114" name="Google Shape;114;p28"/>
          <p:cNvSpPr/>
          <p:nvPr/>
        </p:nvSpPr>
        <p:spPr>
          <a:xfrm>
            <a:off x="793790" y="338459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a Website Really Works: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Hosting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Client-Server Communication</a:t>
            </a:r>
            <a:endParaRPr b="0" i="0" sz="1750" u="none" cap="none" strike="noStrike"/>
          </a:p>
        </p:txBody>
      </p:sp>
      <p:sp>
        <p:nvSpPr>
          <p:cNvPr id="115" name="Google Shape;115;p28"/>
          <p:cNvSpPr/>
          <p:nvPr/>
        </p:nvSpPr>
        <p:spPr>
          <a:xfrm>
            <a:off x="793790" y="3917394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From App to Data – How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Databases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Work</a:t>
            </a:r>
            <a:endParaRPr b="0" i="0" sz="1750" u="none" cap="none" strike="noStrike"/>
          </a:p>
        </p:txBody>
      </p:sp>
      <p:sp>
        <p:nvSpPr>
          <p:cNvPr id="116" name="Google Shape;116;p28"/>
          <p:cNvSpPr/>
          <p:nvPr/>
        </p:nvSpPr>
        <p:spPr>
          <a:xfrm>
            <a:off x="793790" y="445019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Don’t Have to Build It All – Meet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APIs</a:t>
            </a:r>
            <a:endParaRPr b="0" i="0" sz="1750" u="none" cap="none" strike="noStrike"/>
          </a:p>
        </p:txBody>
      </p:sp>
      <p:sp>
        <p:nvSpPr>
          <p:cNvPr id="117" name="Google Shape;117;p28"/>
          <p:cNvSpPr/>
          <p:nvPr/>
        </p:nvSpPr>
        <p:spPr>
          <a:xfrm>
            <a:off x="793790" y="515885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/>
          <p:nvPr/>
        </p:nvSpPr>
        <p:spPr>
          <a:xfrm>
            <a:off x="793790" y="656273"/>
            <a:ext cx="9437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Quick recap - What is Prototyping?</a:t>
            </a:r>
            <a:endParaRPr b="0" i="0" sz="4450" u="none" cap="none" strike="noStrike"/>
          </a:p>
        </p:txBody>
      </p:sp>
      <p:sp>
        <p:nvSpPr>
          <p:cNvPr id="124" name="Google Shape;124;p29"/>
          <p:cNvSpPr/>
          <p:nvPr/>
        </p:nvSpPr>
        <p:spPr>
          <a:xfrm>
            <a:off x="793790" y="1818680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Prototyping is the process of </a:t>
            </a: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quickly creating a simplified version of a product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to test ideas, features, or workflows before full development.</a:t>
            </a:r>
            <a:endParaRPr b="0" i="0" sz="2200" u="none" cap="none" strike="noStrike"/>
          </a:p>
        </p:txBody>
      </p:sp>
      <p:sp>
        <p:nvSpPr>
          <p:cNvPr id="125" name="Google Shape;125;p29"/>
          <p:cNvSpPr/>
          <p:nvPr/>
        </p:nvSpPr>
        <p:spPr>
          <a:xfrm>
            <a:off x="793790" y="3065859"/>
            <a:ext cx="326386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Purpose of Prototyping:</a:t>
            </a:r>
            <a:endParaRPr b="0" i="0" sz="2200" u="none" cap="none" strike="noStrike"/>
          </a:p>
        </p:txBody>
      </p:sp>
      <p:sp>
        <p:nvSpPr>
          <p:cNvPr id="126" name="Google Shape;126;p29"/>
          <p:cNvSpPr/>
          <p:nvPr/>
        </p:nvSpPr>
        <p:spPr>
          <a:xfrm>
            <a:off x="793790" y="376035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Explore and validate ideas with real users</a:t>
            </a:r>
            <a:endParaRPr b="0" i="0" sz="1750" u="none" cap="none" strike="noStrike"/>
          </a:p>
        </p:txBody>
      </p:sp>
      <p:sp>
        <p:nvSpPr>
          <p:cNvPr id="127" name="Google Shape;127;p29"/>
          <p:cNvSpPr/>
          <p:nvPr/>
        </p:nvSpPr>
        <p:spPr>
          <a:xfrm>
            <a:off x="793790" y="420254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Get early feedback without full commitment</a:t>
            </a:r>
            <a:endParaRPr b="0" i="0" sz="1750" u="none" cap="none" strike="noStrike"/>
          </a:p>
        </p:txBody>
      </p:sp>
      <p:sp>
        <p:nvSpPr>
          <p:cNvPr id="128" name="Google Shape;128;p29"/>
          <p:cNvSpPr/>
          <p:nvPr/>
        </p:nvSpPr>
        <p:spPr>
          <a:xfrm>
            <a:off x="793790" y="464474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Iterate rapidly on design, logic, or interface</a:t>
            </a:r>
            <a:endParaRPr b="0" i="0" sz="1750" u="none" cap="none" strike="noStrike"/>
          </a:p>
        </p:txBody>
      </p:sp>
      <p:sp>
        <p:nvSpPr>
          <p:cNvPr id="129" name="Google Shape;129;p29"/>
          <p:cNvSpPr/>
          <p:nvPr/>
        </p:nvSpPr>
        <p:spPr>
          <a:xfrm>
            <a:off x="793790" y="508694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Communicate concepts to stakeholders or investors</a:t>
            </a:r>
            <a:endParaRPr b="0" i="0" sz="1750" u="none" cap="none" strike="noStrike"/>
          </a:p>
        </p:txBody>
      </p:sp>
      <p:sp>
        <p:nvSpPr>
          <p:cNvPr id="130" name="Google Shape;130;p29"/>
          <p:cNvSpPr/>
          <p:nvPr/>
        </p:nvSpPr>
        <p:spPr>
          <a:xfrm>
            <a:off x="793790" y="57900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Why it matters:</a:t>
            </a:r>
            <a:endParaRPr b="0" i="0" sz="2200" u="none" cap="none" strike="noStrike"/>
          </a:p>
        </p:txBody>
      </p:sp>
      <p:sp>
        <p:nvSpPr>
          <p:cNvPr id="131" name="Google Shape;131;p29"/>
          <p:cNvSpPr/>
          <p:nvPr/>
        </p:nvSpPr>
        <p:spPr>
          <a:xfrm>
            <a:off x="793790" y="6484501"/>
            <a:ext cx="130428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Vibe-Coding platforms are costly and depend heavily on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 interaction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prompt design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feedback cycles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 A prototype helps test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which prompts work best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before building the full app, and help you create the best application within the platform costly limitations.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/>
          <p:nvPr/>
        </p:nvSpPr>
        <p:spPr>
          <a:xfrm>
            <a:off x="793790" y="623768"/>
            <a:ext cx="94379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Quick recap - What is Prototyping?</a:t>
            </a:r>
            <a:endParaRPr b="0" i="0" sz="4450" u="none" cap="none" strike="noStrike"/>
          </a:p>
        </p:txBody>
      </p:sp>
      <p:sp>
        <p:nvSpPr>
          <p:cNvPr id="138" name="Google Shape;138;p30"/>
          <p:cNvSpPr/>
          <p:nvPr/>
        </p:nvSpPr>
        <p:spPr>
          <a:xfrm>
            <a:off x="793790" y="1672709"/>
            <a:ext cx="343638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Prototyping Enables:</a:t>
            </a:r>
            <a:endParaRPr b="0" i="0" sz="2650" u="none" cap="none" strike="noStrike"/>
          </a:p>
        </p:txBody>
      </p:sp>
      <p:sp>
        <p:nvSpPr>
          <p:cNvPr id="139" name="Google Shape;139;p30"/>
          <p:cNvSpPr/>
          <p:nvPr/>
        </p:nvSpPr>
        <p:spPr>
          <a:xfrm>
            <a:off x="793790" y="2438162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Prompt Design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Explore different prompts for your desired output</a:t>
            </a:r>
            <a:endParaRPr b="0" i="0" sz="2200" u="none" cap="none" strike="noStrike"/>
          </a:p>
        </p:txBody>
      </p:sp>
      <p:sp>
        <p:nvSpPr>
          <p:cNvPr id="140" name="Google Shape;140;p30"/>
          <p:cNvSpPr/>
          <p:nvPr/>
        </p:nvSpPr>
        <p:spPr>
          <a:xfrm>
            <a:off x="793790" y="3146822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Testing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No-code tools help test and refine prompt chains, UI input types, and output formatting</a:t>
            </a:r>
            <a:endParaRPr b="0" i="0" sz="2200" u="none" cap="none" strike="noStrike"/>
          </a:p>
        </p:txBody>
      </p:sp>
      <p:sp>
        <p:nvSpPr>
          <p:cNvPr id="141" name="Google Shape;141;p30"/>
          <p:cNvSpPr/>
          <p:nvPr/>
        </p:nvSpPr>
        <p:spPr>
          <a:xfrm>
            <a:off x="793790" y="3855482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Side-by-Side Comparison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Compare different prompt approaches and product ideas and see results immediately</a:t>
            </a:r>
            <a:endParaRPr b="0" i="0" sz="2200" u="none" cap="none" strike="noStrike"/>
          </a:p>
        </p:txBody>
      </p:sp>
      <p:sp>
        <p:nvSpPr>
          <p:cNvPr id="142" name="Google Shape;142;p30"/>
          <p:cNvSpPr/>
          <p:nvPr/>
        </p:nvSpPr>
        <p:spPr>
          <a:xfrm>
            <a:off x="793790" y="501765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Rapid Feedback Loop -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Get feedback and make changes without backend changes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/>
        </p:nvSpPr>
        <p:spPr>
          <a:xfrm>
            <a:off x="793790" y="623768"/>
            <a:ext cx="807946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Why Prototyping Isn't Enough</a:t>
            </a:r>
            <a:endParaRPr b="0" i="0" sz="4450" u="none" cap="none" strike="noStrike"/>
          </a:p>
        </p:txBody>
      </p:sp>
      <p:sp>
        <p:nvSpPr>
          <p:cNvPr id="149" name="Google Shape;149;p31"/>
          <p:cNvSpPr/>
          <p:nvPr/>
        </p:nvSpPr>
        <p:spPr>
          <a:xfrm>
            <a:off x="793790" y="167270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Prototyping = idea exploration, not real product</a:t>
            </a:r>
            <a:endParaRPr b="0" i="0" sz="2200" u="none" cap="none" strike="noStrike"/>
          </a:p>
        </p:txBody>
      </p:sp>
      <p:sp>
        <p:nvSpPr>
          <p:cNvPr id="150" name="Google Shape;150;p31"/>
          <p:cNvSpPr/>
          <p:nvPr/>
        </p:nvSpPr>
        <p:spPr>
          <a:xfrm>
            <a:off x="793790" y="2466380"/>
            <a:ext cx="913245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Limitations of AI-based prototypes (with ChatGPT, Claude, Gemini):</a:t>
            </a:r>
            <a:endParaRPr b="0" i="0" sz="2200" u="none" cap="none" strike="noStrike"/>
          </a:p>
        </p:txBody>
      </p:sp>
      <p:sp>
        <p:nvSpPr>
          <p:cNvPr id="151" name="Google Shape;151;p31"/>
          <p:cNvSpPr/>
          <p:nvPr/>
        </p:nvSpPr>
        <p:spPr>
          <a:xfrm>
            <a:off x="793790" y="316087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isn't saved between sessions</a:t>
            </a:r>
            <a:endParaRPr b="0" i="0" sz="1750" u="none" cap="none" strike="noStrike"/>
          </a:p>
        </p:txBody>
      </p:sp>
      <p:sp>
        <p:nvSpPr>
          <p:cNvPr id="152" name="Google Shape;152;p31"/>
          <p:cNvSpPr/>
          <p:nvPr/>
        </p:nvSpPr>
        <p:spPr>
          <a:xfrm>
            <a:off x="793790" y="36936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Logic doesn't run in real time and on the user's browser</a:t>
            </a:r>
            <a:endParaRPr b="0" i="0" sz="1750" u="none" cap="none" strike="noStrike"/>
          </a:p>
        </p:txBody>
      </p:sp>
      <p:sp>
        <p:nvSpPr>
          <p:cNvPr id="153" name="Google Shape;153;p31"/>
          <p:cNvSpPr/>
          <p:nvPr/>
        </p:nvSpPr>
        <p:spPr>
          <a:xfrm>
            <a:off x="793790" y="422648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Not connected to internet services</a:t>
            </a:r>
            <a:endParaRPr b="0" i="0" sz="1750" u="none" cap="none" strike="noStrike"/>
          </a:p>
        </p:txBody>
      </p:sp>
      <p:sp>
        <p:nvSpPr>
          <p:cNvPr id="154" name="Google Shape;154;p31"/>
          <p:cNvSpPr/>
          <p:nvPr/>
        </p:nvSpPr>
        <p:spPr>
          <a:xfrm>
            <a:off x="793790" y="5020151"/>
            <a:ext cx="38286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You need deployment when:</a:t>
            </a:r>
            <a:endParaRPr b="0" i="0" sz="2200" u="none" cap="none" strike="noStrike"/>
          </a:p>
        </p:txBody>
      </p:sp>
      <p:sp>
        <p:nvSpPr>
          <p:cNvPr id="155" name="Google Shape;155;p31"/>
          <p:cNvSpPr/>
          <p:nvPr/>
        </p:nvSpPr>
        <p:spPr>
          <a:xfrm>
            <a:off x="793790" y="5714643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Real users will submit data and logs of your app will be saved somewere</a:t>
            </a:r>
            <a:endParaRPr b="0" i="0" sz="1750" u="none" cap="none" strike="noStrike"/>
          </a:p>
        </p:txBody>
      </p:sp>
      <p:sp>
        <p:nvSpPr>
          <p:cNvPr id="156" name="Google Shape;156;p31"/>
          <p:cNvSpPr/>
          <p:nvPr/>
        </p:nvSpPr>
        <p:spPr>
          <a:xfrm>
            <a:off x="793790" y="6247448"/>
            <a:ext cx="13042821" cy="907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want to launch a working tool that all of it functions acctually work (and not just 'seem' working)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/>
          <p:nvPr/>
        </p:nvSpPr>
        <p:spPr>
          <a:xfrm>
            <a:off x="793790" y="623768"/>
            <a:ext cx="130428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Why as a "Vibe Coder" you should know technological basics?</a:t>
            </a:r>
            <a:endParaRPr b="0" i="0" sz="4200" u="none" cap="none" strike="noStrike"/>
          </a:p>
        </p:txBody>
      </p:sp>
      <p:sp>
        <p:nvSpPr>
          <p:cNvPr id="163" name="Google Shape;163;p32"/>
          <p:cNvSpPr/>
          <p:nvPr/>
        </p:nvSpPr>
        <p:spPr>
          <a:xfrm>
            <a:off x="793790" y="2401491"/>
            <a:ext cx="130428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vibe coding you understand you app by inserting an input and looking on the output ("the black box")</a:t>
            </a:r>
            <a:endParaRPr b="0" i="0" sz="2100" u="none" cap="none" strike="noStrike"/>
          </a:p>
        </p:txBody>
      </p:sp>
      <p:pic>
        <p:nvPicPr>
          <p:cNvPr descr="preencoded.png"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74789"/>
            <a:ext cx="13042821" cy="316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2"/>
          <p:cNvSpPr/>
          <p:nvPr/>
        </p:nvSpPr>
        <p:spPr>
          <a:xfrm>
            <a:off x="1521801" y="4171835"/>
            <a:ext cx="1409267" cy="65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3000"/>
              <a:buFont typeface="Rubik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166" name="Google Shape;166;p32"/>
          <p:cNvSpPr/>
          <p:nvPr/>
        </p:nvSpPr>
        <p:spPr>
          <a:xfrm>
            <a:off x="11486213" y="4171835"/>
            <a:ext cx="1856950" cy="653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3000"/>
              <a:buFont typeface="Rubik"/>
              <a:buNone/>
            </a:pPr>
            <a:r>
              <a:t/>
            </a:r>
            <a:endParaRPr b="0" i="0" sz="3000" u="none" cap="none" strike="noStrike"/>
          </a:p>
        </p:txBody>
      </p:sp>
      <p:sp>
        <p:nvSpPr>
          <p:cNvPr id="167" name="Google Shape;167;p32"/>
          <p:cNvSpPr/>
          <p:nvPr/>
        </p:nvSpPr>
        <p:spPr>
          <a:xfrm>
            <a:off x="968240" y="5021582"/>
            <a:ext cx="2516560" cy="915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Open Sans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8" name="Google Shape;168;p32"/>
          <p:cNvSpPr/>
          <p:nvPr/>
        </p:nvSpPr>
        <p:spPr>
          <a:xfrm>
            <a:off x="11156494" y="5061891"/>
            <a:ext cx="2516560" cy="61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Open Sans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9" name="Google Shape;169;p32"/>
          <p:cNvSpPr/>
          <p:nvPr/>
        </p:nvSpPr>
        <p:spPr>
          <a:xfrm>
            <a:off x="793790" y="6484144"/>
            <a:ext cx="13042821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Learning basic developing concepts will help you to get more </a:t>
            </a:r>
            <a:r>
              <a:rPr lang="en-US" sz="21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comfortable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with it and to become a smart and secure vibe-coder..!  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1744623" y="3760351"/>
            <a:ext cx="1114115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Basic Developing Foundational Concepts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/>
          <p:nvPr/>
        </p:nvSpPr>
        <p:spPr>
          <a:xfrm>
            <a:off x="335100" y="3760350"/>
            <a:ext cx="1396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11175" lvl="0" marL="45720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AutoNum type="arabicPeriod"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a Website Works // Full Stack Development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1505200"/>
            <a:ext cx="12537599" cy="2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5"/>
          <p:cNvSpPr txBox="1"/>
          <p:nvPr/>
        </p:nvSpPr>
        <p:spPr>
          <a:xfrm>
            <a:off x="849900" y="4474100"/>
            <a:ext cx="129306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User: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The person using your app (like visitors to your website). </a:t>
            </a:r>
            <a:endParaRPr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Front End: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What users see and interact with (the website interface - buttons, texts, etc.)</a:t>
            </a:r>
            <a:endParaRPr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Server: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The brain that processes requests and handles the app logic. Also called </a:t>
            </a: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Backend</a:t>
            </a:r>
            <a:endParaRPr b="1"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Database: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Where all your app's information is stored (user data, content, etc.)</a:t>
            </a:r>
            <a:b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</a:br>
            <a:endParaRPr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200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Client-Server Communication -</a:t>
            </a:r>
            <a:r>
              <a:rPr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How the frontend and backend talk to each other</a:t>
            </a:r>
            <a:endParaRPr b="1"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ubik"/>
              <a:buChar char="●"/>
            </a:pPr>
            <a:r>
              <a:rPr b="1" lang="en-US" sz="2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Hosting - </a:t>
            </a:r>
            <a:r>
              <a:rPr lang="en-US" sz="21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Where your app lives online so people can access it</a:t>
            </a:r>
            <a:endParaRPr b="1" sz="21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35"/>
          <p:cNvSpPr/>
          <p:nvPr/>
        </p:nvSpPr>
        <p:spPr>
          <a:xfrm>
            <a:off x="793790" y="669965"/>
            <a:ext cx="744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a Website Really Works</a:t>
            </a:r>
            <a:endParaRPr b="0" i="0" sz="4450" u="none" cap="none" strike="noStrike"/>
          </a:p>
        </p:txBody>
      </p:sp>
      <p:sp>
        <p:nvSpPr>
          <p:cNvPr id="190" name="Google Shape;190;p35"/>
          <p:cNvSpPr/>
          <p:nvPr/>
        </p:nvSpPr>
        <p:spPr>
          <a:xfrm>
            <a:off x="793675" y="4644413"/>
            <a:ext cx="3898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400" y="1505200"/>
            <a:ext cx="12537599" cy="2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6"/>
          <p:cNvSpPr/>
          <p:nvPr/>
        </p:nvSpPr>
        <p:spPr>
          <a:xfrm>
            <a:off x="793790" y="669965"/>
            <a:ext cx="744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a Website Really Works</a:t>
            </a:r>
            <a:endParaRPr b="0" i="0" sz="4450" u="none" cap="none" strike="noStrike"/>
          </a:p>
        </p:txBody>
      </p:sp>
      <p:sp>
        <p:nvSpPr>
          <p:cNvPr id="198" name="Google Shape;198;p36"/>
          <p:cNvSpPr txBox="1"/>
          <p:nvPr/>
        </p:nvSpPr>
        <p:spPr>
          <a:xfrm>
            <a:off x="793800" y="5225675"/>
            <a:ext cx="12930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Full Stack </a:t>
            </a:r>
            <a:r>
              <a:rPr b="1" lang="en-US" sz="3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Development</a:t>
            </a:r>
            <a:r>
              <a:rPr b="1" lang="en-US" sz="3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b="1" sz="38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36"/>
          <p:cNvSpPr/>
          <p:nvPr/>
        </p:nvSpPr>
        <p:spPr>
          <a:xfrm>
            <a:off x="793790" y="6408223"/>
            <a:ext cx="130428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Vibe-Coding platforms handle these technical components, letting you focus on building your app while focusing on your product, without all of this technical </a:t>
            </a:r>
            <a:r>
              <a:rPr lang="en-US" sz="25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headache</a:t>
            </a:r>
            <a:r>
              <a:rPr b="0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..!</a:t>
            </a:r>
            <a:endParaRPr b="0" i="0" sz="25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793790" y="623768"/>
            <a:ext cx="7132677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300"/>
              <a:buFont typeface="Rubik"/>
              <a:buNone/>
            </a:pPr>
            <a:r>
              <a:rPr b="0" i="0" lang="en-US" sz="33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The Frontend – What the User Sees</a:t>
            </a:r>
            <a:endParaRPr b="0" i="0" sz="3300" u="none" cap="none" strike="noStrike"/>
          </a:p>
        </p:txBody>
      </p:sp>
      <p:sp>
        <p:nvSpPr>
          <p:cNvPr id="206" name="Google Shape;206;p37"/>
          <p:cNvSpPr/>
          <p:nvPr/>
        </p:nvSpPr>
        <p:spPr>
          <a:xfrm>
            <a:off x="793790" y="1410533"/>
            <a:ext cx="13042821" cy="68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Frontend </a:t>
            </a: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= Everything that the user sees and engage with; Everything that shows up in the browser. Created using HTML, CSS, and JavaScript</a:t>
            </a:r>
            <a:endParaRPr b="0" i="0" sz="2150" u="none" cap="none" strike="noStrike"/>
          </a:p>
        </p:txBody>
      </p:sp>
      <p:pic>
        <p:nvPicPr>
          <p:cNvPr descr="preencoded.png" id="207" name="Google Shape;20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13685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/>
          <p:nvPr/>
        </p:nvSpPr>
        <p:spPr>
          <a:xfrm>
            <a:off x="1431724" y="2914650"/>
            <a:ext cx="3594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ubik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User Experience (UX)</a:t>
            </a:r>
            <a:endParaRPr b="1" i="0" sz="1650" u="none" cap="none" strike="noStrike"/>
          </a:p>
        </p:txBody>
      </p:sp>
      <p:sp>
        <p:nvSpPr>
          <p:cNvPr id="209" name="Google Shape;209;p37"/>
          <p:cNvSpPr/>
          <p:nvPr/>
        </p:nvSpPr>
        <p:spPr>
          <a:xfrm>
            <a:off x="1431725" y="3282425"/>
            <a:ext cx="6315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the app feels: intuitive, smooth, and pleasant to use</a:t>
            </a:r>
            <a:endParaRPr b="0" i="0" sz="1750" u="none" cap="none" strike="noStrike"/>
          </a:p>
        </p:txBody>
      </p:sp>
      <p:sp>
        <p:nvSpPr>
          <p:cNvPr id="210" name="Google Shape;210;p37"/>
          <p:cNvSpPr/>
          <p:nvPr/>
        </p:nvSpPr>
        <p:spPr>
          <a:xfrm>
            <a:off x="1431727" y="3724632"/>
            <a:ext cx="5777151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Consider: Is it clear what to click? Is the flow logical?</a:t>
            </a:r>
            <a:endParaRPr b="0" i="0" sz="1750" u="none" cap="none" strike="noStrike"/>
          </a:p>
        </p:txBody>
      </p:sp>
      <p:sp>
        <p:nvSpPr>
          <p:cNvPr id="211" name="Google Shape;211;p37"/>
          <p:cNvSpPr/>
          <p:nvPr/>
        </p:nvSpPr>
        <p:spPr>
          <a:xfrm>
            <a:off x="1431727" y="4166830"/>
            <a:ext cx="5777151" cy="68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UX focuses on the user journey and satisfaction from start to finish</a:t>
            </a:r>
            <a:endParaRPr b="0" i="0" sz="1750" u="none" cap="none" strike="noStrike"/>
          </a:p>
        </p:txBody>
      </p:sp>
      <p:pic>
        <p:nvPicPr>
          <p:cNvPr descr="preencoded.png" id="212" name="Google Shape;2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0123" y="2813685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7"/>
          <p:cNvSpPr/>
          <p:nvPr/>
        </p:nvSpPr>
        <p:spPr>
          <a:xfrm>
            <a:off x="8288060" y="2877383"/>
            <a:ext cx="57771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 interface (UI)</a:t>
            </a:r>
            <a:endParaRPr b="1" i="0" sz="1650" u="none" cap="none" strike="noStrike"/>
          </a:p>
        </p:txBody>
      </p:sp>
      <p:sp>
        <p:nvSpPr>
          <p:cNvPr id="214" name="Google Shape;214;p37"/>
          <p:cNvSpPr/>
          <p:nvPr/>
        </p:nvSpPr>
        <p:spPr>
          <a:xfrm>
            <a:off x="8288060" y="3319582"/>
            <a:ext cx="5777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actual design elements the user interacts with: buttons, forms, images, icons</a:t>
            </a:r>
            <a:endParaRPr b="0" i="0" sz="1750" u="none" cap="none" strike="noStrike"/>
          </a:p>
        </p:txBody>
      </p:sp>
      <p:sp>
        <p:nvSpPr>
          <p:cNvPr id="215" name="Google Shape;215;p37"/>
          <p:cNvSpPr/>
          <p:nvPr/>
        </p:nvSpPr>
        <p:spPr>
          <a:xfrm>
            <a:off x="8288060" y="4101941"/>
            <a:ext cx="57771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well-designed UI makes the app easy to navigate and visually appealing</a:t>
            </a:r>
            <a:endParaRPr b="0" i="0" sz="1750" u="none" cap="none" strike="noStrike"/>
          </a:p>
        </p:txBody>
      </p:sp>
      <p:pic>
        <p:nvPicPr>
          <p:cNvPr descr="preencoded.png" id="216" name="Google Shape;21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267087"/>
            <a:ext cx="425291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/>
          <p:nvPr/>
        </p:nvSpPr>
        <p:spPr>
          <a:xfrm>
            <a:off x="1431727" y="5368052"/>
            <a:ext cx="21264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Rubik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UX ←→ UI</a:t>
            </a:r>
            <a:endParaRPr b="1" i="0" sz="1650" u="none" cap="none" strike="noStrike"/>
          </a:p>
        </p:txBody>
      </p:sp>
      <p:sp>
        <p:nvSpPr>
          <p:cNvPr id="218" name="Google Shape;218;p37"/>
          <p:cNvSpPr/>
          <p:nvPr/>
        </p:nvSpPr>
        <p:spPr>
          <a:xfrm>
            <a:off x="1431727" y="5735836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UI impacts UX: a beautiful but confusing UI ruins the experience</a:t>
            </a:r>
            <a:endParaRPr b="0" i="0" sz="1750" u="none" cap="none" strike="noStrike"/>
          </a:p>
        </p:txBody>
      </p:sp>
      <p:sp>
        <p:nvSpPr>
          <p:cNvPr id="219" name="Google Shape;219;p37"/>
          <p:cNvSpPr/>
          <p:nvPr/>
        </p:nvSpPr>
        <p:spPr>
          <a:xfrm>
            <a:off x="1431727" y="6178034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UX influences UI: understanding user needs shapes the interface design</a:t>
            </a:r>
            <a:endParaRPr b="0" i="0" sz="1750" u="none" cap="none" strike="noStrike"/>
          </a:p>
        </p:txBody>
      </p:sp>
      <p:sp>
        <p:nvSpPr>
          <p:cNvPr id="220" name="Google Shape;220;p37"/>
          <p:cNvSpPr/>
          <p:nvPr/>
        </p:nvSpPr>
        <p:spPr>
          <a:xfrm>
            <a:off x="1431727" y="6620232"/>
            <a:ext cx="12405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Together they define how usable and enjoyable your app is</a:t>
            </a:r>
            <a:endParaRPr b="0" i="0" sz="1750" u="none" cap="none" strike="noStrike"/>
          </a:p>
        </p:txBody>
      </p:sp>
      <p:sp>
        <p:nvSpPr>
          <p:cNvPr id="221" name="Google Shape;221;p37"/>
          <p:cNvSpPr/>
          <p:nvPr/>
        </p:nvSpPr>
        <p:spPr>
          <a:xfrm>
            <a:off x="793790" y="7332177"/>
            <a:ext cx="130428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vibe coding platforms, you define the front using your prompts! </a:t>
            </a:r>
            <a:endParaRPr b="0" i="0" sz="21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793790" y="2462733"/>
            <a:ext cx="13042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prototyping we made with Claude/Gemini/ChatGPT </a:t>
            </a:r>
            <a:endParaRPr b="1" sz="34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is the </a:t>
            </a:r>
            <a:r>
              <a:rPr b="1" i="0" lang="en-US" sz="34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Frontend!</a:t>
            </a:r>
            <a:endParaRPr b="0" i="0" sz="3450" u="none" cap="none" strike="noStrike"/>
          </a:p>
        </p:txBody>
      </p:sp>
      <p:sp>
        <p:nvSpPr>
          <p:cNvPr id="228" name="Google Shape;228;p38"/>
          <p:cNvSpPr/>
          <p:nvPr/>
        </p:nvSpPr>
        <p:spPr>
          <a:xfrm>
            <a:off x="793790" y="623768"/>
            <a:ext cx="71328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300"/>
              <a:buFont typeface="Rubik"/>
              <a:buNone/>
            </a:pPr>
            <a:r>
              <a:rPr b="0" i="0" lang="en-US" sz="34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The Frontend – What the User Sees</a:t>
            </a:r>
            <a:endParaRPr b="0" i="0" sz="3400" u="none" cap="none" strike="noStrike"/>
          </a:p>
        </p:txBody>
      </p:sp>
      <p:sp>
        <p:nvSpPr>
          <p:cNvPr id="229" name="Google Shape;229;p38"/>
          <p:cNvSpPr/>
          <p:nvPr/>
        </p:nvSpPr>
        <p:spPr>
          <a:xfrm>
            <a:off x="793790" y="5053533"/>
            <a:ext cx="130428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order to develop a full working product, you need also backend..! → A </a:t>
            </a: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fullstack</a:t>
            </a:r>
            <a:r>
              <a:rPr b="1"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app!</a:t>
            </a:r>
            <a:endParaRPr b="0" i="0" sz="34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/>
          <p:nvPr/>
        </p:nvSpPr>
        <p:spPr>
          <a:xfrm>
            <a:off x="793803" y="648300"/>
            <a:ext cx="1335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550"/>
              <a:buFont typeface="Rubik"/>
              <a:buNone/>
            </a:pPr>
            <a:r>
              <a:rPr b="0" i="0" lang="en-US" sz="35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The </a:t>
            </a:r>
            <a:r>
              <a:rPr lang="en-US" sz="35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Server</a:t>
            </a:r>
            <a:r>
              <a:rPr lang="en-US" sz="35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/</a:t>
            </a:r>
            <a:r>
              <a:rPr b="0" i="0" lang="en-US" sz="35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Backend – What Happens Behind the Scenes</a:t>
            </a:r>
            <a:endParaRPr b="0" i="0" sz="3550" u="none" cap="none" strike="noStrike"/>
          </a:p>
        </p:txBody>
      </p:sp>
      <p:sp>
        <p:nvSpPr>
          <p:cNvPr id="236" name="Google Shape;236;p39"/>
          <p:cNvSpPr/>
          <p:nvPr/>
        </p:nvSpPr>
        <p:spPr>
          <a:xfrm>
            <a:off x="793790" y="157817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Backend </a:t>
            </a: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= Logic and processing engine. Behind the scenes of the app. When a user interacts with the app, backend decides what happens:</a:t>
            </a:r>
            <a:endParaRPr b="0" i="0" sz="2050" u="none" cap="none" strike="noStrike"/>
          </a:p>
        </p:txBody>
      </p:sp>
      <p:pic>
        <p:nvPicPr>
          <p:cNvPr descr="preencoded.png" id="237" name="Google Shape;23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08052"/>
            <a:ext cx="3260646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/>
          <p:nvPr/>
        </p:nvSpPr>
        <p:spPr>
          <a:xfrm>
            <a:off x="975241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User Action</a:t>
            </a:r>
            <a:endParaRPr b="0" i="0" sz="2050" u="none" cap="none" strike="noStrike"/>
          </a:p>
        </p:txBody>
      </p:sp>
      <p:sp>
        <p:nvSpPr>
          <p:cNvPr id="239" name="Google Shape;239;p39"/>
          <p:cNvSpPr/>
          <p:nvPr/>
        </p:nvSpPr>
        <p:spPr>
          <a:xfrm>
            <a:off x="975241" y="3807619"/>
            <a:ext cx="2897743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visitor completes a form or clicks a button on your website</a:t>
            </a:r>
            <a:endParaRPr b="0" i="0" sz="1700" u="none" cap="none" strike="noStrike"/>
          </a:p>
        </p:txBody>
      </p:sp>
      <p:pic>
        <p:nvPicPr>
          <p:cNvPr descr="preencoded.png" id="240" name="Google Shape;24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2508052"/>
            <a:ext cx="3260765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/>
          <p:nvPr/>
        </p:nvSpPr>
        <p:spPr>
          <a:xfrm>
            <a:off x="4235870" y="3415300"/>
            <a:ext cx="3079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Backend Processing</a:t>
            </a:r>
            <a:endParaRPr b="0" i="0" sz="2050" u="none" cap="none" strike="noStrike"/>
          </a:p>
        </p:txBody>
      </p:sp>
      <p:sp>
        <p:nvSpPr>
          <p:cNvPr id="242" name="Google Shape;242;p39"/>
          <p:cNvSpPr/>
          <p:nvPr/>
        </p:nvSpPr>
        <p:spPr>
          <a:xfrm>
            <a:off x="4235887" y="3807619"/>
            <a:ext cx="2897862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Logic determines what to do with the request</a:t>
            </a:r>
            <a:endParaRPr b="0" i="0" sz="1700" u="none" cap="none" strike="noStrike"/>
          </a:p>
        </p:txBody>
      </p:sp>
      <p:sp>
        <p:nvSpPr>
          <p:cNvPr id="243" name="Google Shape;243;p39"/>
          <p:cNvSpPr/>
          <p:nvPr/>
        </p:nvSpPr>
        <p:spPr>
          <a:xfrm>
            <a:off x="4235887" y="4573191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Store information?</a:t>
            </a:r>
            <a:endParaRPr b="0" i="0" sz="1700" u="none" cap="none" strike="noStrike"/>
          </a:p>
        </p:txBody>
      </p:sp>
      <p:sp>
        <p:nvSpPr>
          <p:cNvPr id="244" name="Google Shape;244;p39"/>
          <p:cNvSpPr/>
          <p:nvPr/>
        </p:nvSpPr>
        <p:spPr>
          <a:xfrm>
            <a:off x="4235887" y="4926925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Send confirmation?</a:t>
            </a:r>
            <a:endParaRPr b="0" i="0" sz="1700" u="none" cap="none" strike="noStrike"/>
          </a:p>
        </p:txBody>
      </p:sp>
      <p:sp>
        <p:nvSpPr>
          <p:cNvPr id="245" name="Google Shape;245;p39"/>
          <p:cNvSpPr/>
          <p:nvPr/>
        </p:nvSpPr>
        <p:spPr>
          <a:xfrm>
            <a:off x="4235887" y="5280660"/>
            <a:ext cx="2898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Open Sans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Show different page?</a:t>
            </a:r>
            <a:endParaRPr b="0" i="0" sz="1700" u="none" cap="none" strike="noStrike"/>
          </a:p>
        </p:txBody>
      </p:sp>
      <p:pic>
        <p:nvPicPr>
          <p:cNvPr descr="preencoded.png" id="246" name="Google Shape;24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508052"/>
            <a:ext cx="3260646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9"/>
          <p:cNvSpPr/>
          <p:nvPr/>
        </p:nvSpPr>
        <p:spPr>
          <a:xfrm>
            <a:off x="7496651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Data Storage</a:t>
            </a:r>
            <a:endParaRPr b="0" i="0" sz="2050" u="none" cap="none" strike="noStrike"/>
          </a:p>
        </p:txBody>
      </p:sp>
      <p:sp>
        <p:nvSpPr>
          <p:cNvPr id="248" name="Google Shape;248;p39"/>
          <p:cNvSpPr/>
          <p:nvPr/>
        </p:nvSpPr>
        <p:spPr>
          <a:xfrm>
            <a:off x="7496651" y="3807619"/>
            <a:ext cx="2897743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Information is saved or retrieved as needed</a:t>
            </a:r>
            <a:endParaRPr b="0" i="0" sz="1700" u="none" cap="none" strike="noStrike"/>
          </a:p>
        </p:txBody>
      </p:sp>
      <p:pic>
        <p:nvPicPr>
          <p:cNvPr descr="preencoded.png" id="249" name="Google Shape;249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2508052"/>
            <a:ext cx="3260765" cy="72580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/>
          <p:nvPr/>
        </p:nvSpPr>
        <p:spPr>
          <a:xfrm>
            <a:off x="10757297" y="341530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Rubik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Response</a:t>
            </a:r>
            <a:endParaRPr b="0" i="0" sz="2050" u="none" cap="none" strike="noStrike"/>
          </a:p>
        </p:txBody>
      </p:sp>
      <p:sp>
        <p:nvSpPr>
          <p:cNvPr id="251" name="Google Shape;251;p39"/>
          <p:cNvSpPr/>
          <p:nvPr/>
        </p:nvSpPr>
        <p:spPr>
          <a:xfrm>
            <a:off x="1065967" y="6389132"/>
            <a:ext cx="12770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Analogy: Backend is the kitchen, Frontend is the </a:t>
            </a:r>
            <a:r>
              <a:rPr b="1"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diner, API is the menu</a:t>
            </a:r>
            <a:endParaRPr b="0" i="0" sz="2050" u="none" cap="none" strike="noStrike"/>
          </a:p>
        </p:txBody>
      </p:sp>
      <p:sp>
        <p:nvSpPr>
          <p:cNvPr id="252" name="Google Shape;252;p39"/>
          <p:cNvSpPr/>
          <p:nvPr/>
        </p:nvSpPr>
        <p:spPr>
          <a:xfrm>
            <a:off x="1065967" y="6956107"/>
            <a:ext cx="12770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Customers sees and engage only with the menu and don't see the kitchen, but the kitchen is where all the important work happens.</a:t>
            </a:r>
            <a:endParaRPr b="0" i="0" sz="2050" u="none" cap="none" strike="noStrike"/>
          </a:p>
        </p:txBody>
      </p:sp>
      <p:sp>
        <p:nvSpPr>
          <p:cNvPr id="253" name="Google Shape;253;p39"/>
          <p:cNvSpPr/>
          <p:nvPr/>
        </p:nvSpPr>
        <p:spPr>
          <a:xfrm>
            <a:off x="793790" y="6185059"/>
            <a:ext cx="22800" cy="170100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9"/>
          <p:cNvSpPr/>
          <p:nvPr/>
        </p:nvSpPr>
        <p:spPr>
          <a:xfrm>
            <a:off x="10757297" y="3807619"/>
            <a:ext cx="2897862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user sees the result of their action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0" name="Google Shape;2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/>
          <p:nvPr/>
        </p:nvSpPr>
        <p:spPr>
          <a:xfrm>
            <a:off x="396900" y="692200"/>
            <a:ext cx="83502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Hosting – Where Your App Lives</a:t>
            </a:r>
            <a:endParaRPr b="0" i="0" sz="4450" u="none" cap="none" strike="noStrike"/>
          </a:p>
        </p:txBody>
      </p:sp>
      <p:sp>
        <p:nvSpPr>
          <p:cNvPr id="262" name="Google Shape;262;p40"/>
          <p:cNvSpPr/>
          <p:nvPr/>
        </p:nvSpPr>
        <p:spPr>
          <a:xfrm>
            <a:off x="489001" y="1848100"/>
            <a:ext cx="83502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Hosting =</a:t>
            </a: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 where your app “sits” so people can access it online. The physical or virtual space where your app files are stored so people can access them online.</a:t>
            </a:r>
            <a:endParaRPr b="0" i="0" sz="2150" u="none" cap="none" strike="noStrike"/>
          </a:p>
        </p:txBody>
      </p:sp>
      <p:sp>
        <p:nvSpPr>
          <p:cNvPr id="263" name="Google Shape;263;p40"/>
          <p:cNvSpPr/>
          <p:nvPr/>
        </p:nvSpPr>
        <p:spPr>
          <a:xfrm>
            <a:off x="489001" y="3496755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Analogy: </a:t>
            </a: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building where your app files are being stored</a:t>
            </a:r>
            <a:endParaRPr b="0" i="0" sz="2150" u="none" cap="none" strike="noStrike"/>
          </a:p>
        </p:txBody>
      </p:sp>
      <p:sp>
        <p:nvSpPr>
          <p:cNvPr id="264" name="Google Shape;264;p40"/>
          <p:cNvSpPr/>
          <p:nvPr/>
        </p:nvSpPr>
        <p:spPr>
          <a:xfrm>
            <a:off x="488999" y="4199825"/>
            <a:ext cx="8258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6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it works with vibe-coding tools:</a:t>
            </a:r>
            <a:endParaRPr b="0" i="0" sz="2600" u="none" cap="none" strike="noStrike"/>
          </a:p>
        </p:txBody>
      </p:sp>
      <p:sp>
        <p:nvSpPr>
          <p:cNvPr id="265" name="Google Shape;265;p40"/>
          <p:cNvSpPr/>
          <p:nvPr/>
        </p:nvSpPr>
        <p:spPr>
          <a:xfrm>
            <a:off x="489000" y="4894300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Base44, Lovable and other platforms handle hosting automatically</a:t>
            </a:r>
            <a:endParaRPr b="0" i="0" sz="2150" u="none" cap="none" strike="noStrike"/>
          </a:p>
        </p:txBody>
      </p:sp>
      <p:sp>
        <p:nvSpPr>
          <p:cNvPr id="266" name="Google Shape;266;p40"/>
          <p:cNvSpPr/>
          <p:nvPr/>
        </p:nvSpPr>
        <p:spPr>
          <a:xfrm>
            <a:off x="489001" y="7056001"/>
            <a:ext cx="8350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Users can access your web app from anywhere</a:t>
            </a:r>
            <a:endParaRPr b="0" i="0" sz="2150" u="none" cap="none" strike="noStrike"/>
          </a:p>
        </p:txBody>
      </p:sp>
      <p:sp>
        <p:nvSpPr>
          <p:cNvPr id="267" name="Google Shape;267;p40"/>
          <p:cNvSpPr/>
          <p:nvPr/>
        </p:nvSpPr>
        <p:spPr>
          <a:xfrm>
            <a:off x="489001" y="6022302"/>
            <a:ext cx="8350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Open Sans"/>
              <a:buChar char="•"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simply press "Deploy" or "Publish" and your app gets its own web address (URL)</a:t>
            </a:r>
            <a:endParaRPr b="0" i="0" sz="21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/>
          <p:nvPr/>
        </p:nvSpPr>
        <p:spPr>
          <a:xfrm>
            <a:off x="788670" y="619720"/>
            <a:ext cx="7667625" cy="669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Client-Server Communication</a:t>
            </a:r>
            <a:endParaRPr b="0" i="0" sz="4200" u="none" cap="none" strike="noStrike"/>
          </a:p>
        </p:txBody>
      </p:sp>
      <p:sp>
        <p:nvSpPr>
          <p:cNvPr id="274" name="Google Shape;274;p41"/>
          <p:cNvSpPr/>
          <p:nvPr/>
        </p:nvSpPr>
        <p:spPr>
          <a:xfrm>
            <a:off x="788670" y="1717000"/>
            <a:ext cx="13053060" cy="42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Client-Server Communication = </a:t>
            </a:r>
            <a:r>
              <a:rPr b="0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data moves between frontend and backend</a:t>
            </a:r>
            <a:endParaRPr b="0" i="0" sz="2400" u="none" cap="none" strike="noStrike"/>
          </a:p>
        </p:txBody>
      </p:sp>
      <p:sp>
        <p:nvSpPr>
          <p:cNvPr id="275" name="Google Shape;275;p41"/>
          <p:cNvSpPr/>
          <p:nvPr/>
        </p:nvSpPr>
        <p:spPr>
          <a:xfrm>
            <a:off x="788670" y="2385893"/>
            <a:ext cx="13053060" cy="42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When you click a button on a website:</a:t>
            </a:r>
            <a:endParaRPr b="0" i="0" sz="2400" u="none" cap="none" strike="noStrike"/>
          </a:p>
        </p:txBody>
      </p:sp>
      <p:pic>
        <p:nvPicPr>
          <p:cNvPr descr="preencoded.png" id="276" name="Google Shape;27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/>
          <p:nvPr/>
        </p:nvSpPr>
        <p:spPr>
          <a:xfrm>
            <a:off x="1002744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Request</a:t>
            </a:r>
            <a:endParaRPr b="0" i="0" sz="2300" u="none" cap="none" strike="noStrike"/>
          </a:p>
        </p:txBody>
      </p:sp>
      <p:sp>
        <p:nvSpPr>
          <p:cNvPr id="278" name="Google Shape;278;p41"/>
          <p:cNvSpPr/>
          <p:nvPr/>
        </p:nvSpPr>
        <p:spPr>
          <a:xfrm>
            <a:off x="1002744" y="4588073"/>
            <a:ext cx="2835116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browser (the client) sends a message to the server when you interact with the website (i.e. click on a button)</a:t>
            </a:r>
            <a:endParaRPr b="0" i="0" sz="1850" u="none" cap="none" strike="noStrike"/>
          </a:p>
        </p:txBody>
      </p:sp>
      <p:pic>
        <p:nvPicPr>
          <p:cNvPr descr="preencoded.png" id="279" name="Google Shape;2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1935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/>
          <p:nvPr/>
        </p:nvSpPr>
        <p:spPr>
          <a:xfrm>
            <a:off x="4266009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Processing</a:t>
            </a:r>
            <a:endParaRPr b="0" i="0" sz="2300" u="none" cap="none" strike="noStrike"/>
          </a:p>
        </p:txBody>
      </p:sp>
      <p:sp>
        <p:nvSpPr>
          <p:cNvPr id="281" name="Google Shape;281;p41"/>
          <p:cNvSpPr/>
          <p:nvPr/>
        </p:nvSpPr>
        <p:spPr>
          <a:xfrm>
            <a:off x="4266009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receives the request, processes it using the backend logic</a:t>
            </a:r>
            <a:endParaRPr b="0" i="0" sz="1850" u="none" cap="none" strike="noStrike"/>
          </a:p>
        </p:txBody>
      </p:sp>
      <p:pic>
        <p:nvPicPr>
          <p:cNvPr descr="preencoded.png" id="282" name="Google Shape;2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1"/>
          <p:cNvSpPr/>
          <p:nvPr/>
        </p:nvSpPr>
        <p:spPr>
          <a:xfrm>
            <a:off x="7529274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Response</a:t>
            </a:r>
            <a:endParaRPr b="0" i="0" sz="2300" u="none" cap="none" strike="noStrike"/>
          </a:p>
        </p:txBody>
      </p:sp>
      <p:sp>
        <p:nvSpPr>
          <p:cNvPr id="284" name="Google Shape;284;p41"/>
          <p:cNvSpPr/>
          <p:nvPr/>
        </p:nvSpPr>
        <p:spPr>
          <a:xfrm>
            <a:off x="7529274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sends back a reply (i.e. data, updated content, confirmation) </a:t>
            </a:r>
            <a:endParaRPr b="0" i="0" sz="1850" u="none" cap="none" strike="noStrike"/>
          </a:p>
        </p:txBody>
      </p:sp>
      <p:pic>
        <p:nvPicPr>
          <p:cNvPr descr="preencoded.png" id="285" name="Google Shape;28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8465" y="3054787"/>
            <a:ext cx="3263265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/>
          <p:nvPr/>
        </p:nvSpPr>
        <p:spPr>
          <a:xfrm>
            <a:off x="10792539" y="4125158"/>
            <a:ext cx="2676168" cy="334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3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Update</a:t>
            </a:r>
            <a:endParaRPr b="0" i="0" sz="2300" u="none" cap="none" strike="noStrike"/>
          </a:p>
        </p:txBody>
      </p:sp>
      <p:sp>
        <p:nvSpPr>
          <p:cNvPr id="287" name="Google Shape;287;p41"/>
          <p:cNvSpPr/>
          <p:nvPr/>
        </p:nvSpPr>
        <p:spPr>
          <a:xfrm>
            <a:off x="10792539" y="4588073"/>
            <a:ext cx="283511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browser displays the new information or confirms the action</a:t>
            </a:r>
            <a:endParaRPr b="0" i="0" sz="1850" u="none" cap="none" strike="noStrike"/>
          </a:p>
        </p:txBody>
      </p:sp>
      <p:sp>
        <p:nvSpPr>
          <p:cNvPr id="288" name="Google Shape;288;p41"/>
          <p:cNvSpPr/>
          <p:nvPr/>
        </p:nvSpPr>
        <p:spPr>
          <a:xfrm>
            <a:off x="788670" y="7062986"/>
            <a:ext cx="130530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Vibe-Coding platforms automate this process without requiring you to write code, only to request. </a:t>
            </a: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However!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it's important to make sure that all the logic flow in your app is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performed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correctly..! 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4" name="Google Shape;2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9075" y="0"/>
            <a:ext cx="4231325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5350" y="2266587"/>
            <a:ext cx="3418773" cy="341877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2"/>
          <p:cNvSpPr/>
          <p:nvPr/>
        </p:nvSpPr>
        <p:spPr>
          <a:xfrm>
            <a:off x="338775" y="619125"/>
            <a:ext cx="9267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750"/>
              <a:buFont typeface="Rubik"/>
              <a:buNone/>
            </a:pPr>
            <a:r>
              <a:rPr lang="en-US" sz="37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DataBase</a:t>
            </a:r>
            <a:r>
              <a:rPr b="0" i="0" lang="en-US" sz="37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– How Databases Work</a:t>
            </a:r>
            <a:endParaRPr b="0" i="0" sz="3750" u="none" cap="none" strike="noStrike"/>
          </a:p>
        </p:txBody>
      </p:sp>
      <p:sp>
        <p:nvSpPr>
          <p:cNvPr id="297" name="Google Shape;297;p42"/>
          <p:cNvSpPr/>
          <p:nvPr/>
        </p:nvSpPr>
        <p:spPr>
          <a:xfrm>
            <a:off x="338775" y="151280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 database is where your app stores all information (i.e. users, tasks, answers).</a:t>
            </a:r>
            <a:endParaRPr b="0" i="0" sz="2100" u="none" cap="none" strike="noStrike"/>
          </a:p>
        </p:txBody>
      </p:sp>
      <p:sp>
        <p:nvSpPr>
          <p:cNvPr id="298" name="Google Shape;298;p42"/>
          <p:cNvSpPr/>
          <p:nvPr/>
        </p:nvSpPr>
        <p:spPr>
          <a:xfrm>
            <a:off x="338779" y="2182175"/>
            <a:ext cx="9225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850"/>
              <a:buFont typeface="Rubik"/>
              <a:buNone/>
            </a:pPr>
            <a:r>
              <a:rPr b="0" i="0" lang="en-US" sz="2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What is Database (DB)?</a:t>
            </a:r>
            <a:endParaRPr b="0" i="0" sz="2450" u="none" cap="none" strike="noStrike"/>
          </a:p>
        </p:txBody>
      </p:sp>
      <p:sp>
        <p:nvSpPr>
          <p:cNvPr id="299" name="Google Shape;299;p42"/>
          <p:cNvSpPr/>
          <p:nvPr/>
        </p:nvSpPr>
        <p:spPr>
          <a:xfrm>
            <a:off x="338775" y="2768197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Think of it as a spreadsheet / excel file:</a:t>
            </a:r>
            <a:endParaRPr b="0" i="0" sz="2100" u="none" cap="none" strike="noStrike"/>
          </a:p>
        </p:txBody>
      </p:sp>
      <p:sp>
        <p:nvSpPr>
          <p:cNvPr id="300" name="Google Shape;300;p42"/>
          <p:cNvSpPr/>
          <p:nvPr/>
        </p:nvSpPr>
        <p:spPr>
          <a:xfrm>
            <a:off x="338775" y="3289572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Tables: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Different lists of information (Users, Products, Orders)</a:t>
            </a:r>
            <a:endParaRPr b="0" i="0" sz="2100" u="none" cap="none" strike="noStrike"/>
          </a:p>
        </p:txBody>
      </p:sp>
      <p:sp>
        <p:nvSpPr>
          <p:cNvPr id="301" name="Google Shape;301;p42"/>
          <p:cNvSpPr/>
          <p:nvPr/>
        </p:nvSpPr>
        <p:spPr>
          <a:xfrm>
            <a:off x="338775" y="3662596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Rows: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Individual entries (a specific user, product, or order)</a:t>
            </a:r>
            <a:endParaRPr b="0" i="0" sz="2100" u="none" cap="none" strike="noStrike"/>
          </a:p>
        </p:txBody>
      </p:sp>
      <p:sp>
        <p:nvSpPr>
          <p:cNvPr id="302" name="Google Shape;302;p42"/>
          <p:cNvSpPr/>
          <p:nvPr/>
        </p:nvSpPr>
        <p:spPr>
          <a:xfrm>
            <a:off x="338775" y="403562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Columns: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Fields that describe each entry (name, email, date)</a:t>
            </a:r>
            <a:endParaRPr b="0" i="0" sz="2100" u="none" cap="none" strike="noStrike"/>
          </a:p>
        </p:txBody>
      </p:sp>
      <p:sp>
        <p:nvSpPr>
          <p:cNvPr id="303" name="Google Shape;303;p42"/>
          <p:cNvSpPr/>
          <p:nvPr/>
        </p:nvSpPr>
        <p:spPr>
          <a:xfrm>
            <a:off x="338775" y="4556996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Example: A user submits a contact form → data saved to “Leads” table</a:t>
            </a:r>
            <a:endParaRPr b="0" i="0" sz="2100" u="none" cap="none" strike="noStrike"/>
          </a:p>
        </p:txBody>
      </p:sp>
      <p:sp>
        <p:nvSpPr>
          <p:cNvPr id="304" name="Google Shape;304;p42"/>
          <p:cNvSpPr/>
          <p:nvPr/>
        </p:nvSpPr>
        <p:spPr>
          <a:xfrm>
            <a:off x="338779" y="5150175"/>
            <a:ext cx="9837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850"/>
              <a:buFont typeface="Rubik"/>
              <a:buNone/>
            </a:pPr>
            <a:r>
              <a:rPr b="0" i="0" lang="en-US" sz="2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In vibe coding platforms:</a:t>
            </a:r>
            <a:endParaRPr b="0" i="0" sz="2450" u="none" cap="none" strike="noStrike"/>
          </a:p>
        </p:txBody>
      </p:sp>
      <p:sp>
        <p:nvSpPr>
          <p:cNvPr id="305" name="Google Shape;305;p42"/>
          <p:cNvSpPr/>
          <p:nvPr/>
        </p:nvSpPr>
        <p:spPr>
          <a:xfrm>
            <a:off x="338775" y="5736193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Char char="•"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define what data you want to collect</a:t>
            </a:r>
            <a:endParaRPr b="0" i="0" sz="2100" u="none" cap="none" strike="noStrike"/>
          </a:p>
        </p:txBody>
      </p:sp>
      <p:sp>
        <p:nvSpPr>
          <p:cNvPr id="306" name="Google Shape;306;p42"/>
          <p:cNvSpPr/>
          <p:nvPr/>
        </p:nvSpPr>
        <p:spPr>
          <a:xfrm>
            <a:off x="338775" y="6109216"/>
            <a:ext cx="9837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Char char="•"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platform automatically builds (or instruct you in a simple way) and connects the database of your app</a:t>
            </a:r>
            <a:endParaRPr b="0" i="0" sz="2100" u="none" cap="none" strike="noStrike"/>
          </a:p>
        </p:txBody>
      </p:sp>
      <p:sp>
        <p:nvSpPr>
          <p:cNvPr id="307" name="Google Shape;307;p42"/>
          <p:cNvSpPr/>
          <p:nvPr/>
        </p:nvSpPr>
        <p:spPr>
          <a:xfrm>
            <a:off x="338775" y="7169350"/>
            <a:ext cx="98379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Importantly! 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should make sure that the data is structured how you want..!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/>
          <p:nvPr/>
        </p:nvSpPr>
        <p:spPr>
          <a:xfrm>
            <a:off x="335100" y="3760350"/>
            <a:ext cx="13960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2. API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/>
          <p:nvPr/>
        </p:nvSpPr>
        <p:spPr>
          <a:xfrm>
            <a:off x="787241" y="618530"/>
            <a:ext cx="10872788" cy="702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00"/>
              <a:buFont typeface="Rubik"/>
              <a:buNone/>
            </a:pPr>
            <a:r>
              <a:rPr b="0" i="0" lang="en-US" sz="44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You Don’t Have to Build It All – Meet APIs</a:t>
            </a:r>
            <a:endParaRPr b="0" i="0" sz="4400" u="none" cap="none" strike="noStrike"/>
          </a:p>
        </p:txBody>
      </p:sp>
      <p:sp>
        <p:nvSpPr>
          <p:cNvPr id="320" name="Google Shape;320;p44"/>
          <p:cNvSpPr/>
          <p:nvPr/>
        </p:nvSpPr>
        <p:spPr>
          <a:xfrm>
            <a:off x="787241" y="1771174"/>
            <a:ext cx="13055918" cy="449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= Application Programming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Interface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. The technology via </a:t>
            </a:r>
            <a:r>
              <a:rPr lang="en-US" sz="22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apps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talk to the world.</a:t>
            </a:r>
            <a:endParaRPr b="0" i="0" sz="2200" u="none" cap="none" strike="noStrike"/>
          </a:p>
        </p:txBody>
      </p:sp>
      <p:sp>
        <p:nvSpPr>
          <p:cNvPr id="321" name="Google Shape;321;p44"/>
          <p:cNvSpPr/>
          <p:nvPr/>
        </p:nvSpPr>
        <p:spPr>
          <a:xfrm>
            <a:off x="787241" y="2474119"/>
            <a:ext cx="13055918" cy="89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developing, you don’t need to build every function from scratch! People and companies already wrote many things, and you can use their code parts using APIs.</a:t>
            </a:r>
            <a:endParaRPr b="0" i="0" sz="2200" u="none" cap="none" strike="noStrike"/>
          </a:p>
        </p:txBody>
      </p:sp>
      <p:sp>
        <p:nvSpPr>
          <p:cNvPr id="322" name="Google Shape;322;p44"/>
          <p:cNvSpPr/>
          <p:nvPr/>
        </p:nvSpPr>
        <p:spPr>
          <a:xfrm>
            <a:off x="787241" y="3627001"/>
            <a:ext cx="13055918" cy="899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Analogy: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APIs are Lego blocks you can connect to your app. They let you add powerful features without building everything from scratch.</a:t>
            </a:r>
            <a:endParaRPr b="0" i="0" sz="2200" u="none" cap="none" strike="noStrike"/>
          </a:p>
        </p:txBody>
      </p:sp>
      <p:sp>
        <p:nvSpPr>
          <p:cNvPr id="323" name="Google Shape;323;p44"/>
          <p:cNvSpPr/>
          <p:nvPr/>
        </p:nvSpPr>
        <p:spPr>
          <a:xfrm>
            <a:off x="787241" y="4864298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Examples:</a:t>
            </a:r>
            <a:endParaRPr b="0" i="0" sz="2200" u="none" cap="none" strike="noStrike"/>
          </a:p>
        </p:txBody>
      </p:sp>
      <p:pic>
        <p:nvPicPr>
          <p:cNvPr descr="preencoded.png" id="324" name="Google Shape;3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41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4"/>
          <p:cNvSpPr/>
          <p:nvPr/>
        </p:nvSpPr>
        <p:spPr>
          <a:xfrm>
            <a:off x="1630680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Payment Processing</a:t>
            </a:r>
            <a:endParaRPr b="0" i="0" sz="2200" u="none" cap="none" strike="noStrike"/>
          </a:p>
        </p:txBody>
      </p:sp>
      <p:sp>
        <p:nvSpPr>
          <p:cNvPr id="326" name="Google Shape;326;p44"/>
          <p:cNvSpPr/>
          <p:nvPr/>
        </p:nvSpPr>
        <p:spPr>
          <a:xfrm>
            <a:off x="1630680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Connect to Stripe API to accept secured credit card payments without handling sensitive card data yourself</a:t>
            </a:r>
            <a:endParaRPr b="0" i="0" sz="1750" u="none" cap="none" strike="noStrike"/>
          </a:p>
        </p:txBody>
      </p:sp>
      <p:pic>
        <p:nvPicPr>
          <p:cNvPr descr="preencoded.png" id="327" name="Google Shape;32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2916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4"/>
          <p:cNvSpPr/>
          <p:nvPr/>
        </p:nvSpPr>
        <p:spPr>
          <a:xfrm>
            <a:off x="6076355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AI Capabilities</a:t>
            </a:r>
            <a:endParaRPr b="0" i="0" sz="2200" u="none" cap="none" strike="noStrike"/>
          </a:p>
        </p:txBody>
      </p:sp>
      <p:sp>
        <p:nvSpPr>
          <p:cNvPr id="329" name="Google Shape;329;p44"/>
          <p:cNvSpPr/>
          <p:nvPr/>
        </p:nvSpPr>
        <p:spPr>
          <a:xfrm>
            <a:off x="6076355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 OpenAI's API to generate text, analyze content, or create images within your application with ChatGPT</a:t>
            </a:r>
            <a:endParaRPr b="0" i="0" sz="1750" u="none" cap="none" strike="noStrike"/>
          </a:p>
        </p:txBody>
      </p:sp>
      <p:pic>
        <p:nvPicPr>
          <p:cNvPr descr="preencoded.png" id="330" name="Google Shape;33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8591" y="5553194"/>
            <a:ext cx="562332" cy="56233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>
            <a:off x="10522029" y="5686663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Calendar Integration</a:t>
            </a:r>
            <a:endParaRPr b="0" i="0" sz="2200" u="none" cap="none" strike="noStrike"/>
          </a:p>
        </p:txBody>
      </p:sp>
      <p:sp>
        <p:nvSpPr>
          <p:cNvPr id="332" name="Google Shape;332;p44"/>
          <p:cNvSpPr/>
          <p:nvPr/>
        </p:nvSpPr>
        <p:spPr>
          <a:xfrm>
            <a:off x="10522029" y="6173033"/>
            <a:ext cx="3321129" cy="1439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Connect to Google Calendar API to schedule meetings or display upcoming events in your app page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/>
          <p:nvPr/>
        </p:nvSpPr>
        <p:spPr>
          <a:xfrm>
            <a:off x="793790" y="673894"/>
            <a:ext cx="538710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Flow</a:t>
            </a:r>
            <a:endParaRPr b="0" i="0" sz="4200" u="none" cap="none" strike="noStrike"/>
          </a:p>
        </p:txBody>
      </p:sp>
      <p:sp>
        <p:nvSpPr>
          <p:cNvPr id="339" name="Google Shape;339;p45"/>
          <p:cNvSpPr/>
          <p:nvPr/>
        </p:nvSpPr>
        <p:spPr>
          <a:xfrm>
            <a:off x="793790" y="1683948"/>
            <a:ext cx="13042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Open Sans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Example: 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created a technical assistant application which instruct users how to solve their technical problems in a natural and easy language. The user asks a question:</a:t>
            </a:r>
            <a:endParaRPr b="0" i="0" sz="2200" u="none" cap="none" strike="noStrike"/>
          </a:p>
        </p:txBody>
      </p:sp>
      <p:sp>
        <p:nvSpPr>
          <p:cNvPr id="340" name="Google Shape;340;p45"/>
          <p:cNvSpPr/>
          <p:nvPr/>
        </p:nvSpPr>
        <p:spPr>
          <a:xfrm>
            <a:off x="793790" y="3124795"/>
            <a:ext cx="13042821" cy="3048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5"/>
          <p:cNvSpPr/>
          <p:nvPr/>
        </p:nvSpPr>
        <p:spPr>
          <a:xfrm>
            <a:off x="1975009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5"/>
          <p:cNvSpPr/>
          <p:nvPr/>
        </p:nvSpPr>
        <p:spPr>
          <a:xfrm>
            <a:off x="1747838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5"/>
          <p:cNvSpPr/>
          <p:nvPr/>
        </p:nvSpPr>
        <p:spPr>
          <a:xfrm>
            <a:off x="1828681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500" u="none" cap="none" strike="noStrike"/>
          </a:p>
        </p:txBody>
      </p:sp>
      <p:sp>
        <p:nvSpPr>
          <p:cNvPr id="344" name="Google Shape;344;p45"/>
          <p:cNvSpPr/>
          <p:nvPr/>
        </p:nvSpPr>
        <p:spPr>
          <a:xfrm>
            <a:off x="1009174" y="3986689"/>
            <a:ext cx="196226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Request</a:t>
            </a:r>
            <a:endParaRPr b="0" i="0" sz="2100" u="none" cap="none" strike="noStrike"/>
          </a:p>
        </p:txBody>
      </p:sp>
      <p:sp>
        <p:nvSpPr>
          <p:cNvPr id="345" name="Google Shape;345;p45"/>
          <p:cNvSpPr/>
          <p:nvPr/>
        </p:nvSpPr>
        <p:spPr>
          <a:xfrm>
            <a:off x="1009174" y="4452461"/>
            <a:ext cx="1962269" cy="206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browser (the client) sends a message to the server when the user clicked on the 'send' button</a:t>
            </a:r>
            <a:endParaRPr b="0" i="0" sz="1650" u="none" cap="none" strike="noStrike"/>
          </a:p>
        </p:txBody>
      </p:sp>
      <p:sp>
        <p:nvSpPr>
          <p:cNvPr id="346" name="Google Shape;346;p45"/>
          <p:cNvSpPr/>
          <p:nvPr/>
        </p:nvSpPr>
        <p:spPr>
          <a:xfrm>
            <a:off x="4637484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5"/>
          <p:cNvSpPr/>
          <p:nvPr/>
        </p:nvSpPr>
        <p:spPr>
          <a:xfrm>
            <a:off x="4410313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4491157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500" u="none" cap="none" strike="noStrike"/>
          </a:p>
        </p:txBody>
      </p:sp>
      <p:sp>
        <p:nvSpPr>
          <p:cNvPr id="349" name="Google Shape;349;p45"/>
          <p:cNvSpPr/>
          <p:nvPr/>
        </p:nvSpPr>
        <p:spPr>
          <a:xfrm>
            <a:off x="3397975" y="3952925"/>
            <a:ext cx="2509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Processing</a:t>
            </a:r>
            <a:endParaRPr b="0" i="0" sz="2100" u="none" cap="none" strike="noStrike"/>
          </a:p>
        </p:txBody>
      </p:sp>
      <p:sp>
        <p:nvSpPr>
          <p:cNvPr id="350" name="Google Shape;350;p45"/>
          <p:cNvSpPr/>
          <p:nvPr/>
        </p:nvSpPr>
        <p:spPr>
          <a:xfrm>
            <a:off x="3573580" y="4444251"/>
            <a:ext cx="19623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receives the request, processes it using the backend logic. In this logic, there is an API call</a:t>
            </a:r>
            <a:endParaRPr b="0" i="0" sz="1650" u="none" cap="none" strike="noStrike"/>
          </a:p>
        </p:txBody>
      </p:sp>
      <p:sp>
        <p:nvSpPr>
          <p:cNvPr id="351" name="Google Shape;351;p45"/>
          <p:cNvSpPr/>
          <p:nvPr/>
        </p:nvSpPr>
        <p:spPr>
          <a:xfrm>
            <a:off x="7299841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5"/>
          <p:cNvSpPr/>
          <p:nvPr/>
        </p:nvSpPr>
        <p:spPr>
          <a:xfrm>
            <a:off x="7072670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5"/>
          <p:cNvSpPr/>
          <p:nvPr/>
        </p:nvSpPr>
        <p:spPr>
          <a:xfrm>
            <a:off x="7153513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500" u="none" cap="none" strike="noStrike"/>
          </a:p>
        </p:txBody>
      </p:sp>
      <p:sp>
        <p:nvSpPr>
          <p:cNvPr id="354" name="Google Shape;354;p45"/>
          <p:cNvSpPr/>
          <p:nvPr/>
        </p:nvSpPr>
        <p:spPr>
          <a:xfrm>
            <a:off x="6334006" y="3986689"/>
            <a:ext cx="196226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Call</a:t>
            </a:r>
            <a:endParaRPr b="0" i="0" sz="2100" u="none" cap="none" strike="noStrike"/>
          </a:p>
        </p:txBody>
      </p:sp>
      <p:sp>
        <p:nvSpPr>
          <p:cNvPr id="355" name="Google Shape;355;p45"/>
          <p:cNvSpPr/>
          <p:nvPr/>
        </p:nvSpPr>
        <p:spPr>
          <a:xfrm>
            <a:off x="6138099" y="4452450"/>
            <a:ext cx="23541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Your server </a:t>
            </a: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an API call </a:t>
            </a:r>
            <a:r>
              <a:rPr lang="en-US" sz="1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using</a:t>
            </a: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your unique Open AI's API key, and gets back the services of ChatGPT LLM, which generate a response to the user question </a:t>
            </a:r>
            <a:endParaRPr b="0" i="0" sz="1650" u="none" cap="none" strike="noStrike"/>
          </a:p>
        </p:txBody>
      </p:sp>
      <p:sp>
        <p:nvSpPr>
          <p:cNvPr id="356" name="Google Shape;356;p45"/>
          <p:cNvSpPr/>
          <p:nvPr/>
        </p:nvSpPr>
        <p:spPr>
          <a:xfrm>
            <a:off x="9962317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"/>
          <p:cNvSpPr/>
          <p:nvPr/>
        </p:nvSpPr>
        <p:spPr>
          <a:xfrm>
            <a:off x="9735145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5"/>
          <p:cNvSpPr/>
          <p:nvPr/>
        </p:nvSpPr>
        <p:spPr>
          <a:xfrm>
            <a:off x="9815989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500" u="none" cap="none" strike="noStrike"/>
          </a:p>
        </p:txBody>
      </p:sp>
      <p:sp>
        <p:nvSpPr>
          <p:cNvPr id="359" name="Google Shape;359;p45"/>
          <p:cNvSpPr/>
          <p:nvPr/>
        </p:nvSpPr>
        <p:spPr>
          <a:xfrm>
            <a:off x="8722813" y="3912588"/>
            <a:ext cx="2509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Server Response</a:t>
            </a:r>
            <a:endParaRPr b="0" i="0" sz="2100" u="none" cap="none" strike="noStrike"/>
          </a:p>
        </p:txBody>
      </p:sp>
      <p:sp>
        <p:nvSpPr>
          <p:cNvPr id="360" name="Google Shape;360;p45"/>
          <p:cNvSpPr/>
          <p:nvPr/>
        </p:nvSpPr>
        <p:spPr>
          <a:xfrm>
            <a:off x="8996363" y="4444251"/>
            <a:ext cx="19623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server gets the reply from the API, and sends back a reply to the user</a:t>
            </a:r>
            <a:endParaRPr b="0" i="0" sz="1650" u="none" cap="none" strike="noStrike"/>
          </a:p>
        </p:txBody>
      </p:sp>
      <p:sp>
        <p:nvSpPr>
          <p:cNvPr id="361" name="Google Shape;361;p45"/>
          <p:cNvSpPr/>
          <p:nvPr/>
        </p:nvSpPr>
        <p:spPr>
          <a:xfrm>
            <a:off x="12624673" y="3124795"/>
            <a:ext cx="30480" cy="646390"/>
          </a:xfrm>
          <a:prstGeom prst="roundRect">
            <a:avLst>
              <a:gd fmla="val 29693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5"/>
          <p:cNvSpPr/>
          <p:nvPr/>
        </p:nvSpPr>
        <p:spPr>
          <a:xfrm>
            <a:off x="12397502" y="2882384"/>
            <a:ext cx="484823" cy="484823"/>
          </a:xfrm>
          <a:prstGeom prst="roundRect">
            <a:avLst>
              <a:gd fmla="val 18667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12478345" y="292280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00"/>
              <a:buFont typeface="Rubik"/>
              <a:buNone/>
            </a:pPr>
            <a:r>
              <a:rPr b="0" i="0" lang="en-US" sz="25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5</a:t>
            </a:r>
            <a:endParaRPr b="0" i="0" sz="2500" u="none" cap="none" strike="noStrike"/>
          </a:p>
        </p:txBody>
      </p:sp>
      <p:sp>
        <p:nvSpPr>
          <p:cNvPr id="364" name="Google Shape;364;p45"/>
          <p:cNvSpPr/>
          <p:nvPr/>
        </p:nvSpPr>
        <p:spPr>
          <a:xfrm>
            <a:off x="11658863" y="3912589"/>
            <a:ext cx="1962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Rubik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Client Update</a:t>
            </a:r>
            <a:endParaRPr b="0" i="0" sz="2100" u="none" cap="none" strike="noStrike"/>
          </a:p>
        </p:txBody>
      </p:sp>
      <p:sp>
        <p:nvSpPr>
          <p:cNvPr id="365" name="Google Shape;365;p45"/>
          <p:cNvSpPr/>
          <p:nvPr/>
        </p:nvSpPr>
        <p:spPr>
          <a:xfrm>
            <a:off x="11658838" y="4452461"/>
            <a:ext cx="1962269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Open Sans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user's browser displays the answer in the chat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1" name="Google Shape;37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6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Flow</a:t>
            </a:r>
            <a:endParaRPr b="0" i="0" sz="4450" u="none" cap="none" strike="noStrike"/>
          </a:p>
        </p:txBody>
      </p:sp>
      <p:sp>
        <p:nvSpPr>
          <p:cNvPr id="373" name="Google Shape;373;p46"/>
          <p:cNvSpPr/>
          <p:nvPr/>
        </p:nvSpPr>
        <p:spPr>
          <a:xfrm>
            <a:off x="793790" y="1672709"/>
            <a:ext cx="75564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1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 is </a:t>
            </a:r>
            <a:r>
              <a:rPr b="1" lang="en-US" sz="250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like</a:t>
            </a:r>
            <a:r>
              <a:rPr b="1" i="0" lang="en-US" sz="2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 the delivery man:</a:t>
            </a:r>
            <a:endParaRPr b="0" i="0" sz="2500" u="none" cap="none" strike="noStrike"/>
          </a:p>
        </p:txBody>
      </p:sp>
      <p:pic>
        <p:nvPicPr>
          <p:cNvPr descr="preencoded.png" id="374" name="Google Shape;37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533769"/>
            <a:ext cx="25187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/>
          <p:nvPr/>
        </p:nvSpPr>
        <p:spPr>
          <a:xfrm>
            <a:off x="1020604" y="3667839"/>
            <a:ext cx="20652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He gets a delivery request from your app (Software A)</a:t>
            </a:r>
            <a:endParaRPr b="0" i="0" sz="2200" u="none" cap="none" strike="noStrike"/>
          </a:p>
        </p:txBody>
      </p:sp>
      <p:sp>
        <p:nvSpPr>
          <p:cNvPr id="376" name="Google Shape;376;p46"/>
          <p:cNvSpPr/>
          <p:nvPr/>
        </p:nvSpPr>
        <p:spPr>
          <a:xfrm>
            <a:off x="1020604" y="5919073"/>
            <a:ext cx="206513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77" name="Google Shape;37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2557" y="2533769"/>
            <a:ext cx="2518768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6"/>
          <p:cNvSpPr/>
          <p:nvPr/>
        </p:nvSpPr>
        <p:spPr>
          <a:xfrm>
            <a:off x="3539371" y="3667839"/>
            <a:ext cx="20652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Goes to where the delivery is taken from (Software B)</a:t>
            </a:r>
            <a:endParaRPr b="0" i="0" sz="2200" u="none" cap="none" strike="noStrike"/>
          </a:p>
        </p:txBody>
      </p:sp>
      <p:sp>
        <p:nvSpPr>
          <p:cNvPr id="379" name="Google Shape;379;p46"/>
          <p:cNvSpPr/>
          <p:nvPr/>
        </p:nvSpPr>
        <p:spPr>
          <a:xfrm>
            <a:off x="3539371" y="5617964"/>
            <a:ext cx="2065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380" name="Google Shape;38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31324" y="2533769"/>
            <a:ext cx="251888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/>
          <p:nvPr/>
        </p:nvSpPr>
        <p:spPr>
          <a:xfrm>
            <a:off x="6058138" y="3667839"/>
            <a:ext cx="2065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Gets it back to Software A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/>
          <p:nvPr/>
        </p:nvSpPr>
        <p:spPr>
          <a:xfrm>
            <a:off x="793790" y="1157168"/>
            <a:ext cx="1015281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Keys, Pricing, and Things to Know</a:t>
            </a:r>
            <a:endParaRPr b="0" i="0" sz="4450" u="none" cap="none" strike="noStrike"/>
          </a:p>
        </p:txBody>
      </p:sp>
      <p:sp>
        <p:nvSpPr>
          <p:cNvPr id="388" name="Google Shape;388;p47"/>
          <p:cNvSpPr/>
          <p:nvPr/>
        </p:nvSpPr>
        <p:spPr>
          <a:xfrm>
            <a:off x="793790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7"/>
          <p:cNvSpPr/>
          <p:nvPr/>
        </p:nvSpPr>
        <p:spPr>
          <a:xfrm>
            <a:off x="1028224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API key</a:t>
            </a:r>
            <a:endParaRPr b="0" i="0" sz="2200" u="none" cap="none" strike="noStrike"/>
          </a:p>
        </p:txBody>
      </p:sp>
      <p:sp>
        <p:nvSpPr>
          <p:cNvPr id="390" name="Google Shape;390;p47"/>
          <p:cNvSpPr/>
          <p:nvPr/>
        </p:nvSpPr>
        <p:spPr>
          <a:xfrm>
            <a:off x="1028224" y="3044428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 use most APIs, you need an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API key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: A secret password that connects your app to the API</a:t>
            </a:r>
            <a:endParaRPr b="0" i="0" sz="1750" u="none" cap="none" strike="noStrike"/>
          </a:p>
        </p:txBody>
      </p:sp>
      <p:sp>
        <p:nvSpPr>
          <p:cNvPr id="391" name="Google Shape;391;p47"/>
          <p:cNvSpPr/>
          <p:nvPr/>
        </p:nvSpPr>
        <p:spPr>
          <a:xfrm>
            <a:off x="1028224" y="4269224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get it by signing up to the service (Stripe, OpenAI, etc.)</a:t>
            </a:r>
            <a:endParaRPr b="0" i="0" sz="1750" u="none" cap="none" strike="noStrike"/>
          </a:p>
        </p:txBody>
      </p:sp>
      <p:sp>
        <p:nvSpPr>
          <p:cNvPr id="392" name="Google Shape;392;p47"/>
          <p:cNvSpPr/>
          <p:nvPr/>
        </p:nvSpPr>
        <p:spPr>
          <a:xfrm>
            <a:off x="1028224" y="5131118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Never share your API key publicly!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– it gives access to your account</a:t>
            </a:r>
            <a:endParaRPr b="0" i="0" sz="1750" u="none" cap="none" strike="noStrike"/>
          </a:p>
        </p:txBody>
      </p:sp>
      <p:sp>
        <p:nvSpPr>
          <p:cNvPr id="393" name="Google Shape;393;p47"/>
          <p:cNvSpPr/>
          <p:nvPr/>
        </p:nvSpPr>
        <p:spPr>
          <a:xfrm>
            <a:off x="5216962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7"/>
          <p:cNvSpPr/>
          <p:nvPr/>
        </p:nvSpPr>
        <p:spPr>
          <a:xfrm>
            <a:off x="5451396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Free vs. Paid APIs:</a:t>
            </a:r>
            <a:endParaRPr b="0" i="0" sz="2200" u="none" cap="none" strike="noStrike"/>
          </a:p>
        </p:txBody>
      </p:sp>
      <p:sp>
        <p:nvSpPr>
          <p:cNvPr id="395" name="Google Shape;395;p47"/>
          <p:cNvSpPr/>
          <p:nvPr/>
        </p:nvSpPr>
        <p:spPr>
          <a:xfrm>
            <a:off x="5451396" y="30444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Many services offer free tiers (limited number of requests)</a:t>
            </a:r>
            <a:endParaRPr b="0" i="0" sz="1750" u="none" cap="none" strike="noStrike"/>
          </a:p>
        </p:txBody>
      </p:sp>
      <p:sp>
        <p:nvSpPr>
          <p:cNvPr id="396" name="Google Shape;396;p47"/>
          <p:cNvSpPr/>
          <p:nvPr/>
        </p:nvSpPr>
        <p:spPr>
          <a:xfrm>
            <a:off x="5451396" y="3906322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Exceeding limits costs money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– plan your usage accordingly</a:t>
            </a:r>
            <a:endParaRPr b="0" i="0" sz="1750" u="none" cap="none" strike="noStrike"/>
          </a:p>
        </p:txBody>
      </p:sp>
      <p:sp>
        <p:nvSpPr>
          <p:cNvPr id="397" name="Google Shape;397;p47"/>
          <p:cNvSpPr/>
          <p:nvPr/>
        </p:nvSpPr>
        <p:spPr>
          <a:xfrm>
            <a:off x="5451396" y="4768215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Always read the pricing page of the API provider</a:t>
            </a:r>
            <a:endParaRPr b="0" i="0" sz="1750" u="none" cap="none" strike="noStrike"/>
          </a:p>
        </p:txBody>
      </p:sp>
      <p:sp>
        <p:nvSpPr>
          <p:cNvPr id="398" name="Google Shape;398;p47"/>
          <p:cNvSpPr/>
          <p:nvPr/>
        </p:nvSpPr>
        <p:spPr>
          <a:xfrm>
            <a:off x="9640133" y="2319576"/>
            <a:ext cx="4196358" cy="4134683"/>
          </a:xfrm>
          <a:prstGeom prst="roundRect">
            <a:avLst>
              <a:gd fmla="val 23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7"/>
          <p:cNvSpPr/>
          <p:nvPr/>
        </p:nvSpPr>
        <p:spPr>
          <a:xfrm>
            <a:off x="9874568" y="25540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In vibe coding tools:</a:t>
            </a:r>
            <a:endParaRPr b="0" i="0" sz="2200" u="none" cap="none" strike="noStrike"/>
          </a:p>
        </p:txBody>
      </p:sp>
      <p:sp>
        <p:nvSpPr>
          <p:cNvPr id="400" name="Google Shape;400;p47"/>
          <p:cNvSpPr/>
          <p:nvPr/>
        </p:nvSpPr>
        <p:spPr>
          <a:xfrm>
            <a:off x="9874568" y="3044428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You’ll be asked to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paste the API key in a secure settings area</a:t>
            </a:r>
            <a:endParaRPr b="0" i="0" sz="1750" u="none" cap="none" strike="noStrike"/>
          </a:p>
        </p:txBody>
      </p:sp>
      <p:sp>
        <p:nvSpPr>
          <p:cNvPr id="401" name="Google Shape;401;p47"/>
          <p:cNvSpPr/>
          <p:nvPr/>
        </p:nvSpPr>
        <p:spPr>
          <a:xfrm>
            <a:off x="9874568" y="3906322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You might </a:t>
            </a: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define limits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or use environment variables for safety</a:t>
            </a:r>
            <a:endParaRPr b="0" i="0" sz="1750" u="none" cap="none" strike="noStrike"/>
          </a:p>
        </p:txBody>
      </p:sp>
      <p:sp>
        <p:nvSpPr>
          <p:cNvPr id="402" name="Google Shape;402;p47"/>
          <p:cNvSpPr/>
          <p:nvPr/>
        </p:nvSpPr>
        <p:spPr>
          <a:xfrm>
            <a:off x="793727" y="735391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Experiment with a free tier  APIs first!</a:t>
            </a:r>
            <a:endParaRPr b="0" i="0" sz="215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8" name="Google Shape;4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7500" y="0"/>
            <a:ext cx="41629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9" name="Google Shape;40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02176" y="2268024"/>
            <a:ext cx="3693550" cy="36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/>
          <p:nvPr/>
        </p:nvSpPr>
        <p:spPr>
          <a:xfrm>
            <a:off x="539350" y="559375"/>
            <a:ext cx="89550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200"/>
              <a:buFont typeface="Rubik"/>
              <a:buNone/>
            </a:pPr>
            <a:r>
              <a:rPr b="0" i="0" lang="en-US" sz="42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Integration in Vibe-Coding Tools</a:t>
            </a:r>
            <a:endParaRPr b="0" i="0" sz="4200" u="none" cap="none" strike="noStrike"/>
          </a:p>
        </p:txBody>
      </p:sp>
      <p:sp>
        <p:nvSpPr>
          <p:cNvPr id="411" name="Google Shape;411;p48"/>
          <p:cNvSpPr/>
          <p:nvPr/>
        </p:nvSpPr>
        <p:spPr>
          <a:xfrm>
            <a:off x="565199" y="1666400"/>
            <a:ext cx="9132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en-US" sz="25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How Base44 and Lovable simplify APIs:</a:t>
            </a:r>
            <a:endParaRPr b="0" i="0" sz="2500" u="none" cap="none" strike="noStrike"/>
          </a:p>
        </p:txBody>
      </p:sp>
      <p:sp>
        <p:nvSpPr>
          <p:cNvPr id="412" name="Google Shape;412;p48"/>
          <p:cNvSpPr/>
          <p:nvPr/>
        </p:nvSpPr>
        <p:spPr>
          <a:xfrm>
            <a:off x="565201" y="2326125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User </a:t>
            </a: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friendly</a:t>
            </a: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and intuitive interface for API configuration</a:t>
            </a:r>
            <a:endParaRPr b="0" i="0" sz="2050" u="none" cap="none" strike="noStrike"/>
          </a:p>
        </p:txBody>
      </p:sp>
      <p:sp>
        <p:nvSpPr>
          <p:cNvPr id="413" name="Google Shape;413;p48"/>
          <p:cNvSpPr/>
          <p:nvPr/>
        </p:nvSpPr>
        <p:spPr>
          <a:xfrm>
            <a:off x="565201" y="2746297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Copy and paste API URL and authentication keys</a:t>
            </a:r>
            <a:endParaRPr b="0" i="0" sz="2050" u="none" cap="none" strike="noStrike"/>
          </a:p>
        </p:txBody>
      </p:sp>
      <p:sp>
        <p:nvSpPr>
          <p:cNvPr id="414" name="Google Shape;414;p48"/>
          <p:cNvSpPr/>
          <p:nvPr/>
        </p:nvSpPr>
        <p:spPr>
          <a:xfrm>
            <a:off x="565201" y="3166468"/>
            <a:ext cx="8463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Map API responses to your UI elements</a:t>
            </a:r>
            <a:endParaRPr b="0" i="0" sz="2050" u="none" cap="none" strike="noStrike"/>
          </a:p>
        </p:txBody>
      </p:sp>
      <p:sp>
        <p:nvSpPr>
          <p:cNvPr id="415" name="Google Shape;415;p48"/>
          <p:cNvSpPr/>
          <p:nvPr/>
        </p:nvSpPr>
        <p:spPr>
          <a:xfrm>
            <a:off x="565199" y="3834401"/>
            <a:ext cx="5568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100"/>
              <a:buFont typeface="Rubik"/>
              <a:buNone/>
            </a:pPr>
            <a:r>
              <a:rPr b="0" i="0" lang="en-US" sz="25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Common API use cases:</a:t>
            </a:r>
            <a:endParaRPr b="0" i="0" sz="2500" u="none" cap="none" strike="noStrike"/>
          </a:p>
        </p:txBody>
      </p:sp>
      <p:sp>
        <p:nvSpPr>
          <p:cNvPr id="416" name="Google Shape;416;p48"/>
          <p:cNvSpPr/>
          <p:nvPr/>
        </p:nvSpPr>
        <p:spPr>
          <a:xfrm>
            <a:off x="565200" y="4494125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Generate content with AI (with Open AI, Google, Claude APIs)</a:t>
            </a:r>
            <a:endParaRPr b="0" i="0" sz="2050" u="none" cap="none" strike="noStrike"/>
          </a:p>
        </p:txBody>
      </p:sp>
      <p:sp>
        <p:nvSpPr>
          <p:cNvPr id="417" name="Google Shape;417;p48"/>
          <p:cNvSpPr/>
          <p:nvPr/>
        </p:nvSpPr>
        <p:spPr>
          <a:xfrm>
            <a:off x="565200" y="4914300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Display external data (weather, news, stocks) (with Google's products)</a:t>
            </a:r>
            <a:endParaRPr b="0" i="0" sz="2050" u="none" cap="none" strike="noStrike"/>
          </a:p>
        </p:txBody>
      </p:sp>
      <p:sp>
        <p:nvSpPr>
          <p:cNvPr id="418" name="Google Shape;418;p48"/>
          <p:cNvSpPr/>
          <p:nvPr/>
        </p:nvSpPr>
        <p:spPr>
          <a:xfrm>
            <a:off x="565200" y="5334473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Connect to third-party systems (CRM, email) (i.e. to connect whatsapp)</a:t>
            </a:r>
            <a:endParaRPr b="0" i="0" sz="2050" u="none" cap="none" strike="noStrike"/>
          </a:p>
        </p:txBody>
      </p:sp>
      <p:sp>
        <p:nvSpPr>
          <p:cNvPr id="419" name="Google Shape;419;p48"/>
          <p:cNvSpPr/>
          <p:nvPr/>
        </p:nvSpPr>
        <p:spPr>
          <a:xfrm>
            <a:off x="565200" y="5754648"/>
            <a:ext cx="9337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b="0" i="0" lang="en-US" sz="20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Process payments securely (i.e. connect Stripe, Paypal services)</a:t>
            </a:r>
            <a:endParaRPr b="0" i="0" sz="205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/>
          <p:nvPr/>
        </p:nvSpPr>
        <p:spPr>
          <a:xfrm>
            <a:off x="793790" y="866061"/>
            <a:ext cx="83300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Limitations of API Integrations</a:t>
            </a:r>
            <a:endParaRPr b="0" i="0" sz="4450" u="none" cap="none" strike="noStrike"/>
          </a:p>
        </p:txBody>
      </p:sp>
      <p:sp>
        <p:nvSpPr>
          <p:cNvPr id="426" name="Google Shape;426;p49"/>
          <p:cNvSpPr/>
          <p:nvPr/>
        </p:nvSpPr>
        <p:spPr>
          <a:xfrm>
            <a:off x="793790" y="191500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9"/>
          <p:cNvSpPr/>
          <p:nvPr/>
        </p:nvSpPr>
        <p:spPr>
          <a:xfrm>
            <a:off x="878860" y="195750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650" u="none" cap="none" strike="noStrike"/>
          </a:p>
        </p:txBody>
      </p:sp>
      <p:sp>
        <p:nvSpPr>
          <p:cNvPr id="428" name="Google Shape;428;p49"/>
          <p:cNvSpPr/>
          <p:nvPr/>
        </p:nvSpPr>
        <p:spPr>
          <a:xfrm>
            <a:off x="1530906" y="1992868"/>
            <a:ext cx="290881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Technical Complexity</a:t>
            </a:r>
            <a:endParaRPr b="0" i="0" sz="2200" u="none" cap="none" strike="noStrike"/>
          </a:p>
        </p:txBody>
      </p:sp>
      <p:sp>
        <p:nvSpPr>
          <p:cNvPr id="429" name="Google Shape;429;p49"/>
          <p:cNvSpPr/>
          <p:nvPr/>
        </p:nvSpPr>
        <p:spPr>
          <a:xfrm>
            <a:off x="1530906" y="2483287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Implementation requires expertise in APIs and the specific services being integrated.</a:t>
            </a:r>
            <a:endParaRPr b="0" i="0" sz="1750" u="none" cap="none" strike="noStrike"/>
          </a:p>
        </p:txBody>
      </p:sp>
      <p:sp>
        <p:nvSpPr>
          <p:cNvPr id="430" name="Google Shape;430;p49"/>
          <p:cNvSpPr/>
          <p:nvPr/>
        </p:nvSpPr>
        <p:spPr>
          <a:xfrm>
            <a:off x="793790" y="329981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9"/>
          <p:cNvSpPr/>
          <p:nvPr/>
        </p:nvSpPr>
        <p:spPr>
          <a:xfrm>
            <a:off x="878860" y="334232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650" u="none" cap="none" strike="noStrike"/>
          </a:p>
        </p:txBody>
      </p:sp>
      <p:sp>
        <p:nvSpPr>
          <p:cNvPr id="432" name="Google Shape;432;p49"/>
          <p:cNvSpPr/>
          <p:nvPr/>
        </p:nvSpPr>
        <p:spPr>
          <a:xfrm>
            <a:off x="1530906" y="3377684"/>
            <a:ext cx="512897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Dependency on Third-Party Providers</a:t>
            </a:r>
            <a:endParaRPr b="0" i="0" sz="2200" u="none" cap="none" strike="noStrike"/>
          </a:p>
        </p:txBody>
      </p:sp>
      <p:sp>
        <p:nvSpPr>
          <p:cNvPr id="433" name="Google Shape;433;p49"/>
          <p:cNvSpPr/>
          <p:nvPr/>
        </p:nvSpPr>
        <p:spPr>
          <a:xfrm>
            <a:off x="1530906" y="3868103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API provider may experiences downtime, changes in pricing, and other potential challenges.</a:t>
            </a:r>
            <a:endParaRPr b="0" i="0" sz="1750" u="none" cap="none" strike="noStrike"/>
          </a:p>
        </p:txBody>
      </p:sp>
      <p:sp>
        <p:nvSpPr>
          <p:cNvPr id="434" name="Google Shape;434;p49"/>
          <p:cNvSpPr/>
          <p:nvPr/>
        </p:nvSpPr>
        <p:spPr>
          <a:xfrm>
            <a:off x="793790" y="468463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9"/>
          <p:cNvSpPr/>
          <p:nvPr/>
        </p:nvSpPr>
        <p:spPr>
          <a:xfrm>
            <a:off x="878860" y="472713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650" u="none" cap="none" strike="noStrike"/>
          </a:p>
        </p:txBody>
      </p:sp>
      <p:sp>
        <p:nvSpPr>
          <p:cNvPr id="436" name="Google Shape;436;p49"/>
          <p:cNvSpPr/>
          <p:nvPr/>
        </p:nvSpPr>
        <p:spPr>
          <a:xfrm>
            <a:off x="1530906" y="4762500"/>
            <a:ext cx="418004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Privacy and Security Concerns</a:t>
            </a:r>
            <a:endParaRPr b="0" i="0" sz="2200" u="none" cap="none" strike="noStrike"/>
          </a:p>
        </p:txBody>
      </p:sp>
      <p:sp>
        <p:nvSpPr>
          <p:cNvPr id="437" name="Google Shape;437;p49"/>
          <p:cNvSpPr/>
          <p:nvPr/>
        </p:nvSpPr>
        <p:spPr>
          <a:xfrm>
            <a:off x="1530906" y="525291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sent to external APIs may be stored and processed by the provider, which raises compliance concerns.</a:t>
            </a:r>
            <a:endParaRPr b="0" i="0" sz="1750" u="none" cap="none" strike="noStrike"/>
          </a:p>
        </p:txBody>
      </p:sp>
      <p:sp>
        <p:nvSpPr>
          <p:cNvPr id="438" name="Google Shape;438;p49"/>
          <p:cNvSpPr/>
          <p:nvPr/>
        </p:nvSpPr>
        <p:spPr>
          <a:xfrm>
            <a:off x="793790" y="6069449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9"/>
          <p:cNvSpPr/>
          <p:nvPr/>
        </p:nvSpPr>
        <p:spPr>
          <a:xfrm>
            <a:off x="878860" y="611195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Rubik"/>
              <a:buNone/>
            </a:pPr>
            <a:r>
              <a:rPr b="0" i="0" lang="en-US" sz="26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650" u="none" cap="none" strike="noStrike"/>
          </a:p>
        </p:txBody>
      </p:sp>
      <p:sp>
        <p:nvSpPr>
          <p:cNvPr id="440" name="Google Shape;440;p49"/>
          <p:cNvSpPr/>
          <p:nvPr/>
        </p:nvSpPr>
        <p:spPr>
          <a:xfrm>
            <a:off x="1530906" y="61473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Recurring Costs</a:t>
            </a:r>
            <a:endParaRPr b="0" i="0" sz="2200" u="none" cap="none" strike="noStrike"/>
          </a:p>
        </p:txBody>
      </p:sp>
      <p:sp>
        <p:nvSpPr>
          <p:cNvPr id="441" name="Google Shape;441;p49"/>
          <p:cNvSpPr/>
          <p:nvPr/>
        </p:nvSpPr>
        <p:spPr>
          <a:xfrm>
            <a:off x="1530906" y="6637734"/>
            <a:ext cx="123057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Unlike a one-time software purchase, AI API (i.e. ChatGPT from Open AI) requires ongoing payments per usage (e.g., per word, per request).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/>
          <p:nvPr/>
        </p:nvSpPr>
        <p:spPr>
          <a:xfrm>
            <a:off x="793790" y="1052513"/>
            <a:ext cx="896278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API Integrations - Best Practices</a:t>
            </a:r>
            <a:endParaRPr b="0" i="0" sz="4450" u="none" cap="none" strike="noStrike"/>
          </a:p>
        </p:txBody>
      </p:sp>
      <p:sp>
        <p:nvSpPr>
          <p:cNvPr id="448" name="Google Shape;448;p50"/>
          <p:cNvSpPr/>
          <p:nvPr/>
        </p:nvSpPr>
        <p:spPr>
          <a:xfrm>
            <a:off x="793790" y="2101453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Just because an API works in testing doesn’t mean it works reliably and securely..! </a:t>
            </a:r>
            <a:endParaRPr b="0" i="0" sz="2200" u="none" cap="none" strike="noStrike"/>
          </a:p>
        </p:txBody>
      </p:sp>
      <p:sp>
        <p:nvSpPr>
          <p:cNvPr id="449" name="Google Shape;449;p50"/>
          <p:cNvSpPr/>
          <p:nvPr/>
        </p:nvSpPr>
        <p:spPr>
          <a:xfrm>
            <a:off x="793790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0"/>
          <p:cNvSpPr/>
          <p:nvPr/>
        </p:nvSpPr>
        <p:spPr>
          <a:xfrm>
            <a:off x="1028224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lang="en-US" sz="2200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Reliability</a:t>
            </a:r>
            <a:endParaRPr b="0" i="0" sz="2200" u="none" cap="none" strike="noStrike"/>
          </a:p>
        </p:txBody>
      </p:sp>
      <p:sp>
        <p:nvSpPr>
          <p:cNvPr id="451" name="Google Shape;451;p50"/>
          <p:cNvSpPr/>
          <p:nvPr/>
        </p:nvSpPr>
        <p:spPr>
          <a:xfrm>
            <a:off x="1028224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Always verify the response and test different scenarios</a:t>
            </a:r>
            <a:endParaRPr b="0" i="0" sz="1750" u="none" cap="none" strike="noStrike"/>
          </a:p>
        </p:txBody>
      </p:sp>
      <p:sp>
        <p:nvSpPr>
          <p:cNvPr id="452" name="Google Shape;452;p50"/>
          <p:cNvSpPr/>
          <p:nvPr/>
        </p:nvSpPr>
        <p:spPr>
          <a:xfrm>
            <a:off x="1028224" y="43400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Add validation or fallback messages in your app</a:t>
            </a:r>
            <a:endParaRPr b="0" i="0" sz="1750" u="none" cap="none" strike="noStrike"/>
          </a:p>
        </p:txBody>
      </p:sp>
      <p:sp>
        <p:nvSpPr>
          <p:cNvPr id="453" name="Google Shape;453;p50"/>
          <p:cNvSpPr/>
          <p:nvPr/>
        </p:nvSpPr>
        <p:spPr>
          <a:xfrm>
            <a:off x="5216962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0"/>
          <p:cNvSpPr/>
          <p:nvPr/>
        </p:nvSpPr>
        <p:spPr>
          <a:xfrm>
            <a:off x="5451396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Security</a:t>
            </a:r>
            <a:endParaRPr b="0" i="0" sz="2200" u="none" cap="none" strike="noStrike"/>
          </a:p>
        </p:txBody>
      </p:sp>
      <p:sp>
        <p:nvSpPr>
          <p:cNvPr id="455" name="Google Shape;455;p50"/>
          <p:cNvSpPr/>
          <p:nvPr/>
        </p:nvSpPr>
        <p:spPr>
          <a:xfrm>
            <a:off x="5451396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Never expose API keys on the frontend</a:t>
            </a:r>
            <a:endParaRPr b="0" i="0" sz="1750" u="none" cap="none" strike="noStrike"/>
          </a:p>
        </p:txBody>
      </p:sp>
      <p:sp>
        <p:nvSpPr>
          <p:cNvPr id="456" name="Google Shape;456;p50"/>
          <p:cNvSpPr/>
          <p:nvPr/>
        </p:nvSpPr>
        <p:spPr>
          <a:xfrm>
            <a:off x="5451396" y="4340066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Limit user access to sensitive flows (e.g., payment, database writes)</a:t>
            </a:r>
            <a:endParaRPr b="0" i="0" sz="1750" u="none" cap="none" strike="noStrike"/>
          </a:p>
        </p:txBody>
      </p:sp>
      <p:sp>
        <p:nvSpPr>
          <p:cNvPr id="457" name="Google Shape;457;p50"/>
          <p:cNvSpPr/>
          <p:nvPr/>
        </p:nvSpPr>
        <p:spPr>
          <a:xfrm>
            <a:off x="5451396" y="5508069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Use built-in permission settings where possible</a:t>
            </a:r>
            <a:endParaRPr b="0" i="0" sz="1750" u="none" cap="none" strike="noStrike"/>
          </a:p>
        </p:txBody>
      </p:sp>
      <p:sp>
        <p:nvSpPr>
          <p:cNvPr id="458" name="Google Shape;458;p50"/>
          <p:cNvSpPr/>
          <p:nvPr/>
        </p:nvSpPr>
        <p:spPr>
          <a:xfrm>
            <a:off x="9640133" y="2810113"/>
            <a:ext cx="4196358" cy="3658195"/>
          </a:xfrm>
          <a:prstGeom prst="roundRect">
            <a:avLst>
              <a:gd fmla="val 260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0"/>
          <p:cNvSpPr/>
          <p:nvPr/>
        </p:nvSpPr>
        <p:spPr>
          <a:xfrm>
            <a:off x="9874568" y="30445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Availability issues</a:t>
            </a:r>
            <a:endParaRPr b="0" i="0" sz="2200" u="none" cap="none" strike="noStrike"/>
          </a:p>
        </p:txBody>
      </p:sp>
      <p:sp>
        <p:nvSpPr>
          <p:cNvPr id="460" name="Google Shape;460;p50"/>
          <p:cNvSpPr/>
          <p:nvPr/>
        </p:nvSpPr>
        <p:spPr>
          <a:xfrm>
            <a:off x="9874568" y="35349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If the external service is down, your app might break</a:t>
            </a:r>
            <a:endParaRPr b="0" i="0" sz="1750" u="none" cap="none" strike="noStrike"/>
          </a:p>
        </p:txBody>
      </p:sp>
      <p:sp>
        <p:nvSpPr>
          <p:cNvPr id="461" name="Google Shape;461;p50"/>
          <p:cNvSpPr/>
          <p:nvPr/>
        </p:nvSpPr>
        <p:spPr>
          <a:xfrm>
            <a:off x="9874568" y="4340066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Monitor the API status (many services provide status pages)</a:t>
            </a:r>
            <a:endParaRPr b="0" i="0" sz="1750" u="none" cap="none" strike="noStrike"/>
          </a:p>
        </p:txBody>
      </p:sp>
      <p:sp>
        <p:nvSpPr>
          <p:cNvPr id="462" name="Google Shape;462;p50"/>
          <p:cNvSpPr/>
          <p:nvPr/>
        </p:nvSpPr>
        <p:spPr>
          <a:xfrm>
            <a:off x="9874568" y="5145167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For mission-critical APIs: test, monitor, and build graceful error handling</a:t>
            </a:r>
            <a:endParaRPr b="0" i="0" sz="1750" u="none" cap="none" strike="noStrike"/>
          </a:p>
        </p:txBody>
      </p:sp>
      <p:sp>
        <p:nvSpPr>
          <p:cNvPr id="463" name="Google Shape;463;p50"/>
          <p:cNvSpPr/>
          <p:nvPr/>
        </p:nvSpPr>
        <p:spPr>
          <a:xfrm>
            <a:off x="793790" y="672345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Think like a builder: not just </a:t>
            </a:r>
            <a:r>
              <a:rPr b="0" i="1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“does it look good”</a:t>
            </a: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but </a:t>
            </a:r>
            <a:r>
              <a:rPr b="0" i="1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“is it working under the hood?”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/>
          <p:nvPr/>
        </p:nvSpPr>
        <p:spPr>
          <a:xfrm>
            <a:off x="793790" y="669250"/>
            <a:ext cx="510361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000"/>
              <a:buFont typeface="Rubik"/>
              <a:buNone/>
            </a:pPr>
            <a:r>
              <a:rPr b="0" i="0" lang="en-US" sz="40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Summary</a:t>
            </a:r>
            <a:endParaRPr b="0" i="0" sz="4000" u="none" cap="none" strike="noStrike"/>
          </a:p>
        </p:txBody>
      </p:sp>
      <p:sp>
        <p:nvSpPr>
          <p:cNvPr id="470" name="Google Shape;470;p51"/>
          <p:cNvSpPr/>
          <p:nvPr/>
        </p:nvSpPr>
        <p:spPr>
          <a:xfrm>
            <a:off x="793790" y="1715453"/>
            <a:ext cx="13042821" cy="408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Prototyping is NOT deployment!</a:t>
            </a:r>
            <a:endParaRPr b="0" i="0" sz="2000" u="none" cap="none" strike="noStrike"/>
          </a:p>
        </p:txBody>
      </p:sp>
      <p:sp>
        <p:nvSpPr>
          <p:cNvPr id="471" name="Google Shape;471;p51"/>
          <p:cNvSpPr/>
          <p:nvPr/>
        </p:nvSpPr>
        <p:spPr>
          <a:xfrm>
            <a:off x="793800" y="2195026"/>
            <a:ext cx="1304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2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Vibe Coding platforms let you build complete applications visually with AI assistance, without needing to write code.</a:t>
            </a:r>
            <a:endParaRPr b="0" i="0" sz="2000" u="none" cap="none" strike="noStrike"/>
          </a:p>
        </p:txBody>
      </p:sp>
      <p:sp>
        <p:nvSpPr>
          <p:cNvPr id="472" name="Google Shape;472;p51"/>
          <p:cNvSpPr/>
          <p:nvPr/>
        </p:nvSpPr>
        <p:spPr>
          <a:xfrm>
            <a:off x="793790" y="3082766"/>
            <a:ext cx="1304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3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 vibe coding you understand you app by inserting an input and looking on the output ("the black box")</a:t>
            </a:r>
            <a:endParaRPr b="0" i="0" sz="2000" u="none" cap="none" strike="noStrike"/>
          </a:p>
        </p:txBody>
      </p:sp>
      <p:sp>
        <p:nvSpPr>
          <p:cNvPr id="473" name="Google Shape;473;p51"/>
          <p:cNvSpPr/>
          <p:nvPr/>
        </p:nvSpPr>
        <p:spPr>
          <a:xfrm>
            <a:off x="793790" y="3562350"/>
            <a:ext cx="13042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Calibri"/>
              <a:buAutoNum type="arabicPeriod" startAt="4"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Behind your app:</a:t>
            </a:r>
            <a:endParaRPr b="0" i="0" sz="2000" u="none" cap="none" strike="noStrike"/>
          </a:p>
        </p:txBody>
      </p:sp>
      <p:sp>
        <p:nvSpPr>
          <p:cNvPr id="474" name="Google Shape;474;p51"/>
          <p:cNvSpPr/>
          <p:nvPr/>
        </p:nvSpPr>
        <p:spPr>
          <a:xfrm>
            <a:off x="793790" y="4505801"/>
            <a:ext cx="13042800" cy="22800"/>
          </a:xfrm>
          <a:prstGeom prst="roundRect">
            <a:avLst>
              <a:gd fmla="val 375070" name="adj"/>
            </a:avLst>
          </a:prstGeom>
          <a:solidFill>
            <a:srgbClr val="DABA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5" name="Google Shape;475;p51"/>
          <p:cNvSpPr/>
          <p:nvPr/>
        </p:nvSpPr>
        <p:spPr>
          <a:xfrm>
            <a:off x="2098715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6" name="Google Shape;476;p51"/>
          <p:cNvSpPr/>
          <p:nvPr/>
        </p:nvSpPr>
        <p:spPr>
          <a:xfrm>
            <a:off x="2175212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2800" u="none" cap="none" strike="noStrike"/>
          </a:p>
        </p:txBody>
      </p:sp>
      <p:sp>
        <p:nvSpPr>
          <p:cNvPr id="477" name="Google Shape;477;p51"/>
          <p:cNvSpPr/>
          <p:nvPr/>
        </p:nvSpPr>
        <p:spPr>
          <a:xfrm>
            <a:off x="1052513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Frontend</a:t>
            </a:r>
            <a:endParaRPr b="0" i="0" sz="2400" u="none" cap="none" strike="noStrike"/>
          </a:p>
        </p:txBody>
      </p:sp>
      <p:sp>
        <p:nvSpPr>
          <p:cNvPr id="478" name="Google Shape;478;p51"/>
          <p:cNvSpPr/>
          <p:nvPr/>
        </p:nvSpPr>
        <p:spPr>
          <a:xfrm>
            <a:off x="997863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UI/UX</a:t>
            </a:r>
            <a:endParaRPr b="0" i="0" sz="2000" u="none" cap="none" strike="noStrike"/>
          </a:p>
        </p:txBody>
      </p:sp>
      <p:sp>
        <p:nvSpPr>
          <p:cNvPr id="479" name="Google Shape;479;p51"/>
          <p:cNvSpPr/>
          <p:nvPr/>
        </p:nvSpPr>
        <p:spPr>
          <a:xfrm>
            <a:off x="5423178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51"/>
          <p:cNvSpPr/>
          <p:nvPr/>
        </p:nvSpPr>
        <p:spPr>
          <a:xfrm>
            <a:off x="5499675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2800" u="none" cap="none" strike="noStrike"/>
          </a:p>
        </p:txBody>
      </p:sp>
      <p:sp>
        <p:nvSpPr>
          <p:cNvPr id="481" name="Google Shape;481;p51"/>
          <p:cNvSpPr/>
          <p:nvPr/>
        </p:nvSpPr>
        <p:spPr>
          <a:xfrm>
            <a:off x="4376976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Backend</a:t>
            </a:r>
            <a:endParaRPr b="0" i="0" sz="2400" u="none" cap="none" strike="noStrike"/>
          </a:p>
        </p:txBody>
      </p:sp>
      <p:sp>
        <p:nvSpPr>
          <p:cNvPr id="482" name="Google Shape;482;p51"/>
          <p:cNvSpPr/>
          <p:nvPr/>
        </p:nvSpPr>
        <p:spPr>
          <a:xfrm>
            <a:off x="4322326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Logic &amp; Processing</a:t>
            </a:r>
            <a:endParaRPr b="0" i="0" sz="2000" u="none" cap="none" strike="noStrike"/>
          </a:p>
        </p:txBody>
      </p:sp>
      <p:sp>
        <p:nvSpPr>
          <p:cNvPr id="483" name="Google Shape;483;p51"/>
          <p:cNvSpPr/>
          <p:nvPr/>
        </p:nvSpPr>
        <p:spPr>
          <a:xfrm>
            <a:off x="8747641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4" name="Google Shape;484;p51"/>
          <p:cNvSpPr/>
          <p:nvPr/>
        </p:nvSpPr>
        <p:spPr>
          <a:xfrm>
            <a:off x="8824139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2800" u="none" cap="none" strike="noStrike"/>
          </a:p>
        </p:txBody>
      </p:sp>
      <p:sp>
        <p:nvSpPr>
          <p:cNvPr id="485" name="Google Shape;485;p51"/>
          <p:cNvSpPr/>
          <p:nvPr/>
        </p:nvSpPr>
        <p:spPr>
          <a:xfrm>
            <a:off x="7701439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Database</a:t>
            </a:r>
            <a:endParaRPr b="0" i="0" sz="2400" u="none" cap="none" strike="noStrike"/>
          </a:p>
        </p:txBody>
      </p:sp>
      <p:sp>
        <p:nvSpPr>
          <p:cNvPr id="486" name="Google Shape;486;p51"/>
          <p:cNvSpPr/>
          <p:nvPr/>
        </p:nvSpPr>
        <p:spPr>
          <a:xfrm>
            <a:off x="7646789" y="5380911"/>
            <a:ext cx="2661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Storage &amp; Retrieval</a:t>
            </a:r>
            <a:endParaRPr b="0" i="0" sz="2000" u="none" cap="none" strike="noStrike"/>
          </a:p>
        </p:txBody>
      </p:sp>
      <p:sp>
        <p:nvSpPr>
          <p:cNvPr id="487" name="Google Shape;487;p51"/>
          <p:cNvSpPr/>
          <p:nvPr/>
        </p:nvSpPr>
        <p:spPr>
          <a:xfrm>
            <a:off x="12072223" y="4276189"/>
            <a:ext cx="459300" cy="459300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8" name="Google Shape;488;p51"/>
          <p:cNvSpPr/>
          <p:nvPr/>
        </p:nvSpPr>
        <p:spPr>
          <a:xfrm>
            <a:off x="12148721" y="4314408"/>
            <a:ext cx="306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00"/>
              <a:buFont typeface="Rubik"/>
              <a:buNone/>
            </a:pPr>
            <a:r>
              <a:rPr b="0" i="0" lang="en-US" sz="28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2800" u="none" cap="none" strike="noStrike"/>
          </a:p>
        </p:txBody>
      </p:sp>
      <p:sp>
        <p:nvSpPr>
          <p:cNvPr id="489" name="Google Shape;489;p51"/>
          <p:cNvSpPr/>
          <p:nvPr/>
        </p:nvSpPr>
        <p:spPr>
          <a:xfrm>
            <a:off x="11026021" y="4939665"/>
            <a:ext cx="25518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Rubik"/>
              <a:buNone/>
            </a:pPr>
            <a:r>
              <a:rPr b="0" i="0" lang="en-US" sz="24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APIs</a:t>
            </a:r>
            <a:endParaRPr b="0" i="0" sz="2400" u="none" cap="none" strike="noStrike"/>
          </a:p>
        </p:txBody>
      </p:sp>
      <p:sp>
        <p:nvSpPr>
          <p:cNvPr id="490" name="Google Shape;490;p51"/>
          <p:cNvSpPr/>
          <p:nvPr/>
        </p:nvSpPr>
        <p:spPr>
          <a:xfrm>
            <a:off x="10971252" y="5380911"/>
            <a:ext cx="26613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Open Sans"/>
              <a:buNone/>
            </a:pPr>
            <a:r>
              <a:rPr b="0" i="0" lang="en-US" sz="20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External Services &amp; Integrations</a:t>
            </a:r>
            <a:endParaRPr b="0" i="0" sz="2000" u="none" cap="none" strike="noStrike"/>
          </a:p>
        </p:txBody>
      </p:sp>
      <p:sp>
        <p:nvSpPr>
          <p:cNvPr id="491" name="Google Shape;491;p51"/>
          <p:cNvSpPr/>
          <p:nvPr/>
        </p:nvSpPr>
        <p:spPr>
          <a:xfrm>
            <a:off x="793790" y="5882878"/>
            <a:ext cx="13042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492" name="Google Shape;492;p51"/>
          <p:cNvSpPr/>
          <p:nvPr/>
        </p:nvSpPr>
        <p:spPr>
          <a:xfrm>
            <a:off x="793790" y="6965738"/>
            <a:ext cx="130428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Open Sans"/>
              <a:buNone/>
            </a:pPr>
            <a:r>
              <a:rPr b="1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Next up:</a:t>
            </a:r>
            <a:r>
              <a:rPr b="0" i="0" lang="en-US" sz="24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We'll start building real deployed applications using Base44 and Lovable, putting these concepts into practice!</a:t>
            </a:r>
            <a:endParaRPr b="0" i="0" sz="2400" u="none" cap="none" strike="noStrik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2"/>
          <p:cNvSpPr/>
          <p:nvPr/>
        </p:nvSpPr>
        <p:spPr>
          <a:xfrm>
            <a:off x="3402449" y="3625691"/>
            <a:ext cx="7825502" cy="978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6150"/>
              <a:buFont typeface="Rubik"/>
              <a:buNone/>
            </a:pPr>
            <a:r>
              <a:rPr b="0" i="0" lang="en-US" sz="61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Questions?</a:t>
            </a:r>
            <a:endParaRPr b="0" i="0" sz="61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