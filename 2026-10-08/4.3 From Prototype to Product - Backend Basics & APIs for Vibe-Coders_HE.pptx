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8229600" cx="14630400"/>
  <p:notesSz cx="8229600" cy="14630400"/>
  <p:embeddedFontLst>
    <p:embeddedFont>
      <p:font typeface="Rubik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ubik-bold.fntdata"/><Relationship Id="rId10" Type="http://schemas.openxmlformats.org/officeDocument/2006/relationships/slide" Target="slides/slide6.xml"/><Relationship Id="rId32" Type="http://schemas.openxmlformats.org/officeDocument/2006/relationships/font" Target="fonts/Rubik-regular.fntdata"/><Relationship Id="rId13" Type="http://schemas.openxmlformats.org/officeDocument/2006/relationships/slide" Target="slides/slide9.xml"/><Relationship Id="rId35" Type="http://schemas.openxmlformats.org/officeDocument/2006/relationships/font" Target="fonts/Rubik-boldItalic.fntdata"/><Relationship Id="rId12" Type="http://schemas.openxmlformats.org/officeDocument/2006/relationships/slide" Target="slides/slide8.xml"/><Relationship Id="rId34" Type="http://schemas.openxmlformats.org/officeDocument/2006/relationships/font" Target="fonts/Rubik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ec195ea59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ec195ea59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ec195ea59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ec195ea59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ec195ea59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ec195ea59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ec195ea59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ec195ea59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ec195ea59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ec195ea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ec195ea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ec195ea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c195ea59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6ec195ea5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6ec195ea59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6"/>
          <p:cNvSpPr/>
          <p:nvPr/>
        </p:nvSpPr>
        <p:spPr>
          <a:xfrm>
            <a:off x="6280200" y="1756399"/>
            <a:ext cx="75564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he-IL" sz="445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מאב־טיפוס למוצר: יסודות טכנולוגיים לפיתוח בעזרת בינה מלאכותית</a:t>
            </a:r>
            <a:r>
              <a:rPr lang="he-IL" sz="445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r>
              <a:rPr b="0" i="0" lang="he-IL" sz="445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0" i="0" sz="44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87" name="Google Shape;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221" y="4451509"/>
            <a:ext cx="2870240" cy="1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6"/>
          <p:cNvSpPr/>
          <p:nvPr/>
        </p:nvSpPr>
        <p:spPr>
          <a:xfrm>
            <a:off x="6280190" y="6128385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מדריך להבנת מה שקורה מאחורי הקלעים כשבונים אפליקציה מתפקדת בעזרת כלי Vibe Coding.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793790" y="11926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מטרות השיעור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95" name="Google Shape;95;p27"/>
          <p:cNvSpPr/>
          <p:nvPr/>
        </p:nvSpPr>
        <p:spPr>
          <a:xfrm>
            <a:off x="793790" y="235505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/>
          <p:nvPr/>
        </p:nvSpPr>
        <p:spPr>
          <a:xfrm>
            <a:off x="1530906" y="24329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חיבור בין הרעיון למוצר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97" name="Google Shape;97;p27"/>
          <p:cNvSpPr/>
          <p:nvPr/>
        </p:nvSpPr>
        <p:spPr>
          <a:xfrm>
            <a:off x="1530906" y="2923342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הבנת המעבר מאב־טיפוס בעזרת מודלי שפה לפרסום אפליקציה בכלים כגון Base44, Lovable ו־Bolt.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98" name="Google Shape;98;p27"/>
          <p:cNvSpPr/>
          <p:nvPr/>
        </p:nvSpPr>
        <p:spPr>
          <a:xfrm>
            <a:off x="793790" y="373987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7"/>
          <p:cNvSpPr/>
          <p:nvPr/>
        </p:nvSpPr>
        <p:spPr>
          <a:xfrm>
            <a:off x="1530906" y="3817739"/>
            <a:ext cx="40451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היכרות עם מושגי היסוד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00" name="Google Shape;100;p27"/>
          <p:cNvSpPr/>
          <p:nvPr/>
        </p:nvSpPr>
        <p:spPr>
          <a:xfrm>
            <a:off x="1530906" y="430815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הבנת התפקיד של צד השרת, מסדי נתונים וממשקי API גם ללא ניסיון בפיתוח.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01" name="Google Shape;101;p27"/>
          <p:cNvSpPr/>
          <p:nvPr/>
        </p:nvSpPr>
        <p:spPr>
          <a:xfrm>
            <a:off x="793790" y="512468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/>
          <p:nvPr/>
        </p:nvSpPr>
        <p:spPr>
          <a:xfrm>
            <a:off x="1530906" y="5202555"/>
            <a:ext cx="40975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עבודה נכונה ואחראית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03" name="Google Shape;103;p27"/>
          <p:cNvSpPr/>
          <p:nvPr/>
        </p:nvSpPr>
        <p:spPr>
          <a:xfrm>
            <a:off x="1530906" y="569297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היכרות עם הדברים שחשוב לבדוק כשבונים בעזרת כלי Vibe Coding.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04" name="Google Shape;104;p27"/>
          <p:cNvSpPr/>
          <p:nvPr/>
        </p:nvSpPr>
        <p:spPr>
          <a:xfrm>
            <a:off x="793790" y="631102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בסיום השיעור תבינו איך אפליקציות פועלות באינטרנט, היכן נשמר המידע ואיך שירותי API מוסיפים יכולות.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נושאי השיעור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1" name="Google Shape;111;p28"/>
          <p:cNvSpPr/>
          <p:nvPr/>
        </p:nvSpPr>
        <p:spPr>
          <a:xfrm>
            <a:off x="793790" y="17861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תזכורת קצרה: מהו אב־טיפוס?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2" name="Google Shape;112;p28"/>
          <p:cNvSpPr/>
          <p:nvPr/>
        </p:nvSpPr>
        <p:spPr>
          <a:xfrm>
            <a:off x="793790" y="231898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מדוע אב־טיפוס לבדו לא תמיד מספיק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3" name="Google Shape;113;p28"/>
          <p:cNvSpPr/>
          <p:nvPr/>
        </p:nvSpPr>
        <p:spPr>
          <a:xfrm>
            <a:off x="793790" y="2851785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מושגי יסוד בפיתוח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4" name="Google Shape;114;p28"/>
          <p:cNvSpPr/>
          <p:nvPr/>
        </p:nvSpPr>
        <p:spPr>
          <a:xfrm>
            <a:off x="793790" y="338459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1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כיצד אתר פועל: ממשק, צד שרת, אירוח ותקשורת בין לקוח לשרת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5" name="Google Shape;115;p28"/>
          <p:cNvSpPr/>
          <p:nvPr/>
        </p:nvSpPr>
        <p:spPr>
          <a:xfrm>
            <a:off x="793790" y="3917394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1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כיצד מסדי נתונים שומרים את המידע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6" name="Google Shape;116;p28"/>
          <p:cNvSpPr/>
          <p:nvPr/>
        </p:nvSpPr>
        <p:spPr>
          <a:xfrm>
            <a:off x="793790" y="445019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1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לשירותים קיימים באמצעות API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17" name="Google Shape;117;p28"/>
          <p:cNvSpPr/>
          <p:nvPr/>
        </p:nvSpPr>
        <p:spPr>
          <a:xfrm>
            <a:off x="793790" y="515885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793790" y="656273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תזכורת: מהו אב־טיפוס?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4" name="Google Shape;124;p29"/>
          <p:cNvSpPr/>
          <p:nvPr/>
        </p:nvSpPr>
        <p:spPr>
          <a:xfrm>
            <a:off x="793790" y="1818680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אב־טיפוס הוא גרסה ראשונית ופשוטה של מוצר, לבדיקת רעיונות, תכונות ותהליכים לפני פיתוח מלא.</a:t>
            </a:r>
            <a:r>
              <a:rPr b="1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793790" y="3065859"/>
            <a:ext cx="32638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מטרות אב־הטיפוס: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6" name="Google Shape;126;p29"/>
          <p:cNvSpPr/>
          <p:nvPr/>
        </p:nvSpPr>
        <p:spPr>
          <a:xfrm>
            <a:off x="793790" y="376035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בחינת הרעיון עם משתמשים אמיתיים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793790" y="420254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קבלת משוב מוקדם לפני השקעה מלאה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8" name="Google Shape;128;p29"/>
          <p:cNvSpPr/>
          <p:nvPr/>
        </p:nvSpPr>
        <p:spPr>
          <a:xfrm>
            <a:off x="793790" y="464474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שיפור מהיר של העיצוב, הלוגיקה או הממשק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29" name="Google Shape;129;p29"/>
          <p:cNvSpPr/>
          <p:nvPr/>
        </p:nvSpPr>
        <p:spPr>
          <a:xfrm>
            <a:off x="793790" y="508694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המחשת הרעיון לשותפים או למשקיעים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793790" y="57900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למה זה חשוב?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793790" y="6484501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פיתוח בעזרת בינה מלאכותית תלוי בהנחיות ובסבבי בדיקה ושיפור, ועשוי לעלות כסף. אב־טיפוס מאפשר לבדוק את הגישה לפני בנייה מלאה ולנצל טוב יותר את התקציב.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/>
          <p:nvPr/>
        </p:nvSpPr>
        <p:spPr>
          <a:xfrm>
            <a:off x="793790" y="623768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תזכורת: מהו אב־טיפוס?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793790" y="1672709"/>
            <a:ext cx="343638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50"/>
              <a:buFont typeface="Rubik"/>
              <a:buNone/>
            </a:pPr>
            <a:r>
              <a:rPr b="0" i="0" lang="he-IL" sz="265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מה אפשר לבדוק בעזרתו?</a:t>
            </a:r>
            <a:endParaRPr b="0" i="0" sz="2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793790" y="243816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ניסוח הנחיות — בוחנים ניסוחים שונים כדי להגיע לתוצאה הרצויה.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793790" y="314682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בדיקות — משפרים רצפי הנחיות, סוגי קלט ואת אופן הצגת התוצאה.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41" name="Google Shape;141;p30"/>
          <p:cNvSpPr/>
          <p:nvPr/>
        </p:nvSpPr>
        <p:spPr>
          <a:xfrm>
            <a:off x="793790" y="3855482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השוואה בין חלופות — בוחנים רעיונות והנחיות ורואים את ההבדלים מיד.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793790" y="501765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משוב מהיר — משנים את ההדגמה בלי לשנות את צד השרת.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793790" y="623768"/>
            <a:ext cx="80794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מדוע אב־טיפוס לא תמיד מספיק?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793790" y="167270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אב־טיפוס נועד לבדיקת הרעיון; הוא לא בהכרח מוצר מוכן לשימוש.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793790" y="2466380"/>
            <a:ext cx="91324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מגבלות אפשריות של הדגמה בסיסית בכלי בינה מלאכותית: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793790" y="316087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המידע לא נשמר בין כניסות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793790" y="36936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חלק מהלוגיקה מוצג כהדמיה ואינו ממומש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793790" y="422648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אין חיבור לשירותי אינטרנט אמיתיים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793790" y="5020151"/>
            <a:ext cx="38286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נדרשת מערכת זמינה ומתפקדת כאשר: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793790" y="571464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משתמשים אמיתיים מזינים מידע שצריך לשמור ולנהל.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793790" y="6247448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רוצים להשיק כלי שכל הפעולות בו אכן עובדות, מעבר להצגת הממשק.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/>
          <p:nvPr/>
        </p:nvSpPr>
        <p:spPr>
          <a:xfrm>
            <a:off x="793790" y="623768"/>
            <a:ext cx="130428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למה חשוב להכיר מושגים טכנולוגיים?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63" name="Google Shape;163;p32"/>
          <p:cNvSpPr/>
          <p:nvPr/>
        </p:nvSpPr>
        <p:spPr>
          <a:xfrm>
            <a:off x="793790" y="2401491"/>
            <a:ext cx="130428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בפיתוח בעזרת בינה מלאכותית בוחנים לעיתים את המערכת כ״קופסה שחורה״: מזינים קלט ובודקים את הפלט.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74789"/>
            <a:ext cx="13042821" cy="316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2"/>
          <p:cNvSpPr/>
          <p:nvPr/>
        </p:nvSpPr>
        <p:spPr>
          <a:xfrm>
            <a:off x="1521801" y="4171835"/>
            <a:ext cx="1409267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6" name="Google Shape;166;p32"/>
          <p:cNvSpPr/>
          <p:nvPr/>
        </p:nvSpPr>
        <p:spPr>
          <a:xfrm>
            <a:off x="11486213" y="4171835"/>
            <a:ext cx="1856950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7" name="Google Shape;167;p32"/>
          <p:cNvSpPr/>
          <p:nvPr/>
        </p:nvSpPr>
        <p:spPr>
          <a:xfrm>
            <a:off x="968240" y="5021582"/>
            <a:ext cx="2516560" cy="915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8" name="Google Shape;168;p32"/>
          <p:cNvSpPr/>
          <p:nvPr/>
        </p:nvSpPr>
        <p:spPr>
          <a:xfrm>
            <a:off x="11156494" y="5061891"/>
            <a:ext cx="2516560" cy="61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9" name="Google Shape;169;p32"/>
          <p:cNvSpPr/>
          <p:nvPr/>
        </p:nvSpPr>
        <p:spPr>
          <a:xfrm>
            <a:off x="793790" y="6484144"/>
            <a:ext cx="1304282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הבנת מושגי היסוד עוזרת לתאר דרישות, לזהות תקלות ולבנות בצורה מושכלת ובטוחה יותר.</a:t>
            </a:r>
            <a:r>
              <a:rPr lang="he-IL" sz="21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1744623" y="3760351"/>
            <a:ext cx="111411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מושגי יסוד בפיתוח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511175" lvl="0" marL="0" marR="45720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AutoNum type="arabicPeriod"/>
            </a:pPr>
            <a:r>
              <a:rPr lang="he-IL" sz="320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כיצד אתר פועל — פיתוח ממשק וצד שרת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849900" y="4474100"/>
            <a:ext cx="129306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 rtlCol="1">
            <a:spAutoFit/>
          </a:bodyPr>
          <a:lstStyle/>
          <a:p>
            <a:pPr indent="-361950" lvl="0" marL="0" rtl="1" algn="r" marR="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משתמש: האדם שמשתמש באפליקציה או מבקר באתר.</a:t>
            </a: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  <a:p>
            <a:pPr indent="-3619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ממשק המשתמש: המסכים, הכפתורים והטקסטים שהמשתמש רואה ומפעיל.</a:t>
            </a: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  <a:p>
            <a:pPr indent="-3619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שרת: המחשב שמקבל בקשות ומריץ את לוגיקת צד השרת.</a:t>
            </a: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r>
              <a:rPr b="1"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1"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  <a:p>
            <a:pPr indent="-3619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מסד נתונים: המקום שבו נשמר מידע כגון משתמשים ותוכן.</a:t>
            </a: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b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</a:br>
            <a:endParaRPr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  <a:p>
            <a:pPr indent="-3619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תקשורת לקוח–שרת: העברת בקשות ותשובות בין הממשק לצד השרת.</a:t>
            </a:r>
            <a:r>
              <a:rPr lang="he-IL" sz="21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1"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  <a:p>
            <a:pPr indent="-3619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ubik"/>
              <a:buChar char="●"/>
            </a:pPr>
            <a:r>
              <a:rPr lang="he-IL" sz="21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אירוח: התשתית שמאפשרת לגשת לאפליקציה דרך האינטרנט.</a:t>
            </a:r>
            <a:r>
              <a:rPr lang="he-IL" sz="21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1" sz="21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כיצד אתר פועל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90" name="Google Shape;190;p35"/>
          <p:cNvSpPr/>
          <p:nvPr/>
        </p:nvSpPr>
        <p:spPr>
          <a:xfrm>
            <a:off x="793675" y="4644413"/>
            <a:ext cx="3898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6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כיצד אתר פועל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198" name="Google Shape;198;p36"/>
          <p:cNvSpPr txBox="1"/>
          <p:nvPr/>
        </p:nvSpPr>
        <p:spPr>
          <a:xfrm>
            <a:off x="793800" y="5225675"/>
            <a:ext cx="1293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 rtlCol="1">
            <a:spAutoFit/>
          </a:bodyPr>
          <a:lstStyle/>
          <a:p>
            <a:pPr indent="0" lvl="0" marL="0" rtl="1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he-IL" sz="32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>פיתוח של הממשק וצד השרת</a:t>
            </a:r>
            <a:r>
              <a:rPr b="1" lang="he-IL" sz="32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r>
              <a:rPr b="1" lang="he-IL" sz="32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1" sz="32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Rubik"/>
            </a:endParaRPr>
          </a:p>
        </p:txBody>
      </p:sp>
      <p:sp>
        <p:nvSpPr>
          <p:cNvPr id="199" name="Google Shape;199;p36"/>
          <p:cNvSpPr/>
          <p:nvPr/>
        </p:nvSpPr>
        <p:spPr>
          <a:xfrm>
            <a:off x="793790" y="6408223"/>
            <a:ext cx="130428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5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כלי Vibe Coding מסייעים לבנות ולחבר את הרכיבים הטכנולוגיים, כך שאפשר להתמקד במוצר ובאופן שבו משתמשים בו.</a:t>
            </a:r>
            <a:r>
              <a:rPr lang="he-IL" sz="25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5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5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793790" y="623768"/>
            <a:ext cx="7132677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הממשק — מה שהמשתמש רואה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06" name="Google Shape;206;p37"/>
          <p:cNvSpPr/>
          <p:nvPr/>
        </p:nvSpPr>
        <p:spPr>
          <a:xfrm>
            <a:off x="793790" y="1410533"/>
            <a:ext cx="1304282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צד הלקוח כולל את מה שהמשתמש רואה ומפעיל בדפדפן. בדרך כלל הוא נבנה באמצעות HTML, CSS ו־JavaScript.</a:t>
            </a: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07" name="Google Shape;2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/>
          <p:nvPr/>
        </p:nvSpPr>
        <p:spPr>
          <a:xfrm>
            <a:off x="1431724" y="2914650"/>
            <a:ext cx="3594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חוויית המשתמש — UX</a:t>
            </a:r>
            <a:endParaRPr b="1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09" name="Google Shape;209;p37"/>
          <p:cNvSpPr/>
          <p:nvPr/>
        </p:nvSpPr>
        <p:spPr>
          <a:xfrm>
            <a:off x="1431725" y="3282425"/>
            <a:ext cx="6315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התחושה בזמן השימוש: האם האפליקציה מובנת ונעימה?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1431727" y="3724632"/>
            <a:ext cx="5777151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האם ברור על מה ללחוץ? האם סדר הפעולות הגיוני?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1" name="Google Shape;211;p37"/>
          <p:cNvSpPr/>
          <p:nvPr/>
        </p:nvSpPr>
        <p:spPr>
          <a:xfrm>
            <a:off x="1431727" y="4166830"/>
            <a:ext cx="577715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חוויית המשתמש מתייחסת לתהליך השימוש כולו, מתחילתו ועד סופו.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12" name="Google Shape;2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0123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/>
          <p:nvPr/>
        </p:nvSpPr>
        <p:spPr>
          <a:xfrm>
            <a:off x="8288060" y="2877383"/>
            <a:ext cx="5777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המשתמש — UI</a:t>
            </a:r>
            <a:endParaRPr b="1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8288060" y="3319582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הרכיבים עצמם: כפתורים, טפסים, תמונות וסמלים.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5" name="Google Shape;215;p37"/>
          <p:cNvSpPr/>
          <p:nvPr/>
        </p:nvSpPr>
        <p:spPr>
          <a:xfrm>
            <a:off x="8288060" y="4101941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מעוצב היטב מקל על הניווט ועל ביצוע הפעולות.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16" name="Google Shape;21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267087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1431727" y="5368052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הקשר בין הממשק לחוויית המשתמש</a:t>
            </a:r>
            <a:endParaRPr b="1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1431727" y="5735836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יפה אך מבלבל פוגע בחוויית השימוש.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1431727" y="6178034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הבנת צורכי המשתמש משפיעה על עיצוב הממשק.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1431727" y="6620232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שניהם יחד קובעים עד כמה האפליקציה נוחה לשימוש.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793790" y="7332177"/>
            <a:ext cx="13042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בכלי Vibe Coding מתארים את הממשק הרצוי באמצעות הנחיות.</a:t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793790" y="24627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lang="he-IL" sz="3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אב־הטיפוס שבנינו בעזרת מודלי השפה</a:t>
            </a:r>
            <a:endParaRPr b="1" sz="3200" lang="he-IL" altLang="en-US">
              <a:solidFill>
                <a:srgbClr val="272525"/>
              </a:solidFill>
              <a:latin typeface="Arial"/>
              <a:ea typeface="Arial"/>
              <a:cs typeface="Arial"/>
              <a:sym typeface="Open Sans"/>
            </a:endParaRPr>
          </a:p>
          <a:p>
            <a:pPr indent="0" lvl="0" marL="0" marR="0" rtl="1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he-IL" sz="3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הדגים בעיקר את הממשק.</a:t>
            </a:r>
            <a:r>
              <a:rPr b="1" i="0" lang="he-IL" sz="3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28" name="Google Shape;228;p38"/>
          <p:cNvSpPr/>
          <p:nvPr/>
        </p:nvSpPr>
        <p:spPr>
          <a:xfrm>
            <a:off x="793790" y="623768"/>
            <a:ext cx="7132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הממשק — מה שהמשתמש רואה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29" name="Google Shape;229;p38"/>
          <p:cNvSpPr/>
          <p:nvPr/>
        </p:nvSpPr>
        <p:spPr>
          <a:xfrm>
            <a:off x="793790" y="50535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he-IL" sz="3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כאשר נדרשים עיבוד מוגן ונתונים משותפים, מוסיפים צד שרת ומחברים אותו לממשק.</a:t>
            </a:r>
            <a:r>
              <a:rPr b="1" lang="he-IL" sz="3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lang="he-IL" sz="3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lang="he-IL" sz="3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/>
          <p:nvPr/>
        </p:nvSpPr>
        <p:spPr>
          <a:xfrm>
            <a:off x="793803" y="648300"/>
            <a:ext cx="1335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5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צד השרת — מאחורי הקלעים</a:t>
            </a:r>
            <a:r>
              <a:rPr lang="he-IL" sz="320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r>
              <a:rPr lang="he-IL" sz="320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36" name="Google Shape;236;p39"/>
          <p:cNvSpPr/>
          <p:nvPr/>
        </p:nvSpPr>
        <p:spPr>
          <a:xfrm>
            <a:off x="793790" y="15781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צד השרת מטפל בלוגיקה ובעיבוד של בקשות. כשמשתמש מבצע פעולה, הוא קובע מה לעשות בעקבותיה.</a:t>
            </a: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37" name="Google Shape;2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/>
          <p:nvPr/>
        </p:nvSpPr>
        <p:spPr>
          <a:xfrm>
            <a:off x="97524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פעולת המשתמש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97524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המשתמש ממלא טופס או לוחץ על כפתור באתר.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40" name="Google Shape;2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/>
          <p:nvPr/>
        </p:nvSpPr>
        <p:spPr>
          <a:xfrm>
            <a:off x="4235870" y="3415300"/>
            <a:ext cx="3079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עיבוד בצד השרת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23588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הלוגיקה קובעת כיצד לטפל בבקשה: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43" name="Google Shape;243;p39"/>
          <p:cNvSpPr/>
          <p:nvPr/>
        </p:nvSpPr>
        <p:spPr>
          <a:xfrm>
            <a:off x="4235887" y="4573191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1950" lvl="0" marL="0" marR="34290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לשמור מידע?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44" name="Google Shape;244;p39"/>
          <p:cNvSpPr/>
          <p:nvPr/>
        </p:nvSpPr>
        <p:spPr>
          <a:xfrm>
            <a:off x="4235887" y="4926925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1950" lvl="0" marL="0" marR="34290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לשלוח אישור?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45" name="Google Shape;245;p39"/>
          <p:cNvSpPr/>
          <p:nvPr/>
        </p:nvSpPr>
        <p:spPr>
          <a:xfrm>
            <a:off x="4235887" y="5280660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1950" lvl="0" marL="0" marR="34290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להציג עמוד אחר?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46" name="Google Shape;24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/>
          <p:nvPr/>
        </p:nvSpPr>
        <p:spPr>
          <a:xfrm>
            <a:off x="749665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שמירת מידע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48" name="Google Shape;248;p39"/>
          <p:cNvSpPr/>
          <p:nvPr/>
        </p:nvSpPr>
        <p:spPr>
          <a:xfrm>
            <a:off x="749665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שומרים או שולפים מידע לפי הצורך.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49" name="Google Shape;24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/>
          <p:nvPr/>
        </p:nvSpPr>
        <p:spPr>
          <a:xfrm>
            <a:off x="10757297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תשובה למשתמש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51" name="Google Shape;251;p39"/>
          <p:cNvSpPr/>
          <p:nvPr/>
        </p:nvSpPr>
        <p:spPr>
          <a:xfrm>
            <a:off x="1065967" y="6389132"/>
            <a:ext cx="12770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דימוי למסעדה: צד השרת הוא המטבח, הממשק הוא אזור הסועדים וממשק ה־API הוא התפריט.</a:t>
            </a:r>
            <a:r>
              <a:rPr b="1" lang="he-IL" sz="205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52" name="Google Shape;252;p39"/>
          <p:cNvSpPr/>
          <p:nvPr/>
        </p:nvSpPr>
        <p:spPr>
          <a:xfrm>
            <a:off x="1065967" y="6956107"/>
            <a:ext cx="12770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הסועדים בוחרים מתוך התפריט ורואים את התוצאה; ההכנה מתבצעת במטבח, מאחורי הקלעים.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53" name="Google Shape;253;p39"/>
          <p:cNvSpPr/>
          <p:nvPr/>
        </p:nvSpPr>
        <p:spPr>
          <a:xfrm>
            <a:off x="793790" y="6185059"/>
            <a:ext cx="22800" cy="170100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/>
          <p:nvPr/>
        </p:nvSpPr>
        <p:spPr>
          <a:xfrm>
            <a:off x="1075729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he-IL" sz="17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המשתמש רואה את תוצאת הפעולה.</a:t>
            </a:r>
            <a:endParaRPr b="0" i="0" sz="17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396900" y="692200"/>
            <a:ext cx="83502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אירוח — היכן האפליקציה פועלת?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489001" y="1848100"/>
            <a:ext cx="83502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אירוח הוא התשתית שבה נמצאים קובצי האפליקציה ורכיביה, כך שאפשר לגשת אליהם דרך האינטרנט.</a:t>
            </a: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3" name="Google Shape;263;p40"/>
          <p:cNvSpPr/>
          <p:nvPr/>
        </p:nvSpPr>
        <p:spPr>
          <a:xfrm>
            <a:off x="489001" y="3496755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דימוי: המבנה שבו מאוחסנים קובצי האפליקציה.</a:t>
            </a: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4" name="Google Shape;264;p40"/>
          <p:cNvSpPr/>
          <p:nvPr/>
        </p:nvSpPr>
        <p:spPr>
          <a:xfrm>
            <a:off x="488999" y="4199825"/>
            <a:ext cx="8258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6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איך זה עובד בכלי פיתוח בעזרת בינה מלאכותית?</a:t>
            </a:r>
            <a:endParaRPr b="0" i="0" sz="26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5" name="Google Shape;265;p40"/>
          <p:cNvSpPr/>
          <p:nvPr/>
        </p:nvSpPr>
        <p:spPr>
          <a:xfrm>
            <a:off x="489000" y="4894300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פלטפורמות כגון Base44 ו־Lovable מספקות אפשרויות אירוח כחלק מהשירות.</a:t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6" name="Google Shape;266;p40"/>
          <p:cNvSpPr/>
          <p:nvPr/>
        </p:nvSpPr>
        <p:spPr>
          <a:xfrm>
            <a:off x="489001" y="7056001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משתמשים יכולים לגשת לאפליקציית הווב דרך האינטרנט.</a:t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489001" y="6022302"/>
            <a:ext cx="8350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לאחר פרסום באמצעות Deploy או Publish מתקבלת כתובת אינטרנט לאפליקציה.</a:t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/>
          <p:nvPr/>
        </p:nvSpPr>
        <p:spPr>
          <a:xfrm>
            <a:off x="788670" y="619720"/>
            <a:ext cx="7667625" cy="669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תקשורת בין לקוח לשרת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74" name="Google Shape;274;p41"/>
          <p:cNvSpPr/>
          <p:nvPr/>
        </p:nvSpPr>
        <p:spPr>
          <a:xfrm>
            <a:off x="788670" y="1717000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תקשורת לקוח–שרת היא העברת המידע בין הממשק לבין צד השרת.</a:t>
            </a: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788670" y="2385893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מה קורה כשמבצעים פעולה באתר?</a:t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/>
          <p:nvPr/>
        </p:nvSpPr>
        <p:spPr>
          <a:xfrm>
            <a:off x="100274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3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בקשת הלקוח</a:t>
            </a:r>
            <a:endParaRPr b="0" i="0" sz="23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78" name="Google Shape;278;p41"/>
          <p:cNvSpPr/>
          <p:nvPr/>
        </p:nvSpPr>
        <p:spPr>
          <a:xfrm>
            <a:off x="1002744" y="4588073"/>
            <a:ext cx="2835116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8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הדפדפן שולח בקשה לשרת בעקבות פעולה, למשל לחיצה על כפתור שליחה.</a:t>
            </a:r>
            <a:endParaRPr b="0" i="0" sz="18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79" name="Google Shape;2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193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/>
          <p:nvPr/>
        </p:nvSpPr>
        <p:spPr>
          <a:xfrm>
            <a:off x="426600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3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עיבוד בשרת</a:t>
            </a:r>
            <a:endParaRPr b="0" i="0" sz="23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426600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8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השרת מקבל את הבקשה ומפעיל את הלוגיקה המתאימה.</a:t>
            </a:r>
            <a:endParaRPr b="0" i="0" sz="18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82" name="Google Shape;2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/>
          <p:cNvSpPr/>
          <p:nvPr/>
        </p:nvSpPr>
        <p:spPr>
          <a:xfrm>
            <a:off x="752927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3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תשובת השרת</a:t>
            </a:r>
            <a:endParaRPr b="0" i="0" sz="23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84" name="Google Shape;284;p41"/>
          <p:cNvSpPr/>
          <p:nvPr/>
        </p:nvSpPr>
        <p:spPr>
          <a:xfrm>
            <a:off x="7529274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8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השרת מחזיר מידע, תוכן מעודכן או אישור על הפעולה.</a:t>
            </a:r>
            <a:endParaRPr b="0" i="0" sz="18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285" name="Google Shape;28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846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/>
          <p:nvPr/>
        </p:nvSpPr>
        <p:spPr>
          <a:xfrm>
            <a:off x="1079253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3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עדכון הממשק</a:t>
            </a:r>
            <a:endParaRPr b="0" i="0" sz="23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87" name="Google Shape;287;p41"/>
          <p:cNvSpPr/>
          <p:nvPr/>
        </p:nvSpPr>
        <p:spPr>
          <a:xfrm>
            <a:off x="1079253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8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הדפדפן מציג את המידע החדש או את אישור הפעולה.</a:t>
            </a:r>
            <a:endParaRPr b="0" i="0" sz="18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88" name="Google Shape;288;p41"/>
          <p:cNvSpPr/>
          <p:nvPr/>
        </p:nvSpPr>
        <p:spPr>
          <a:xfrm>
            <a:off x="788670" y="7062986"/>
            <a:ext cx="13053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כלי Vibe Coding יכולים לבנות את התהליך לפי ההנחיות שלכם. עדיין צריך לבדוק שהפעולות והנתונים עוברים כמתוכנן.</a:t>
            </a:r>
            <a:r>
              <a:rPr b="1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lang="he-IL" sz="2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" name="Google Shape;2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9075" y="0"/>
            <a:ext cx="4231325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5350" y="2266587"/>
            <a:ext cx="3418773" cy="34187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/>
          <p:nvPr/>
        </p:nvSpPr>
        <p:spPr>
          <a:xfrm>
            <a:off x="338775" y="619125"/>
            <a:ext cx="926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7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מסד נתונים — שמירת המידע</a:t>
            </a: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/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97" name="Google Shape;297;p42"/>
          <p:cNvSpPr/>
          <p:nvPr/>
        </p:nvSpPr>
        <p:spPr>
          <a:xfrm>
            <a:off x="338775" y="151280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מסד הנתונים שומר מידע של האפליקציה, כגון משתמשים, משימות ותשובות.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98" name="Google Shape;298;p42"/>
          <p:cNvSpPr/>
          <p:nvPr/>
        </p:nvSpPr>
        <p:spPr>
          <a:xfrm>
            <a:off x="338779" y="2182175"/>
            <a:ext cx="9225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he-IL" sz="245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מהו מסד נתונים?</a:t>
            </a:r>
            <a:endParaRPr b="0" i="0" sz="24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338775" y="2768197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אפשר לדמיין אותו כגיליון נתונים: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0" name="Google Shape;300;p42"/>
          <p:cNvSpPr/>
          <p:nvPr/>
        </p:nvSpPr>
        <p:spPr>
          <a:xfrm>
            <a:off x="338775" y="3289572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טבלאות: אוספים כגון משתמשים, מוצרים והזמנות.</a:t>
            </a: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1" name="Google Shape;301;p42"/>
          <p:cNvSpPr/>
          <p:nvPr/>
        </p:nvSpPr>
        <p:spPr>
          <a:xfrm>
            <a:off x="338775" y="36625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שורות: רשומות בודדות, כגון משתמש או הזמנה מסוימים.</a:t>
            </a: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2" name="Google Shape;302;p42"/>
          <p:cNvSpPr/>
          <p:nvPr/>
        </p:nvSpPr>
        <p:spPr>
          <a:xfrm>
            <a:off x="338775" y="403562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עמודות: שדות המתארים כל רשומה, כגון שם, דוא״ל ותאריך.</a:t>
            </a: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3" name="Google Shape;303;p42"/>
          <p:cNvSpPr/>
          <p:nvPr/>
        </p:nvSpPr>
        <p:spPr>
          <a:xfrm>
            <a:off x="338775" y="45569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דוגמה: המשתמש שולח טופס יצירת קשר, והפרטים נשמרים בטבלת ״לידים״.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4" name="Google Shape;304;p42"/>
          <p:cNvSpPr/>
          <p:nvPr/>
        </p:nvSpPr>
        <p:spPr>
          <a:xfrm>
            <a:off x="338779" y="5150175"/>
            <a:ext cx="9837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he-IL" sz="245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בכלי פיתוח בעזרת בינה מלאכותית:</a:t>
            </a:r>
            <a:endParaRPr b="0" i="0" sz="24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5" name="Google Shape;305;p42"/>
          <p:cNvSpPr/>
          <p:nvPr/>
        </p:nvSpPr>
        <p:spPr>
          <a:xfrm>
            <a:off x="338775" y="5736193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81000" lvl="0" marL="0" marR="34290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מגדירים איזה מידע רוצים לאסוף.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6" name="Google Shape;306;p42"/>
          <p:cNvSpPr/>
          <p:nvPr/>
        </p:nvSpPr>
        <p:spPr>
          <a:xfrm>
            <a:off x="338775" y="6109216"/>
            <a:ext cx="9837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81000" lvl="0" marL="0" marR="34290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הפלטפורמה בונה ומחברת את מסד הנתונים, או מנחה כיצד לעשות זאת.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338775" y="716935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חשוב לבדוק שמבנה הנתונים מתאים לצורכי האפליקציה.</a:t>
            </a: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ממשקי תכנות —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787241" y="618530"/>
            <a:ext cx="10872788" cy="7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חיבור לשירותים קיימים באמצעות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0" name="Google Shape;320;p44"/>
          <p:cNvSpPr/>
          <p:nvPr/>
        </p:nvSpPr>
        <p:spPr>
          <a:xfrm>
            <a:off x="787241" y="1771174"/>
            <a:ext cx="13055918" cy="44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תכנות, API, מגדיר כיצד תוכנות מבקשות מידע או פעולות מתוכנות אחרות.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lang="he-IL" sz="2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lang="he-IL" sz="2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1" name="Google Shape;321;p44"/>
          <p:cNvSpPr/>
          <p:nvPr/>
        </p:nvSpPr>
        <p:spPr>
          <a:xfrm>
            <a:off x="787241" y="2474119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אין צורך לפתח כל יכולת מאפס. אפשר להפעיל שירותים קיימים באמצעות ממשקי התכנות שלהם.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2" name="Google Shape;322;p44"/>
          <p:cNvSpPr/>
          <p:nvPr/>
        </p:nvSpPr>
        <p:spPr>
          <a:xfrm>
            <a:off x="787241" y="3627001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דימוי: שירותים שאפשר לחבר כמו קוביות לגו, ולהוסיף באמצעותם יכולות לאפליקציה.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3" name="Google Shape;323;p44"/>
          <p:cNvSpPr/>
          <p:nvPr/>
        </p:nvSpPr>
        <p:spPr>
          <a:xfrm>
            <a:off x="787241" y="4864298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דוגמאות לשימוש: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324" name="Google Shape;3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4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4"/>
          <p:cNvSpPr/>
          <p:nvPr/>
        </p:nvSpPr>
        <p:spPr>
          <a:xfrm>
            <a:off x="1630680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קבלת תשלומים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1630680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לשירות כגון Stripe מאפשר לקבל תשלומים באמצעות תשתית סליקה קיימת.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327" name="Google Shape;32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2916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/>
          <p:nvPr/>
        </p:nvSpPr>
        <p:spPr>
          <a:xfrm>
            <a:off x="6076355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יכולות בינה מלאכותית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6076355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לשירות כגון OpenAI מאפשר לייצר טקסט, לנתח תוכן או ליצור תמונות מתוך האפליקציה.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330" name="Google Shape;33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859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>
            <a:off x="10522029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חיבור ליומן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32" name="Google Shape;332;p44"/>
          <p:cNvSpPr/>
          <p:nvPr/>
        </p:nvSpPr>
        <p:spPr>
          <a:xfrm>
            <a:off x="10522029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ליומן Google מאפשר לקבוע פגישות או להציג אירועים באפליקציה.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/>
          <p:nvPr/>
        </p:nvSpPr>
        <p:spPr>
          <a:xfrm>
            <a:off x="793790" y="673894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תהליך הפנייה לשירות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39" name="Google Shape;339;p45"/>
          <p:cNvSpPr/>
          <p:nvPr/>
        </p:nvSpPr>
        <p:spPr>
          <a:xfrm>
            <a:off x="793790" y="1683948"/>
            <a:ext cx="1304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דוגמה: בניתם עוזר טכני שמסביר בשפה פשוטה איך לפתור תקלות. המשתמש מקליד שאלה:</a:t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40" name="Google Shape;340;p45"/>
          <p:cNvSpPr/>
          <p:nvPr/>
        </p:nvSpPr>
        <p:spPr>
          <a:xfrm>
            <a:off x="793790" y="3124795"/>
            <a:ext cx="13042821" cy="3048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5"/>
          <p:cNvSpPr/>
          <p:nvPr/>
        </p:nvSpPr>
        <p:spPr>
          <a:xfrm>
            <a:off x="1975009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5"/>
          <p:cNvSpPr/>
          <p:nvPr/>
        </p:nvSpPr>
        <p:spPr>
          <a:xfrm>
            <a:off x="1747838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5"/>
          <p:cNvSpPr/>
          <p:nvPr/>
        </p:nvSpPr>
        <p:spPr>
          <a:xfrm>
            <a:off x="1828681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500" u="none" cap="none" strike="noStrike"/>
          </a:p>
        </p:txBody>
      </p:sp>
      <p:sp>
        <p:nvSpPr>
          <p:cNvPr id="344" name="Google Shape;344;p45"/>
          <p:cNvSpPr/>
          <p:nvPr/>
        </p:nvSpPr>
        <p:spPr>
          <a:xfrm>
            <a:off x="1009174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בקשת הלקוח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45" name="Google Shape;345;p45"/>
          <p:cNvSpPr/>
          <p:nvPr/>
        </p:nvSpPr>
        <p:spPr>
          <a:xfrm>
            <a:off x="1009174" y="4452461"/>
            <a:ext cx="1962269" cy="206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בלחיצה על ״שליחה״ הדפדפן שולח את השאלה לשרת.</a:t>
            </a:r>
            <a:endParaRPr b="0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46" name="Google Shape;346;p45"/>
          <p:cNvSpPr/>
          <p:nvPr/>
        </p:nvSpPr>
        <p:spPr>
          <a:xfrm>
            <a:off x="4637484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5"/>
          <p:cNvSpPr/>
          <p:nvPr/>
        </p:nvSpPr>
        <p:spPr>
          <a:xfrm>
            <a:off x="4410313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4491157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500" u="none" cap="none" strike="noStrike"/>
          </a:p>
        </p:txBody>
      </p:sp>
      <p:sp>
        <p:nvSpPr>
          <p:cNvPr id="349" name="Google Shape;349;p45"/>
          <p:cNvSpPr/>
          <p:nvPr/>
        </p:nvSpPr>
        <p:spPr>
          <a:xfrm>
            <a:off x="3397975" y="3952925"/>
            <a:ext cx="2509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עיבוד בשרת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3573580" y="4444251"/>
            <a:ext cx="19623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השרת מקבל את הבקשה ומפעיל לוגיקה הכוללת פנייה לשירות חיצוני.</a:t>
            </a:r>
            <a:endParaRPr b="0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7299841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7072670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"/>
          <p:cNvSpPr/>
          <p:nvPr/>
        </p:nvSpPr>
        <p:spPr>
          <a:xfrm>
            <a:off x="7153513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500" u="none" cap="none" strike="noStrike"/>
          </a:p>
        </p:txBody>
      </p:sp>
      <p:sp>
        <p:nvSpPr>
          <p:cNvPr id="354" name="Google Shape;354;p45"/>
          <p:cNvSpPr/>
          <p:nvPr/>
        </p:nvSpPr>
        <p:spPr>
          <a:xfrm>
            <a:off x="6334006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he-IL" sz="21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פנייה לשירות API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6138099" y="4452450"/>
            <a:ext cx="23541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השרת מזדהה מול שירות OpenAI באמצעות מפתח סודי ושולח את השאלה למודל שפה שמייצר תשובה.</a:t>
            </a:r>
            <a:r>
              <a:rPr lang="he-IL" sz="165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lang="he-IL" sz="165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9962317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9735145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5"/>
          <p:cNvSpPr/>
          <p:nvPr/>
        </p:nvSpPr>
        <p:spPr>
          <a:xfrm>
            <a:off x="9815989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500" u="none" cap="none" strike="noStrike"/>
          </a:p>
        </p:txBody>
      </p:sp>
      <p:sp>
        <p:nvSpPr>
          <p:cNvPr id="359" name="Google Shape;359;p45"/>
          <p:cNvSpPr/>
          <p:nvPr/>
        </p:nvSpPr>
        <p:spPr>
          <a:xfrm>
            <a:off x="8722813" y="3912588"/>
            <a:ext cx="2509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תשובת השרת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>
            <a:off x="8996363" y="4444251"/>
            <a:ext cx="19623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השרת מקבל את תשובת השירות ומעביר אותה למשתמש.</a:t>
            </a:r>
            <a:endParaRPr b="0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12624673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5"/>
          <p:cNvSpPr/>
          <p:nvPr/>
        </p:nvSpPr>
        <p:spPr>
          <a:xfrm>
            <a:off x="12397502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2478345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  <a:endParaRPr b="0" i="0" sz="2500" u="none" cap="none" strike="noStrike"/>
          </a:p>
        </p:txBody>
      </p:sp>
      <p:sp>
        <p:nvSpPr>
          <p:cNvPr id="364" name="Google Shape;364;p45"/>
          <p:cNvSpPr/>
          <p:nvPr/>
        </p:nvSpPr>
        <p:spPr>
          <a:xfrm>
            <a:off x="11658863" y="3912589"/>
            <a:ext cx="196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he-IL" sz="21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עדכון הממשק</a:t>
            </a:r>
            <a:endParaRPr b="0" i="0" sz="21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65" name="Google Shape;365;p45"/>
          <p:cNvSpPr/>
          <p:nvPr/>
        </p:nvSpPr>
        <p:spPr>
          <a:xfrm>
            <a:off x="11658838" y="4452461"/>
            <a:ext cx="1962269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he-IL" sz="16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הדפדפן מציג את התשובה בשיחה.</a:t>
            </a:r>
            <a:endParaRPr b="0" i="0" sz="16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תהליך הפנייה לשירות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73" name="Google Shape;373;p46"/>
          <p:cNvSpPr/>
          <p:nvPr/>
        </p:nvSpPr>
        <p:spPr>
          <a:xfrm>
            <a:off x="793790" y="1672709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he-IL" sz="25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אפשר לדמות את העברת הבקשה לשליח:</a:t>
            </a:r>
            <a:r>
              <a:rPr b="1" lang="he-IL" sz="25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1" i="0" lang="he-IL" sz="25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5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pic>
        <p:nvPicPr>
          <p:cNvPr descr="preencoded.png" id="374" name="Google Shape;37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/>
          <p:nvPr/>
        </p:nvSpPr>
        <p:spPr>
          <a:xfrm>
            <a:off x="1020604" y="3667839"/>
            <a:ext cx="20652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הוא מקבל בקשה מהאפליקציה שלכם — תוכנה א׳.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1020604" y="5919073"/>
            <a:ext cx="206513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77" name="Google Shape;37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2557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/>
          <p:nvPr/>
        </p:nvSpPr>
        <p:spPr>
          <a:xfrm>
            <a:off x="3539371" y="3667839"/>
            <a:ext cx="20652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הוא פונה לשירות שמספק את המידע — תוכנה ב׳.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3539371" y="5617964"/>
            <a:ext cx="2065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80" name="Google Shape;38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1324" y="2533769"/>
            <a:ext cx="251888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/>
          <p:nvPr/>
        </p:nvSpPr>
        <p:spPr>
          <a:xfrm>
            <a:off x="6058138" y="3667839"/>
            <a:ext cx="2065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הוא מחזיר את התוצאה לתוכנה א׳.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/>
          <p:nvPr/>
        </p:nvSpPr>
        <p:spPr>
          <a:xfrm>
            <a:off x="793790" y="1157168"/>
            <a:ext cx="1015281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מפתחות גישה, תמחור ודגשים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88" name="Google Shape;388;p47"/>
          <p:cNvSpPr/>
          <p:nvPr/>
        </p:nvSpPr>
        <p:spPr>
          <a:xfrm>
            <a:off x="793790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/>
          <p:cNvSpPr/>
          <p:nvPr/>
        </p:nvSpPr>
        <p:spPr>
          <a:xfrm>
            <a:off x="1028224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מפתח גישה לשירות API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0" name="Google Shape;390;p47"/>
          <p:cNvSpPr/>
          <p:nvPr/>
        </p:nvSpPr>
        <p:spPr>
          <a:xfrm>
            <a:off x="1028224" y="304442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שירותים רבים דורשים מפתח גישה: ערך סודי המשמש לזיהוי האפליקציה או החשבון.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1" name="Google Shape;391;p47"/>
          <p:cNvSpPr/>
          <p:nvPr/>
        </p:nvSpPr>
        <p:spPr>
          <a:xfrm>
            <a:off x="1028224" y="426922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מקבלים אותו דרך חשבון אצל ספק השירות, למשל Stripe או OpenAI.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2" name="Google Shape;392;p47"/>
          <p:cNvSpPr/>
          <p:nvPr/>
        </p:nvSpPr>
        <p:spPr>
          <a:xfrm>
            <a:off x="1028224" y="513111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אין לפרסם מפתח סודי: הוא עלול לאפשר שימוש בשירות על חשבונכם.</a:t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3" name="Google Shape;393;p47"/>
          <p:cNvSpPr/>
          <p:nvPr/>
        </p:nvSpPr>
        <p:spPr>
          <a:xfrm>
            <a:off x="5216962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7"/>
          <p:cNvSpPr/>
          <p:nvPr/>
        </p:nvSpPr>
        <p:spPr>
          <a:xfrm>
            <a:off x="5451396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חינם ובתשלום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5" name="Google Shape;395;p47"/>
          <p:cNvSpPr/>
          <p:nvPr/>
        </p:nvSpPr>
        <p:spPr>
          <a:xfrm>
            <a:off x="5451396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שירותים רבים מציעים מכסה חינמית מוגבלת.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6" name="Google Shape;396;p47"/>
          <p:cNvSpPr/>
          <p:nvPr/>
        </p:nvSpPr>
        <p:spPr>
          <a:xfrm>
            <a:off x="5451396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שימוש מעבר למכסה עשוי להיות כרוך בתשלום; יש לתכנן בהתאם.</a:t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7" name="Google Shape;397;p47"/>
          <p:cNvSpPr/>
          <p:nvPr/>
        </p:nvSpPr>
        <p:spPr>
          <a:xfrm>
            <a:off x="5451396" y="4768215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בודקים את עמוד התמחור של ספק השירות.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398" name="Google Shape;398;p47"/>
          <p:cNvSpPr/>
          <p:nvPr/>
        </p:nvSpPr>
        <p:spPr>
          <a:xfrm>
            <a:off x="9640133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9874568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בכלי הפיתוח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00" name="Google Shape;400;p47"/>
          <p:cNvSpPr/>
          <p:nvPr/>
        </p:nvSpPr>
        <p:spPr>
          <a:xfrm>
            <a:off x="9874568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מזינים את המפתח באזור ההגדרות המאובטח של השירות.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01" name="Google Shape;401;p47"/>
          <p:cNvSpPr/>
          <p:nvPr/>
        </p:nvSpPr>
        <p:spPr>
          <a:xfrm>
            <a:off x="9874568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מגדירים מגבלות שימוש ושומרים סודות בצד השרת.</a:t>
            </a:r>
            <a:r>
              <a:rPr b="1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02" name="Google Shape;402;p47"/>
          <p:cNvSpPr/>
          <p:nvPr/>
        </p:nvSpPr>
        <p:spPr>
          <a:xfrm>
            <a:off x="793727" y="735391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21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להתנסות ראשונית אפשר לבחור שירות עם מכסה חינמית.</a:t>
            </a:r>
            <a:endParaRPr b="0" i="0" sz="21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7500" y="0"/>
            <a:ext cx="41629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2176" y="2268024"/>
            <a:ext cx="3693550" cy="36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/>
          <p:nvPr/>
        </p:nvSpPr>
        <p:spPr>
          <a:xfrm>
            <a:off x="539350" y="559375"/>
            <a:ext cx="8955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חיבור שירותי API בכלי הפיתוח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565199" y="1666400"/>
            <a:ext cx="913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he-IL" sz="25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כיצד כלים כגון Base44 ו־Lovable מסייעים בחיבור:</a:t>
            </a:r>
            <a:endParaRPr b="0" i="0" sz="25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2" name="Google Shape;412;p48"/>
          <p:cNvSpPr/>
          <p:nvPr/>
        </p:nvSpPr>
        <p:spPr>
          <a:xfrm>
            <a:off x="565201" y="2326125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להגדרת החיבור לשירות.</a:t>
            </a:r>
            <a:r>
              <a:rPr lang="he-IL" sz="205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565201" y="2746297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הזנת כתובת השירות ופרטי ההזדהות במקום המתאים.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565201" y="3166468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התאמת נתוני התשובה לרכיבים בממשק המשתמש.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565199" y="3834401"/>
            <a:ext cx="5568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he-IL" sz="25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שימושים נפוצים:</a:t>
            </a:r>
            <a:endParaRPr b="0" i="0" sz="25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565200" y="4494125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יצירת תוכן בעזרת שירותי בינה מלאכותית.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7" name="Google Shape;417;p48"/>
          <p:cNvSpPr/>
          <p:nvPr/>
        </p:nvSpPr>
        <p:spPr>
          <a:xfrm>
            <a:off x="565200" y="4914300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הצגת מידע חיצוני, כגון מזג אוויר, חדשות ומניות.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565200" y="5334473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למערכות ניהול לקוחות, דוא״ל והודעות.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19" name="Google Shape;419;p48"/>
          <p:cNvSpPr/>
          <p:nvPr/>
        </p:nvSpPr>
        <p:spPr>
          <a:xfrm>
            <a:off x="565200" y="5754648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he-IL" sz="20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קבלת תשלומים באמצעות שירותי סליקה.</a:t>
            </a:r>
            <a:endParaRPr b="0" i="0" sz="20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/>
          <p:nvPr/>
        </p:nvSpPr>
        <p:spPr>
          <a:xfrm>
            <a:off x="793790" y="866061"/>
            <a:ext cx="83300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מגבלות של חיבור לשירותי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26" name="Google Shape;426;p49"/>
          <p:cNvSpPr/>
          <p:nvPr/>
        </p:nvSpPr>
        <p:spPr>
          <a:xfrm>
            <a:off x="793790" y="191500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9"/>
          <p:cNvSpPr/>
          <p:nvPr/>
        </p:nvSpPr>
        <p:spPr>
          <a:xfrm>
            <a:off x="878860" y="195750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650" u="none" cap="none" strike="noStrike"/>
          </a:p>
        </p:txBody>
      </p:sp>
      <p:sp>
        <p:nvSpPr>
          <p:cNvPr id="428" name="Google Shape;428;p49"/>
          <p:cNvSpPr/>
          <p:nvPr/>
        </p:nvSpPr>
        <p:spPr>
          <a:xfrm>
            <a:off x="1530906" y="1992868"/>
            <a:ext cx="29088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מורכבות טכנית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1530906" y="2483287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החיבור דורש הבנה של הממשק ושל השירות המסוים שאליו מתחברים.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30" name="Google Shape;430;p49"/>
          <p:cNvSpPr/>
          <p:nvPr/>
        </p:nvSpPr>
        <p:spPr>
          <a:xfrm>
            <a:off x="793790" y="329981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9"/>
          <p:cNvSpPr/>
          <p:nvPr/>
        </p:nvSpPr>
        <p:spPr>
          <a:xfrm>
            <a:off x="878860" y="334232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650" u="none" cap="none" strike="noStrike"/>
          </a:p>
        </p:txBody>
      </p:sp>
      <p:sp>
        <p:nvSpPr>
          <p:cNvPr id="432" name="Google Shape;432;p49"/>
          <p:cNvSpPr/>
          <p:nvPr/>
        </p:nvSpPr>
        <p:spPr>
          <a:xfrm>
            <a:off x="1530906" y="3377684"/>
            <a:ext cx="51289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תלות בספק חיצוני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1530906" y="386810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הספק עלול לחוות תקלות, לשנות מחירים או לשנות את השירות.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93790" y="468463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9"/>
          <p:cNvSpPr/>
          <p:nvPr/>
        </p:nvSpPr>
        <p:spPr>
          <a:xfrm>
            <a:off x="878860" y="472713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650" u="none" cap="none" strike="noStrike"/>
          </a:p>
        </p:txBody>
      </p:sp>
      <p:sp>
        <p:nvSpPr>
          <p:cNvPr id="436" name="Google Shape;436;p49"/>
          <p:cNvSpPr/>
          <p:nvPr/>
        </p:nvSpPr>
        <p:spPr>
          <a:xfrm>
            <a:off x="1530906" y="4762500"/>
            <a:ext cx="418004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פרטיות ואבטחה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37" name="Google Shape;437;p49"/>
          <p:cNvSpPr/>
          <p:nvPr/>
        </p:nvSpPr>
        <p:spPr>
          <a:xfrm>
            <a:off x="1530906" y="525291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מידע שנשלח לשירות חיצוני עשוי להישמר ולעבור עיבוד אצל הספק; יש לבחון את התנאים ואת הדרישות.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38" name="Google Shape;438;p49"/>
          <p:cNvSpPr/>
          <p:nvPr/>
        </p:nvSpPr>
        <p:spPr>
          <a:xfrm>
            <a:off x="793790" y="606944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9"/>
          <p:cNvSpPr/>
          <p:nvPr/>
        </p:nvSpPr>
        <p:spPr>
          <a:xfrm>
            <a:off x="878860" y="611195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650" u="none" cap="none" strike="noStrike"/>
          </a:p>
        </p:txBody>
      </p:sp>
      <p:sp>
        <p:nvSpPr>
          <p:cNvPr id="440" name="Google Shape;440;p49"/>
          <p:cNvSpPr/>
          <p:nvPr/>
        </p:nvSpPr>
        <p:spPr>
          <a:xfrm>
            <a:off x="1530906" y="61473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עלויות שוטפות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41" name="Google Shape;441;p49"/>
          <p:cNvSpPr/>
          <p:nvPr/>
        </p:nvSpPr>
        <p:spPr>
          <a:xfrm>
            <a:off x="1530906" y="6637734"/>
            <a:ext cx="123057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שירותי בינה מלאכותית רבים מחייבים לפי היקף השימוש, למשל לפי כמות האסימונים או הבקשות.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/>
          <p:nvPr/>
        </p:nvSpPr>
        <p:spPr>
          <a:xfrm>
            <a:off x="793790" y="1052513"/>
            <a:ext cx="89627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עבודה נכונה עם שירותי API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48" name="Google Shape;448;p50"/>
          <p:cNvSpPr/>
          <p:nvPr/>
        </p:nvSpPr>
        <p:spPr>
          <a:xfrm>
            <a:off x="793790" y="210145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חיבור שעבד בבדיקה אחת עדיין דורש בדיקת אמינות ואבטחה.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49" name="Google Shape;449;p50"/>
          <p:cNvSpPr/>
          <p:nvPr/>
        </p:nvSpPr>
        <p:spPr>
          <a:xfrm>
            <a:off x="793790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0"/>
          <p:cNvSpPr/>
          <p:nvPr/>
        </p:nvSpPr>
        <p:spPr>
          <a:xfrm>
            <a:off x="1028224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lang="he-IL" sz="2200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אמינות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1" name="Google Shape;451;p50"/>
          <p:cNvSpPr/>
          <p:nvPr/>
        </p:nvSpPr>
        <p:spPr>
          <a:xfrm>
            <a:off x="1028224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בודקים את התשובה ובוחנים תרחישים שונים.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2" name="Google Shape;452;p50"/>
          <p:cNvSpPr/>
          <p:nvPr/>
        </p:nvSpPr>
        <p:spPr>
          <a:xfrm>
            <a:off x="1028224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מוסיפים בדיקת תקינות והודעות ברורות במקרה של כשל.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3" name="Google Shape;453;p50"/>
          <p:cNvSpPr/>
          <p:nvPr/>
        </p:nvSpPr>
        <p:spPr>
          <a:xfrm>
            <a:off x="5216962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0"/>
          <p:cNvSpPr/>
          <p:nvPr/>
        </p:nvSpPr>
        <p:spPr>
          <a:xfrm>
            <a:off x="5451396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אבטחה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5" name="Google Shape;455;p50"/>
          <p:cNvSpPr/>
          <p:nvPr/>
        </p:nvSpPr>
        <p:spPr>
          <a:xfrm>
            <a:off x="5451396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אין לחשוף מפתחות סודיים בקוד צד הלקוח.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6" name="Google Shape;456;p50"/>
          <p:cNvSpPr/>
          <p:nvPr/>
        </p:nvSpPr>
        <p:spPr>
          <a:xfrm>
            <a:off x="5451396" y="4340066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מגבילים גישה לפעולות רגישות, כגון תשלום וכתיבה למסד הנתונים.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5451396" y="5508069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נעזרים במנגנוני ההרשאות של הפלטפורמה.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58" name="Google Shape;458;p50"/>
          <p:cNvSpPr/>
          <p:nvPr/>
        </p:nvSpPr>
        <p:spPr>
          <a:xfrm>
            <a:off x="9640133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0"/>
          <p:cNvSpPr/>
          <p:nvPr/>
        </p:nvSpPr>
        <p:spPr>
          <a:xfrm>
            <a:off x="9874568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זמינות השירות</a:t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9874568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תקלה אצל הספק עלולה להשפיע על האפליקציה.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61" name="Google Shape;461;p50"/>
          <p:cNvSpPr/>
          <p:nvPr/>
        </p:nvSpPr>
        <p:spPr>
          <a:xfrm>
            <a:off x="9874568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עוקבים אחר מצב השירות; ספקים רבים מפרסמים עמוד סטטוס.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62" name="Google Shape;462;p50"/>
          <p:cNvSpPr/>
          <p:nvPr/>
        </p:nvSpPr>
        <p:spPr>
          <a:xfrm>
            <a:off x="9874568" y="514516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he-IL" sz="175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בחיבורים חיוניים מוסיפים ניטור וטיפול מסודר בשגיאות.</a:t>
            </a:r>
            <a:endParaRPr b="0" i="0" sz="175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63" name="Google Shape;463;p50"/>
          <p:cNvSpPr/>
          <p:nvPr/>
        </p:nvSpPr>
        <p:spPr>
          <a:xfrm>
            <a:off x="793790" y="672345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בודקים שהאפליקציה גם נראית טוב וגם מבצעת את הפעולות שלה כראוי.</a:t>
            </a:r>
            <a:r>
              <a:rPr b="0" i="1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0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r>
              <a:rPr b="0" i="1" lang="he-IL" sz="22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/>
          <p:nvPr/>
        </p:nvSpPr>
        <p:spPr>
          <a:xfrm>
            <a:off x="793790" y="669250"/>
            <a:ext cx="510361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00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סיכום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0" name="Google Shape;470;p51"/>
          <p:cNvSpPr/>
          <p:nvPr/>
        </p:nvSpPr>
        <p:spPr>
          <a:xfrm>
            <a:off x="793790" y="1715453"/>
            <a:ext cx="13042821" cy="40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בניית אב־טיפוס ופרסום אפליקציה הם שלבים שונים.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1" name="Google Shape;471;p51"/>
          <p:cNvSpPr/>
          <p:nvPr/>
        </p:nvSpPr>
        <p:spPr>
          <a:xfrm>
            <a:off x="793800" y="2195026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2"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כלי Vibe Coding מסייעים לבנות אפליקציות באמצעות הנחיות ובינה מלאכותית.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2" name="Google Shape;472;p51"/>
          <p:cNvSpPr/>
          <p:nvPr/>
        </p:nvSpPr>
        <p:spPr>
          <a:xfrm>
            <a:off x="793790" y="3082766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3"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בוחנים את התנהגות האפליקציה באמצעות קלט ופלט, ומוודאים שהיא עומדת בדרישות.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3" name="Google Shape;473;p51"/>
          <p:cNvSpPr/>
          <p:nvPr/>
        </p:nvSpPr>
        <p:spPr>
          <a:xfrm>
            <a:off x="793790" y="3562350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68300" lvl="0" marL="0" marR="34290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4"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הרכיבים שמאחורי האפליקציה: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4" name="Google Shape;474;p51"/>
          <p:cNvSpPr/>
          <p:nvPr/>
        </p:nvSpPr>
        <p:spPr>
          <a:xfrm>
            <a:off x="793790" y="4505801"/>
            <a:ext cx="13042800" cy="22800"/>
          </a:xfrm>
          <a:prstGeom prst="roundRect">
            <a:avLst>
              <a:gd fmla="val 37507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5" name="Google Shape;475;p51"/>
          <p:cNvSpPr/>
          <p:nvPr/>
        </p:nvSpPr>
        <p:spPr>
          <a:xfrm>
            <a:off x="2098715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51"/>
          <p:cNvSpPr/>
          <p:nvPr/>
        </p:nvSpPr>
        <p:spPr>
          <a:xfrm>
            <a:off x="2175212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800" u="none" cap="none" strike="noStrike"/>
          </a:p>
        </p:txBody>
      </p:sp>
      <p:sp>
        <p:nvSpPr>
          <p:cNvPr id="477" name="Google Shape;477;p51"/>
          <p:cNvSpPr/>
          <p:nvPr/>
        </p:nvSpPr>
        <p:spPr>
          <a:xfrm>
            <a:off x="1052513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ממשק המשתמש</a:t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8" name="Google Shape;478;p51"/>
          <p:cNvSpPr/>
          <p:nvPr/>
        </p:nvSpPr>
        <p:spPr>
          <a:xfrm>
            <a:off x="997863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ממשק וחוויית שימוש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79" name="Google Shape;479;p51"/>
          <p:cNvSpPr/>
          <p:nvPr/>
        </p:nvSpPr>
        <p:spPr>
          <a:xfrm>
            <a:off x="5423178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51"/>
          <p:cNvSpPr/>
          <p:nvPr/>
        </p:nvSpPr>
        <p:spPr>
          <a:xfrm>
            <a:off x="5499675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800" u="none" cap="none" strike="noStrike"/>
          </a:p>
        </p:txBody>
      </p:sp>
      <p:sp>
        <p:nvSpPr>
          <p:cNvPr id="481" name="Google Shape;481;p51"/>
          <p:cNvSpPr/>
          <p:nvPr/>
        </p:nvSpPr>
        <p:spPr>
          <a:xfrm>
            <a:off x="4376976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צד השרת</a:t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82" name="Google Shape;482;p51"/>
          <p:cNvSpPr/>
          <p:nvPr/>
        </p:nvSpPr>
        <p:spPr>
          <a:xfrm>
            <a:off x="4322326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לוגיקה ועיבוד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83" name="Google Shape;483;p51"/>
          <p:cNvSpPr/>
          <p:nvPr/>
        </p:nvSpPr>
        <p:spPr>
          <a:xfrm>
            <a:off x="8747641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4" name="Google Shape;484;p51"/>
          <p:cNvSpPr/>
          <p:nvPr/>
        </p:nvSpPr>
        <p:spPr>
          <a:xfrm>
            <a:off x="8824139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800" u="none" cap="none" strike="noStrike"/>
          </a:p>
        </p:txBody>
      </p:sp>
      <p:sp>
        <p:nvSpPr>
          <p:cNvPr id="485" name="Google Shape;485;p51"/>
          <p:cNvSpPr/>
          <p:nvPr/>
        </p:nvSpPr>
        <p:spPr>
          <a:xfrm>
            <a:off x="7701439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מסד הנתונים</a:t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86" name="Google Shape;486;p51"/>
          <p:cNvSpPr/>
          <p:nvPr/>
        </p:nvSpPr>
        <p:spPr>
          <a:xfrm>
            <a:off x="7646789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שמירה ושליפה של מידע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87" name="Google Shape;487;p51"/>
          <p:cNvSpPr/>
          <p:nvPr/>
        </p:nvSpPr>
        <p:spPr>
          <a:xfrm>
            <a:off x="12072223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8" name="Google Shape;488;p51"/>
          <p:cNvSpPr/>
          <p:nvPr/>
        </p:nvSpPr>
        <p:spPr>
          <a:xfrm>
            <a:off x="12148721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800" u="none" cap="none" strike="noStrike"/>
          </a:p>
        </p:txBody>
      </p:sp>
      <p:sp>
        <p:nvSpPr>
          <p:cNvPr id="489" name="Google Shape;489;p51"/>
          <p:cNvSpPr/>
          <p:nvPr/>
        </p:nvSpPr>
        <p:spPr>
          <a:xfrm>
            <a:off x="11026021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Rubik"/>
              </a:rPr>
              <a:t>ממשקי API</a:t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90" name="Google Shape;490;p51"/>
          <p:cNvSpPr/>
          <p:nvPr/>
        </p:nvSpPr>
        <p:spPr>
          <a:xfrm>
            <a:off x="10971252" y="5380911"/>
            <a:ext cx="2661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he-IL" sz="20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שירותים וחיבורים חיצוניים</a:t>
            </a:r>
            <a:endParaRPr b="0" i="0" sz="2000" u="none" cap="none" strike="noStrike" lang="he-IL" altLang="en-US">
              <a:latin typeface="Arial"/>
              <a:cs typeface="Arial"/>
              <a:ea typeface="Arial"/>
            </a:endParaRPr>
          </a:p>
        </p:txBody>
      </p:sp>
      <p:sp>
        <p:nvSpPr>
          <p:cNvPr id="491" name="Google Shape;491;p51"/>
          <p:cNvSpPr/>
          <p:nvPr/>
        </p:nvSpPr>
        <p:spPr>
          <a:xfrm>
            <a:off x="793790" y="5882878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492" name="Google Shape;492;p51"/>
          <p:cNvSpPr/>
          <p:nvPr/>
        </p:nvSpPr>
        <p:spPr>
          <a:xfrm>
            <a:off x="793790" y="6965738"/>
            <a:ext cx="130428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Open Sans"/>
              <a:buNone/>
            </a:pP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>בהמשך נבנה ונפרסם אפליקציות בעזרת Base44 ו־Lovable, וניישם את המושגים שלמדנו.</a:t>
            </a:r>
            <a:r>
              <a:rPr b="0" i="0" lang="he-IL" sz="2400" u="none" cap="none" strike="noStrike" altLang="en-US">
                <a:solidFill>
                  <a:srgbClr val="272525"/>
                </a:solidFill>
                <a:latin typeface="Arial"/>
                <a:ea typeface="Arial"/>
                <a:cs typeface="Arial"/>
                <a:sym typeface="Open Sans"/>
              </a:rPr>
              <a:t/>
            </a:r>
            <a:endParaRPr b="0" i="0" sz="24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2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61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שאלות?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