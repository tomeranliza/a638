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8229600" cx="14630400"/>
  <p:notesSz cx="8229600" cy="14630400"/>
  <p:embeddedFontLst>
    <p:embeddedFont>
      <p:font typeface="Rubik"/>
      <p:regular r:id="rId21"/>
      <p:bold r:id="rId22"/>
      <p:italic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ubik-bold.fntdata"/><Relationship Id="rId21" Type="http://schemas.openxmlformats.org/officeDocument/2006/relationships/font" Target="fonts/Rubik-regular.fntdata"/><Relationship Id="rId24" Type="http://schemas.openxmlformats.org/officeDocument/2006/relationships/font" Target="fonts/Rubik-boldItalic.fntdata"/><Relationship Id="rId23" Type="http://schemas.openxmlformats.org/officeDocument/2006/relationships/font" Target="fonts/Rubik-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bdf2c68df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g36bdf2c68df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36bdf2c68df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bdf2c68df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g36bdf2c68df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6bdf2c68df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6d91671fdb2d6d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6d91671fdb2d6d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h6d91671fdb2d6d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6d91671fdb2d6d66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h6d91671fdb2d6d66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h6d91671fdb2d6d66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base44.com/" TargetMode="Externa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4.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hyperlink" Target="https://www.wix.com/press-room/home/post/wix-further-expands-into-vibe-coding-with-acquisition-of-base44-a-hyper-growth-startup-that-simpli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docs.base44.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descr="preencoded.png" id="52" name="Google Shape;52;p15"/>
          <p:cNvPicPr preferRelativeResize="0"/>
          <p:nvPr/>
        </p:nvPicPr>
        <p:blipFill rotWithShape="1">
          <a:blip r:embed="rId3">
            <a:alphaModFix/>
          </a:blip>
          <a:srcRect b="0" l="0" r="0" t="0"/>
          <a:stretch/>
        </p:blipFill>
        <p:spPr>
          <a:xfrm>
            <a:off x="7315200" y="0"/>
            <a:ext cx="7315200" cy="8229600"/>
          </a:xfrm>
          <a:prstGeom prst="rect">
            <a:avLst/>
          </a:prstGeom>
          <a:noFill/>
          <a:ln>
            <a:noFill/>
          </a:ln>
        </p:spPr>
      </p:pic>
      <p:pic>
        <p:nvPicPr>
          <p:cNvPr descr="preencoded.png" id="53" name="Google Shape;53;p15"/>
          <p:cNvPicPr preferRelativeResize="0"/>
          <p:nvPr/>
        </p:nvPicPr>
        <p:blipFill rotWithShape="1">
          <a:blip r:embed="rId4">
            <a:alphaModFix/>
          </a:blip>
          <a:srcRect b="0" l="0" r="0" t="0"/>
          <a:stretch/>
        </p:blipFill>
        <p:spPr>
          <a:xfrm>
            <a:off x="7402290" y="2529840"/>
            <a:ext cx="6141720" cy="3169920"/>
          </a:xfrm>
          <a:prstGeom prst="rect">
            <a:avLst/>
          </a:prstGeom>
          <a:noFill/>
          <a:ln>
            <a:noFill/>
          </a:ln>
        </p:spPr>
      </p:pic>
      <p:sp>
        <p:nvSpPr>
          <p:cNvPr id="54" name="Google Shape;54;p15"/>
          <p:cNvSpPr/>
          <p:nvPr/>
        </p:nvSpPr>
        <p:spPr>
          <a:xfrm>
            <a:off x="793790" y="2228493"/>
            <a:ext cx="5727621" cy="1417558"/>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Base44 for Building Lightweight Apps</a:t>
            </a:r>
            <a:endParaRPr b="0" i="0" sz="4450" u="none" cap="none" strike="noStrike"/>
          </a:p>
        </p:txBody>
      </p:sp>
      <p:pic>
        <p:nvPicPr>
          <p:cNvPr descr="preencoded.png" id="55" name="Google Shape;55;p15"/>
          <p:cNvPicPr preferRelativeResize="0"/>
          <p:nvPr/>
        </p:nvPicPr>
        <p:blipFill rotWithShape="1">
          <a:blip r:embed="rId5">
            <a:alphaModFix/>
          </a:blip>
          <a:srcRect b="0" l="0" r="0" t="0"/>
          <a:stretch/>
        </p:blipFill>
        <p:spPr>
          <a:xfrm>
            <a:off x="2180868" y="3986213"/>
            <a:ext cx="2953464" cy="1306116"/>
          </a:xfrm>
          <a:prstGeom prst="rect">
            <a:avLst/>
          </a:prstGeom>
          <a:noFill/>
          <a:ln>
            <a:noFill/>
          </a:ln>
        </p:spPr>
      </p:pic>
      <p:sp>
        <p:nvSpPr>
          <p:cNvPr id="56" name="Google Shape;56;p15"/>
          <p:cNvSpPr/>
          <p:nvPr/>
        </p:nvSpPr>
        <p:spPr>
          <a:xfrm>
            <a:off x="793790" y="5547479"/>
            <a:ext cx="5727621" cy="453509"/>
          </a:xfrm>
          <a:prstGeom prst="rect">
            <a:avLst/>
          </a:prstGeom>
          <a:noFill/>
          <a:ln>
            <a:noFill/>
          </a:ln>
        </p:spPr>
        <p:txBody>
          <a:bodyPr anchorCtr="0" anchor="t" bIns="0" lIns="0" spcFirstLastPara="1" rIns="0" wrap="square" tIns="0">
            <a:noAutofit/>
          </a:bodyPr>
          <a:lstStyle/>
          <a:p>
            <a:pPr indent="0" lvl="0" marL="0" marR="0" rtl="0" algn="ctr">
              <a:lnSpc>
                <a:spcPct val="161363"/>
              </a:lnSpc>
              <a:spcBef>
                <a:spcPts val="0"/>
              </a:spcBef>
              <a:spcAft>
                <a:spcPts val="0"/>
              </a:spcAft>
              <a:buClr>
                <a:srgbClr val="272525"/>
              </a:buClr>
              <a:buSzPts val="2200"/>
              <a:buFont typeface="Open Sans"/>
              <a:buNone/>
            </a:pPr>
            <a:r>
              <a:rPr b="0" i="0" lang="en-US" sz="2200" u="none" cap="none" strike="noStrike">
                <a:solidFill>
                  <a:srgbClr val="272525"/>
                </a:solidFill>
                <a:latin typeface="Open Sans"/>
                <a:ea typeface="Open Sans"/>
                <a:cs typeface="Open Sans"/>
                <a:sym typeface="Open Sans"/>
              </a:rPr>
              <a:t>Hands‑on workshop with Base44.com</a:t>
            </a:r>
            <a:endParaRPr b="0" i="0" sz="22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6"/>
          <p:cNvSpPr/>
          <p:nvPr/>
        </p:nvSpPr>
        <p:spPr>
          <a:xfrm>
            <a:off x="793790" y="62376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Agenda</a:t>
            </a:r>
            <a:endParaRPr b="0" i="0" sz="4450" u="none" cap="none" strike="noStrike"/>
          </a:p>
        </p:txBody>
      </p:sp>
      <p:sp>
        <p:nvSpPr>
          <p:cNvPr id="63" name="Google Shape;63;p16"/>
          <p:cNvSpPr/>
          <p:nvPr/>
        </p:nvSpPr>
        <p:spPr>
          <a:xfrm>
            <a:off x="793790" y="1786176"/>
            <a:ext cx="13042821" cy="453509"/>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Clr>
                <a:srgbClr val="272525"/>
              </a:buClr>
              <a:buSzPts val="2200"/>
              <a:buFont typeface="Open Sans"/>
              <a:buNone/>
            </a:pPr>
            <a:r>
              <a:rPr b="0" i="0" lang="en-US" sz="2200" u="none" cap="none" strike="noStrike">
                <a:solidFill>
                  <a:srgbClr val="272525"/>
                </a:solidFill>
                <a:latin typeface="Open Sans"/>
                <a:ea typeface="Open Sans"/>
                <a:cs typeface="Open Sans"/>
                <a:sym typeface="Open Sans"/>
              </a:rPr>
              <a:t>With Base44, you'll go beyond ideas and create tools people can use.</a:t>
            </a:r>
            <a:endParaRPr b="0" i="0" sz="2200" u="none" cap="none" strike="noStrike"/>
          </a:p>
        </p:txBody>
      </p:sp>
      <p:sp>
        <p:nvSpPr>
          <p:cNvPr id="64" name="Google Shape;64;p16"/>
          <p:cNvSpPr/>
          <p:nvPr/>
        </p:nvSpPr>
        <p:spPr>
          <a:xfrm>
            <a:off x="793790" y="2494836"/>
            <a:ext cx="13042821" cy="453509"/>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Clr>
                <a:srgbClr val="272525"/>
              </a:buClr>
              <a:buSzPts val="2200"/>
              <a:buFont typeface="Open Sans"/>
              <a:buNone/>
            </a:pPr>
            <a:r>
              <a:rPr b="0" i="0" lang="en-US" sz="2200" u="none" cap="none" strike="noStrike">
                <a:solidFill>
                  <a:srgbClr val="272525"/>
                </a:solidFill>
                <a:latin typeface="Open Sans"/>
                <a:ea typeface="Open Sans"/>
                <a:cs typeface="Open Sans"/>
                <a:sym typeface="Open Sans"/>
              </a:rPr>
              <a:t>This session will teach you how to work with Base44 responsibly, confidently, and creatively.</a:t>
            </a:r>
            <a:endParaRPr b="0" i="0" sz="2200" u="none" cap="none" strike="noStrike"/>
          </a:p>
        </p:txBody>
      </p:sp>
      <p:sp>
        <p:nvSpPr>
          <p:cNvPr id="65" name="Google Shape;65;p16"/>
          <p:cNvSpPr/>
          <p:nvPr/>
        </p:nvSpPr>
        <p:spPr>
          <a:xfrm>
            <a:off x="793790" y="3203496"/>
            <a:ext cx="13042821" cy="453509"/>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Calibri"/>
              <a:buAutoNum type="arabicPeriod"/>
            </a:pPr>
            <a:r>
              <a:rPr lang="en-US" sz="1750">
                <a:solidFill>
                  <a:srgbClr val="272525"/>
                </a:solidFill>
                <a:latin typeface="Open Sans"/>
                <a:ea typeface="Open Sans"/>
                <a:cs typeface="Open Sans"/>
                <a:sym typeface="Open Sans"/>
              </a:rPr>
              <a:t>Background</a:t>
            </a:r>
            <a:r>
              <a:rPr b="0" i="0" lang="en-US" sz="1750" u="none" cap="none" strike="noStrike">
                <a:solidFill>
                  <a:srgbClr val="272525"/>
                </a:solidFill>
                <a:latin typeface="Open Sans"/>
                <a:ea typeface="Open Sans"/>
                <a:cs typeface="Open Sans"/>
                <a:sym typeface="Open Sans"/>
              </a:rPr>
              <a:t> and Company</a:t>
            </a:r>
            <a:endParaRPr b="0" i="0" sz="1750" u="none" cap="none" strike="noStrike"/>
          </a:p>
        </p:txBody>
      </p:sp>
      <p:sp>
        <p:nvSpPr>
          <p:cNvPr id="66" name="Google Shape;66;p16"/>
          <p:cNvSpPr/>
          <p:nvPr/>
        </p:nvSpPr>
        <p:spPr>
          <a:xfrm>
            <a:off x="793790" y="3736300"/>
            <a:ext cx="13042821" cy="453509"/>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Calibri"/>
              <a:buAutoNum type="arabicPeriod" startAt="2"/>
            </a:pPr>
            <a:r>
              <a:rPr b="0" i="0" lang="en-US" sz="1750" u="none" cap="none" strike="noStrike">
                <a:solidFill>
                  <a:srgbClr val="272525"/>
                </a:solidFill>
                <a:latin typeface="Open Sans"/>
                <a:ea typeface="Open Sans"/>
                <a:cs typeface="Open Sans"/>
                <a:sym typeface="Open Sans"/>
              </a:rPr>
              <a:t>Core Features </a:t>
            </a:r>
            <a:endParaRPr b="0" i="0" sz="1750" u="none" cap="none" strike="noStrike"/>
          </a:p>
        </p:txBody>
      </p:sp>
      <p:sp>
        <p:nvSpPr>
          <p:cNvPr id="67" name="Google Shape;67;p16"/>
          <p:cNvSpPr/>
          <p:nvPr/>
        </p:nvSpPr>
        <p:spPr>
          <a:xfrm>
            <a:off x="793790" y="4269105"/>
            <a:ext cx="13042821" cy="453509"/>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Calibri"/>
              <a:buAutoNum type="arabicPeriod" startAt="3"/>
            </a:pPr>
            <a:r>
              <a:rPr b="0" i="0" lang="en-US" sz="1750" u="none" cap="none" strike="noStrike">
                <a:solidFill>
                  <a:srgbClr val="272525"/>
                </a:solidFill>
                <a:latin typeface="Open Sans"/>
                <a:ea typeface="Open Sans"/>
                <a:cs typeface="Open Sans"/>
                <a:sym typeface="Open Sans"/>
              </a:rPr>
              <a:t>Base44 vs Competitors (i.</a:t>
            </a:r>
            <a:r>
              <a:rPr lang="en-US" sz="1750">
                <a:solidFill>
                  <a:srgbClr val="272525"/>
                </a:solidFill>
                <a:latin typeface="Open Sans"/>
                <a:ea typeface="Open Sans"/>
                <a:cs typeface="Open Sans"/>
                <a:sym typeface="Open Sans"/>
              </a:rPr>
              <a:t>e. Lovable, Bolt)</a:t>
            </a:r>
            <a:endParaRPr b="0" i="0" sz="1750" u="none" cap="none" strike="noStrike"/>
          </a:p>
        </p:txBody>
      </p:sp>
      <p:sp>
        <p:nvSpPr>
          <p:cNvPr id="68" name="Google Shape;68;p16"/>
          <p:cNvSpPr/>
          <p:nvPr/>
        </p:nvSpPr>
        <p:spPr>
          <a:xfrm>
            <a:off x="793790" y="4801910"/>
            <a:ext cx="13042821" cy="453509"/>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Calibri"/>
              <a:buAutoNum type="arabicPeriod" startAt="4"/>
            </a:pPr>
            <a:r>
              <a:rPr b="0" i="0" lang="en-US" sz="1750" u="none" cap="none" strike="noStrike">
                <a:solidFill>
                  <a:srgbClr val="272525"/>
                </a:solidFill>
                <a:latin typeface="Open Sans"/>
                <a:ea typeface="Open Sans"/>
                <a:cs typeface="Open Sans"/>
                <a:sym typeface="Open Sans"/>
              </a:rPr>
              <a:t>Pricing Overview and Usage Limitations</a:t>
            </a:r>
            <a:endParaRPr b="0" i="0" sz="1750" u="none" cap="none" strike="noStrike"/>
          </a:p>
        </p:txBody>
      </p:sp>
      <p:sp>
        <p:nvSpPr>
          <p:cNvPr id="69" name="Google Shape;69;p16"/>
          <p:cNvSpPr/>
          <p:nvPr/>
        </p:nvSpPr>
        <p:spPr>
          <a:xfrm>
            <a:off x="793790" y="5334714"/>
            <a:ext cx="13042821" cy="453509"/>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Calibri"/>
              <a:buAutoNum type="arabicPeriod" startAt="5"/>
            </a:pPr>
            <a:r>
              <a:rPr b="0" i="0" lang="en-US" sz="1750" u="none" cap="none" strike="noStrike">
                <a:solidFill>
                  <a:srgbClr val="272525"/>
                </a:solidFill>
                <a:latin typeface="Open Sans"/>
                <a:ea typeface="Open Sans"/>
                <a:cs typeface="Open Sans"/>
                <a:sym typeface="Open Sans"/>
              </a:rPr>
              <a:t>Recommendations - For which use-cases to use </a:t>
            </a:r>
            <a:r>
              <a:rPr lang="en-US" sz="1750">
                <a:solidFill>
                  <a:srgbClr val="272525"/>
                </a:solidFill>
                <a:latin typeface="Open Sans"/>
                <a:ea typeface="Open Sans"/>
                <a:cs typeface="Open Sans"/>
                <a:sym typeface="Open Sans"/>
              </a:rPr>
              <a:t>and</a:t>
            </a:r>
            <a:r>
              <a:rPr b="0" i="0" lang="en-US" sz="1750" u="none" cap="none" strike="noStrike">
                <a:solidFill>
                  <a:srgbClr val="272525"/>
                </a:solidFill>
                <a:latin typeface="Open Sans"/>
                <a:ea typeface="Open Sans"/>
                <a:cs typeface="Open Sans"/>
                <a:sym typeface="Open Sans"/>
              </a:rPr>
              <a:t> when prefered not to</a:t>
            </a:r>
            <a:endParaRPr b="0" i="0" sz="1750" u="none" cap="none" strike="noStrike"/>
          </a:p>
        </p:txBody>
      </p:sp>
      <p:sp>
        <p:nvSpPr>
          <p:cNvPr id="70" name="Google Shape;70;p16"/>
          <p:cNvSpPr/>
          <p:nvPr/>
        </p:nvSpPr>
        <p:spPr>
          <a:xfrm>
            <a:off x="793790" y="6576179"/>
            <a:ext cx="13042821" cy="453509"/>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SzPts val="2200"/>
              <a:buFont typeface="Arial"/>
              <a:buNone/>
            </a:pPr>
            <a:r>
              <a:t/>
            </a:r>
            <a:endParaRPr b="0" i="0" sz="22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p:nvPr/>
        </p:nvSpPr>
        <p:spPr>
          <a:xfrm>
            <a:off x="783669" y="746760"/>
            <a:ext cx="13063061" cy="290989"/>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272525"/>
              </a:buClr>
              <a:buSzPts val="1400"/>
              <a:buFont typeface="Open Sans"/>
              <a:buNone/>
            </a:pPr>
            <a:r>
              <a:rPr b="0" i="0" lang="en-US" sz="2100" u="none" cap="none" strike="noStrike">
                <a:solidFill>
                  <a:srgbClr val="272525"/>
                </a:solidFill>
                <a:latin typeface="Open Sans"/>
                <a:ea typeface="Open Sans"/>
                <a:cs typeface="Open Sans"/>
                <a:sym typeface="Open Sans"/>
              </a:rPr>
              <a:t>Base44 is an AI-powered platform that lets you turn any idea into a fully-functional custom app, without the need for any coding experience.</a:t>
            </a:r>
            <a:endParaRPr b="0" i="0" sz="2100" u="none" cap="none" strike="noStrike"/>
          </a:p>
        </p:txBody>
      </p:sp>
      <p:sp>
        <p:nvSpPr>
          <p:cNvPr id="77" name="Google Shape;77;p17"/>
          <p:cNvSpPr/>
          <p:nvPr/>
        </p:nvSpPr>
        <p:spPr>
          <a:xfrm>
            <a:off x="686269" y="1737110"/>
            <a:ext cx="13063200" cy="29100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5E98F1"/>
              </a:buClr>
              <a:buSzPts val="1400"/>
              <a:buFont typeface="Open Sans"/>
              <a:buNone/>
            </a:pPr>
            <a:r>
              <a:rPr b="1" lang="en-US" sz="2100">
                <a:solidFill>
                  <a:srgbClr val="5E98F1"/>
                </a:solidFill>
                <a:latin typeface="Open Sans"/>
                <a:ea typeface="Open Sans"/>
                <a:cs typeface="Open Sans"/>
                <a:sym typeface="Open Sans"/>
              </a:rPr>
              <a:t>Israeli</a:t>
            </a:r>
            <a:r>
              <a:rPr b="1" i="0" lang="en-US" sz="2100" u="none" cap="none" strike="noStrike">
                <a:solidFill>
                  <a:srgbClr val="5E98F1"/>
                </a:solidFill>
                <a:latin typeface="Open Sans"/>
                <a:ea typeface="Open Sans"/>
                <a:cs typeface="Open Sans"/>
                <a:sym typeface="Open Sans"/>
              </a:rPr>
              <a:t> proud..! </a:t>
            </a:r>
            <a:r>
              <a:rPr b="0" i="0" lang="en-US" sz="2100" u="none" cap="none" strike="noStrike">
                <a:solidFill>
                  <a:srgbClr val="272525"/>
                </a:solidFill>
                <a:latin typeface="Open Sans"/>
                <a:ea typeface="Open Sans"/>
                <a:cs typeface="Open Sans"/>
                <a:sym typeface="Open Sans"/>
              </a:rPr>
              <a:t>@Maor Shlomo </a:t>
            </a:r>
            <a:endParaRPr b="0" i="0" sz="2100" u="none" cap="none" strike="noStrike"/>
          </a:p>
        </p:txBody>
      </p:sp>
      <p:pic>
        <p:nvPicPr>
          <p:cNvPr descr="preencoded.png" id="78" name="Google Shape;78;p17">
            <a:hlinkClick r:id="rId3"/>
          </p:cNvPr>
          <p:cNvPicPr preferRelativeResize="0"/>
          <p:nvPr/>
        </p:nvPicPr>
        <p:blipFill rotWithShape="1">
          <a:blip r:embed="rId4">
            <a:alphaModFix/>
          </a:blip>
          <a:srcRect b="0" l="0" r="0" t="0"/>
          <a:stretch/>
        </p:blipFill>
        <p:spPr>
          <a:xfrm>
            <a:off x="2092881" y="2321659"/>
            <a:ext cx="10444641" cy="5558552"/>
          </a:xfrm>
          <a:prstGeom prst="rect">
            <a:avLst/>
          </a:prstGeom>
          <a:noFill/>
          <a:ln>
            <a:noFill/>
          </a:ln>
        </p:spPr>
      </p:pic>
      <p:sp>
        <p:nvSpPr>
          <p:cNvPr id="79" name="Google Shape;79;p17"/>
          <p:cNvSpPr/>
          <p:nvPr/>
        </p:nvSpPr>
        <p:spPr>
          <a:xfrm>
            <a:off x="783669" y="7378422"/>
            <a:ext cx="13063061" cy="232767"/>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SzPts val="1100"/>
              <a:buFont typeface="Arial"/>
              <a:buNone/>
            </a:pPr>
            <a:r>
              <a:t/>
            </a:r>
            <a:endParaRPr b="0" i="0" sz="11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p:nvPr/>
        </p:nvSpPr>
        <p:spPr>
          <a:xfrm>
            <a:off x="783669" y="7378422"/>
            <a:ext cx="13063200" cy="2328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SzPts val="1100"/>
              <a:buFont typeface="Arial"/>
              <a:buNone/>
            </a:pPr>
            <a:r>
              <a:t/>
            </a:r>
            <a:endParaRPr b="0" i="0" sz="1100" u="none" cap="none" strike="noStrike"/>
          </a:p>
        </p:txBody>
      </p:sp>
      <p:pic>
        <p:nvPicPr>
          <p:cNvPr id="86" name="Google Shape;86;p18"/>
          <p:cNvPicPr preferRelativeResize="0"/>
          <p:nvPr/>
        </p:nvPicPr>
        <p:blipFill>
          <a:blip r:embed="rId3">
            <a:alphaModFix/>
          </a:blip>
          <a:stretch>
            <a:fillRect/>
          </a:stretch>
        </p:blipFill>
        <p:spPr>
          <a:xfrm>
            <a:off x="114300" y="6406850"/>
            <a:ext cx="10582275" cy="1733550"/>
          </a:xfrm>
          <a:prstGeom prst="rect">
            <a:avLst/>
          </a:prstGeom>
          <a:noFill/>
          <a:ln>
            <a:noFill/>
          </a:ln>
        </p:spPr>
      </p:pic>
      <p:pic>
        <p:nvPicPr>
          <p:cNvPr id="87" name="Google Shape;87;p18"/>
          <p:cNvPicPr preferRelativeResize="0"/>
          <p:nvPr/>
        </p:nvPicPr>
        <p:blipFill>
          <a:blip r:embed="rId4">
            <a:alphaModFix/>
          </a:blip>
          <a:stretch>
            <a:fillRect/>
          </a:stretch>
        </p:blipFill>
        <p:spPr>
          <a:xfrm>
            <a:off x="152400" y="914400"/>
            <a:ext cx="10506075" cy="1552575"/>
          </a:xfrm>
          <a:prstGeom prst="rect">
            <a:avLst/>
          </a:prstGeom>
          <a:noFill/>
          <a:ln>
            <a:noFill/>
          </a:ln>
        </p:spPr>
      </p:pic>
      <p:pic>
        <p:nvPicPr>
          <p:cNvPr id="88" name="Google Shape;88;p18"/>
          <p:cNvPicPr preferRelativeResize="0"/>
          <p:nvPr/>
        </p:nvPicPr>
        <p:blipFill>
          <a:blip r:embed="rId5">
            <a:alphaModFix/>
          </a:blip>
          <a:stretch>
            <a:fillRect/>
          </a:stretch>
        </p:blipFill>
        <p:spPr>
          <a:xfrm>
            <a:off x="152400" y="2619375"/>
            <a:ext cx="10201275" cy="1752600"/>
          </a:xfrm>
          <a:prstGeom prst="rect">
            <a:avLst/>
          </a:prstGeom>
          <a:noFill/>
          <a:ln>
            <a:noFill/>
          </a:ln>
        </p:spPr>
      </p:pic>
      <p:pic>
        <p:nvPicPr>
          <p:cNvPr id="89" name="Google Shape;89;p18"/>
          <p:cNvPicPr preferRelativeResize="0"/>
          <p:nvPr/>
        </p:nvPicPr>
        <p:blipFill>
          <a:blip r:embed="rId6">
            <a:alphaModFix/>
          </a:blip>
          <a:stretch>
            <a:fillRect/>
          </a:stretch>
        </p:blipFill>
        <p:spPr>
          <a:xfrm>
            <a:off x="171438" y="4470250"/>
            <a:ext cx="10467975" cy="1838325"/>
          </a:xfrm>
          <a:prstGeom prst="rect">
            <a:avLst/>
          </a:prstGeom>
          <a:noFill/>
          <a:ln>
            <a:noFill/>
          </a:ln>
        </p:spPr>
      </p:pic>
      <p:sp>
        <p:nvSpPr>
          <p:cNvPr id="90" name="Google Shape;90;p18"/>
          <p:cNvSpPr/>
          <p:nvPr/>
        </p:nvSpPr>
        <p:spPr>
          <a:xfrm>
            <a:off x="280690" y="205493"/>
            <a:ext cx="5670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lang="en-US" sz="4450">
                <a:solidFill>
                  <a:srgbClr val="D75BE2"/>
                </a:solidFill>
                <a:latin typeface="Rubik"/>
                <a:ea typeface="Rubik"/>
                <a:cs typeface="Rubik"/>
                <a:sym typeface="Rubik"/>
              </a:rPr>
              <a:t>Common Questions</a:t>
            </a:r>
            <a:endParaRPr b="0" i="0" sz="44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p:nvPr/>
        </p:nvSpPr>
        <p:spPr>
          <a:xfrm>
            <a:off x="783669" y="7378422"/>
            <a:ext cx="13063200" cy="2328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SzPts val="1100"/>
              <a:buFont typeface="Arial"/>
              <a:buNone/>
            </a:pPr>
            <a:r>
              <a:t/>
            </a:r>
            <a:endParaRPr b="0" i="0" sz="1100" u="none" cap="none" strike="noStrike"/>
          </a:p>
        </p:txBody>
      </p:sp>
      <p:pic>
        <p:nvPicPr>
          <p:cNvPr id="97" name="Google Shape;97;p19"/>
          <p:cNvPicPr preferRelativeResize="0"/>
          <p:nvPr/>
        </p:nvPicPr>
        <p:blipFill>
          <a:blip r:embed="rId3">
            <a:alphaModFix/>
          </a:blip>
          <a:stretch>
            <a:fillRect/>
          </a:stretch>
        </p:blipFill>
        <p:spPr>
          <a:xfrm>
            <a:off x="280700" y="3317725"/>
            <a:ext cx="10172700" cy="1571625"/>
          </a:xfrm>
          <a:prstGeom prst="rect">
            <a:avLst/>
          </a:prstGeom>
          <a:noFill/>
          <a:ln>
            <a:noFill/>
          </a:ln>
        </p:spPr>
      </p:pic>
      <p:pic>
        <p:nvPicPr>
          <p:cNvPr id="98" name="Google Shape;98;p19"/>
          <p:cNvPicPr preferRelativeResize="0"/>
          <p:nvPr/>
        </p:nvPicPr>
        <p:blipFill>
          <a:blip r:embed="rId4">
            <a:alphaModFix/>
          </a:blip>
          <a:stretch>
            <a:fillRect/>
          </a:stretch>
        </p:blipFill>
        <p:spPr>
          <a:xfrm>
            <a:off x="280688" y="5362663"/>
            <a:ext cx="10477500" cy="1581150"/>
          </a:xfrm>
          <a:prstGeom prst="rect">
            <a:avLst/>
          </a:prstGeom>
          <a:noFill/>
          <a:ln>
            <a:noFill/>
          </a:ln>
        </p:spPr>
      </p:pic>
      <p:pic>
        <p:nvPicPr>
          <p:cNvPr id="99" name="Google Shape;99;p19"/>
          <p:cNvPicPr preferRelativeResize="0"/>
          <p:nvPr/>
        </p:nvPicPr>
        <p:blipFill>
          <a:blip r:embed="rId5">
            <a:alphaModFix/>
          </a:blip>
          <a:stretch>
            <a:fillRect/>
          </a:stretch>
        </p:blipFill>
        <p:spPr>
          <a:xfrm>
            <a:off x="280688" y="1349013"/>
            <a:ext cx="10372725" cy="1495425"/>
          </a:xfrm>
          <a:prstGeom prst="rect">
            <a:avLst/>
          </a:prstGeom>
          <a:noFill/>
          <a:ln>
            <a:noFill/>
          </a:ln>
        </p:spPr>
      </p:pic>
      <p:sp>
        <p:nvSpPr>
          <p:cNvPr id="100" name="Google Shape;100;p19"/>
          <p:cNvSpPr/>
          <p:nvPr/>
        </p:nvSpPr>
        <p:spPr>
          <a:xfrm>
            <a:off x="280690" y="205493"/>
            <a:ext cx="5670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lang="en-US" sz="4450">
                <a:solidFill>
                  <a:srgbClr val="D75BE2"/>
                </a:solidFill>
                <a:latin typeface="Rubik"/>
                <a:ea typeface="Rubik"/>
                <a:cs typeface="Rubik"/>
                <a:sym typeface="Rubik"/>
              </a:rPr>
              <a:t>Common Questions</a:t>
            </a:r>
            <a:endParaRPr b="0" i="0" sz="44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p:nvPr/>
        </p:nvSpPr>
        <p:spPr>
          <a:xfrm>
            <a:off x="793790" y="878443"/>
            <a:ext cx="674822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Core Features of Base44</a:t>
            </a:r>
            <a:endParaRPr b="0" i="0" sz="4450" u="none" cap="none" strike="noStrike"/>
          </a:p>
        </p:txBody>
      </p:sp>
      <p:pic>
        <p:nvPicPr>
          <p:cNvPr descr="preencoded.png" id="107" name="Google Shape;107;p20"/>
          <p:cNvPicPr preferRelativeResize="0"/>
          <p:nvPr/>
        </p:nvPicPr>
        <p:blipFill rotWithShape="1">
          <a:blip r:embed="rId3">
            <a:alphaModFix/>
          </a:blip>
          <a:srcRect b="0" l="0" r="0" t="0"/>
          <a:stretch/>
        </p:blipFill>
        <p:spPr>
          <a:xfrm>
            <a:off x="793790" y="2040850"/>
            <a:ext cx="566976" cy="566976"/>
          </a:xfrm>
          <a:prstGeom prst="rect">
            <a:avLst/>
          </a:prstGeom>
          <a:noFill/>
          <a:ln>
            <a:noFill/>
          </a:ln>
        </p:spPr>
      </p:pic>
      <p:sp>
        <p:nvSpPr>
          <p:cNvPr id="108" name="Google Shape;108;p20"/>
          <p:cNvSpPr/>
          <p:nvPr/>
        </p:nvSpPr>
        <p:spPr>
          <a:xfrm>
            <a:off x="793790" y="2891314"/>
            <a:ext cx="322730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Natural Language Input</a:t>
            </a:r>
            <a:endParaRPr b="0" i="0" sz="2200" u="none" cap="none" strike="noStrike"/>
          </a:p>
        </p:txBody>
      </p:sp>
      <p:sp>
        <p:nvSpPr>
          <p:cNvPr id="109" name="Google Shape;109;p20"/>
          <p:cNvSpPr/>
          <p:nvPr/>
        </p:nvSpPr>
        <p:spPr>
          <a:xfrm>
            <a:off x="793790" y="3381732"/>
            <a:ext cx="415861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Describe your app idea conversationally, just as you would explain it to a colleague.</a:t>
            </a:r>
            <a:endParaRPr b="0" i="0" sz="1750" u="none" cap="none" strike="noStrike"/>
          </a:p>
        </p:txBody>
      </p:sp>
      <p:pic>
        <p:nvPicPr>
          <p:cNvPr descr="preencoded.png" id="110" name="Google Shape;110;p20"/>
          <p:cNvPicPr preferRelativeResize="0"/>
          <p:nvPr/>
        </p:nvPicPr>
        <p:blipFill rotWithShape="1">
          <a:blip r:embed="rId4">
            <a:alphaModFix/>
          </a:blip>
          <a:srcRect b="0" l="0" r="0" t="0"/>
          <a:stretch/>
        </p:blipFill>
        <p:spPr>
          <a:xfrm>
            <a:off x="793790" y="4725591"/>
            <a:ext cx="4158615" cy="1385173"/>
          </a:xfrm>
          <a:prstGeom prst="rect">
            <a:avLst/>
          </a:prstGeom>
          <a:noFill/>
          <a:ln>
            <a:noFill/>
          </a:ln>
        </p:spPr>
      </p:pic>
      <p:sp>
        <p:nvSpPr>
          <p:cNvPr id="111" name="Google Shape;111;p20"/>
          <p:cNvSpPr/>
          <p:nvPr/>
        </p:nvSpPr>
        <p:spPr>
          <a:xfrm>
            <a:off x="793790" y="6365915"/>
            <a:ext cx="415861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pic>
        <p:nvPicPr>
          <p:cNvPr descr="preencoded.png" id="112" name="Google Shape;112;p20"/>
          <p:cNvPicPr preferRelativeResize="0"/>
          <p:nvPr/>
        </p:nvPicPr>
        <p:blipFill rotWithShape="1">
          <a:blip r:embed="rId5">
            <a:alphaModFix/>
          </a:blip>
          <a:srcRect b="0" l="0" r="0" t="0"/>
          <a:stretch/>
        </p:blipFill>
        <p:spPr>
          <a:xfrm>
            <a:off x="5235893" y="2040850"/>
            <a:ext cx="566976" cy="566976"/>
          </a:xfrm>
          <a:prstGeom prst="rect">
            <a:avLst/>
          </a:prstGeom>
          <a:noFill/>
          <a:ln>
            <a:noFill/>
          </a:ln>
        </p:spPr>
      </p:pic>
      <p:sp>
        <p:nvSpPr>
          <p:cNvPr id="113" name="Google Shape;113;p20"/>
          <p:cNvSpPr/>
          <p:nvPr/>
        </p:nvSpPr>
        <p:spPr>
          <a:xfrm>
            <a:off x="5235893" y="2891314"/>
            <a:ext cx="299239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Full-Stack Generation</a:t>
            </a:r>
            <a:endParaRPr b="0" i="0" sz="2200" u="none" cap="none" strike="noStrike"/>
          </a:p>
        </p:txBody>
      </p:sp>
      <p:sp>
        <p:nvSpPr>
          <p:cNvPr id="114" name="Google Shape;114;p20"/>
          <p:cNvSpPr/>
          <p:nvPr/>
        </p:nvSpPr>
        <p:spPr>
          <a:xfrm>
            <a:off x="5235893" y="3381732"/>
            <a:ext cx="415861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Automatically creates UI components, backend logic, database structures, and workflows without requiring you to write a single line of code.</a:t>
            </a:r>
            <a:endParaRPr b="0" i="0" sz="1750" u="none" cap="none" strike="noStrike"/>
          </a:p>
        </p:txBody>
      </p:sp>
      <p:pic>
        <p:nvPicPr>
          <p:cNvPr descr="preencoded.png" id="115" name="Google Shape;115;p20"/>
          <p:cNvPicPr preferRelativeResize="0"/>
          <p:nvPr/>
        </p:nvPicPr>
        <p:blipFill rotWithShape="1">
          <a:blip r:embed="rId6">
            <a:alphaModFix/>
          </a:blip>
          <a:srcRect b="0" l="0" r="0" t="0"/>
          <a:stretch/>
        </p:blipFill>
        <p:spPr>
          <a:xfrm>
            <a:off x="5235893" y="5088493"/>
            <a:ext cx="4158615" cy="1644610"/>
          </a:xfrm>
          <a:prstGeom prst="rect">
            <a:avLst/>
          </a:prstGeom>
          <a:noFill/>
          <a:ln>
            <a:noFill/>
          </a:ln>
        </p:spPr>
      </p:pic>
      <p:sp>
        <p:nvSpPr>
          <p:cNvPr id="116" name="Google Shape;116;p20"/>
          <p:cNvSpPr/>
          <p:nvPr/>
        </p:nvSpPr>
        <p:spPr>
          <a:xfrm>
            <a:off x="5235893" y="6988254"/>
            <a:ext cx="415861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pic>
        <p:nvPicPr>
          <p:cNvPr descr="preencoded.png" id="117" name="Google Shape;117;p20"/>
          <p:cNvPicPr preferRelativeResize="0"/>
          <p:nvPr/>
        </p:nvPicPr>
        <p:blipFill rotWithShape="1">
          <a:blip r:embed="rId7">
            <a:alphaModFix/>
          </a:blip>
          <a:srcRect b="0" l="0" r="0" t="0"/>
          <a:stretch/>
        </p:blipFill>
        <p:spPr>
          <a:xfrm>
            <a:off x="9677995" y="2040850"/>
            <a:ext cx="566976" cy="566976"/>
          </a:xfrm>
          <a:prstGeom prst="rect">
            <a:avLst/>
          </a:prstGeom>
          <a:noFill/>
          <a:ln>
            <a:noFill/>
          </a:ln>
        </p:spPr>
      </p:pic>
      <p:sp>
        <p:nvSpPr>
          <p:cNvPr id="118" name="Google Shape;118;p20"/>
          <p:cNvSpPr/>
          <p:nvPr/>
        </p:nvSpPr>
        <p:spPr>
          <a:xfrm>
            <a:off x="9677995" y="289131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0" i="0" lang="en-US" sz="2200" u="none" cap="none" strike="noStrike">
                <a:solidFill>
                  <a:srgbClr val="272525"/>
                </a:solidFill>
                <a:latin typeface="Rubik"/>
                <a:ea typeface="Rubik"/>
                <a:cs typeface="Rubik"/>
                <a:sym typeface="Rubik"/>
              </a:rPr>
              <a:t>Instant Deployment</a:t>
            </a:r>
            <a:endParaRPr b="0" i="0" sz="2200" u="none" cap="none" strike="noStrike"/>
          </a:p>
        </p:txBody>
      </p:sp>
      <p:sp>
        <p:nvSpPr>
          <p:cNvPr id="119" name="Google Shape;119;p20"/>
          <p:cNvSpPr/>
          <p:nvPr/>
        </p:nvSpPr>
        <p:spPr>
          <a:xfrm>
            <a:off x="9677995" y="3381732"/>
            <a:ext cx="4158615"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Apps are hosted and deployed immediately</a:t>
            </a:r>
            <a:endParaRPr b="0" i="0" sz="1750" u="none" cap="none" strike="noStrike"/>
          </a:p>
        </p:txBody>
      </p:sp>
      <p:pic>
        <p:nvPicPr>
          <p:cNvPr descr="preencoded.png" id="120" name="Google Shape;120;p20"/>
          <p:cNvPicPr preferRelativeResize="0"/>
          <p:nvPr/>
        </p:nvPicPr>
        <p:blipFill rotWithShape="1">
          <a:blip r:embed="rId8">
            <a:alphaModFix/>
          </a:blip>
          <a:srcRect b="0" l="0" r="0" t="0"/>
          <a:stretch/>
        </p:blipFill>
        <p:spPr>
          <a:xfrm>
            <a:off x="9677995" y="4362688"/>
            <a:ext cx="4158615" cy="1427321"/>
          </a:xfrm>
          <a:prstGeom prst="rect">
            <a:avLst/>
          </a:prstGeom>
          <a:noFill/>
          <a:ln>
            <a:noFill/>
          </a:ln>
        </p:spPr>
      </p:pic>
      <p:sp>
        <p:nvSpPr>
          <p:cNvPr id="121" name="Google Shape;121;p20"/>
          <p:cNvSpPr/>
          <p:nvPr/>
        </p:nvSpPr>
        <p:spPr>
          <a:xfrm>
            <a:off x="9677995" y="6045160"/>
            <a:ext cx="415861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preencoded.png" id="127" name="Google Shape;127;p2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28" name="Google Shape;128;p21"/>
          <p:cNvSpPr/>
          <p:nvPr/>
        </p:nvSpPr>
        <p:spPr>
          <a:xfrm>
            <a:off x="6280190" y="1149429"/>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Technical Architecture &amp; Integrations</a:t>
            </a:r>
            <a:endParaRPr b="0" i="0" sz="4450" u="none" cap="none" strike="noStrike"/>
          </a:p>
        </p:txBody>
      </p:sp>
      <p:sp>
        <p:nvSpPr>
          <p:cNvPr id="129" name="Google Shape;129;p21"/>
          <p:cNvSpPr/>
          <p:nvPr/>
        </p:nvSpPr>
        <p:spPr>
          <a:xfrm>
            <a:off x="6280190" y="2907149"/>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The platform includes everything required for a functional application:</a:t>
            </a:r>
            <a:endParaRPr b="0" i="0" sz="1750" u="none" cap="none" strike="noStrike"/>
          </a:p>
        </p:txBody>
      </p:sp>
      <p:sp>
        <p:nvSpPr>
          <p:cNvPr id="130" name="Google Shape;130;p21"/>
          <p:cNvSpPr/>
          <p:nvPr/>
        </p:nvSpPr>
        <p:spPr>
          <a:xfrm>
            <a:off x="6280190" y="3525203"/>
            <a:ext cx="75564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Structured and customized database</a:t>
            </a:r>
            <a:endParaRPr b="0" i="0" sz="1750" u="none" cap="none" strike="noStrike"/>
          </a:p>
        </p:txBody>
      </p:sp>
      <p:sp>
        <p:nvSpPr>
          <p:cNvPr id="131" name="Google Shape;131;p21"/>
          <p:cNvSpPr/>
          <p:nvPr/>
        </p:nvSpPr>
        <p:spPr>
          <a:xfrm>
            <a:off x="6280190" y="3967401"/>
            <a:ext cx="75564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Secure user authentication system</a:t>
            </a:r>
            <a:endParaRPr b="0" i="0" sz="1750" u="none" cap="none" strike="noStrike"/>
          </a:p>
        </p:txBody>
      </p:sp>
      <p:sp>
        <p:nvSpPr>
          <p:cNvPr id="132" name="Google Shape;132;p21"/>
          <p:cNvSpPr/>
          <p:nvPr/>
        </p:nvSpPr>
        <p:spPr>
          <a:xfrm>
            <a:off x="6280190" y="4409599"/>
            <a:ext cx="75564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Hosting services and automatic deployment</a:t>
            </a:r>
            <a:endParaRPr b="0" i="0" sz="1750" u="none" cap="none" strike="noStrike"/>
          </a:p>
        </p:txBody>
      </p:sp>
      <p:sp>
        <p:nvSpPr>
          <p:cNvPr id="133" name="Google Shape;133;p21"/>
          <p:cNvSpPr/>
          <p:nvPr/>
        </p:nvSpPr>
        <p:spPr>
          <a:xfrm>
            <a:off x="6280190" y="4851797"/>
            <a:ext cx="75564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Advanced analytics tools</a:t>
            </a:r>
            <a:endParaRPr b="0" i="0" sz="1750" u="none" cap="none" strike="noStrike"/>
          </a:p>
        </p:txBody>
      </p:sp>
      <p:sp>
        <p:nvSpPr>
          <p:cNvPr id="134" name="Google Shape;134;p21"/>
          <p:cNvSpPr/>
          <p:nvPr/>
        </p:nvSpPr>
        <p:spPr>
          <a:xfrm>
            <a:off x="6280190" y="5293995"/>
            <a:ext cx="75564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Integration with email services</a:t>
            </a:r>
            <a:endParaRPr b="0" i="0" sz="1750" u="none" cap="none" strike="noStrike"/>
          </a:p>
        </p:txBody>
      </p:sp>
      <p:sp>
        <p:nvSpPr>
          <p:cNvPr id="135" name="Google Shape;135;p21"/>
          <p:cNvSpPr/>
          <p:nvPr/>
        </p:nvSpPr>
        <p:spPr>
          <a:xfrm>
            <a:off x="6280190" y="5736193"/>
            <a:ext cx="75564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Support for maps and location services</a:t>
            </a:r>
            <a:endParaRPr b="0" i="0" sz="1750" u="none" cap="none" strike="noStrike"/>
          </a:p>
        </p:txBody>
      </p:sp>
      <p:sp>
        <p:nvSpPr>
          <p:cNvPr id="136" name="Google Shape;136;p21"/>
          <p:cNvSpPr/>
          <p:nvPr/>
        </p:nvSpPr>
        <p:spPr>
          <a:xfrm>
            <a:off x="6280190" y="6354247"/>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The main advantage of the system is that it eliminates the need for complex integrations with external services.</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p:nvPr/>
        </p:nvSpPr>
        <p:spPr>
          <a:xfrm>
            <a:off x="793790" y="721638"/>
            <a:ext cx="636210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Base44 vs Competitors</a:t>
            </a:r>
            <a:endParaRPr b="0" i="0" sz="4450" u="none" cap="none" strike="noStrike"/>
          </a:p>
        </p:txBody>
      </p:sp>
      <p:sp>
        <p:nvSpPr>
          <p:cNvPr id="143" name="Google Shape;143;p22"/>
          <p:cNvSpPr/>
          <p:nvPr/>
        </p:nvSpPr>
        <p:spPr>
          <a:xfrm>
            <a:off x="793790" y="1884045"/>
            <a:ext cx="13042821" cy="4642961"/>
          </a:xfrm>
          <a:prstGeom prst="roundRect">
            <a:avLst>
              <a:gd fmla="val 2052"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2"/>
          <p:cNvSpPr/>
          <p:nvPr/>
        </p:nvSpPr>
        <p:spPr>
          <a:xfrm>
            <a:off x="801410" y="1891665"/>
            <a:ext cx="13026271" cy="650319"/>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2"/>
          <p:cNvSpPr/>
          <p:nvPr/>
        </p:nvSpPr>
        <p:spPr>
          <a:xfrm>
            <a:off x="1029653" y="2035373"/>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146" name="Google Shape;146;p22"/>
          <p:cNvSpPr/>
          <p:nvPr/>
        </p:nvSpPr>
        <p:spPr>
          <a:xfrm>
            <a:off x="5375077" y="2035373"/>
            <a:ext cx="388036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Base44</a:t>
            </a:r>
            <a:endParaRPr b="0" i="0" sz="1750" u="none" cap="none" strike="noStrike"/>
          </a:p>
        </p:txBody>
      </p:sp>
      <p:sp>
        <p:nvSpPr>
          <p:cNvPr id="147" name="Google Shape;147;p22"/>
          <p:cNvSpPr/>
          <p:nvPr/>
        </p:nvSpPr>
        <p:spPr>
          <a:xfrm>
            <a:off x="9716691" y="2035373"/>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1" i="0" lang="en-US" sz="1750" u="none" cap="none" strike="noStrike">
                <a:solidFill>
                  <a:srgbClr val="272525"/>
                </a:solidFill>
                <a:latin typeface="Open Sans"/>
                <a:ea typeface="Open Sans"/>
                <a:cs typeface="Open Sans"/>
                <a:sym typeface="Open Sans"/>
              </a:rPr>
              <a:t>Lovable, Bolt</a:t>
            </a:r>
            <a:endParaRPr b="0" i="0" sz="1750" u="none" cap="none" strike="noStrike"/>
          </a:p>
        </p:txBody>
      </p:sp>
      <p:sp>
        <p:nvSpPr>
          <p:cNvPr id="148" name="Google Shape;148;p22"/>
          <p:cNvSpPr/>
          <p:nvPr/>
        </p:nvSpPr>
        <p:spPr>
          <a:xfrm>
            <a:off x="801410" y="2541984"/>
            <a:ext cx="13026271" cy="650319"/>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2"/>
          <p:cNvSpPr/>
          <p:nvPr/>
        </p:nvSpPr>
        <p:spPr>
          <a:xfrm>
            <a:off x="1029653" y="2685693"/>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Data Storage</a:t>
            </a:r>
            <a:endParaRPr b="0" i="0" sz="1750" u="none" cap="none" strike="noStrike"/>
          </a:p>
        </p:txBody>
      </p:sp>
      <p:sp>
        <p:nvSpPr>
          <p:cNvPr id="150" name="Google Shape;150;p22"/>
          <p:cNvSpPr/>
          <p:nvPr/>
        </p:nvSpPr>
        <p:spPr>
          <a:xfrm>
            <a:off x="5375077" y="2685693"/>
            <a:ext cx="388036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Internal, fully managed</a:t>
            </a:r>
            <a:endParaRPr b="0" i="0" sz="1750" u="none" cap="none" strike="noStrike"/>
          </a:p>
        </p:txBody>
      </p:sp>
      <p:sp>
        <p:nvSpPr>
          <p:cNvPr id="151" name="Google Shape;151;p22"/>
          <p:cNvSpPr/>
          <p:nvPr/>
        </p:nvSpPr>
        <p:spPr>
          <a:xfrm>
            <a:off x="9716691" y="2685693"/>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External (e.g., Supabase API)</a:t>
            </a:r>
            <a:endParaRPr b="0" i="0" sz="1750" u="none" cap="none" strike="noStrike"/>
          </a:p>
        </p:txBody>
      </p:sp>
      <p:sp>
        <p:nvSpPr>
          <p:cNvPr id="152" name="Google Shape;152;p22"/>
          <p:cNvSpPr/>
          <p:nvPr/>
        </p:nvSpPr>
        <p:spPr>
          <a:xfrm>
            <a:off x="801410" y="3192304"/>
            <a:ext cx="13026271" cy="1013222"/>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p:nvPr/>
        </p:nvSpPr>
        <p:spPr>
          <a:xfrm>
            <a:off x="1029653" y="3336012"/>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Permission Management</a:t>
            </a:r>
            <a:endParaRPr b="0" i="0" sz="1750" u="none" cap="none" strike="noStrike"/>
          </a:p>
        </p:txBody>
      </p:sp>
      <p:sp>
        <p:nvSpPr>
          <p:cNvPr id="154" name="Google Shape;154;p22"/>
          <p:cNvSpPr/>
          <p:nvPr/>
        </p:nvSpPr>
        <p:spPr>
          <a:xfrm>
            <a:off x="5375077" y="3336012"/>
            <a:ext cx="388036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Simple UI-based controls via the Dashboard</a:t>
            </a:r>
            <a:endParaRPr b="0" i="0" sz="1750" u="none" cap="none" strike="noStrike"/>
          </a:p>
        </p:txBody>
      </p:sp>
      <p:sp>
        <p:nvSpPr>
          <p:cNvPr id="155" name="Google Shape;155;p22"/>
          <p:cNvSpPr/>
          <p:nvPr/>
        </p:nvSpPr>
        <p:spPr>
          <a:xfrm>
            <a:off x="9716691" y="3336012"/>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Often requires manual configuration</a:t>
            </a:r>
            <a:endParaRPr b="0" i="0" sz="1750" u="none" cap="none" strike="noStrike"/>
          </a:p>
        </p:txBody>
      </p:sp>
      <p:sp>
        <p:nvSpPr>
          <p:cNvPr id="156" name="Google Shape;156;p22"/>
          <p:cNvSpPr/>
          <p:nvPr/>
        </p:nvSpPr>
        <p:spPr>
          <a:xfrm>
            <a:off x="801410" y="4205526"/>
            <a:ext cx="13026271" cy="1013222"/>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p:nvPr/>
        </p:nvSpPr>
        <p:spPr>
          <a:xfrm>
            <a:off x="1029653" y="4349234"/>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Code Management</a:t>
            </a:r>
            <a:endParaRPr b="0" i="0" sz="1750" u="none" cap="none" strike="noStrike"/>
          </a:p>
        </p:txBody>
      </p:sp>
      <p:sp>
        <p:nvSpPr>
          <p:cNvPr id="158" name="Google Shape;158;p22"/>
          <p:cNvSpPr/>
          <p:nvPr/>
        </p:nvSpPr>
        <p:spPr>
          <a:xfrm>
            <a:off x="5375077" y="4349234"/>
            <a:ext cx="3880366"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Inside the platform, easy export to GitHub</a:t>
            </a:r>
            <a:endParaRPr b="0" i="0" sz="1750" u="none" cap="none" strike="noStrike"/>
          </a:p>
        </p:txBody>
      </p:sp>
      <p:sp>
        <p:nvSpPr>
          <p:cNvPr id="159" name="Google Shape;159;p22"/>
          <p:cNvSpPr/>
          <p:nvPr/>
        </p:nvSpPr>
        <p:spPr>
          <a:xfrm>
            <a:off x="9716691" y="4349234"/>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via GitHub </a:t>
            </a:r>
            <a:endParaRPr b="0" i="0" sz="1750" u="none" cap="none" strike="noStrike"/>
          </a:p>
        </p:txBody>
      </p:sp>
      <p:sp>
        <p:nvSpPr>
          <p:cNvPr id="160" name="Google Shape;160;p22"/>
          <p:cNvSpPr/>
          <p:nvPr/>
        </p:nvSpPr>
        <p:spPr>
          <a:xfrm>
            <a:off x="801410" y="5218748"/>
            <a:ext cx="13026271" cy="650319"/>
          </a:xfrm>
          <a:prstGeom prst="rect">
            <a:avLst/>
          </a:prstGeom>
          <a:solidFill>
            <a:srgbClr val="FFFFFF">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2"/>
          <p:cNvSpPr/>
          <p:nvPr/>
        </p:nvSpPr>
        <p:spPr>
          <a:xfrm>
            <a:off x="1029653" y="5362456"/>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Authentication</a:t>
            </a:r>
            <a:endParaRPr b="0" i="0" sz="1750" u="none" cap="none" strike="noStrike"/>
          </a:p>
        </p:txBody>
      </p:sp>
      <p:sp>
        <p:nvSpPr>
          <p:cNvPr id="162" name="Google Shape;162;p22"/>
          <p:cNvSpPr/>
          <p:nvPr/>
        </p:nvSpPr>
        <p:spPr>
          <a:xfrm>
            <a:off x="5375077" y="5362456"/>
            <a:ext cx="388036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Google sign-in by default</a:t>
            </a:r>
            <a:endParaRPr b="0" i="0" sz="1750" u="none" cap="none" strike="noStrike"/>
          </a:p>
        </p:txBody>
      </p:sp>
      <p:sp>
        <p:nvSpPr>
          <p:cNvPr id="163" name="Google Shape;163;p22"/>
          <p:cNvSpPr/>
          <p:nvPr/>
        </p:nvSpPr>
        <p:spPr>
          <a:xfrm>
            <a:off x="9716691" y="5362456"/>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Manual setup required</a:t>
            </a:r>
            <a:endParaRPr b="0" i="0" sz="1750" u="none" cap="none" strike="noStrike"/>
          </a:p>
        </p:txBody>
      </p:sp>
      <p:sp>
        <p:nvSpPr>
          <p:cNvPr id="164" name="Google Shape;164;p22"/>
          <p:cNvSpPr/>
          <p:nvPr/>
        </p:nvSpPr>
        <p:spPr>
          <a:xfrm>
            <a:off x="801410" y="5869067"/>
            <a:ext cx="13026271" cy="650319"/>
          </a:xfrm>
          <a:prstGeom prst="rect">
            <a:avLst/>
          </a:prstGeom>
          <a:solidFill>
            <a:srgbClr val="000000">
              <a:alpha val="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2"/>
          <p:cNvSpPr/>
          <p:nvPr/>
        </p:nvSpPr>
        <p:spPr>
          <a:xfrm>
            <a:off x="1029653" y="6012775"/>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Hosting</a:t>
            </a:r>
            <a:endParaRPr b="0" i="0" sz="1750" u="none" cap="none" strike="noStrike"/>
          </a:p>
        </p:txBody>
      </p:sp>
      <p:sp>
        <p:nvSpPr>
          <p:cNvPr id="166" name="Google Shape;166;p22"/>
          <p:cNvSpPr/>
          <p:nvPr/>
        </p:nvSpPr>
        <p:spPr>
          <a:xfrm>
            <a:off x="5375077" y="6012775"/>
            <a:ext cx="388036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Inside the platform</a:t>
            </a:r>
            <a:endParaRPr b="0" i="0" sz="1750" u="none" cap="none" strike="noStrike"/>
          </a:p>
        </p:txBody>
      </p:sp>
      <p:sp>
        <p:nvSpPr>
          <p:cNvPr id="167" name="Google Shape;167;p22"/>
          <p:cNvSpPr/>
          <p:nvPr/>
        </p:nvSpPr>
        <p:spPr>
          <a:xfrm>
            <a:off x="9716691" y="6012775"/>
            <a:ext cx="3884176"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External hosting services (i.e. Netlify)</a:t>
            </a:r>
            <a:endParaRPr b="0" i="0" sz="1750" u="none" cap="none" strike="noStrike"/>
          </a:p>
        </p:txBody>
      </p:sp>
      <p:sp>
        <p:nvSpPr>
          <p:cNvPr id="168" name="Google Shape;168;p22"/>
          <p:cNvSpPr/>
          <p:nvPr/>
        </p:nvSpPr>
        <p:spPr>
          <a:xfrm>
            <a:off x="793790" y="6782157"/>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Base44 prioritizes simplicity and speed, presenting the first all-in-one application builder tool, making it ideal for quick launches and non-technical users while maintaining essential functionality.</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preencoded.png" id="174" name="Google Shape;174;p23"/>
          <p:cNvPicPr preferRelativeResize="0"/>
          <p:nvPr/>
        </p:nvPicPr>
        <p:blipFill rotWithShape="1">
          <a:blip r:embed="rId3">
            <a:alphaModFix/>
          </a:blip>
          <a:srcRect b="0" l="0" r="0" t="0"/>
          <a:stretch/>
        </p:blipFill>
        <p:spPr>
          <a:xfrm>
            <a:off x="0" y="0"/>
            <a:ext cx="14630400" cy="2385655"/>
          </a:xfrm>
          <a:prstGeom prst="rect">
            <a:avLst/>
          </a:prstGeom>
          <a:noFill/>
          <a:ln>
            <a:noFill/>
          </a:ln>
        </p:spPr>
      </p:pic>
      <p:pic>
        <p:nvPicPr>
          <p:cNvPr descr="preencoded.png" id="175" name="Google Shape;175;p23"/>
          <p:cNvPicPr preferRelativeResize="0"/>
          <p:nvPr/>
        </p:nvPicPr>
        <p:blipFill rotWithShape="1">
          <a:blip r:embed="rId4">
            <a:alphaModFix/>
          </a:blip>
          <a:srcRect b="0" l="0" r="0" t="0"/>
          <a:stretch/>
        </p:blipFill>
        <p:spPr>
          <a:xfrm>
            <a:off x="4688562" y="238482"/>
            <a:ext cx="5253276" cy="1908691"/>
          </a:xfrm>
          <a:prstGeom prst="rect">
            <a:avLst/>
          </a:prstGeom>
          <a:noFill/>
          <a:ln>
            <a:noFill/>
          </a:ln>
        </p:spPr>
      </p:pic>
      <p:sp>
        <p:nvSpPr>
          <p:cNvPr id="176" name="Google Shape;176;p23"/>
          <p:cNvSpPr/>
          <p:nvPr/>
        </p:nvSpPr>
        <p:spPr>
          <a:xfrm>
            <a:off x="785813" y="3003947"/>
            <a:ext cx="10764203" cy="596503"/>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D75BE2"/>
              </a:buClr>
              <a:buSzPts val="3750"/>
              <a:buFont typeface="Rubik"/>
              <a:buNone/>
            </a:pPr>
            <a:r>
              <a:rPr b="0" i="0" lang="en-US" sz="3750" u="none" cap="none" strike="noStrike">
                <a:solidFill>
                  <a:srgbClr val="D75BE2"/>
                </a:solidFill>
                <a:latin typeface="Rubik"/>
                <a:ea typeface="Rubik"/>
                <a:cs typeface="Rubik"/>
                <a:sym typeface="Rubik"/>
              </a:rPr>
              <a:t>Strategic Growth: </a:t>
            </a:r>
            <a:r>
              <a:rPr b="0" i="0" lang="en-US" sz="3750" u="sng" cap="none" strike="noStrike">
                <a:solidFill>
                  <a:schemeClr val="hlink"/>
                </a:solidFill>
                <a:latin typeface="Rubik"/>
                <a:ea typeface="Rubik"/>
                <a:cs typeface="Rubik"/>
                <a:sym typeface="Rubik"/>
                <a:hlinkClick r:id="rId5"/>
              </a:rPr>
              <a:t>Wix Acquisition</a:t>
            </a:r>
            <a:r>
              <a:rPr b="0" i="0" lang="en-US" sz="3750" u="none" cap="none" strike="noStrike">
                <a:solidFill>
                  <a:srgbClr val="D75BE2"/>
                </a:solidFill>
                <a:latin typeface="Rubik"/>
                <a:ea typeface="Rubik"/>
                <a:cs typeface="Rubik"/>
                <a:sym typeface="Rubik"/>
              </a:rPr>
              <a:t> (June 2025)</a:t>
            </a:r>
            <a:endParaRPr b="0" i="0" sz="3750" u="none" cap="none" strike="noStrike"/>
          </a:p>
        </p:txBody>
      </p:sp>
      <p:sp>
        <p:nvSpPr>
          <p:cNvPr id="177" name="Google Shape;177;p23"/>
          <p:cNvSpPr/>
          <p:nvPr/>
        </p:nvSpPr>
        <p:spPr>
          <a:xfrm>
            <a:off x="785813" y="3886676"/>
            <a:ext cx="429339" cy="429339"/>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3"/>
          <p:cNvSpPr/>
          <p:nvPr/>
        </p:nvSpPr>
        <p:spPr>
          <a:xfrm>
            <a:off x="1406009" y="3952280"/>
            <a:ext cx="2607826" cy="298252"/>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Rubik"/>
              <a:buNone/>
            </a:pPr>
            <a:r>
              <a:rPr b="0" i="0" lang="en-US" sz="1850" u="none" cap="none" strike="noStrike">
                <a:solidFill>
                  <a:srgbClr val="272525"/>
                </a:solidFill>
                <a:latin typeface="Rubik"/>
                <a:ea typeface="Rubik"/>
                <a:cs typeface="Rubik"/>
                <a:sym typeface="Rubik"/>
              </a:rPr>
              <a:t>$80 Million Acquisition</a:t>
            </a:r>
            <a:endParaRPr b="0" i="0" sz="1850" u="none" cap="none" strike="noStrike"/>
          </a:p>
        </p:txBody>
      </p:sp>
      <p:sp>
        <p:nvSpPr>
          <p:cNvPr id="179" name="Google Shape;179;p23"/>
          <p:cNvSpPr/>
          <p:nvPr/>
        </p:nvSpPr>
        <p:spPr>
          <a:xfrm>
            <a:off x="1406009" y="4364950"/>
            <a:ext cx="12438578" cy="61055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Wix acquired Base44 for approximately $80 million plus performance-based earn-outs, signaling strong confidence in the platform's value and future growth potential.</a:t>
            </a:r>
            <a:endParaRPr b="0" i="0" sz="1500" u="none" cap="none" strike="noStrike"/>
          </a:p>
        </p:txBody>
      </p:sp>
      <p:sp>
        <p:nvSpPr>
          <p:cNvPr id="180" name="Google Shape;180;p23"/>
          <p:cNvSpPr/>
          <p:nvPr/>
        </p:nvSpPr>
        <p:spPr>
          <a:xfrm>
            <a:off x="785813" y="5357217"/>
            <a:ext cx="429339" cy="429339"/>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p:nvPr/>
        </p:nvSpPr>
        <p:spPr>
          <a:xfrm>
            <a:off x="1406009" y="5422821"/>
            <a:ext cx="2421850" cy="298252"/>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Rubik"/>
              <a:buNone/>
            </a:pPr>
            <a:r>
              <a:rPr b="0" i="0" lang="en-US" sz="1850" u="none" cap="none" strike="noStrike">
                <a:solidFill>
                  <a:srgbClr val="272525"/>
                </a:solidFill>
                <a:latin typeface="Rubik"/>
                <a:ea typeface="Rubik"/>
                <a:cs typeface="Rubik"/>
                <a:sym typeface="Rubik"/>
              </a:rPr>
              <a:t>Strategic Integration</a:t>
            </a:r>
            <a:endParaRPr b="0" i="0" sz="1850" u="none" cap="none" strike="noStrike"/>
          </a:p>
        </p:txBody>
      </p:sp>
      <p:sp>
        <p:nvSpPr>
          <p:cNvPr id="182" name="Google Shape;182;p23"/>
          <p:cNvSpPr/>
          <p:nvPr/>
        </p:nvSpPr>
        <p:spPr>
          <a:xfrm>
            <a:off x="1406009" y="5835491"/>
            <a:ext cx="12438578" cy="61055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Base44 continues as a distinct product within the Wix portfolio while enhancing Wix's suite of AI-powered creation tools for businesses and individuals.</a:t>
            </a:r>
            <a:endParaRPr b="0" i="0" sz="1500" u="none" cap="none" strike="noStrike"/>
          </a:p>
        </p:txBody>
      </p:sp>
      <p:sp>
        <p:nvSpPr>
          <p:cNvPr id="183" name="Google Shape;183;p23"/>
          <p:cNvSpPr/>
          <p:nvPr/>
        </p:nvSpPr>
        <p:spPr>
          <a:xfrm>
            <a:off x="785813" y="6827758"/>
            <a:ext cx="429339" cy="429339"/>
          </a:xfrm>
          <a:prstGeom prst="roundRect">
            <a:avLst>
              <a:gd fmla="val 18671"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3"/>
          <p:cNvSpPr/>
          <p:nvPr/>
        </p:nvSpPr>
        <p:spPr>
          <a:xfrm>
            <a:off x="1406009" y="6893362"/>
            <a:ext cx="2385655" cy="298252"/>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525"/>
              </a:buClr>
              <a:buSzPts val="1850"/>
              <a:buFont typeface="Rubik"/>
              <a:buNone/>
            </a:pPr>
            <a:r>
              <a:rPr b="0" i="0" lang="en-US" sz="1850" u="none" cap="none" strike="noStrike">
                <a:solidFill>
                  <a:srgbClr val="272525"/>
                </a:solidFill>
                <a:latin typeface="Rubik"/>
                <a:ea typeface="Rubik"/>
                <a:cs typeface="Rubik"/>
                <a:sym typeface="Rubik"/>
              </a:rPr>
              <a:t>Accelerated Vision</a:t>
            </a:r>
            <a:endParaRPr b="0" i="0" sz="1850" u="none" cap="none" strike="noStrike"/>
          </a:p>
        </p:txBody>
      </p:sp>
      <p:sp>
        <p:nvSpPr>
          <p:cNvPr id="185" name="Google Shape;185;p23"/>
          <p:cNvSpPr/>
          <p:nvPr/>
        </p:nvSpPr>
        <p:spPr>
          <a:xfrm>
            <a:off x="1406009" y="7306032"/>
            <a:ext cx="12438578" cy="30527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72525"/>
              </a:buClr>
              <a:buSzPts val="1500"/>
              <a:buFont typeface="Open Sans"/>
              <a:buNone/>
            </a:pPr>
            <a:r>
              <a:rPr b="0" i="0" lang="en-US" sz="1500" u="none" cap="none" strike="noStrike">
                <a:solidFill>
                  <a:srgbClr val="272525"/>
                </a:solidFill>
                <a:latin typeface="Open Sans"/>
                <a:ea typeface="Open Sans"/>
                <a:cs typeface="Open Sans"/>
                <a:sym typeface="Open Sans"/>
              </a:rPr>
              <a:t>The acquisition fast-tracks Base44's mission to democratize software creation through intent-driven, code-free digital experiences.</a:t>
            </a:r>
            <a:endParaRPr b="0" i="0" sz="15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p:nvPr/>
        </p:nvSpPr>
        <p:spPr>
          <a:xfrm>
            <a:off x="760690" y="598527"/>
            <a:ext cx="6998970" cy="60924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5BE2"/>
              </a:buClr>
              <a:buSzPts val="3800"/>
              <a:buFont typeface="Rubik"/>
              <a:buNone/>
            </a:pPr>
            <a:r>
              <a:rPr b="0" i="0" lang="en-US" sz="3800" u="none" cap="none" strike="noStrike">
                <a:solidFill>
                  <a:srgbClr val="D75BE2"/>
                </a:solidFill>
                <a:latin typeface="Rubik"/>
                <a:ea typeface="Rubik"/>
                <a:cs typeface="Rubik"/>
                <a:sym typeface="Rubik"/>
              </a:rPr>
              <a:t>Pricing and Usage Limitations</a:t>
            </a:r>
            <a:endParaRPr b="0" i="0" sz="3800" u="none" cap="none" strike="noStrike"/>
          </a:p>
        </p:txBody>
      </p:sp>
      <p:pic>
        <p:nvPicPr>
          <p:cNvPr descr="preencoded.png" id="192" name="Google Shape;192;p24"/>
          <p:cNvPicPr preferRelativeResize="0"/>
          <p:nvPr/>
        </p:nvPicPr>
        <p:blipFill rotWithShape="1">
          <a:blip r:embed="rId3">
            <a:alphaModFix/>
          </a:blip>
          <a:srcRect b="0" l="0" r="0" t="0"/>
          <a:stretch/>
        </p:blipFill>
        <p:spPr>
          <a:xfrm>
            <a:off x="1887260" y="1490305"/>
            <a:ext cx="10855762" cy="5755719"/>
          </a:xfrm>
          <a:prstGeom prst="rect">
            <a:avLst/>
          </a:prstGeom>
          <a:noFill/>
          <a:ln>
            <a:noFill/>
          </a:ln>
        </p:spPr>
      </p:pic>
      <p:sp>
        <p:nvSpPr>
          <p:cNvPr id="193" name="Google Shape;193;p24"/>
          <p:cNvSpPr/>
          <p:nvPr/>
        </p:nvSpPr>
        <p:spPr>
          <a:xfrm>
            <a:off x="760690" y="7404973"/>
            <a:ext cx="13109019" cy="226100"/>
          </a:xfrm>
          <a:prstGeom prst="rect">
            <a:avLst/>
          </a:prstGeom>
          <a:noFill/>
          <a:ln>
            <a:noFill/>
          </a:ln>
        </p:spPr>
        <p:txBody>
          <a:bodyPr anchorCtr="0" anchor="t" bIns="0" lIns="0" spcFirstLastPara="1" rIns="0" wrap="square" tIns="0">
            <a:noAutofit/>
          </a:bodyPr>
          <a:lstStyle/>
          <a:p>
            <a:pPr indent="0" lvl="0" marL="0" marR="0" rtl="0" algn="l">
              <a:lnSpc>
                <a:spcPct val="159090"/>
              </a:lnSpc>
              <a:spcBef>
                <a:spcPts val="0"/>
              </a:spcBef>
              <a:spcAft>
                <a:spcPts val="0"/>
              </a:spcAft>
              <a:buSzPts val="1100"/>
              <a:buFont typeface="Arial"/>
              <a:buNone/>
            </a:pPr>
            <a:r>
              <a:t/>
            </a:r>
            <a:endParaRPr b="0" i="0" sz="11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p:nvPr/>
        </p:nvSpPr>
        <p:spPr>
          <a:xfrm>
            <a:off x="793800" y="623772"/>
            <a:ext cx="13042800" cy="7950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Practical Uses and Recommendations for Base44</a:t>
            </a:r>
            <a:endParaRPr b="0" i="0" sz="4450" u="none" cap="none" strike="noStrike"/>
          </a:p>
        </p:txBody>
      </p:sp>
      <p:sp>
        <p:nvSpPr>
          <p:cNvPr id="200" name="Google Shape;200;p25"/>
          <p:cNvSpPr/>
          <p:nvPr/>
        </p:nvSpPr>
        <p:spPr>
          <a:xfrm>
            <a:off x="793790" y="1702130"/>
            <a:ext cx="13042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2150" u="none" cap="none" strike="noStrike">
                <a:solidFill>
                  <a:srgbClr val="272525"/>
                </a:solidFill>
                <a:latin typeface="Open Sans"/>
                <a:ea typeface="Open Sans"/>
                <a:cs typeface="Open Sans"/>
                <a:sym typeface="Open Sans"/>
              </a:rPr>
              <a:t>Base44 platform offers versatile applications across various fields.</a:t>
            </a:r>
            <a:endParaRPr b="0" i="0" sz="2150" u="none" cap="none" strike="noStrike"/>
          </a:p>
        </p:txBody>
      </p:sp>
      <p:sp>
        <p:nvSpPr>
          <p:cNvPr id="201" name="Google Shape;201;p25"/>
          <p:cNvSpPr/>
          <p:nvPr/>
        </p:nvSpPr>
        <p:spPr>
          <a:xfrm>
            <a:off x="793790" y="2503408"/>
            <a:ext cx="6408000" cy="3771900"/>
          </a:xfrm>
          <a:prstGeom prst="roundRect">
            <a:avLst>
              <a:gd fmla="val 2526"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5"/>
          <p:cNvSpPr/>
          <p:nvPr/>
        </p:nvSpPr>
        <p:spPr>
          <a:xfrm>
            <a:off x="1028224" y="2737842"/>
            <a:ext cx="34335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Solutions for Individuals</a:t>
            </a:r>
            <a:endParaRPr b="0" i="0" sz="2200" u="none" cap="none" strike="noStrike"/>
          </a:p>
        </p:txBody>
      </p:sp>
      <p:sp>
        <p:nvSpPr>
          <p:cNvPr id="203" name="Google Shape;203;p25"/>
          <p:cNvSpPr/>
          <p:nvPr/>
        </p:nvSpPr>
        <p:spPr>
          <a:xfrm>
            <a:off x="1028224" y="3228261"/>
            <a:ext cx="59391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Create personalized budget management apps, goal trackers, and trip planners with expense tracking.</a:t>
            </a:r>
            <a:endParaRPr b="0" i="0" sz="1750" u="none" cap="none" strike="noStrike"/>
          </a:p>
        </p:txBody>
      </p:sp>
      <p:sp>
        <p:nvSpPr>
          <p:cNvPr id="204" name="Google Shape;204;p25"/>
          <p:cNvSpPr/>
          <p:nvPr/>
        </p:nvSpPr>
        <p:spPr>
          <a:xfrm>
            <a:off x="1028224" y="4090154"/>
            <a:ext cx="59391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Build digital catalogs for collections and recipe/menu management systems.</a:t>
            </a:r>
            <a:endParaRPr b="0" i="0" sz="1750" u="none" cap="none" strike="noStrike"/>
          </a:p>
        </p:txBody>
      </p:sp>
      <p:sp>
        <p:nvSpPr>
          <p:cNvPr id="205" name="Google Shape;205;p25"/>
          <p:cNvSpPr/>
          <p:nvPr/>
        </p:nvSpPr>
        <p:spPr>
          <a:xfrm>
            <a:off x="7428548" y="2503408"/>
            <a:ext cx="6408000" cy="3771900"/>
          </a:xfrm>
          <a:prstGeom prst="roundRect">
            <a:avLst>
              <a:gd fmla="val 2526"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
          <p:cNvSpPr/>
          <p:nvPr/>
        </p:nvSpPr>
        <p:spPr>
          <a:xfrm>
            <a:off x="7662982" y="2737842"/>
            <a:ext cx="54711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Tools for Small and Medium Businesses</a:t>
            </a:r>
            <a:endParaRPr b="0" i="0" sz="2200" u="none" cap="none" strike="noStrike"/>
          </a:p>
        </p:txBody>
      </p:sp>
      <p:sp>
        <p:nvSpPr>
          <p:cNvPr id="207" name="Google Shape;207;p25"/>
          <p:cNvSpPr/>
          <p:nvPr/>
        </p:nvSpPr>
        <p:spPr>
          <a:xfrm>
            <a:off x="7662982" y="3228261"/>
            <a:ext cx="59391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Develop customer portals with order tracking, inventory management tools, and employee time systems.</a:t>
            </a:r>
            <a:endParaRPr b="0" i="0" sz="1750" u="none" cap="none" strike="noStrike"/>
          </a:p>
        </p:txBody>
      </p:sp>
      <p:sp>
        <p:nvSpPr>
          <p:cNvPr id="208" name="Google Shape;208;p25"/>
          <p:cNvSpPr/>
          <p:nvPr/>
        </p:nvSpPr>
        <p:spPr>
          <a:xfrm>
            <a:off x="7662982" y="4090154"/>
            <a:ext cx="59391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Case study: A marketing agency's customer portal with task tracking and analytics saved $8,000 annually on SaaS subscriptions.</a:t>
            </a:r>
            <a:endParaRPr b="0" i="0" sz="1750" u="none" cap="none" strike="noStrike"/>
          </a:p>
        </p:txBody>
      </p:sp>
      <p:sp>
        <p:nvSpPr>
          <p:cNvPr id="209" name="Google Shape;209;p25"/>
          <p:cNvSpPr/>
          <p:nvPr/>
        </p:nvSpPr>
        <p:spPr>
          <a:xfrm>
            <a:off x="7662982" y="5314950"/>
            <a:ext cx="59391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Create customized management dashboards tailored to specific business needs.</a:t>
            </a:r>
            <a:endParaRPr b="0" i="0" sz="1750" u="none" cap="none" strike="noStrike"/>
          </a:p>
        </p:txBody>
      </p:sp>
      <p:sp>
        <p:nvSpPr>
          <p:cNvPr id="210" name="Google Shape;210;p25"/>
          <p:cNvSpPr txBox="1"/>
          <p:nvPr/>
        </p:nvSpPr>
        <p:spPr>
          <a:xfrm>
            <a:off x="793800" y="6840875"/>
            <a:ext cx="11562000" cy="500100"/>
          </a:xfrm>
          <a:prstGeom prst="rect">
            <a:avLst/>
          </a:prstGeom>
          <a:noFill/>
          <a:ln>
            <a:noFill/>
          </a:ln>
        </p:spPr>
        <p:txBody>
          <a:bodyPr anchorCtr="0" anchor="t" bIns="91425" lIns="91425" spcFirstLastPara="1" rIns="91425" wrap="square" tIns="91425">
            <a:spAutoFit/>
          </a:bodyPr>
          <a:lstStyle/>
          <a:p>
            <a:pPr indent="-361950" lvl="0" marL="342900" rtl="0" algn="l">
              <a:lnSpc>
                <a:spcPct val="162857"/>
              </a:lnSpc>
              <a:spcBef>
                <a:spcPts val="0"/>
              </a:spcBef>
              <a:spcAft>
                <a:spcPts val="0"/>
              </a:spcAft>
              <a:buClr>
                <a:srgbClr val="272525"/>
              </a:buClr>
              <a:buSzPts val="2050"/>
              <a:buFont typeface="Open Sans"/>
              <a:buChar char="•"/>
            </a:pPr>
            <a:r>
              <a:rPr lang="en-US" sz="2050">
                <a:solidFill>
                  <a:srgbClr val="272525"/>
                </a:solidFill>
                <a:latin typeface="Open Sans"/>
                <a:ea typeface="Open Sans"/>
                <a:cs typeface="Open Sans"/>
                <a:sym typeface="Open Sans"/>
              </a:rPr>
              <a:t>Explore common questions when using Base44 - </a:t>
            </a:r>
            <a:r>
              <a:rPr lang="en-US" sz="2050" u="sng">
                <a:solidFill>
                  <a:schemeClr val="hlink"/>
                </a:solidFill>
                <a:latin typeface="Open Sans"/>
                <a:ea typeface="Open Sans"/>
                <a:cs typeface="Open Sans"/>
                <a:sym typeface="Open Sans"/>
                <a:hlinkClick r:id="rId3"/>
              </a:rPr>
              <a:t>https://docs.base44.com/</a:t>
            </a:r>
            <a:endParaRPr sz="2050">
              <a:solidFill>
                <a:srgbClr val="272525"/>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p:nvPr/>
        </p:nvSpPr>
        <p:spPr>
          <a:xfrm>
            <a:off x="793790" y="62376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When Not to Use...</a:t>
            </a:r>
            <a:endParaRPr b="0" i="0" sz="4450" u="none" cap="none" strike="noStrike"/>
          </a:p>
        </p:txBody>
      </p:sp>
      <p:sp>
        <p:nvSpPr>
          <p:cNvPr id="217" name="Google Shape;217;p26"/>
          <p:cNvSpPr/>
          <p:nvPr/>
        </p:nvSpPr>
        <p:spPr>
          <a:xfrm>
            <a:off x="793790" y="1686938"/>
            <a:ext cx="13042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2150" u="none" cap="none" strike="noStrike">
                <a:solidFill>
                  <a:srgbClr val="272525"/>
                </a:solidFill>
                <a:latin typeface="Open Sans"/>
                <a:ea typeface="Open Sans"/>
                <a:cs typeface="Open Sans"/>
                <a:sym typeface="Open Sans"/>
              </a:rPr>
              <a:t>Despite its benefits, consider alternatives in these scenarios:</a:t>
            </a:r>
            <a:endParaRPr b="0" i="0" sz="2150" u="none" cap="none" strike="noStrike"/>
          </a:p>
        </p:txBody>
      </p:sp>
      <p:sp>
        <p:nvSpPr>
          <p:cNvPr id="218" name="Google Shape;218;p26"/>
          <p:cNvSpPr/>
          <p:nvPr/>
        </p:nvSpPr>
        <p:spPr>
          <a:xfrm>
            <a:off x="793800" y="2404225"/>
            <a:ext cx="4196400" cy="3689100"/>
          </a:xfrm>
          <a:prstGeom prst="roundRect">
            <a:avLst>
              <a:gd fmla="val 272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6"/>
          <p:cNvSpPr/>
          <p:nvPr/>
        </p:nvSpPr>
        <p:spPr>
          <a:xfrm>
            <a:off x="1028224" y="2638663"/>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Projects Requiring Full Control</a:t>
            </a:r>
            <a:endParaRPr b="0" i="0" sz="2200" u="none" cap="none" strike="noStrike"/>
          </a:p>
        </p:txBody>
      </p:sp>
      <p:sp>
        <p:nvSpPr>
          <p:cNvPr id="220" name="Google Shape;220;p26"/>
          <p:cNvSpPr/>
          <p:nvPr/>
        </p:nvSpPr>
        <p:spPr>
          <a:xfrm>
            <a:off x="1028224" y="3483412"/>
            <a:ext cx="3727490"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Experienced developers needing complete code control prefer tools like Cursor. Applications requiring advanced performance optimizations need custom development.</a:t>
            </a:r>
            <a:endParaRPr b="0" i="0" sz="1750" u="none" cap="none" strike="noStrike"/>
          </a:p>
        </p:txBody>
      </p:sp>
      <p:sp>
        <p:nvSpPr>
          <p:cNvPr id="221" name="Google Shape;221;p26"/>
          <p:cNvSpPr/>
          <p:nvPr/>
        </p:nvSpPr>
        <p:spPr>
          <a:xfrm>
            <a:off x="5216950" y="2404225"/>
            <a:ext cx="4196400" cy="3689100"/>
          </a:xfrm>
          <a:prstGeom prst="roundRect">
            <a:avLst>
              <a:gd fmla="val 272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6"/>
          <p:cNvSpPr/>
          <p:nvPr/>
        </p:nvSpPr>
        <p:spPr>
          <a:xfrm>
            <a:off x="5451400" y="2638675"/>
            <a:ext cx="3923700" cy="708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Massive Enterprise Applications</a:t>
            </a:r>
            <a:endParaRPr b="0" i="0" sz="2200" u="none" cap="none" strike="noStrike"/>
          </a:p>
        </p:txBody>
      </p:sp>
      <p:sp>
        <p:nvSpPr>
          <p:cNvPr id="223" name="Google Shape;223;p26"/>
          <p:cNvSpPr/>
          <p:nvPr/>
        </p:nvSpPr>
        <p:spPr>
          <a:xfrm>
            <a:off x="5451396" y="3483412"/>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Systems with thousands of users and strict security requirements need enterprise solutions. Complex integrations with legacy systems may prove challenging.</a:t>
            </a:r>
            <a:endParaRPr b="0" i="0" sz="1750" u="none" cap="none" strike="noStrike"/>
          </a:p>
        </p:txBody>
      </p:sp>
      <p:sp>
        <p:nvSpPr>
          <p:cNvPr id="224" name="Google Shape;224;p26"/>
          <p:cNvSpPr/>
          <p:nvPr/>
        </p:nvSpPr>
        <p:spPr>
          <a:xfrm>
            <a:off x="9640125" y="2404225"/>
            <a:ext cx="4196400" cy="3689100"/>
          </a:xfrm>
          <a:prstGeom prst="roundRect">
            <a:avLst>
              <a:gd fmla="val 272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6"/>
          <p:cNvSpPr/>
          <p:nvPr/>
        </p:nvSpPr>
        <p:spPr>
          <a:xfrm>
            <a:off x="9874576" y="2638675"/>
            <a:ext cx="3962100" cy="708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Rubik"/>
              <a:buNone/>
            </a:pPr>
            <a:r>
              <a:rPr b="1" i="0" lang="en-US" sz="2200" u="none" cap="none" strike="noStrike">
                <a:solidFill>
                  <a:srgbClr val="272525"/>
                </a:solidFill>
                <a:latin typeface="Rubik"/>
                <a:ea typeface="Rubik"/>
                <a:cs typeface="Rubik"/>
                <a:sym typeface="Rubik"/>
              </a:rPr>
              <a:t>Limited Long-Term Budgets</a:t>
            </a:r>
            <a:endParaRPr b="0" i="0" sz="2200" u="none" cap="none" strike="noStrike"/>
          </a:p>
        </p:txBody>
      </p:sp>
      <p:sp>
        <p:nvSpPr>
          <p:cNvPr id="226" name="Google Shape;226;p26"/>
          <p:cNvSpPr/>
          <p:nvPr/>
        </p:nvSpPr>
        <p:spPr>
          <a:xfrm>
            <a:off x="9874568" y="3483412"/>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Open Sans"/>
              <a:buNone/>
            </a:pPr>
            <a:r>
              <a:rPr b="0" i="0" lang="en-US" sz="1750" u="none" cap="none" strike="noStrike">
                <a:solidFill>
                  <a:srgbClr val="272525"/>
                </a:solidFill>
                <a:latin typeface="Open Sans"/>
                <a:ea typeface="Open Sans"/>
                <a:cs typeface="Open Sans"/>
                <a:sym typeface="Open Sans"/>
              </a:rPr>
              <a:t>Organizations avoiding recurring payments should seek one-time solutions. Notification features may incur unexpected costs.</a:t>
            </a:r>
            <a:endParaRPr b="0" i="0" sz="17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p:nvPr/>
        </p:nvSpPr>
        <p:spPr>
          <a:xfrm>
            <a:off x="793790" y="62376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Today</a:t>
            </a:r>
            <a:endParaRPr b="0" i="0" sz="4450" u="none" cap="none" strike="noStrike"/>
          </a:p>
        </p:txBody>
      </p:sp>
      <p:sp>
        <p:nvSpPr>
          <p:cNvPr id="233" name="Google Shape;233;p27"/>
          <p:cNvSpPr/>
          <p:nvPr/>
        </p:nvSpPr>
        <p:spPr>
          <a:xfrm>
            <a:off x="793790" y="2254201"/>
            <a:ext cx="13042800" cy="4536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Tour of the Base44 interface.</a:t>
            </a:r>
            <a:endParaRPr b="0" i="0" sz="1750" u="none" cap="none" strike="noStrike"/>
          </a:p>
        </p:txBody>
      </p:sp>
      <p:sp>
        <p:nvSpPr>
          <p:cNvPr id="234" name="Google Shape;234;p27"/>
          <p:cNvSpPr/>
          <p:nvPr/>
        </p:nvSpPr>
        <p:spPr>
          <a:xfrm>
            <a:off x="793790" y="2787005"/>
            <a:ext cx="13042800" cy="4536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How to build a working app with user input, saved data, and dynamic screens.</a:t>
            </a:r>
            <a:endParaRPr b="0" i="0" sz="1750" u="none" cap="none" strike="noStrike"/>
          </a:p>
        </p:txBody>
      </p:sp>
      <p:sp>
        <p:nvSpPr>
          <p:cNvPr id="235" name="Google Shape;235;p27"/>
          <p:cNvSpPr/>
          <p:nvPr/>
        </p:nvSpPr>
        <p:spPr>
          <a:xfrm>
            <a:off x="793790" y="3319810"/>
            <a:ext cx="13042800" cy="4536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How to use flows (logic engine), the database, and API integrations.</a:t>
            </a:r>
            <a:endParaRPr b="0" i="0" sz="1750" u="none" cap="none" strike="noStrike"/>
          </a:p>
        </p:txBody>
      </p:sp>
      <p:sp>
        <p:nvSpPr>
          <p:cNvPr id="236" name="Google Shape;236;p27"/>
          <p:cNvSpPr/>
          <p:nvPr/>
        </p:nvSpPr>
        <p:spPr>
          <a:xfrm>
            <a:off x="793790" y="3852615"/>
            <a:ext cx="13042800" cy="453600"/>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72525"/>
              </a:buClr>
              <a:buSzPts val="1750"/>
              <a:buFont typeface="Open Sans"/>
              <a:buChar char="•"/>
            </a:pPr>
            <a:r>
              <a:rPr b="0" i="0" lang="en-US" sz="1750" u="none" cap="none" strike="noStrike">
                <a:solidFill>
                  <a:srgbClr val="272525"/>
                </a:solidFill>
                <a:latin typeface="Open Sans"/>
                <a:ea typeface="Open Sans"/>
                <a:cs typeface="Open Sans"/>
                <a:sym typeface="Open Sans"/>
              </a:rPr>
              <a:t>Build a full app step-by-step together with your instructor.</a:t>
            </a:r>
            <a:endParaRPr b="0" i="0" sz="17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p:nvPr/>
        </p:nvSpPr>
        <p:spPr>
          <a:xfrm>
            <a:off x="4157067" y="2388751"/>
            <a:ext cx="6316200" cy="7089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Base44 Demonstration</a:t>
            </a:r>
            <a:endParaRPr b="0" i="0" sz="4450" u="none" cap="none" strike="noStrike"/>
          </a:p>
        </p:txBody>
      </p:sp>
      <p:sp>
        <p:nvSpPr>
          <p:cNvPr id="243" name="Google Shape;243;p28"/>
          <p:cNvSpPr/>
          <p:nvPr/>
        </p:nvSpPr>
        <p:spPr>
          <a:xfrm>
            <a:off x="534100" y="4123260"/>
            <a:ext cx="13042800" cy="1150500"/>
          </a:xfrm>
          <a:prstGeom prst="rect">
            <a:avLst/>
          </a:prstGeom>
          <a:noFill/>
          <a:ln>
            <a:noFill/>
          </a:ln>
        </p:spPr>
        <p:txBody>
          <a:bodyPr anchorCtr="0" anchor="t" bIns="0" lIns="0" spcFirstLastPara="1" rIns="0" wrap="square" tIns="0">
            <a:noAutofit/>
          </a:bodyPr>
          <a:lstStyle/>
          <a:p>
            <a:pPr indent="-396875" lvl="0" marL="457200" marR="0" rtl="0" algn="ctr">
              <a:lnSpc>
                <a:spcPct val="162857"/>
              </a:lnSpc>
              <a:spcBef>
                <a:spcPts val="0"/>
              </a:spcBef>
              <a:spcAft>
                <a:spcPts val="0"/>
              </a:spcAft>
              <a:buSzPts val="2650"/>
              <a:buAutoNum type="arabicPeriod"/>
            </a:pPr>
            <a:r>
              <a:rPr lang="en-US" sz="2650">
                <a:solidFill>
                  <a:srgbClr val="272525"/>
                </a:solidFill>
                <a:latin typeface="Open Sans"/>
                <a:ea typeface="Open Sans"/>
                <a:cs typeface="Open Sans"/>
                <a:sym typeface="Open Sans"/>
              </a:rPr>
              <a:t>“FixMe” app - Service Call Management System</a:t>
            </a:r>
            <a:endParaRPr sz="2650">
              <a:solidFill>
                <a:srgbClr val="272525"/>
              </a:solidFill>
              <a:latin typeface="Open Sans"/>
              <a:ea typeface="Open Sans"/>
              <a:cs typeface="Open Sans"/>
              <a:sym typeface="Open Sans"/>
            </a:endParaRPr>
          </a:p>
          <a:p>
            <a:pPr indent="-396875" lvl="0" marL="457200" marR="0" rtl="0" algn="ctr">
              <a:lnSpc>
                <a:spcPct val="162857"/>
              </a:lnSpc>
              <a:spcBef>
                <a:spcPts val="0"/>
              </a:spcBef>
              <a:spcAft>
                <a:spcPts val="0"/>
              </a:spcAft>
              <a:buSzPts val="2650"/>
              <a:buAutoNum type="arabicPeriod"/>
            </a:pPr>
            <a:r>
              <a:rPr lang="en-US" sz="2650">
                <a:solidFill>
                  <a:srgbClr val="272525"/>
                </a:solidFill>
                <a:latin typeface="Open Sans"/>
                <a:ea typeface="Open Sans"/>
                <a:cs typeface="Open Sans"/>
                <a:sym typeface="Open Sans"/>
              </a:rPr>
              <a:t>"FormFlow" app – Build-Your-Own Form and Analyze Submissions</a:t>
            </a:r>
            <a:endParaRPr sz="2650">
              <a:solidFill>
                <a:srgbClr val="272525"/>
              </a:solidFill>
              <a:latin typeface="Open Sans"/>
              <a:ea typeface="Open Sans"/>
              <a:cs typeface="Open Sans"/>
              <a:sym typeface="Open Sans"/>
            </a:endParaRPr>
          </a:p>
          <a:p>
            <a:pPr indent="0" lvl="0" marL="914400" marR="0" rtl="0" algn="ctr">
              <a:lnSpc>
                <a:spcPct val="162857"/>
              </a:lnSpc>
              <a:spcBef>
                <a:spcPts val="0"/>
              </a:spcBef>
              <a:spcAft>
                <a:spcPts val="0"/>
              </a:spcAft>
              <a:buNone/>
            </a:pPr>
            <a:r>
              <a:t/>
            </a:r>
            <a:endParaRPr sz="2650">
              <a:solidFill>
                <a:srgbClr val="272525"/>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p:nvPr/>
        </p:nvSpPr>
        <p:spPr>
          <a:xfrm>
            <a:off x="4157092" y="2031851"/>
            <a:ext cx="6316200" cy="7089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Base44 Demonstration</a:t>
            </a:r>
            <a:endParaRPr b="0" i="0" sz="4450" u="none" cap="none" strike="noStrike"/>
          </a:p>
        </p:txBody>
      </p:sp>
      <p:sp>
        <p:nvSpPr>
          <p:cNvPr id="250" name="Google Shape;250;p29"/>
          <p:cNvSpPr txBox="1"/>
          <p:nvPr/>
        </p:nvSpPr>
        <p:spPr>
          <a:xfrm>
            <a:off x="1252200" y="3924400"/>
            <a:ext cx="12126000" cy="3058500"/>
          </a:xfrm>
          <a:prstGeom prst="rect">
            <a:avLst/>
          </a:prstGeom>
          <a:noFill/>
          <a:ln>
            <a:noFill/>
          </a:ln>
        </p:spPr>
        <p:txBody>
          <a:bodyPr anchorCtr="0" anchor="t" bIns="91425" lIns="91425" spcFirstLastPara="1" rIns="91425" wrap="square" tIns="91425">
            <a:spAutoFit/>
          </a:bodyPr>
          <a:lstStyle/>
          <a:p>
            <a:pPr indent="0" lvl="0" marL="88900" rtl="1" algn="r">
              <a:lnSpc>
                <a:spcPct val="115000"/>
              </a:lnSpc>
              <a:spcBef>
                <a:spcPts val="0"/>
              </a:spcBef>
              <a:spcAft>
                <a:spcPts val="0"/>
              </a:spcAft>
              <a:buNone/>
            </a:pPr>
            <a:r>
              <a:rPr lang="en-US" sz="2300">
                <a:solidFill>
                  <a:schemeClr val="dk1"/>
                </a:solidFill>
              </a:rPr>
              <a:t>יש </a:t>
            </a:r>
            <a:r>
              <a:rPr lang="en-US" sz="2300">
                <a:solidFill>
                  <a:schemeClr val="dk1"/>
                </a:solidFill>
              </a:rPr>
              <a:t>לבנות יישום פנימי לניהול קריאות שירות בחברה. היישום יאפשר למשתמשים לפתוח קריאת שירות חדשה באמצעות מילוי כותרת, תיאור ומיקום. לכל קריאה יהיה סטטוס: פתוחה, בטיפול או נפתרה, והיא תשויך לטכנאי. לטכנאים יהיה לוח בקרה המציג רק את הקריאות שהוקצו להם, עם אפשרות לעדכן את הסטטוס. בנוסף, יהיה ממשק מנהל להקצאת טכנאים ולצפייה בכל הקריאות. אנא צור את מבנה מסד הנתונים, את ממשק המשתמש הבסיסי ואת תהליכי הלוגיקה.</a:t>
            </a:r>
            <a:endParaRPr sz="2300">
              <a:solidFill>
                <a:schemeClr val="dk1"/>
              </a:solidFill>
            </a:endParaRPr>
          </a:p>
          <a:p>
            <a:pPr indent="0" lvl="0" marL="0" rtl="1" algn="r">
              <a:lnSpc>
                <a:spcPct val="115000"/>
              </a:lnSpc>
              <a:spcBef>
                <a:spcPts val="600"/>
              </a:spcBef>
              <a:spcAft>
                <a:spcPts val="500"/>
              </a:spcAft>
              <a:buNone/>
            </a:pPr>
            <a:r>
              <a:rPr b="1" lang="en-US" sz="2300">
                <a:solidFill>
                  <a:schemeClr val="dk1"/>
                </a:solidFill>
              </a:rPr>
              <a:t>טיפ:</a:t>
            </a:r>
            <a:r>
              <a:rPr lang="en-US" sz="2300">
                <a:solidFill>
                  <a:schemeClr val="dk1"/>
                </a:solidFill>
              </a:rPr>
              <a:t> תכננו והכינו אב־טיפוס מראש באמצעות מודל שפה בעל עלות נמוכה יותר, כגון Claude, Gemini או ChatGPT.</a:t>
            </a:r>
            <a:endParaRPr sz="2300">
              <a:solidFill>
                <a:schemeClr val="dk1"/>
              </a:solidFill>
            </a:endParaRPr>
          </a:p>
        </p:txBody>
      </p:sp>
      <p:sp>
        <p:nvSpPr>
          <p:cNvPr id="251" name="Google Shape;251;p29"/>
          <p:cNvSpPr txBox="1"/>
          <p:nvPr/>
        </p:nvSpPr>
        <p:spPr>
          <a:xfrm>
            <a:off x="3187650" y="2808650"/>
            <a:ext cx="8255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000"/>
              <a:t>FixMe</a:t>
            </a:r>
            <a:endParaRPr b="1"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p:nvPr/>
        </p:nvSpPr>
        <p:spPr>
          <a:xfrm>
            <a:off x="4157092" y="1533626"/>
            <a:ext cx="6316200" cy="7089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D75BE2"/>
              </a:buClr>
              <a:buSzPts val="4450"/>
              <a:buFont typeface="Rubik"/>
              <a:buNone/>
            </a:pPr>
            <a:r>
              <a:rPr b="0" i="0" lang="en-US" sz="4450" u="none" cap="none" strike="noStrike">
                <a:solidFill>
                  <a:srgbClr val="D75BE2"/>
                </a:solidFill>
                <a:latin typeface="Rubik"/>
                <a:ea typeface="Rubik"/>
                <a:cs typeface="Rubik"/>
                <a:sym typeface="Rubik"/>
              </a:rPr>
              <a:t>Base44 Demonstration</a:t>
            </a:r>
            <a:endParaRPr b="0" i="0" sz="4450" u="none" cap="none" strike="noStrike"/>
          </a:p>
        </p:txBody>
      </p:sp>
      <p:sp>
        <p:nvSpPr>
          <p:cNvPr id="258" name="Google Shape;258;p30"/>
          <p:cNvSpPr txBox="1"/>
          <p:nvPr/>
        </p:nvSpPr>
        <p:spPr>
          <a:xfrm>
            <a:off x="1697550" y="3418850"/>
            <a:ext cx="12091800" cy="48858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t/>
            </a:r>
            <a:endParaRPr b="1" sz="2000">
              <a:solidFill>
                <a:schemeClr val="dk1"/>
              </a:solidFill>
            </a:endParaRPr>
          </a:p>
          <a:p>
            <a:pPr indent="0" lvl="0" marL="0" rtl="1" algn="r">
              <a:lnSpc>
                <a:spcPct val="115000"/>
              </a:lnSpc>
              <a:spcBef>
                <a:spcPts val="500"/>
              </a:spcBef>
              <a:spcAft>
                <a:spcPts val="0"/>
              </a:spcAft>
              <a:buNone/>
            </a:pPr>
            <a:r>
              <a:rPr b="1" lang="en-US" sz="2000">
                <a:solidFill>
                  <a:schemeClr val="dk1"/>
                </a:solidFill>
              </a:rPr>
              <a:t>בניית טפסים וניתוח התשובות שהתקבלו</a:t>
            </a:r>
            <a:endParaRPr b="1" sz="2000">
              <a:solidFill>
                <a:schemeClr val="dk1"/>
              </a:solidFill>
            </a:endParaRPr>
          </a:p>
          <a:p>
            <a:pPr indent="0" lvl="0" marL="0" rtl="1" algn="r">
              <a:lnSpc>
                <a:spcPct val="115000"/>
              </a:lnSpc>
              <a:spcBef>
                <a:spcPts val="500"/>
              </a:spcBef>
              <a:spcAft>
                <a:spcPts val="0"/>
              </a:spcAft>
              <a:buNone/>
            </a:pPr>
            <a:r>
              <a:rPr b="1" lang="en-US" sz="2000">
                <a:solidFill>
                  <a:schemeClr val="dk1"/>
                </a:solidFill>
              </a:rPr>
              <a:t>מטרה:</a:t>
            </a:r>
            <a:r>
              <a:rPr lang="en-US" sz="2000">
                <a:solidFill>
                  <a:schemeClr val="dk1"/>
                </a:solidFill>
              </a:rPr>
              <a:t> לבנות יישום דינמי ליצירת טפסים, שבו משתמשים יכולים ליצור טפסים מותאמים אישית, לשתף אותם, לאסוף תשובות ולצפות בתוצאות. ההדגמה תעסוק ביצירת טפסים, באיסוף נתונים ובניתוחם באמצעות Base44.</a:t>
            </a:r>
            <a:endParaRPr sz="2000">
              <a:solidFill>
                <a:schemeClr val="dk1"/>
              </a:solidFill>
            </a:endParaRPr>
          </a:p>
          <a:p>
            <a:pPr indent="0" lvl="0" marL="0" rtl="1" algn="r">
              <a:lnSpc>
                <a:spcPct val="115000"/>
              </a:lnSpc>
              <a:spcBef>
                <a:spcPts val="500"/>
              </a:spcBef>
              <a:spcAft>
                <a:spcPts val="0"/>
              </a:spcAft>
              <a:buNone/>
            </a:pPr>
            <a:r>
              <a:t/>
            </a:r>
            <a:endParaRPr sz="2000">
              <a:solidFill>
                <a:schemeClr val="dk1"/>
              </a:solidFill>
            </a:endParaRPr>
          </a:p>
          <a:p>
            <a:pPr indent="0" lvl="0" marL="88900" rtl="1" algn="r">
              <a:lnSpc>
                <a:spcPct val="115000"/>
              </a:lnSpc>
              <a:spcBef>
                <a:spcPts val="500"/>
              </a:spcBef>
              <a:spcAft>
                <a:spcPts val="0"/>
              </a:spcAft>
              <a:buNone/>
            </a:pPr>
            <a:r>
              <a:rPr b="1" i="1" lang="en-US" sz="2500">
                <a:solidFill>
                  <a:schemeClr val="dk1"/>
                </a:solidFill>
              </a:rPr>
              <a:t>יש לבנות יישום המאפשר למשתמשים ליצור טפסים משלהם, לשתף אותם ולאסוף תשובות. היישום יכלול: עמוד ליצירת טופס, הכולל את שם הטופס ואת היוצר שלו; עמוד למילוי הטופס שנבחר; ועמוד לוח בקרה המציג את כל התשובות וניתוח בסיסי שלהן, כגון תרשימים. כל תשובה תשויך לטופס המתאים. אנא בנה את מסד הנתונים, את עמודי ממשק המשתמש ואת תהליכי העבודה.</a:t>
            </a:r>
            <a:endParaRPr b="1" i="1" sz="2500">
              <a:solidFill>
                <a:schemeClr val="dk1"/>
              </a:solidFill>
            </a:endParaRPr>
          </a:p>
          <a:p>
            <a:pPr indent="0" lvl="0" marL="0" rtl="1" algn="r">
              <a:lnSpc>
                <a:spcPct val="115000"/>
              </a:lnSpc>
              <a:spcBef>
                <a:spcPts val="600"/>
              </a:spcBef>
              <a:spcAft>
                <a:spcPts val="500"/>
              </a:spcAft>
              <a:buNone/>
            </a:pPr>
            <a:r>
              <a:t/>
            </a:r>
            <a:endParaRPr b="1" i="1" sz="2500">
              <a:solidFill>
                <a:schemeClr val="dk1"/>
              </a:solidFill>
            </a:endParaRPr>
          </a:p>
        </p:txBody>
      </p:sp>
      <p:sp>
        <p:nvSpPr>
          <p:cNvPr id="259" name="Google Shape;259;p30"/>
          <p:cNvSpPr txBox="1"/>
          <p:nvPr/>
        </p:nvSpPr>
        <p:spPr>
          <a:xfrm>
            <a:off x="3187650" y="2316950"/>
            <a:ext cx="8255100" cy="646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500"/>
              </a:spcAft>
              <a:buClr>
                <a:schemeClr val="dk1"/>
              </a:buClr>
              <a:buSzPts val="1100"/>
              <a:buFont typeface="Arial"/>
              <a:buNone/>
            </a:pPr>
            <a:r>
              <a:rPr b="1" lang="en-US" sz="3000">
                <a:solidFill>
                  <a:schemeClr val="dk1"/>
                </a:solidFill>
              </a:rPr>
              <a:t>FormFlow</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